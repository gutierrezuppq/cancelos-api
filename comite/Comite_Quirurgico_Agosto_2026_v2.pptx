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5.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6.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Evitabilidad</c:v>
                </c:pt>
              </c:strCache>
            </c:strRef>
          </c:tx>
          <c:spPr>
            <a:solidFill>
              <a:schemeClr val="accent1"/>
            </a:solidFill>
            <a:ln w="9525" cap="flat">
              <a:solidFill>
                <a:srgbClr val="F9F9F9"/>
              </a:solidFill>
              <a:prstDash val="solid"/>
              <a:round/>
            </a:ln>
            <a:effectLst/>
          </c:spPr>
          <c:dPt>
            <c:idx val="0"/>
            <c:bubble3D val="0"/>
            <c:spPr>
              <a:solidFill>
                <a:srgbClr val="F26B6B"/>
              </a:solidFill>
              <a:ln w="12700" cap="flat">
                <a:solidFill>
                  <a:srgbClr val="0B1220"/>
                </a:solidFill>
                <a:prstDash val="solid"/>
                <a:round/>
              </a:ln>
              <a:effectLst/>
            </c:spPr>
          </c:dPt>
          <c:dPt>
            <c:idx val="1"/>
            <c:bubble3D val="0"/>
            <c:spPr>
              <a:solidFill>
                <a:srgbClr val="F5B342"/>
              </a:solidFill>
              <a:ln w="12700" cap="flat">
                <a:solidFill>
                  <a:srgbClr val="0B1220"/>
                </a:solidFill>
                <a:prstDash val="solid"/>
                <a:round/>
              </a:ln>
              <a:effectLst/>
            </c:spPr>
          </c:dPt>
          <c:dPt>
            <c:idx val="2"/>
            <c:bubble3D val="0"/>
            <c:spPr>
              <a:solidFill>
                <a:srgbClr val="34D399"/>
              </a:solidFill>
              <a:ln w="12700" cap="flat">
                <a:solidFill>
                  <a:srgbClr val="0B1220"/>
                </a:solidFill>
                <a:prstDash val="solid"/>
                <a:round/>
              </a:ln>
              <a:effectLst/>
            </c:spPr>
          </c:dPt>
          <c:dPt>
            <c:idx val="3"/>
            <c:bubble3D val="0"/>
            <c:spPr>
              <a:solidFill>
                <a:srgbClr val="5B6B85"/>
              </a:solidFill>
              <a:ln w="12700" cap="flat">
                <a:solidFill>
                  <a:srgbClr val="0B1220"/>
                </a:solidFill>
                <a:prstDash val="solid"/>
                <a:round/>
              </a:ln>
              <a:effectLst/>
            </c:spPr>
          </c:dPt>
          <c:dLbls>
            <c:dLbl>
              <c:idx val="0"/>
              <c:numFmt formatCode="General" sourceLinked="0"/>
              <c:spPr/>
              <c:txPr>
                <a:bodyPr/>
                <a:lstStyle/>
                <a:p>
                  <a:pPr>
                    <a:defRPr sz="1100" b="1" i="0" u="none" strike="noStrike">
                      <a:solidFill>
                        <a:srgbClr val="EAF1FB"/>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EAF1FB"/>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EAF1FB"/>
                      </a:solidFill>
                      <a:latin typeface="Arial"/>
                    </a:defRPr>
                  </a:pPr>
                </a:p>
              </c:txPr>
              <c:showLegendKey val="0"/>
              <c:showVal val="1"/>
              <c:showCatName val="0"/>
              <c:showSerName val="0"/>
              <c:showPercent val="0"/>
              <c:showBubbleSize val="0"/>
            </c:dLbl>
            <c:dLbl>
              <c:idx val="3"/>
              <c:numFmt formatCode="General" sourceLinked="0"/>
              <c:spPr/>
              <c:txPr>
                <a:bodyPr/>
                <a:lstStyle/>
                <a:p>
                  <a:pPr>
                    <a:defRPr sz="1100" b="1" i="0" u="none" strike="noStrike">
                      <a:solidFill>
                        <a:srgbClr val="EAF1FB"/>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Evitable</c:v>
                </c:pt>
                <c:pt idx="1">
                  <c:v>Potencialmente evitable</c:v>
                </c:pt>
                <c:pt idx="2">
                  <c:v>No evitable</c:v>
                </c:pt>
                <c:pt idx="3">
                  <c:v>Sin causal</c:v>
                </c:pt>
              </c:strCache>
            </c:strRef>
          </c:cat>
          <c:val>
            <c:numRef>
              <c:f>Sheet1!$B$2:$B$5</c:f>
              <c:numCache>
                <c:ptCount val="4"/>
                <c:pt idx="0">
                  <c:v>10</c:v>
                </c:pt>
                <c:pt idx="1">
                  <c:v>5</c:v>
                </c:pt>
                <c:pt idx="2">
                  <c:v>5</c:v>
                </c:pt>
                <c:pt idx="3">
                  <c:v>18</c:v>
                </c:pt>
              </c:numCache>
            </c:numRef>
          </c:val>
        </c:ser>
        <c:firstSliceAng val="0"/>
        <c:holeSize val="58"/>
      </c:doughnutChart>
      <c:spPr>
        <a:solidFill>
          <a:srgbClr val="0F1930"/>
        </a:solidFill>
        <a:ln>
          <a:noFill/>
        </a:ln>
        <a:effectLst/>
      </c:spPr>
    </c:plotArea>
    <c:plotVisOnly val="1"/>
    <c:dispBlanksAs val="span"/>
  </c:chart>
  <c:spPr>
    <a:solidFill>
      <a:srgbClr val="0F193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Lunes a viernes</c:v>
                </c:pt>
              </c:strCache>
            </c:strRef>
          </c:tx>
          <c:spPr>
            <a:solidFill>
              <a:srgbClr val="2DD4BF"/>
            </a:solidFill>
            <a:effectLst/>
          </c:spPr>
          <c:invertIfNegative val="0"/>
          <c:dLbls>
            <c:numFmt formatCode="#,##0" sourceLinked="0"/>
            <c:txPr>
              <a:bodyPr/>
              <a:lstStyle/>
              <a:p>
                <a:pPr>
                  <a:defRPr b="1" i="0" strike="noStrike" sz="900" u="none">
                    <a:solidFill>
                      <a:srgbClr val="0B1220"/>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Sheet1!$B$2:$B$9</c:f>
              <c:numCache>
                <c:formatCode>General</c:formatCode>
                <c:ptCount val="8"/>
                <c:pt idx="0">
                  <c:v>256</c:v>
                </c:pt>
                <c:pt idx="1">
                  <c:v>245</c:v>
                </c:pt>
                <c:pt idx="2">
                  <c:v>255</c:v>
                </c:pt>
                <c:pt idx="3">
                  <c:v>286</c:v>
                </c:pt>
                <c:pt idx="4">
                  <c:v>186</c:v>
                </c:pt>
                <c:pt idx="5">
                  <c:v>237</c:v>
                </c:pt>
                <c:pt idx="6">
                  <c:v>214</c:v>
                </c:pt>
                <c:pt idx="7">
                  <c:v>201</c:v>
                </c:pt>
              </c:numCache>
            </c:numRef>
          </c:val>
        </c:ser>
        <c:ser>
          <c:idx val="1"/>
          <c:order val="1"/>
          <c:tx>
            <c:strRef>
              <c:f>Sheet1!$C$1</c:f>
              <c:strCache>
                <c:ptCount val="1"/>
                <c:pt idx="0">
                  <c:v>Fin de semana</c:v>
                </c:pt>
              </c:strCache>
            </c:strRef>
          </c:tx>
          <c:spPr>
            <a:solidFill>
              <a:srgbClr val="5B7DB1"/>
            </a:solidFill>
            <a:effectLst/>
          </c:spPr>
          <c:invertIfNegative val="0"/>
          <c:dLbls>
            <c:numFmt formatCode="#,##0" sourceLinked="0"/>
            <c:txPr>
              <a:bodyPr/>
              <a:lstStyle/>
              <a:p>
                <a:pPr>
                  <a:defRPr b="1" i="0" strike="noStrike" sz="900" u="none">
                    <a:solidFill>
                      <a:srgbClr val="0B1220"/>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Sheet1!$C$2:$C$9</c:f>
              <c:numCache>
                <c:formatCode>General</c:formatCode>
                <c:ptCount val="8"/>
                <c:pt idx="0">
                  <c:v>125</c:v>
                </c:pt>
                <c:pt idx="1">
                  <c:v>233</c:v>
                </c:pt>
                <c:pt idx="2">
                  <c:v>212</c:v>
                </c:pt>
                <c:pt idx="3">
                  <c:v>248</c:v>
                </c:pt>
                <c:pt idx="4">
                  <c:v>239</c:v>
                </c:pt>
                <c:pt idx="5">
                  <c:v>145</c:v>
                </c:pt>
                <c:pt idx="6">
                  <c:v>94</c:v>
                </c:pt>
                <c:pt idx="7">
                  <c:v>210</c:v>
                </c:pt>
              </c:numCache>
            </c:numRef>
          </c:val>
        </c:ser>
        <c:dLbls>
          <c:numFmt formatCode="#,##0" sourceLinked="0"/>
          <c:txPr>
            <a:bodyPr/>
            <a:lstStyle/>
            <a:p>
              <a:pPr>
                <a:defRPr b="1" i="0" strike="noStrike" sz="900" u="none">
                  <a:solidFill>
                    <a:srgbClr val="0B1220"/>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94AACC"/>
                </a:solidFill>
                <a:latin typeface="Arial"/>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6350" cap="flat">
              <a:solidFill>
                <a:srgbClr val="22304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94AACC"/>
                </a:solidFill>
                <a:latin typeface="Arial"/>
              </a:defRPr>
            </a:pPr>
            <a:endParaRPr lang="en-US"/>
          </a:p>
        </c:txPr>
        <c:crossAx val="2094734554"/>
        <c:crosses val="autoZero"/>
        <c:crossBetween val="between"/>
        <c:majorUnit val="100"/>
      </c:valAx>
      <c:spPr>
        <a:solidFill>
          <a:srgbClr val="0F1930"/>
        </a:solidFill>
        <a:ln>
          <a:noFill/>
        </a:ln>
        <a:effectLst/>
      </c:spPr>
    </c:plotArea>
    <c:legend>
      <c:legendPos val="b"/>
      <c:overlay val="0"/>
      <c:txPr>
        <a:bodyPr/>
        <a:lstStyle/>
        <a:p>
          <a:pPr>
            <a:defRPr sz="950">
              <a:solidFill>
                <a:srgbClr val="BCCDE8"/>
              </a:solidFill>
              <a:latin typeface="Arial"/>
              <a:cs typeface="Arial"/>
            </a:defRPr>
          </a:pPr>
          <a:endParaRPr lang="en-US"/>
        </a:p>
      </c:txPr>
    </c:legend>
    <c:plotVisOnly val="1"/>
    <c:dispBlanksAs val="span"/>
  </c:chart>
  <c:spPr>
    <a:solidFill>
      <a:srgbClr val="0F193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rgbClr val="5B7DB1"/>
            </a:solidFill>
            <a:effectLst/>
          </c:spPr>
          <c:invertIfNegative val="0"/>
          <c:dLbls>
            <c:numFmt formatCode="#,##0" sourceLinked="0"/>
            <c:txPr>
              <a:bodyPr/>
              <a:lstStyle/>
              <a:p>
                <a:pPr>
                  <a:defRPr b="0" i="0" strike="noStrike" sz="850" u="none">
                    <a:solidFill>
                      <a:srgbClr val="EAF1FB"/>
                    </a:solidFill>
                    <a:latin typeface="Arial"/>
                  </a:defRPr>
                </a:pPr>
              </a:p>
            </c:txPr>
            <c:showLegendKey val="0"/>
            <c:showVal val="1"/>
            <c:showCatName val="0"/>
            <c:showSerName val="0"/>
            <c:showPercent val="0"/>
            <c:showBubbleSize val="0"/>
            <c:showLeaderLines val="0"/>
          </c:dLbls>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Sheet1!$B$2:$B$9</c:f>
              <c:numCache>
                <c:formatCode>General</c:formatCode>
                <c:ptCount val="8"/>
                <c:pt idx="0">
                  <c:v>358</c:v>
                </c:pt>
                <c:pt idx="1">
                  <c:v>410</c:v>
                </c:pt>
                <c:pt idx="2">
                  <c:v>486</c:v>
                </c:pt>
                <c:pt idx="3">
                  <c:v>372</c:v>
                </c:pt>
                <c:pt idx="4">
                  <c:v>400</c:v>
                </c:pt>
                <c:pt idx="5">
                  <c:v>467</c:v>
                </c:pt>
                <c:pt idx="6">
                  <c:v>395</c:v>
                </c:pt>
                <c:pt idx="7">
                  <c:v>419</c:v>
                </c:pt>
              </c:numCache>
            </c:numRef>
          </c:val>
        </c:ser>
        <c:ser>
          <c:idx val="1"/>
          <c:order val="1"/>
          <c:tx>
            <c:strRef>
              <c:f>Sheet1!$C$1</c:f>
              <c:strCache>
                <c:ptCount val="1"/>
                <c:pt idx="0">
                  <c:v>2026</c:v>
                </c:pt>
              </c:strCache>
            </c:strRef>
          </c:tx>
          <c:spPr>
            <a:solidFill>
              <a:srgbClr val="2DD4BF"/>
            </a:solidFill>
            <a:effectLst/>
          </c:spPr>
          <c:invertIfNegative val="0"/>
          <c:dLbls>
            <c:numFmt formatCode="#,##0" sourceLinked="0"/>
            <c:txPr>
              <a:bodyPr/>
              <a:lstStyle/>
              <a:p>
                <a:pPr>
                  <a:defRPr b="0" i="0" strike="noStrike" sz="850" u="none">
                    <a:solidFill>
                      <a:srgbClr val="EAF1FB"/>
                    </a:solidFill>
                    <a:latin typeface="Arial"/>
                  </a:defRPr>
                </a:pPr>
              </a:p>
            </c:txPr>
            <c:showLegendKey val="0"/>
            <c:showVal val="1"/>
            <c:showCatName val="0"/>
            <c:showSerName val="0"/>
            <c:showPercent val="0"/>
            <c:showBubbleSize val="0"/>
            <c:showLeaderLines val="0"/>
          </c:dLbls>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Sheet1!$C$2:$C$9</c:f>
              <c:numCache>
                <c:formatCode>General</c:formatCode>
                <c:ptCount val="8"/>
                <c:pt idx="0">
                  <c:v>381</c:v>
                </c:pt>
                <c:pt idx="1">
                  <c:v>478</c:v>
                </c:pt>
                <c:pt idx="2">
                  <c:v>467</c:v>
                </c:pt>
                <c:pt idx="3">
                  <c:v>534</c:v>
                </c:pt>
                <c:pt idx="4">
                  <c:v>425</c:v>
                </c:pt>
                <c:pt idx="5">
                  <c:v>382</c:v>
                </c:pt>
                <c:pt idx="6">
                  <c:v>308</c:v>
                </c:pt>
                <c:pt idx="7">
                  <c:v>411</c:v>
                </c:pt>
              </c:numCache>
            </c:numRef>
          </c:val>
        </c:ser>
        <c:dLbls>
          <c:numFmt formatCode="#,##0" sourceLinked="0"/>
          <c:txPr>
            <a:bodyPr/>
            <a:lstStyle/>
            <a:p>
              <a:pPr>
                <a:defRPr b="0" i="0" strike="noStrike" sz="850" u="none">
                  <a:solidFill>
                    <a:srgbClr val="EAF1F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94AACC"/>
                </a:solidFill>
                <a:latin typeface="Arial"/>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6350" cap="flat">
              <a:solidFill>
                <a:srgbClr val="22304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94AACC"/>
                </a:solidFill>
                <a:latin typeface="Arial"/>
              </a:defRPr>
            </a:pPr>
            <a:endParaRPr lang="en-US"/>
          </a:p>
        </c:txPr>
        <c:crossAx val="2094734554"/>
        <c:crosses val="autoZero"/>
        <c:crossBetween val="between"/>
        <c:majorUnit val="100"/>
      </c:valAx>
      <c:spPr>
        <a:solidFill>
          <a:srgbClr val="0F1930"/>
        </a:solidFill>
        <a:ln>
          <a:noFill/>
        </a:ln>
        <a:effectLst/>
      </c:spPr>
    </c:plotArea>
    <c:legend>
      <c:legendPos val="b"/>
      <c:overlay val="0"/>
      <c:txPr>
        <a:bodyPr/>
        <a:lstStyle/>
        <a:p>
          <a:pPr>
            <a:defRPr sz="950">
              <a:solidFill>
                <a:srgbClr val="BCCDE8"/>
              </a:solidFill>
              <a:latin typeface="Arial"/>
              <a:cs typeface="Arial"/>
            </a:defRPr>
          </a:pPr>
          <a:endParaRPr lang="en-US"/>
        </a:p>
      </c:txPr>
    </c:legend>
    <c:plotVisOnly val="1"/>
    <c:dispBlanksAs val="span"/>
  </c:chart>
  <c:spPr>
    <a:solidFill>
      <a:srgbClr val="0F193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Julio · n = 52</c:v>
                </c:pt>
              </c:strCache>
            </c:strRef>
          </c:tx>
          <c:spPr>
            <a:solidFill>
              <a:srgbClr val="5B7DB1"/>
            </a:solidFill>
            <a:effectLst/>
          </c:spPr>
          <c:invertIfNegative val="0"/>
          <c:dLbls>
            <c:numFmt formatCode="0.0&quot;%&quot;" sourceLinked="0"/>
            <c:txPr>
              <a:bodyPr/>
              <a:lstStyle/>
              <a:p>
                <a:pPr>
                  <a:defRPr b="0" i="0" strike="noStrike" sz="950" u="none">
                    <a:solidFill>
                      <a:srgbClr val="EAF1FB"/>
                    </a:solidFill>
                    <a:latin typeface="Arial"/>
                  </a:defRPr>
                </a:pPr>
              </a:p>
            </c:txPr>
            <c:showLegendKey val="0"/>
            <c:showVal val="1"/>
            <c:showCatName val="0"/>
            <c:showSerName val="0"/>
            <c:showPercent val="0"/>
            <c:showBubbleSize val="0"/>
            <c:showLeaderLines val="0"/>
          </c:dLbls>
          <c:cat>
            <c:multiLvlStrRef>
              <c:f>Sheet1!$A$2:$A$4</c:f>
              <c:multiLvlStrCache>
                <c:ptCount val="3"/>
                <c:lvl>
                  <c:pt idx="0">
                    <c:v>Ingreso ≤ 08:00</c:v>
                  </c:pt>
                  <c:pt idx="1">
                    <c:v>Anestesia ≤ 08:30</c:v>
                  </c:pt>
                  <c:pt idx="2">
                    <c:v>Incisión ≤ 09:00</c:v>
                  </c:pt>
                </c:lvl>
              </c:multiLvlStrCache>
            </c:multiLvlStrRef>
          </c:cat>
          <c:val>
            <c:numRef>
              <c:f>Sheet1!$B$2:$B$4</c:f>
              <c:numCache>
                <c:formatCode>General</c:formatCode>
                <c:ptCount val="3"/>
                <c:pt idx="0">
                  <c:v>42.3</c:v>
                </c:pt>
                <c:pt idx="1">
                  <c:v>63.5</c:v>
                </c:pt>
                <c:pt idx="2">
                  <c:v>65.4</c:v>
                </c:pt>
              </c:numCache>
            </c:numRef>
          </c:val>
        </c:ser>
        <c:ser>
          <c:idx val="1"/>
          <c:order val="1"/>
          <c:tx>
            <c:strRef>
              <c:f>Sheet1!$C$1</c:f>
              <c:strCache>
                <c:ptCount val="1"/>
                <c:pt idx="0">
                  <c:v>Agosto · n = 51</c:v>
                </c:pt>
              </c:strCache>
            </c:strRef>
          </c:tx>
          <c:spPr>
            <a:solidFill>
              <a:srgbClr val="2DD4BF"/>
            </a:solidFill>
            <a:effectLst/>
          </c:spPr>
          <c:invertIfNegative val="0"/>
          <c:dLbls>
            <c:numFmt formatCode="0.0&quot;%&quot;" sourceLinked="0"/>
            <c:txPr>
              <a:bodyPr/>
              <a:lstStyle/>
              <a:p>
                <a:pPr>
                  <a:defRPr b="0" i="0" strike="noStrike" sz="950" u="none">
                    <a:solidFill>
                      <a:srgbClr val="EAF1FB"/>
                    </a:solidFill>
                    <a:latin typeface="Arial"/>
                  </a:defRPr>
                </a:pPr>
              </a:p>
            </c:txPr>
            <c:showLegendKey val="0"/>
            <c:showVal val="1"/>
            <c:showCatName val="0"/>
            <c:showSerName val="0"/>
            <c:showPercent val="0"/>
            <c:showBubbleSize val="0"/>
            <c:showLeaderLines val="0"/>
          </c:dLbls>
          <c:cat>
            <c:multiLvlStrRef>
              <c:f>Sheet1!$A$2:$A$4</c:f>
              <c:multiLvlStrCache>
                <c:ptCount val="3"/>
                <c:lvl>
                  <c:pt idx="0">
                    <c:v>Ingreso ≤ 08:00</c:v>
                  </c:pt>
                  <c:pt idx="1">
                    <c:v>Anestesia ≤ 08:30</c:v>
                  </c:pt>
                  <c:pt idx="2">
                    <c:v>Incisión ≤ 09:00</c:v>
                  </c:pt>
                </c:lvl>
              </c:multiLvlStrCache>
            </c:multiLvlStrRef>
          </c:cat>
          <c:val>
            <c:numRef>
              <c:f>Sheet1!$C$2:$C$4</c:f>
              <c:numCache>
                <c:formatCode>General</c:formatCode>
                <c:ptCount val="3"/>
                <c:pt idx="0">
                  <c:v>58.8</c:v>
                </c:pt>
                <c:pt idx="1">
                  <c:v>74.5</c:v>
                </c:pt>
                <c:pt idx="2">
                  <c:v>62.7</c:v>
                </c:pt>
              </c:numCache>
            </c:numRef>
          </c:val>
        </c:ser>
        <c:dLbls>
          <c:numFmt formatCode="0.0&quot;%&quot;" sourceLinked="0"/>
          <c:txPr>
            <a:bodyPr/>
            <a:lstStyle/>
            <a:p>
              <a:pPr>
                <a:defRPr b="0" i="0" strike="noStrike" sz="950" u="none">
                  <a:solidFill>
                    <a:srgbClr val="EAF1F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94AACC"/>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2304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94AACC"/>
                </a:solidFill>
                <a:latin typeface="Arial"/>
              </a:defRPr>
            </a:pPr>
            <a:endParaRPr lang="en-US"/>
          </a:p>
        </c:txPr>
        <c:crossAx val="2094734554"/>
        <c:crosses val="autoZero"/>
        <c:crossBetween val="between"/>
        <c:majorUnit val="20"/>
      </c:valAx>
      <c:spPr>
        <a:solidFill>
          <a:srgbClr val="0F1930"/>
        </a:solidFill>
        <a:ln>
          <a:noFill/>
        </a:ln>
        <a:effectLst/>
      </c:spPr>
    </c:plotArea>
    <c:legend>
      <c:legendPos val="b"/>
      <c:overlay val="0"/>
      <c:txPr>
        <a:bodyPr/>
        <a:lstStyle/>
        <a:p>
          <a:pPr>
            <a:defRPr sz="950">
              <a:solidFill>
                <a:srgbClr val="BCCDE8"/>
              </a:solidFill>
              <a:latin typeface="Arial"/>
              <a:cs typeface="Arial"/>
            </a:defRPr>
          </a:pPr>
          <a:endParaRPr lang="en-US"/>
        </a:p>
      </c:txPr>
    </c:legend>
    <c:plotVisOnly val="1"/>
    <c:dispBlanksAs val="span"/>
  </c:chart>
  <c:spPr>
    <a:solidFill>
      <a:srgbClr val="0F1930"/>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Ingreso ≤ 08:00</c:v>
                </c:pt>
              </c:strCache>
            </c:strRef>
          </c:tx>
          <c:spPr>
            <a:solidFill>
              <a:srgbClr val="7FA3D9"/>
            </a:solidFill>
            <a:ln w="25400" cap="flat">
              <a:solidFill>
                <a:srgbClr val="7FA3D9"/>
              </a:solidFill>
              <a:prstDash val="solid"/>
              <a:round/>
            </a:ln>
            <a:effectLst/>
          </c:spPr>
          <c:invertIfNegative val="0"/>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c:symbol val="circle"/>
            <c:size val="5"/>
            <c:spPr>
              <a:solidFill>
                <a:srgbClr val="7FA3D9"/>
              </a:solidFill>
              <a:ln w="9525" cap="flat">
                <a:solidFill>
                  <a:srgbClr val="7FA3D9"/>
                </a:solidFill>
                <a:prstDash val="solid"/>
                <a:round/>
              </a:ln>
              <a:effectLst/>
            </c:spPr>
          </c:marker>
          <c:cat>
            <c:multiLvlStrRef>
              <c:f>Sheet1!$A$2:$A$20</c:f>
              <c:multiLvlStrCache>
                <c:ptCount val="19"/>
                <c:lvl>
                  <c:pt idx="0">
                    <c:v>nov-24</c:v>
                  </c:pt>
                  <c:pt idx="1">
                    <c:v>dic-24</c:v>
                  </c:pt>
                  <c:pt idx="2">
                    <c:v>ene-25</c:v>
                  </c:pt>
                  <c:pt idx="3">
                    <c:v>feb-25</c:v>
                  </c:pt>
                  <c:pt idx="4">
                    <c:v>mar-25</c:v>
                  </c:pt>
                  <c:pt idx="5">
                    <c:v>abr-25</c:v>
                  </c:pt>
                  <c:pt idx="6">
                    <c:v>may-25</c:v>
                  </c:pt>
                  <c:pt idx="7">
                    <c:v>jun-25</c:v>
                  </c:pt>
                  <c:pt idx="8">
                    <c:v>jul-25</c:v>
                  </c:pt>
                  <c:pt idx="9">
                    <c:v>ago-25</c:v>
                  </c:pt>
                  <c:pt idx="10">
                    <c:v>sep-25</c:v>
                  </c:pt>
                  <c:pt idx="11">
                    <c:v>oct-25</c:v>
                  </c:pt>
                  <c:pt idx="12">
                    <c:v>nov-25</c:v>
                  </c:pt>
                  <c:pt idx="13">
                    <c:v>dic-25</c:v>
                  </c:pt>
                  <c:pt idx="14">
                    <c:v>ene-26*</c:v>
                  </c:pt>
                  <c:pt idx="15">
                    <c:v>may-26*</c:v>
                  </c:pt>
                  <c:pt idx="16">
                    <c:v>jun-26</c:v>
                  </c:pt>
                  <c:pt idx="17">
                    <c:v>jul-26</c:v>
                  </c:pt>
                  <c:pt idx="18">
                    <c:v>ago-26</c:v>
                  </c:pt>
                </c:lvl>
              </c:multiLvlStrCache>
            </c:multiLvlStrRef>
          </c:cat>
          <c:val>
            <c:numRef>
              <c:f>Sheet1!$B$2:$B$20</c:f>
              <c:numCache>
                <c:formatCode>General</c:formatCode>
                <c:ptCount val="19"/>
                <c:pt idx="0">
                  <c:v>57.1</c:v>
                </c:pt>
                <c:pt idx="1">
                  <c:v>35.8</c:v>
                </c:pt>
                <c:pt idx="2">
                  <c:v>61.5</c:v>
                </c:pt>
                <c:pt idx="3">
                  <c:v>56.1</c:v>
                </c:pt>
                <c:pt idx="4">
                  <c:v>60</c:v>
                </c:pt>
                <c:pt idx="5">
                  <c:v>69.6</c:v>
                </c:pt>
                <c:pt idx="6">
                  <c:v>66</c:v>
                </c:pt>
                <c:pt idx="7">
                  <c:v>70.4</c:v>
                </c:pt>
                <c:pt idx="8">
                  <c:v>60</c:v>
                </c:pt>
                <c:pt idx="9">
                  <c:v>67.2</c:v>
                </c:pt>
                <c:pt idx="10">
                  <c:v>66.1</c:v>
                </c:pt>
                <c:pt idx="11">
                  <c:v>59.4</c:v>
                </c:pt>
                <c:pt idx="12">
                  <c:v>64.3</c:v>
                </c:pt>
                <c:pt idx="13">
                  <c:v>66.1</c:v>
                </c:pt>
                <c:pt idx="14">
                  <c:v>42.9</c:v>
                </c:pt>
                <c:pt idx="15">
                  <c:v>72.7</c:v>
                </c:pt>
                <c:pt idx="16">
                  <c:v>58.3</c:v>
                </c:pt>
                <c:pt idx="17">
                  <c:v>42.3</c:v>
                </c:pt>
                <c:pt idx="18">
                  <c:v>58.8</c:v>
                </c:pt>
              </c:numCache>
            </c:numRef>
          </c:val>
          <c:smooth val="0"/>
        </c:ser>
        <c:ser>
          <c:idx val="1"/>
          <c:order val="1"/>
          <c:tx>
            <c:strRef>
              <c:f>Sheet1!$C$1</c:f>
              <c:strCache>
                <c:ptCount val="1"/>
                <c:pt idx="0">
                  <c:v>Incisión ≤ 09:00</c:v>
                </c:pt>
              </c:strCache>
            </c:strRef>
          </c:tx>
          <c:spPr>
            <a:solidFill>
              <a:srgbClr val="2DD4BF"/>
            </a:solidFill>
            <a:ln w="25400" cap="flat">
              <a:solidFill>
                <a:srgbClr val="2DD4BF"/>
              </a:solidFill>
              <a:prstDash val="solid"/>
              <a:round/>
            </a:ln>
            <a:effectLst/>
          </c:spPr>
          <c:invertIfNegative val="0"/>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c:symbol val="circle"/>
            <c:size val="5"/>
            <c:spPr>
              <a:solidFill>
                <a:srgbClr val="2DD4BF"/>
              </a:solidFill>
              <a:ln w="9525" cap="flat">
                <a:solidFill>
                  <a:srgbClr val="2DD4BF"/>
                </a:solidFill>
                <a:prstDash val="solid"/>
                <a:round/>
              </a:ln>
              <a:effectLst/>
            </c:spPr>
          </c:marker>
          <c:cat>
            <c:multiLvlStrRef>
              <c:f>Sheet1!$A$2:$A$20</c:f>
              <c:multiLvlStrCache>
                <c:ptCount val="19"/>
                <c:lvl>
                  <c:pt idx="0">
                    <c:v>nov-24</c:v>
                  </c:pt>
                  <c:pt idx="1">
                    <c:v>dic-24</c:v>
                  </c:pt>
                  <c:pt idx="2">
                    <c:v>ene-25</c:v>
                  </c:pt>
                  <c:pt idx="3">
                    <c:v>feb-25</c:v>
                  </c:pt>
                  <c:pt idx="4">
                    <c:v>mar-25</c:v>
                  </c:pt>
                  <c:pt idx="5">
                    <c:v>abr-25</c:v>
                  </c:pt>
                  <c:pt idx="6">
                    <c:v>may-25</c:v>
                  </c:pt>
                  <c:pt idx="7">
                    <c:v>jun-25</c:v>
                  </c:pt>
                  <c:pt idx="8">
                    <c:v>jul-25</c:v>
                  </c:pt>
                  <c:pt idx="9">
                    <c:v>ago-25</c:v>
                  </c:pt>
                  <c:pt idx="10">
                    <c:v>sep-25</c:v>
                  </c:pt>
                  <c:pt idx="11">
                    <c:v>oct-25</c:v>
                  </c:pt>
                  <c:pt idx="12">
                    <c:v>nov-25</c:v>
                  </c:pt>
                  <c:pt idx="13">
                    <c:v>dic-25</c:v>
                  </c:pt>
                  <c:pt idx="14">
                    <c:v>ene-26*</c:v>
                  </c:pt>
                  <c:pt idx="15">
                    <c:v>may-26*</c:v>
                  </c:pt>
                  <c:pt idx="16">
                    <c:v>jun-26</c:v>
                  </c:pt>
                  <c:pt idx="17">
                    <c:v>jul-26</c:v>
                  </c:pt>
                  <c:pt idx="18">
                    <c:v>ago-26</c:v>
                  </c:pt>
                </c:lvl>
              </c:multiLvlStrCache>
            </c:multiLvlStrRef>
          </c:cat>
          <c:val>
            <c:numRef>
              <c:f>Sheet1!$C$2:$C$20</c:f>
              <c:numCache>
                <c:formatCode>General</c:formatCode>
                <c:ptCount val="19"/>
                <c:pt idx="0">
                  <c:v>71.4</c:v>
                </c:pt>
                <c:pt idx="1">
                  <c:v>61.5</c:v>
                </c:pt>
                <c:pt idx="2">
                  <c:v>73.1</c:v>
                </c:pt>
                <c:pt idx="3">
                  <c:v>75.4</c:v>
                </c:pt>
                <c:pt idx="4">
                  <c:v>78.3</c:v>
                </c:pt>
                <c:pt idx="5">
                  <c:v>83.9</c:v>
                </c:pt>
                <c:pt idx="6">
                  <c:v>75</c:v>
                </c:pt>
                <c:pt idx="7">
                  <c:v>79.6</c:v>
                </c:pt>
                <c:pt idx="8">
                  <c:v>81.5</c:v>
                </c:pt>
                <c:pt idx="9">
                  <c:v>84.5</c:v>
                </c:pt>
                <c:pt idx="10">
                  <c:v>79.7</c:v>
                </c:pt>
                <c:pt idx="11">
                  <c:v>81.2</c:v>
                </c:pt>
                <c:pt idx="12">
                  <c:v>76.8</c:v>
                </c:pt>
                <c:pt idx="13">
                  <c:v>72.6</c:v>
                </c:pt>
                <c:pt idx="14">
                  <c:v>71.4</c:v>
                </c:pt>
                <c:pt idx="15">
                  <c:v>86.4</c:v>
                </c:pt>
                <c:pt idx="16">
                  <c:v>68.3</c:v>
                </c:pt>
                <c:pt idx="17">
                  <c:v>63.5</c:v>
                </c:pt>
                <c:pt idx="18">
                  <c:v>62.7</c:v>
                </c:pt>
              </c:numCache>
            </c:numRef>
          </c:val>
          <c:smooth val="0"/>
        </c:ser>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700000"/>
          <a:lstStyle/>
          <a:p>
            <a:pPr>
              <a:defRPr sz="800" b="0" i="0" u="none" strike="noStrike">
                <a:solidFill>
                  <a:srgbClr val="94AACC"/>
                </a:solidFill>
                <a:latin typeface="Arial"/>
              </a:defRPr>
            </a:pPr>
            <a:endParaRPr lang="en-US"/>
          </a:p>
        </c:txPr>
        <c:crossAx val="2094734552"/>
        <c:crosses val="autoZero"/>
        <c:auto val="1"/>
        <c:lblAlgn val="ctr"/>
        <c:noMultiLvlLbl val="1"/>
      </c:catAx>
      <c:valAx>
        <c:axId val="2094734552"/>
        <c:scaling>
          <c:orientation val="minMax"/>
          <c:max val="90"/>
          <c:min val="30"/>
        </c:scaling>
        <c:delete val="0"/>
        <c:axPos val="l"/>
        <c:majorGridlines>
          <c:spPr>
            <a:ln w="6350" cap="flat">
              <a:solidFill>
                <a:srgbClr val="22304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94AACC"/>
                </a:solidFill>
                <a:latin typeface="Arial"/>
              </a:defRPr>
            </a:pPr>
            <a:endParaRPr lang="en-US"/>
          </a:p>
        </c:txPr>
        <c:crossAx val="2094734554"/>
        <c:crosses val="autoZero"/>
        <c:crossBetween val="between"/>
        <c:majorUnit val="10"/>
      </c:valAx>
      <c:spPr>
        <a:solidFill>
          <a:srgbClr val="0F1930"/>
        </a:solidFill>
        <a:ln>
          <a:noFill/>
        </a:ln>
        <a:effectLst/>
      </c:spPr>
    </c:plotArea>
    <c:legend>
      <c:legendPos val="b"/>
      <c:overlay val="0"/>
      <c:txPr>
        <a:bodyPr/>
        <a:lstStyle/>
        <a:p>
          <a:pPr>
            <a:defRPr sz="950">
              <a:solidFill>
                <a:srgbClr val="BCCDE8"/>
              </a:solidFill>
              <a:latin typeface="Arial"/>
              <a:cs typeface="Arial"/>
            </a:defRPr>
          </a:pPr>
          <a:endParaRPr lang="en-US"/>
        </a:p>
      </c:txPr>
    </c:legend>
    <c:plotVisOnly val="1"/>
    <c:dispBlanksAs val="span"/>
  </c:chart>
  <c:spPr>
    <a:solidFill>
      <a:srgbClr val="0F1930"/>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P90 neto</c:v>
                </c:pt>
              </c:strCache>
            </c:strRef>
          </c:tx>
          <c:spPr>
            <a:solidFill>
              <a:srgbClr val="F5B342"/>
            </a:solidFill>
            <a:ln w="25400" cap="flat">
              <a:solidFill>
                <a:srgbClr val="F5B342"/>
              </a:solidFill>
              <a:prstDash val="solid"/>
              <a:round/>
            </a:ln>
            <a:effectLst/>
          </c:spPr>
          <c:invertIfNegative val="0"/>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c:symbol val="circle"/>
            <c:size val="5"/>
            <c:spPr>
              <a:solidFill>
                <a:srgbClr val="F5B342"/>
              </a:solidFill>
              <a:ln w="9525" cap="flat">
                <a:solidFill>
                  <a:srgbClr val="F5B342"/>
                </a:solidFill>
                <a:prstDash val="solid"/>
                <a:round/>
              </a:ln>
              <a:effectLst/>
            </c:spPr>
          </c:marker>
          <c:cat>
            <c:multiLvlStrRef>
              <c:f>Sheet1!$A$2:$A$20</c:f>
              <c:multiLvlStrCache>
                <c:ptCount val="19"/>
                <c:lvl>
                  <c:pt idx="0">
                    <c:v>nov-24</c:v>
                  </c:pt>
                  <c:pt idx="1">
                    <c:v>dic-24</c:v>
                  </c:pt>
                  <c:pt idx="2">
                    <c:v>ene-25</c:v>
                  </c:pt>
                  <c:pt idx="3">
                    <c:v>feb-25</c:v>
                  </c:pt>
                  <c:pt idx="4">
                    <c:v>mar-25</c:v>
                  </c:pt>
                  <c:pt idx="5">
                    <c:v>abr-25</c:v>
                  </c:pt>
                  <c:pt idx="6">
                    <c:v>may-25</c:v>
                  </c:pt>
                  <c:pt idx="7">
                    <c:v>jun-25</c:v>
                  </c:pt>
                  <c:pt idx="8">
                    <c:v>jul-25</c:v>
                  </c:pt>
                  <c:pt idx="9">
                    <c:v>ago-25</c:v>
                  </c:pt>
                  <c:pt idx="10">
                    <c:v>sep-25</c:v>
                  </c:pt>
                  <c:pt idx="11">
                    <c:v>oct-25</c:v>
                  </c:pt>
                  <c:pt idx="12">
                    <c:v>nov-25</c:v>
                  </c:pt>
                  <c:pt idx="13">
                    <c:v>dic-25</c:v>
                  </c:pt>
                  <c:pt idx="14">
                    <c:v>ene-26*</c:v>
                  </c:pt>
                  <c:pt idx="15">
                    <c:v>may-26*</c:v>
                  </c:pt>
                  <c:pt idx="16">
                    <c:v>jun-26</c:v>
                  </c:pt>
                  <c:pt idx="17">
                    <c:v>jul-26</c:v>
                  </c:pt>
                  <c:pt idx="18">
                    <c:v>ago-26</c:v>
                  </c:pt>
                </c:lvl>
              </c:multiLvlStrCache>
            </c:multiLvlStrRef>
          </c:cat>
          <c:val>
            <c:numRef>
              <c:f>Sheet1!$B$2:$B$20</c:f>
              <c:numCache>
                <c:formatCode>General</c:formatCode>
                <c:ptCount val="19"/>
                <c:pt idx="0">
                  <c:v>69.6</c:v>
                </c:pt>
                <c:pt idx="1">
                  <c:v>35</c:v>
                </c:pt>
                <c:pt idx="2">
                  <c:v>42.9</c:v>
                </c:pt>
                <c:pt idx="3">
                  <c:v>45.5</c:v>
                </c:pt>
                <c:pt idx="4">
                  <c:v>39</c:v>
                </c:pt>
                <c:pt idx="5">
                  <c:v>43.7</c:v>
                </c:pt>
                <c:pt idx="6">
                  <c:v>59</c:v>
                </c:pt>
                <c:pt idx="7">
                  <c:v>46.8</c:v>
                </c:pt>
                <c:pt idx="8">
                  <c:v>36</c:v>
                </c:pt>
                <c:pt idx="9">
                  <c:v>68.2</c:v>
                </c:pt>
                <c:pt idx="10">
                  <c:v>55</c:v>
                </c:pt>
                <c:pt idx="11">
                  <c:v>66</c:v>
                </c:pt>
                <c:pt idx="12">
                  <c:v>49.8</c:v>
                </c:pt>
                <c:pt idx="13">
                  <c:v>58.8</c:v>
                </c:pt>
                <c:pt idx="14">
                  <c:v>46.4</c:v>
                </c:pt>
                <c:pt idx="15">
                  <c:v>56.2</c:v>
                </c:pt>
                <c:pt idx="16">
                  <c:v>63</c:v>
                </c:pt>
                <c:pt idx="17">
                  <c:v>59.4</c:v>
                </c:pt>
                <c:pt idx="18">
                  <c:v>43</c:v>
                </c:pt>
              </c:numCache>
            </c:numRef>
          </c:val>
          <c:smooth val="0"/>
        </c:ser>
        <c:ser>
          <c:idx val="1"/>
          <c:order val="1"/>
          <c:tx>
            <c:strRef>
              <c:f>Sheet1!$C$1</c:f>
              <c:strCache>
                <c:ptCount val="1"/>
                <c:pt idx="0">
                  <c:v>Media neta</c:v>
                </c:pt>
              </c:strCache>
            </c:strRef>
          </c:tx>
          <c:spPr>
            <a:solidFill>
              <a:srgbClr val="7FA3D9"/>
            </a:solidFill>
            <a:ln w="25400" cap="flat">
              <a:solidFill>
                <a:srgbClr val="7FA3D9"/>
              </a:solidFill>
              <a:prstDash val="solid"/>
              <a:round/>
            </a:ln>
            <a:effectLst/>
          </c:spPr>
          <c:invertIfNegative val="0"/>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c:symbol val="circle"/>
            <c:size val="5"/>
            <c:spPr>
              <a:solidFill>
                <a:srgbClr val="7FA3D9"/>
              </a:solidFill>
              <a:ln w="9525" cap="flat">
                <a:solidFill>
                  <a:srgbClr val="7FA3D9"/>
                </a:solidFill>
                <a:prstDash val="solid"/>
                <a:round/>
              </a:ln>
              <a:effectLst/>
            </c:spPr>
          </c:marker>
          <c:cat>
            <c:multiLvlStrRef>
              <c:f>Sheet1!$A$2:$A$20</c:f>
              <c:multiLvlStrCache>
                <c:ptCount val="19"/>
                <c:lvl>
                  <c:pt idx="0">
                    <c:v>nov-24</c:v>
                  </c:pt>
                  <c:pt idx="1">
                    <c:v>dic-24</c:v>
                  </c:pt>
                  <c:pt idx="2">
                    <c:v>ene-25</c:v>
                  </c:pt>
                  <c:pt idx="3">
                    <c:v>feb-25</c:v>
                  </c:pt>
                  <c:pt idx="4">
                    <c:v>mar-25</c:v>
                  </c:pt>
                  <c:pt idx="5">
                    <c:v>abr-25</c:v>
                  </c:pt>
                  <c:pt idx="6">
                    <c:v>may-25</c:v>
                  </c:pt>
                  <c:pt idx="7">
                    <c:v>jun-25</c:v>
                  </c:pt>
                  <c:pt idx="8">
                    <c:v>jul-25</c:v>
                  </c:pt>
                  <c:pt idx="9">
                    <c:v>ago-25</c:v>
                  </c:pt>
                  <c:pt idx="10">
                    <c:v>sep-25</c:v>
                  </c:pt>
                  <c:pt idx="11">
                    <c:v>oct-25</c:v>
                  </c:pt>
                  <c:pt idx="12">
                    <c:v>nov-25</c:v>
                  </c:pt>
                  <c:pt idx="13">
                    <c:v>dic-25</c:v>
                  </c:pt>
                  <c:pt idx="14">
                    <c:v>ene-26*</c:v>
                  </c:pt>
                  <c:pt idx="15">
                    <c:v>may-26*</c:v>
                  </c:pt>
                  <c:pt idx="16">
                    <c:v>jun-26</c:v>
                  </c:pt>
                  <c:pt idx="17">
                    <c:v>jul-26</c:v>
                  </c:pt>
                  <c:pt idx="18">
                    <c:v>ago-26</c:v>
                  </c:pt>
                </c:lvl>
              </c:multiLvlStrCache>
            </c:multiLvlStrRef>
          </c:cat>
          <c:val>
            <c:numRef>
              <c:f>Sheet1!$C$2:$C$20</c:f>
              <c:numCache>
                <c:formatCode>General</c:formatCode>
                <c:ptCount val="19"/>
                <c:pt idx="0">
                  <c:v>24.3</c:v>
                </c:pt>
                <c:pt idx="1">
                  <c:v>17</c:v>
                </c:pt>
                <c:pt idx="2">
                  <c:v>22.5</c:v>
                </c:pt>
                <c:pt idx="3">
                  <c:v>22.6</c:v>
                </c:pt>
                <c:pt idx="4">
                  <c:v>21.3</c:v>
                </c:pt>
                <c:pt idx="5">
                  <c:v>23.2</c:v>
                </c:pt>
                <c:pt idx="6">
                  <c:v>26.4</c:v>
                </c:pt>
                <c:pt idx="7">
                  <c:v>22.3</c:v>
                </c:pt>
                <c:pt idx="8">
                  <c:v>20.4</c:v>
                </c:pt>
                <c:pt idx="9">
                  <c:v>27.7</c:v>
                </c:pt>
                <c:pt idx="10">
                  <c:v>27.3</c:v>
                </c:pt>
                <c:pt idx="11">
                  <c:v>29.2</c:v>
                </c:pt>
                <c:pt idx="12">
                  <c:v>20.9</c:v>
                </c:pt>
                <c:pt idx="13">
                  <c:v>27.5</c:v>
                </c:pt>
                <c:pt idx="14">
                  <c:v>24</c:v>
                </c:pt>
                <c:pt idx="15">
                  <c:v>23.4</c:v>
                </c:pt>
                <c:pt idx="16">
                  <c:v>28.8</c:v>
                </c:pt>
                <c:pt idx="17">
                  <c:v>29.5</c:v>
                </c:pt>
                <c:pt idx="18">
                  <c:v>22.6</c:v>
                </c:pt>
              </c:numCache>
            </c:numRef>
          </c:val>
          <c:smooth val="0"/>
        </c:ser>
        <c:ser>
          <c:idx val="2"/>
          <c:order val="2"/>
          <c:tx>
            <c:strRef>
              <c:f>Sheet1!$D$1</c:f>
              <c:strCache>
                <c:ptCount val="1"/>
                <c:pt idx="0">
                  <c:v>Mediana neta</c:v>
                </c:pt>
              </c:strCache>
            </c:strRef>
          </c:tx>
          <c:spPr>
            <a:solidFill>
              <a:srgbClr val="2DD4BF"/>
            </a:solidFill>
            <a:ln w="25400" cap="flat">
              <a:solidFill>
                <a:srgbClr val="2DD4BF"/>
              </a:solidFill>
              <a:prstDash val="solid"/>
              <a:round/>
            </a:ln>
            <a:effectLst/>
          </c:spPr>
          <c:invertIfNegative val="0"/>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c:symbol val="circle"/>
            <c:size val="5"/>
            <c:spPr>
              <a:solidFill>
                <a:srgbClr val="2DD4BF"/>
              </a:solidFill>
              <a:ln w="9525" cap="flat">
                <a:solidFill>
                  <a:srgbClr val="2DD4BF"/>
                </a:solidFill>
                <a:prstDash val="solid"/>
                <a:round/>
              </a:ln>
              <a:effectLst/>
            </c:spPr>
          </c:marker>
          <c:cat>
            <c:multiLvlStrRef>
              <c:f>Sheet1!$A$2:$A$20</c:f>
              <c:multiLvlStrCache>
                <c:ptCount val="19"/>
                <c:lvl>
                  <c:pt idx="0">
                    <c:v>nov-24</c:v>
                  </c:pt>
                  <c:pt idx="1">
                    <c:v>dic-24</c:v>
                  </c:pt>
                  <c:pt idx="2">
                    <c:v>ene-25</c:v>
                  </c:pt>
                  <c:pt idx="3">
                    <c:v>feb-25</c:v>
                  </c:pt>
                  <c:pt idx="4">
                    <c:v>mar-25</c:v>
                  </c:pt>
                  <c:pt idx="5">
                    <c:v>abr-25</c:v>
                  </c:pt>
                  <c:pt idx="6">
                    <c:v>may-25</c:v>
                  </c:pt>
                  <c:pt idx="7">
                    <c:v>jun-25</c:v>
                  </c:pt>
                  <c:pt idx="8">
                    <c:v>jul-25</c:v>
                  </c:pt>
                  <c:pt idx="9">
                    <c:v>ago-25</c:v>
                  </c:pt>
                  <c:pt idx="10">
                    <c:v>sep-25</c:v>
                  </c:pt>
                  <c:pt idx="11">
                    <c:v>oct-25</c:v>
                  </c:pt>
                  <c:pt idx="12">
                    <c:v>nov-25</c:v>
                  </c:pt>
                  <c:pt idx="13">
                    <c:v>dic-25</c:v>
                  </c:pt>
                  <c:pt idx="14">
                    <c:v>ene-26*</c:v>
                  </c:pt>
                  <c:pt idx="15">
                    <c:v>may-26*</c:v>
                  </c:pt>
                  <c:pt idx="16">
                    <c:v>jun-26</c:v>
                  </c:pt>
                  <c:pt idx="17">
                    <c:v>jul-26</c:v>
                  </c:pt>
                  <c:pt idx="18">
                    <c:v>ago-26</c:v>
                  </c:pt>
                </c:lvl>
              </c:multiLvlStrCache>
            </c:multiLvlStrRef>
          </c:cat>
          <c:val>
            <c:numRef>
              <c:f>Sheet1!$D$2:$D$20</c:f>
              <c:numCache>
                <c:formatCode>General</c:formatCode>
                <c:ptCount val="19"/>
                <c:pt idx="0">
                  <c:v>11</c:v>
                </c:pt>
                <c:pt idx="1">
                  <c:v>5</c:v>
                </c:pt>
                <c:pt idx="2">
                  <c:v>15</c:v>
                </c:pt>
                <c:pt idx="3">
                  <c:v>16</c:v>
                </c:pt>
                <c:pt idx="4">
                  <c:v>14</c:v>
                </c:pt>
                <c:pt idx="5">
                  <c:v>16</c:v>
                </c:pt>
                <c:pt idx="6">
                  <c:v>16</c:v>
                </c:pt>
                <c:pt idx="7">
                  <c:v>17</c:v>
                </c:pt>
                <c:pt idx="8">
                  <c:v>15</c:v>
                </c:pt>
                <c:pt idx="9">
                  <c:v>16</c:v>
                </c:pt>
                <c:pt idx="10">
                  <c:v>18</c:v>
                </c:pt>
                <c:pt idx="11">
                  <c:v>19</c:v>
                </c:pt>
                <c:pt idx="12">
                  <c:v>15</c:v>
                </c:pt>
                <c:pt idx="13">
                  <c:v>21</c:v>
                </c:pt>
                <c:pt idx="14">
                  <c:v>19</c:v>
                </c:pt>
                <c:pt idx="15">
                  <c:v>18</c:v>
                </c:pt>
                <c:pt idx="16">
                  <c:v>19</c:v>
                </c:pt>
                <c:pt idx="17">
                  <c:v>19</c:v>
                </c:pt>
                <c:pt idx="18">
                  <c:v>18</c:v>
                </c:pt>
              </c:numCache>
            </c:numRef>
          </c:val>
          <c:smooth val="0"/>
        </c:ser>
        <c:dLbls>
          <c:numFmt formatCode="#,##0" sourceLinked="0"/>
          <c:txPr>
            <a:bodyPr/>
            <a:lstStyle/>
            <a:p>
              <a:pPr>
                <a:defRPr b="0" i="0" strike="noStrike" sz="950" u="none">
                  <a:solidFill>
                    <a:srgbClr val="EAF1FB"/>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700000"/>
          <a:lstStyle/>
          <a:p>
            <a:pPr>
              <a:defRPr sz="800" b="0" i="0" u="none" strike="noStrike">
                <a:solidFill>
                  <a:srgbClr val="94AACC"/>
                </a:solidFill>
                <a:latin typeface="Arial"/>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22304A"/>
              </a:solidFill>
              <a:prstDash val="solid"/>
              <a:round/>
            </a:ln>
          </c:spPr>
        </c:majorGridlines>
        <c:numFmt formatCode="0&quot; min&quot;" sourceLinked="0"/>
        <c:majorTickMark val="out"/>
        <c:minorTickMark val="none"/>
        <c:tickLblPos val="nextTo"/>
        <c:spPr>
          <a:ln w="12700" cap="flat">
            <a:noFill/>
            <a:prstDash val="solid"/>
            <a:round/>
          </a:ln>
        </c:spPr>
        <c:txPr>
          <a:bodyPr/>
          <a:lstStyle/>
          <a:p>
            <a:pPr>
              <a:defRPr sz="900" b="0" i="0" u="none" strike="noStrike">
                <a:solidFill>
                  <a:srgbClr val="94AACC"/>
                </a:solidFill>
                <a:latin typeface="Arial"/>
              </a:defRPr>
            </a:pPr>
            <a:endParaRPr lang="en-US"/>
          </a:p>
        </c:txPr>
        <c:crossAx val="2094734554"/>
        <c:crosses val="autoZero"/>
        <c:crossBetween val="between"/>
        <c:majorUnit val="10"/>
      </c:valAx>
      <c:spPr>
        <a:solidFill>
          <a:srgbClr val="0F1930"/>
        </a:solidFill>
        <a:ln>
          <a:noFill/>
        </a:ln>
        <a:effectLst/>
      </c:spPr>
    </c:plotArea>
    <c:legend>
      <c:legendPos val="b"/>
      <c:overlay val="0"/>
      <c:txPr>
        <a:bodyPr/>
        <a:lstStyle/>
        <a:p>
          <a:pPr>
            <a:defRPr sz="950">
              <a:solidFill>
                <a:srgbClr val="BCCDE8"/>
              </a:solidFill>
              <a:latin typeface="Arial"/>
              <a:cs typeface="Arial"/>
            </a:defRPr>
          </a:pPr>
          <a:endParaRPr lang="en-US"/>
        </a:p>
      </c:txPr>
    </c:legend>
    <c:plotVisOnly val="1"/>
    <c:dispBlanksAs val="span"/>
  </c:chart>
  <c:spPr>
    <a:solidFill>
      <a:srgbClr val="0F193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lectura serena del mes: 1,32 % de suspensión hábil (2 de 152 programadas normales L–V), un caso más que julio (0,65 %) y la segunda tasa más baja de la serie de 20 meses. El acumulado enero–agosto 2026 queda en 5,04 % frente a 9,83 % en 2025. El registro operativo amplía la mirada: 38 eventos, 18 sin causal. La producción hábil crece 13,5 % interanual en el acumulado.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tasas acumuladas usan la suma de suspendidas dividida por la suma de programadas, no el promedio de tasas mensuales. Julio 2026 se recalcula con la serie homogénea (1 / 155 = 0,65 %); el PPT de julio informó 1 / 141 = 0,71 % (ver anexo). La media mensual ene–ago 2026 se calcula sobre 8 meses.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numeradores junto a las tasas: el aumento equivale a una suspensión adicional con tres programadas normales menos. Es una descripción mensual; no demuestra un deterioro sostenido. Los umbrales (&lt; 3 % internacional, &lt; 6,5 % COMGES) son referencias comparativas, no metas automáticas.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a la misma fecha (enero–agosto). Tasa mensual 2025: 5,98 · 8,98 · 7,36 · 11,18 · 8,72 · 8,56 · 13,33 · 12,11. Tasa mensual 2026: 9,24 · 6,81 · 8,33 · 5,75 · 4,22 · 1,68 · 0,65 · 1,32. Media móvil de 3 meses (suma de suspendidas / suma de programadas del trimestre móvil): 2025 termina en 11,41 % (jun–ago) y 2026 en 1,23 %. Acumulado a agosto: 2025 9,83 % (133 / 1.353), 2026 5,04 % (74 / 1.469). Contrafactual: al ritmo acumulado de 2025 a la misma fecha (9,83 %) las 1.469 programadas de 2026 habrían producido 144,3 suspensiones; se registraron 74: 70 suspensiones evitadas (pacientes operados a tiempo). En agosto, a la tasa 2025 (9,38 %) se esperaban 14,3 sobre 152 programadas; hubo 2.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Carta p: p̄ = 200 / 2.132 = 9,38 % (2025). Límite inferior de cada mes = p̄ − 3·√(p̄(1−p̄)/n). Junio (1,68 % vs LCL 2,84 %), julio (0,65 % vs 2,36 %) y agosto (1,32 % vs 2,29 %) quedan bajo el límite inferior: causa especial favorable por tercer mes consecutivo. Trimestre jun–ago 2026: 6 / 486 = 1,23 % frente a 268 / 3.115 = 8,60 % del período ene-25–may-26 (RR 0,14; prueba exacta de Fisher p = 2,3·10⁻¹¹). Frente al mismo trimestre de 2025 (67 / 587 = 11,41 %): RR 0,11. Un mes con 1–2 casos varía por azar; la señal está en la secuencia y en el acumulado.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CUSUM sobre conteos: C_t = Σ (programadas_t × 9,38 % − suspendidas_t). Mientras el proceso se comporta como 2025, C_t oscila en torno a cero; cuando la tasa cae, C_t sube de forma sostenida. Valores: 4, 4.6, 7.9, 4.9, 5.9, 7.4, -0.9, -6.1, -3.2, 1.4, -0.3, 0, 0.3, 5.2, 7.4, 15.6, 24.2, 38, 51.5, 63.8. Último mes en torno a cero: ene-26; el ascenso sostenido comienza en feb-26 (enero 2026 queda en la media: 17 / 184 = 9,24 %). Desde el quiebre se acumulan 64 suspensiones menos que las esperadas a tasa 2025. EWMA con λ = 0,3 partiendo de la media 2025: valores 8.36, 8.55, 8.19, 9.09, 8.98, 8.85, 10.2, 10.77, 9.89, 9.12, 9.46, 9.38, 9.34, 8.58, 8.51, 7.68, 6.64, 5.15, 3.8, 3.06; agosto queda en 3,06 % porque la EWMA reacciona con rezago (es una lectura prudente). Pronóstico de septiembre: 3,06 % sobre 184 programadas (media mensual 2026) = 5,6 suspensiones esperadas, intervalo binomial P5–P95 2–10; si se sostiene el trimestre jun–ago (1,23 %): ≈ 2. Banda de la tasa con la desviación de los residuos (1,90 pp): 0,00–6,18 %. El informe de julio ubicó el quiebre en enero 2026 con CUSUM sobre tasas; con conteos, enero está en la media y el despegue es febrero: la diferencia es de método, no de hallazgo.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distinción debe permanecer visible. El total calendario del monitoreo no es el total de suspensiones hospitalarias. La tasa de 7,5 % pertenece a la cohorte y lógica de agenda del tablero SITGEQ; no se sustituye su denominador por el del monitoreo. No calcular 18 / 251 para Oftalmología: las cohortes no coinciden por identidad y fecha. El nuevo REM832 clasifica 4 suspensiones (1 hábil, 2 inhábil L–V, 1 fin de semana) con criterio propio y no reemplaza el criterio L–V solicitado.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informe-suspensiones-usuarios-2026-09-05.xlsx (Informe de Suspensiones Mes Agosto 2026, correo del 2 de septiembre), Sheet1!A2:L39, agosto completo. 38 registros: 37 electivos y 1 urgencia. Sus conteos no comparten el denominador de programación normal del monitoreo.
Fuente: SITGEQ, escritorio consultado el 5 de septiembre de 2026 con filtro 1–31 de agosto y pabellones de tipo electivo 2–4. Variaciones copiadas del tablero; no se reconstruyen valores absolutos de julio desde porcentajes redondeados.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del registro: dos eventos MINSAL dentro de cinco mayores directas; cinco dentro de quince directas; quince directas más veintidós condicionales más una urgencia completan los 38. Los bloques se agrupan por clase de evitabilidad asignada por el analista a partir de la causal registrada (regla de julio); 18 registros no tienen causal y no se clasifican.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agregados por fecha, especialidad y causal, sin información de pacientes. Las dos primeras coinciden con el consolidado mensual del monitoreo (correo del 2 de septiembre). Las otras tres mayores directas constan con error de programación en el reporte operativo y no aparecen en el campo de suspendidas del monitoreo: corresponde conciliar el criterio entre ambas fuentes antes de la próxima medición. La evitabilidad es la clasificación del analista y no reemplaza la validación clínica y operacional.
Fuente: informe-suspensiones-usuarios-2026-09-05.xlsx (Informe de Suspensiones Mes Agosto 2026, correo del 2 de septiembre), Sheet1!A2:L39, agosto completo. 38 registros: 37 electivos y 1 urgencia. Sus conteos no comparten el denominador de programación normal del monitoreo.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Agrupación por categoría MINSAL: Equipo quirúrgico = error de programación (7) + reemplazo por urgencia (3) + falta de cirujano (1) = 11 (28,9 %). Paciente = no presentación (3), ayuno / exámenes incompletos (2), enfermedad aguda (1), descompensación (1) = 7 (18,4 %). Apoyo e infraestructura = instrumental incompleto (1) e infraestructura (1) = 2 (5,3 %). Sin causal = 18 (47,4 %). Las 18 sin causal requieren completar el dato, no atribuir evitabilidad.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proviene de informe-suspensiones-usuarios-2026-07-30.xlsx: 29 registros sin duplicados, con eventos entre el 1 y el 29; el archivo del día 30 no acredita cobertura del 31. Agosto cubre el mes completo. Se agrupan infraestructura / clima / desastres: julio 4 clima + 3 desastre + 3 infraestructura; agosto 1 infraestructura. Otras causas: julio 3 recuperación y 1 presentación tardía; agosto 1 instrumental, 1 descompensación, 1 falta de cirujano y 1 enfermedad aguda. No se interpreta 29 → 38 como cambio de tasa.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es dos dentro de cinco mayores directas; cinco dentro de quince directas; quince directas más veintidós condicionales más una urgencia completan los 38. Este cruce evita tratar "2", "18" y "38" como grupos independientes sumables.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232 encuentros mayores electivos oftalmológicos realizados ocurren en fin de semana (229 facoéresis + 3 otras). Las 18 suspensiones oftalmológicas son condicionales, también de fin de semana, pero no coinciden por identidad y fecha con las 251 programadas del REM. No dividir 18 por 251 ni sumar 232 + 18 como si cerraran una cohorte. Diecisiete carecen de causal y una registra descompensación. Los 19 registros de fin de semana se concentran en dos fines de semana (8–9 y 22–23 de agosto: 16 registros), compatible con eventos de jornada más que con 18 fallas independientes; requiere completar la causal por jornada.
Fuente: export-830-encuentro-quirurgicos.xlsx, Sheet1!A2:AR642, agosto de 2026. 641 filas originales, 640 encuentros tras retirar una copia exacta de un encuentro de urgencia; 434 electivos y 206 urgencias. Sin datos personales.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calendario muestra el número de registros de suspensión operativa, no casos realizados ni una tasa diaria. La suma de todas las casillas es 38; las dos suspensiones del monitoreo ocurren el 3 y el 17 (lunes). Totales por día de la semana: lunes 6, martes 2, miércoles 2, jueves 3, viernes 6, sábado 8, domingo 11.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Lunes: 6 de 19 registros L–V (31,6 %) y los dos eventos MINSAL (3 y 17 de agosto). Correo del 23 de agosto: cancelación de la tabla del lunes 24 en Pabellón 2 por falta de enfermera del área, tercer lunes consecutivo (10, 17 y 24); se refiere a tablas, no a pacientes. Histórico SPC ene-25–abr-26: lunes 11,09 % de suspensión hábil (Z = 2,09, significativo al 5 %). La prioridad de julio "blindar las tablas del lunes" (confirmación telefónica y revisión de exámenes el viernes PM) sigue vigente.
Fuente: informe-suspensiones-usuarios-2026-09-05.xlsx (Informe de Suspensiones Mes Agosto 2026, correo del 2 de septiembre), Sheet1!A2:L39, agosto completo. 38 registros: 37 electivos y 1 urgencia. Sus conteos no comparten el denominador de programación normal del monitoreo.
SPC_Suspensiones_HQ (Google Sheets, ene-2025 a abr-2026).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del analista (julio 2026): error de programación, ayuno / exámenes incompletos e instrumental incompleto = evitable; no presentación, infraestructura y falta de cirujano = potencialmente evitable; reemplazo por urgencia, enfermedad aguda y descompensación = no evitable. Entre los 20 clasificables: 10 evitables (50 %), 5 potencialmente (25 %), 5 no evitables (25 %); 15 de 20 con potencial de prevención (75 %). Julio: 34 % evitable (10 de 29) y 62 % con potencial (18 de 29). Los 18 sin causal no se clasifican: es el hallazgo principal del registro. Validación clínica y operacional pendiente.
Fuente: informe-suspensiones-usuarios-2026-09-05.xlsx (Informe de Suspensiones Mes Agosto 2026, correo del 2 de septiembre), Sheet1!A2:L39, agosto completo. 38 registros: 37 electivos y 1 urgencia. Sus conteos no comparten el denominador de programación normal del monitoreo.
Referencia: Comité Quirúrgico · Julio 2026 (estructura, clasificación de evitabilidad del analista y proyección HPMM) e Informe de suspensiones y producción CME HQPE (agosto 2026, ene-2025 a jul-2026).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Jornadas oftalmológicas: 8–9 de agosto (9 registros) y 22–23 (7): 16 de 19 registros de fin de semana; sin causal en 17 de 18. Error de programación: 7 registros, incluidas 3 mayores directas (20, 28 y 31). Pabellón 2: tablas de los lunes 10, 17 y 24 canceladas por falta de enfermera (correo del 23-ago). Equipos: restricción del equipo de histeroscopía / RTU bipolar (31-ago) e instrumental incompleto en Traumatología (3-ago, evento MINSAL). Ginecología en extensión horaria: segunda cirugía suspendida dos jueves consecutivos (20 y 27-ago) por transiciones &gt; 30 min; acuerdo del 31-ago: 1 EQ + 1 rectoscopia por extensión. Infraestructura: infiltración por lluvias en cubierta de Pabellón 1 (correo del 11-ago), obras desde el 12-ago por 7 días hábiles, sin interrupción asistencial prevista; 1 registro por infraestructura en el mes.
Correos de agosto: 11, 23, 28, 31 de agosto.
Fuente: informe-suspensiones-usuarios-2026-09-05.xlsx (Informe de Suspensiones Mes Agosto 2026, correo del 2 de septiembre), Sheet1!A2:L39, agosto completo. 38 registros: 37 electivos y 1 urgencia. Sus conteos no comparten el denominador de programación normal del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Lunes: en agosto 6 de 19 registros L–V; si el día fuera azar (1/5 por día) la probabilidad de 6 o más es p = 0,16 (binomial): agosto solo no lo demuestra. Los dos eventos MINSAL en lunes tienen probabilidad 1/25 (p = 0,04). El histórico SPC ene-25–abr-26 sí lo confirma: lunes 11,09 % (Z = 2,09, significativo al 5 %). Jornadas de fin de semana: 19 registros en cinco fines de semana; que los dos mayores concentren 16 o más ocurre en 0,09 % de 200.000 simulaciones con reparto uniforme (p &lt; 0,001): la concentración no es azar, es compatible con eventos de jornada (capacidad, dotación, insumos o inasistencia masiva); la causal completa por jornada lo resolvería. Bosque aleatorio (informe de agosto, datos ene-25–jul-26, 400 árboles): importancia mes del año 42 %, régimen 2026 26 %, volumen programado 15 %, día de semana 11 %, invierno 4 %, lunes 2 %; correlación volumen–suspensión de Spearman 0,33 (débil-moderada). Conclusión operativa: no se puede predecir el día exacto; sí gestionar el sistema (régimen, estacionalidad, lunes).
Fuente: informe-suspensiones-usuarios-2026-09-05.xlsx (Informe de Suspensiones Mes Agosto 2026, correo del 2 de septiembre), Sheet1!A2:L39, agosto completo. 38 registros: 37 electivos y 1 urgencia. Sus conteos no comparten el denominador de programación normal del monitoreo.
Referencia: Comité Quirúrgico · Julio 2026 (estructura, clasificación de evitabilidad del analista y proyección HPMM) e Informe de suspensiones y producción CME HQPE (agosto 2026, ene-2025 a jul-2026).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correos del 11-ago (obras en cubierta de Pabellón 1), 23-ago (Pabellón 2, lunes sin enfermera), 24-ago (solicitud de uso de camas CMA y Corta Estadía como salas mixtas; solicitud de cifras 2025 con la misma metodología: REM hábil 2025 = 6,9 %, con discrepancia respecto de UGCQ), 28–31-ago (extensión horaria de ginecología; equipo RTU bipolar), 31-ago (medida: sin consentimiento informado completo y firmado no se incorpora a tabla; aprobada por la SDM el 2-sep), 2-sep (informe de suspensiones de agosto: usuarios, especialidad, cirugías y quirófanos por rango de fecha, REM 21, dashboard), 4-sep (reunión de evaluación de procesos de la Unidad Prequirúrgica y suspensiones evitables por ayuno).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Mantener el rótulo exacto de cada columna. Las realizadas normales superan a las programadas normales en ambos meses; sin cruce individual, su división no es una tasa de cumplimiento validada (el "cumplimiento de tabla" del PPT de julio no se reproduce). No existe columna de agregadas programadas. La comparación describe los agregados del mismo archivo y criterio de calendario.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monitoreo es una fuente agregada que declara 620 procedimientos en agosto, mientras el export de encuentros contiene 63 procedimientos. No deben mezclarse ni interpretarse como un error por defecto: sus coberturas y reglas de registro difieren (desde julio se registran procedimientos de anestesiología en el nuevo sistema). Para producción julio–agosto se conserva la fuente histórica; los encuentros aportan especialidad, pabellón, hitos y recambios. La diferencia 411 frente a 405 CME no es la eliminación del duplicado (la copia exacta era una urgencia).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CME L–V 2026 por mes (serie homogénea): 256, 245, 255, 286, 186, 237, 214, 201 = 1.880. Fin de semana = total mensual − L–V: 125, 233, 212, 248, 239, 145, 94, 210 = 1.506. Totales mensuales: 381, 478, 467, 534, 425, 382, 308, 411. Julio se actualizó de 285 (PPT de julio, L–V estimado en 191) a 308 (214 L–V). El crecimiento neto de agosto (+103) se explica por +116 en fin de semana y −13 en L–V; julio tuvo ocho días de fin de semana y agosto diez.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CME realizada todas las fechas, 2025: 358, 410, 486, 372, 400, 467, 395, 419 (ene–ago = 3.307); 2026: 381, 478, 467, 534, 425, 382, 308, 411 (3.386, +2,4 %). Lunes a viernes: 1.657 → 1.880 (+13,5 %) con 173 días L–V en ambos; fin de semana: 1.650 → 1.506 (−8,7 %). Julio y agosto de 2026 quedan bajo su par de 2025 (395 → 308; 419 → 411): coinciden con el período en que se operó una buena parte del tiempo con un pabellón menos (lámina siguiente).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Ene–ago 2025 vs 2026 (monitoreo): CME realizada todas las fechas 3.307 → 3.386 (+2,4 %); CME L–V 1.657 → 1.880 (+13,5 %); fin de semana 1.650 → 1.506 (−8,7 %); urgencia mayor 1.164 → 1.328 (+14,1 %); cirugía menor 459 → 331 (−27,9 %); procedimientos 515 → 1.372 (+166 %, no comparable por el registro de procedimientos de anestesiología en el nuevo sistema desde julio); total actividad declarada 5.445 → 6.417 (+17,9 %); suspendidas hábiles 133 → 74 (−44,4 %). 2026 = ene–jun del informe de agosto + julio y agosto de la serie actualizada.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Referencia: Comité Quirúrgico · Julio 2026 (estructura, clasificación de evitabilidad del analista y proyección HPMM) e Informe de suspensiones y producción CME HQPE (agosto 2026, ene-2025 a jul-2026).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Agosto 2026 presenta menos CME L–V que agosto 2025: 231 a 201 (−13,0 %), ambos con 21 días. El total calendario pasa de 419 a 411 (−1,9 %) y el fin de semana de 188 a 210 (+11,7 %). También disminuye el número de suspensiones normales L–V (23 → 2). El acumulado enero–agosto 2026 registra 1.880 CME L–V frente a 1.657 (+13,5 %), con 173 días L–V en ambos períodos. Las lecturas mensual y acumulada se presentan juntas para evitar seleccionar solo una comparación favorable. Las tasas acumuladas usan la suma de suspendidas / la suma de programadas.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Encuentros electivos L–V de agosto (export 830): 202 en 51 pabellón-días disponibles (P2 9, P3 21, P4 21) = 3,96 por pabellón-día. Con Pabellón 2 los 21 días (63 pabellón-días) y la misma productividad: ≈ 250 electivos (+48). En CME del monitoreo: 201 L–V = 3,94 por pabellón-día; con P2 completo ≈ 248 CME = 11,81 por día L–V, sobre la media 2026 (10,87) y sobre julio (9,30). Fechas con actividad en P2: 3–7, 26–28 y 31 de agosto; los lunes 10, 17 y 24 la tabla se canceló por falta de enfermera y hubo obras en cubierta desde el 12-ago. Julio: el pabellón menos afectó una parte del mes (climatización 1–6 de julio y otras restricciones); el número de días sin pabellón de julio debe confirmarse para completar la estimación. Supuesto: productividad por pabellón-día constante (no considera mezcla de casos ni horario).
Fuente: export-830-encuentro-quirurgicos.xlsx, Sheet1!A2:AR642, agosto de 2026. 641 filas originales, 640 encuentros tras retirar una copia exacta de un encuentro de urgencia; 434 electivos y 206 urgencias. Sin datos personales.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promedio no es cirugías por pabellón ni por jornada habilitada. Usa todos los días L–V de cada mes (ene 22, feb 20, mar 22, abr 22, may 21, jun 22, jul 23, ago 21). El análisis por calendario ofrece una comparación estable, pero no sustituye una medición de horas o pabellones efectivamente disponibles. Media ene–ago 2026: 1.880 / 173 = 10,87; 2025: 1.657 / 173 = 9,58.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Clasificación obtenida de la especialidad explícita del detalle REM832, vinculada al encuentro por nombre exacto normalizado, fecha y pabellón. Hay 403 correspondencias unívocas, una sin coincidencia y una discordante. Se preserva la base de 405 CME realizadas; no se usa el subtotal REM de 135 intervenidos. Otras especialidades (34) agrupa 23 Otras Especialidades, 5 Maxilofacial, 4 Neurocirugía, 1 Tórax y 1 Odontología, etiquetas literales. Se excluyen 29 electivas menores o procedimientos. No se infieren especialidades a partir de prefijos FONASA.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tablero de producción considera pabellones de tipo electivo 2–4, con 452 encuentros: 434 electivos y 18 urgencias. Divide por 31 días y muestra 14,6. Los 188 de Pabellón 1 se excluyen de ese universo. En Pabellón 2 se observan encuentros los días 3–7, 26–28 y 31; no inferir que todas las otras fechas estuvieron cerradas. Los lunes 10, 17 y 24 la tabla de Pabellón 2 se canceló por falta de enfermera (correo del 23-ago).
Fuente: export-830-encuentro-quirurgicos.xlsx, Sheet1!A2:AR642, agosto de 2026. 641 filas originales, 640 encuentros tras retirar una copia exacta de un encuentro de urgencia; 434 electivos y 206 urgencias. Sin datos personales.
Fuente: SITGEQ, escritorio consultado el 5 de septiembre de 2026 con filtro 1–31 de agosto y pabellones de tipo electivo 2–4. Variaciones copiadas del tablero; no se reconstruyen valores absolutos de julio desde porcentajes redondeados.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Medianas de agosto (encuentros electivos L–V, export 830): ingreso a anestesia 12 min (n 198), anestesia a incisión 18 (n 198), incisión a término quirúrgico 54 (n 196), término a salida 13 (n 197); ocupación total de quirófano 100,5 min (n 202): las medianas de los tramos no suman la mediana total porque cada una se calcula sobre su propia cohorte. Recambio neto (salida del anterior a ingreso del siguiente, descontando 12:30–14:00) mediana 18 min, bruto 25. Primer caso del día: ingreso 07:55, anestesia 08:23, incisión 08:45 (n 51); del ingreso a la incisión, 45 min (P90 72). Fin de semana (oftalmología): ocupación mediana 9 min, otro circuito. Oportunidades: preparación hasta la incisión (45 min del primer caso, 30 del caso típico), cola del recambio (P90 43 min) y continuidad al mediodía (33 h 35 en agosto).
Fuente: Informe de análisis "Evolución del proceso quirúrgico" (borrador para validación institucional, 6 de septiembre de 2026): recambio, primeros inicios, almuerzo, ocupación, prestaciones y evaluación local de algoritmos.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cohorte exige que el caso sea el primer encuentro real de la fecha y pabellón, además electivo, en L–V, con ingreso desde las 06:00. Julio aporta 52 y agosto 51. Se calculan primero los intervalos de cada caso y luego la mediana: no restar 08:45 − 07:55 y presentar 50 min como mediana del intervalo (el resultado por pares es 45). La mejora en horario de ingreso convive con un intervalo de preparación levemente mayor. Agosto: 30 / 51 ingresos ≤ 08:00 (58,8 %); 32 / 51 incisiones ≤ 09:00 (62,7 %); P90 de ingreso 08:43, anestesia 09:04, incisión 09:34; ingreso → incisión mediana 45 min y P90 72 min.
Fuente: Informe de análisis "Evolución del proceso quirúrgico" (borrador para validación institucional, 6 de septiembre de 2026): recambio, primeros inicios, almuerzo, ocupación, prestaciones y evaluación local de algoritmos.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Conteos: ingreso hasta las 08:00, julio 22 / 52 y agosto 30 / 51; anestesia hasta las 08:30, 33 / 52 y 38 / 51; incisión hasta las 09:00, 34 / 52 y 32 / 51. Límites inclusivos. El porcentaje de incisiones hasta las 09:00 es ligeramente menor en agosto aunque la mediana se adelanta cinco minutos: un único resumen no describe toda la distribución. Por pabellón: Pabellón 2 tiene nueve días observados y Pabellones 3 y 4 veintiuno; las diferencias no permiten atribuir retrasos a un equipo o persona.
Fuente: Informe de análisis "Evolución del proceso quirúrgico" (borrador para validación institucional, 6 de septiembre de 2026): recambio, primeros inicios, almuerzo, ocupación, prestaciones y evaluación local de algoritmos.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 del informe del 6 de septiembre (anexo de primeros casos mensuales). En 2025 la mediana mensual del primer ingreso se mantuvo entre 07:54 y 07:59 y la incisión entre 08:41 y 08:46. En SITGEQ, julio 2026 registra 08:02 y 08:50; agosto 07:55 y 08:45. Frente a agosto de 2025 el ingreso mediano es similar (07:56 → 07:55), pero la proporción de incisiones hasta las 09:00 baja de 49 / 58 (84,5 %) a 32 / 51 (62,7 %). * Meses parciales: enero 2026 hasta el día 12; mayo 2026 desde el día 7. No hay serie de tiempos entre el 13 de enero y el 29 de abril de 2026. Comparación sin ajuste por mezcla; los resultados de anestesia se limitan a SITGEQ.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queda en 125 pares con el export 787 (el PPT comparativo usó el export 683 con 126 pares: mediana bruta 24,5, neta 19,0, media bruta 44,9, media neta 29,3, P90 59,0); es una revisión de fuente, sin evidencia de un cambio asistencial. La mediana neta baja un minuto, la media neta baja 6,9 minutos y el P90 pasa de 59,4 a 43. La lectura debe conservar estas diferencias, sin reducir toda la distribución a "recambio mejoró". Agosto por sala: P2 21 pares (mediana neta 25), P3 73 (16), P4 47 (18); P2 aporta solo 21 pares y nueve fechas con primeros casos: revisar su combinación de prestaciones antes de concluir un problema propio de la sala. Sensibilidad: 121 pares con minutos hábiles registrados en ambos casos, media neta 19,2 y mediana 15.
Fuente: Informe de análisis "Evolución del proceso quirúrgico" (borrador para validación institucional, 6 de septiembre de 2026): recambio, primeros inicios, almuerzo, ocupación, prestaciones y evaluación local de algoritmos.
Fuente: export-830-encuentro-quirurgicos.xlsx, Sheet1!A2:AR642, agosto de 2026. 641 filas originales, 640 encuentros tras retirar una copia exacta de un encuentro de urgencia; 434 electivos y 206 urgencias. Sin datos personales.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2025 la mediana mensual del recambio neto se mueve entre 14 y 21 min. El 5 de diciembre de 2024 refleja 66 encuentros de oftalmología entre semana en P2–P4; al excluir los 64 pares que la incluyen quedan 80 pares y la mediana neta sube a 18 min: el valor global de 5 min no es una referencia de eficiencia para otras prestaciones. Agosto de 2026 mejora frente a julio en la media y en el P90, con un cambio menor en la mediana; frente a agosto de 2025 la mediana aumenta dos minutos y la media disminuye unos cinco: reducción de intervalos largos más que desplazamiento uniforme. Descripción sin ajuste por mezcla ni atribución causal; línea punteada en jul-25: cambio de esquema histórico; sin datos del 13-ene al 29-abr de 2026.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agosto, 2.015 min del intervalo entre pacientes coinciden con 12:30–14:00: 33 h 35 min, 38,8 % de los 5.199 min brutos de la cohorte (141 pares; 40 pares con algún solapamiento; 39 combinaciones de pabellón y día con solapamiento positivo en 20 fechas; mediana 43 min por pabellón-día incluyendo cero, 58 min entre los que sí tienen). Tramo continuo ≥ 60 min: 16 jornadas de pabellón en 12 fechas; ≥ 90 min: 2 jornadas en 1 fecha. El caso siguiente de los 141 pares tiene ocupación mediana de 94 min: 60 min es una hipótesis para casos cortos elegibles, no producción esperable. No convertir 33 h 35 en un número de cirugías dividiendo el total sin respetar continuidad. Julio: 1.963 min en 38 pares.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agosto, los encuentros electivos de lunes a viernes tienen mediana de ocupación de 100,5 min; la mediana de IQ de la subcohorte válida es 54 min. La diferencia entre medianas no debe interpretarse como la mediana de preparación y salida. El fin de semana concentra encuentros mucho más breves (mediana 9 min): mezclarlos con la actividad habitual puede reducir la media mensual sin que cambie la eficiencia de una cirugía comparable. La hora del último caso no equivale al cierre de la jornada disponible; no se estima utilización de capacidad instalada dividiendo por un horario supuesto. Recuperación: 484 de 640 encuentros con ambos horarios; 157 intervalos iguales a cero y 13 negativos; 312 positivos con mediana 62,5 min (subcohorte descriptiva).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cuadro conserva la intervención propuesta del nuevo sistema y resume junio a agosto de 2026; describe encuentros registrados y no constituye una recomendación de duración para una persona. Una propuesta puede agrupar variación de técnica, complejidad o procedimientos asociados; el P90 no es un tiempo garantizado ni compara equipos. La ausencia del campo especialidad (jun 79,8 %, jul 67,9 %, ago 74,7 % sin especialidad) impide un ranking longitudinal fiable por especialidad; servicio clínico del sistema antiguo y especialidad del nuevo no se equiparan automáticamente. Para el tablero definitivo se necesita una clasificación institucional versionada de prestación y especialidad.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observados en el escritorio, no recalculados aquí. No reconstruir valores absolutos de julio con porcentajes redondeados. El recambio de 14 minutos usa la definición del tablero; el neto de 22,6 minutos (media) y 18 (mediana) de este análisis descuenta solo 12:30–14:00 a los pares L–V. El retraso observado de 12 minutos concuerda con 11,76 minutos de diferencia positiva de ingreso respecto de las 08:00 en los primeros casos de agosto. La ocupación cae en la comparación relativa; el título no afirma una mejora uniforme. No se adoptan umbrales de la interfaz como metas institucionales.
Fuente: SITGEQ, escritorio consultado el 5 de septiembre de 2026 con filtro 1–31 de agosto y pabellones de tipo electivo 2–4. Variaciones copiadas del tablero; no se reconstruyen valores absolutos de julio desde porcentajes redondeados.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retrospectiva con datos de SITGEQ; la serie antigua queda fuera del entrenamiento. Objetivos: ocupación electiva (799 / 231 / 433), duración IQ (769 / 225 / 427) y recambio neto P2–P4 L–V (248 / 125 / 141). Julio selecciona Ridge para ocupación (MAE 36,3); en agosto su MAE es 21,8 min frente a 23,1 de la mediana por propuesta: diferencia −1,3 min con intervalo exploratorio de −4,7 a +1,2. La MLP obtiene 20,3 en agosto, pero ese resultado descriptivo no autoriza a sustituir la selección hecha con julio. Ridge en L–V: MAE 41,8 (referencia 46,1); fin de semana 4,3 (3,1): la mezcla de prestaciones breves mejora el indicador global. 68 de 433 propuestas no estaban en el entrenamiento y 73 tenían 1–4 ejemplos; 20,3 % de subestimación &gt; 30 min en L–V. Para recambio gana la mediana global (14,1) en julio y agosto: las características de la prestación no capturan sala lista, paciente listo, traslado, instrumental o cobertura. Semilla 20260906; Ridge α = 10; bosque 200 árboles; MLP 32–16.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Aplicaciones de inteligencia artificial pertinentes (informe del 6 de septiembre): ocupación al cerrar la tabla (mediana jerárquica, Ridge, árboles y MLP como comparadores; hay prueba local exploratoria; falta agenda congelada, estimación humana e intervalos calibrados); variantes del flujo y esperas (minería de procesos y reglas temporales; agregar sala lista, paciente listo, limpieza, montaje y traslado); escenarios de almuerzo y agenda (simulación de eventos discretos y optimización con restricciones; usar ventanas continuas y disponibilidad observada); suspensión por causa (reglas y regresión; árboles solo si mejora la evaluación; se necesita agenda completa de realizados y suspendidos enlazada por episodio con variables previas; Sharabi et al. predicen inasistencia y excluyen cancelaciones del hospital); tiempo restante intraoperatorio (red secuencial o de vídeo; proyecto posterior con señales sincronizadas); modelos tabulares preentrenados (TabPFN como comparador opcional). Evidencia externa: Bartek 2019 (46.986 operaciones), Strömblad 2021 (ensayo aleatorizado, error 59,3 → 49,5 min), Jiao 2020 (redes probabilísticas), Lex 2026 (simulación de artroplastia), Goldhaber 2023 (Surgical Pit Crew). Las herramientas orientan la revisión del equipo; la priorización clínica, la confirmación de agenda y la decisión de suspender permanecen bajo responsabilidad profesional.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registro debe ser breve y ligado a tareas observables. Se propone un catálogo reducido de motivos, con "sin causa determinada" disponible, y marcas de tiempo que no se modifiquen retroactivamente sin conservar la versión. La ausencia de un dato debe permanecer diferenciada de un valor cero. Prioridad de julio (registro operable): campos evento raíz, anticipación (día previo vs mismo día), pabellón, especialidad y reprogramación efectiva; en agosto el registro llegó con 18 causales vacías y sin esos campos. Una captura consistente de hitos puede aportar más valor inicial que añadir capas a la red neuronal.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Proyección binomial con el volumen de programadas normales L–V por año de cada escenario (2.308 con 3 pabellones; 5.387 con 7, mismos volúmenes que la simulación de julio) y la tasa de cada escenario: 2025 (9,38 %), histórica de 20 meses ene-25–ago-26 (7,61 %), ene–ago 2026 (5,04 %) y trimestre jun–ago 2026 (1,23 %). P5–P95 = percentiles 5 y 95 de la binomial. No incorpora estacionalidad ni cambio de mezcla. Sep–dic 2026: 734 programadas hábiles (media mensual 2026 de 184 × 4). Condiciones del escalamiento: capacidad de URPA y camas (solicitud del 24-ago de uso de camas CMA y Corta Estadía como salas mixtas) y pabellón de urgencia separado (urgencia mayor +14,1 % interanual).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Referencia: Comité Quirúrgico · Julio 2026 (estructura, clasificación de evitabilidad del analista y proyección HPMM) e Informe de suspensiones y producción CME HQPE (agosto 2026, ene-2025 a jul-2026).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Agosto sostiene el régimen bajo (1,32 %, tercer mes bajo el límite inferior de control) con un registro operativo que aún no explica la mitad de sus eventos. Prioridades: completar la causal (18 sin causal, por jornada oftalmológica); blindar las tablas del lunes (6 de 19 registros L–V, 2 de 2 MINSAL, tres lunes sin enfermera en Pabellón 2); auditar el error de programación (7, con 3 mayores directas que no figuran en el monitoreo); consentimiento y ayuno antes de la tabla (medida del 31-ago aprobada el 2-sep; reunión del 4-sep); registro operable y piloto de continuidad (campos comprometidos en julio; piloto de cobertura de almuerzo de cuatro semanas con hitos de sala, paciente y URPA). Cada prioridad requiere responsable y plazo acordados en el comité.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PPT de julio es una referencia de estructura y estilo, pero sus cifras no se copian cuando existe una base homogénea actualizada. Su cifra de 191 CME L–V estaba expresada como estimación. El histórico actual registra 155 programadas y 214 CME L–V en julio. No explicar la diferencia por festivos: el 16 de julio tiene cero programadas y cero CME y no explica los 14 programados adicionales. El antiguo "cumplimiento de tabla" no se reproduce, porque numerador y cohorte no están homologados. Recambio de julio: 126 pares con el export 683 y 125 con el 787 (revisión de fuente). Agosto -15 y -16 coinciden en todas sus celdas verificadas.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reporte operativo registra 19 suspensiones en fin de semana aunque el campo de monitoreo declare cero. El nuevo REM832 tiene otra clasificación de suspensiones: 1 hábil, 2 inhábil L–V y 1 fin de semana; se conserva como fuente diferenciada y no se utiliza para reemplazar el criterio L–V solicitado. No se presenta una tasa oficial MINSAL nueva. La tasa 18 / 251 queda descartada por no compartir fechas de eventos. La línea base REM 2025 (Estadística, 24-ago): 200 suspensiones / 2.872 programadas hábiles = 6,9 %, frente a 200 / 2.132 = 9,38 % del monitoreo: mismo numerador, distinto denominador; discrepancia en revisión.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informe-suspensiones-usuarios-2026-09-05.xlsx (Informe de Suspensiones Mes Agosto 2026, correo del 2 de septiembre), Sheet1!A2:L39, agosto completo. 38 registros: 37 electivos y 1 urgencia. Sus conteos no comparten el denominador de programación normal del monitoreo.
Fuente: SITGEQ, escritorio consultado el 5 de septiembre de 2026 con filtro 1–31 de agosto y pabellones de tipo electivo 2–4. Variaciones copiadas del tablero; no se reconstruyen valores absolutos de julio desde porcentajes redondeados.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Carta p: línea central 200 / 2.132 = 9,38 % (2025); límites p̄ ± 3·√(p̄(1−p̄)/n) con n = programadas normales L–V de cada mes. Fisher: prueba exacta bilateral sobre tablas 2×2 de suspendidas / no suspendidas. Binomial: percentiles 5, 50 y 95 de Bin(n, p). Evitabilidad: regla del analista de julio aplicada a la causal registrada. Sensibilidades temporales: julio tiene cuatro primeros electivos precedidos por urgencia (n = 56: ingreso 08:02, incisión 08:50, anestesia 08:25; incisión ≤ 09:00 35 / 56); agosto recambio con minutos hábiles en ambos casos n = 121, media 19,2, mediana 15.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Informe de análisis "Evolución del proceso quirúrgico" (borrador para validación institucional, 6 de septiembre de 2026): recambio, primeros inicios, almuerzo, ocupación, prestaciones y evaluación local de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cálculos usan la serie homogénea del monitoreo (L–V) y el registro operativo de agosto; el bosque aleatorio proviene del informe de agosto. Sin scipy: Fisher exacto, binomial y cuantiles se calculan con funciones gamma; Monte Carlo con semilla fija 20260907.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archivo mantiene gráficos y tablas nativos editables. Se reutilizó el tema, tamaño y marco visual del comité de julio; el contenido corresponde a agosto de 2026 con la evidencia verificada de cada fuente. Presentado en el comité de septiembre de 2026.
Fuente: 2025 Cirugía por rangos de fecha-15.xlsx, hoja1!A1:DO609. Serie homogénea de 608 fechas (enero de 2025 a agosto de 2026); agosto coincide con el archivo -16 en 31 fechas y 119 columnas. Hábil = lunes a viernes, sin filtro adicional de festivos. Tasa = suspendidas de programación normal de CME (N) / programadas normales (L). CME realizadas = normales + condicionales + agregadas (P + Q + R).
Fuente: export-830-encuentro-quirurgicos.xlsx, Sheet1!A2:AR642, agosto de 2026. 641 filas originales, 640 encuentros tras retirar una copia exacta de un encuentro de urgencia; 434 electivos y 206 urgencias. Sin datos personales.
Fuente: informe-suspensiones-usuarios-2026-09-05.xlsx (Informe de Suspensiones Mes Agosto 2026, correo del 2 de septiembre), Sheet1!A2:L39, agosto completo. 38 registros: 37 electivos y 1 urgencia. Sus conteos no comparten el denominador de programación normal del monitoreo.
Fuente: Informe de análisis "Evolución del proceso quirúrgico" (borrador para validación institucional, 6 de septiembre de 2026): recambio, primeros inicios, almuerzo, ocupación, prestaciones y evaluación local de algoritmos.
Fuente: SITGEQ, escritorio consultado el 5 de septiembre de 2026 con filtro 1–31 de agosto y pabellones de tipo electivo 2–4. Variaciones copiadas del tablero; no se reconstruyen valores absolutos de julio desde porcentajes redondeados.
Referencia: Comité Quirúrgico · Julio 2026 (estructura, clasificación de evitabilidad del analista y proyección HPMM) e Informe de suspensiones y producción CME HQPE (agosto 2026, ene-2025 a jul-2026).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COMITÉ QUIRÚRGICO  ·  AGOSTO 2026</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Resumen de Gestión Quirúrgica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Hospital de Quilpué · SSVQ — Coordinación del Proceso Quirúrgico / UPPQ · Agosto 2026 y acumulado enero–agosto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01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486400" cy="2560320"/>
          </a:xfrm>
          <a:prstGeom prst="roundRect">
            <a:avLst>
              <a:gd name="adj" fmla="val 2857"/>
            </a:avLst>
          </a:prstGeom>
          <a:solidFill>
            <a:srgbClr val="0F1930"/>
          </a:solidFill>
          <a:ln w="15875">
            <a:solidFill>
              <a:srgbClr val="2DD4BF"/>
            </a:solidFill>
            <a:prstDash val="solid"/>
          </a:ln>
        </p:spPr>
      </p:sp>
      <p:sp>
        <p:nvSpPr>
          <p:cNvPr id="11" name="Text 8"/>
          <p:cNvSpPr txBox="1"/>
          <p:nvPr/>
        </p:nvSpPr>
        <p:spPr>
          <a:xfrm>
            <a:off x="685800" y="1828800"/>
            <a:ext cx="5120640" cy="237744"/>
          </a:xfrm>
          <a:prstGeom prst="rect">
            <a:avLst/>
          </a:prstGeom>
          <a:noFill/>
          <a:ln/>
        </p:spPr>
        <p:txBody>
          <a:bodyPr wrap="square" lIns="0" tIns="0" rIns="0" bIns="0" rtlCol="0" anchor="ctr"/>
          <a:lstStyle/>
          <a:p>
            <a:pPr algn="l" indent="0" marL="0">
              <a:buNone/>
            </a:pPr>
            <a:r>
              <a:rPr lang="en-US" sz="900" b="1" spc="200" kern="0" dirty="0">
                <a:solidFill>
                  <a:srgbClr val="BCCDE8"/>
                </a:solidFill>
                <a:latin typeface="Arial" pitchFamily="34" charset="0"/>
                <a:ea typeface="Arial" pitchFamily="34" charset="-122"/>
                <a:cs typeface="Arial" pitchFamily="34" charset="-120"/>
              </a:rPr>
              <a:t>TASA HÁBIL DE SUSPENSIÓN  ·  AGOSTO 2026</a:t>
            </a:r>
            <a:endParaRPr lang="en-US" sz="900" dirty="0"/>
          </a:p>
        </p:txBody>
      </p:sp>
      <p:sp>
        <p:nvSpPr>
          <p:cNvPr id="12" name="Text 9"/>
          <p:cNvSpPr txBox="1"/>
          <p:nvPr/>
        </p:nvSpPr>
        <p:spPr>
          <a:xfrm>
            <a:off x="685800" y="2048256"/>
            <a:ext cx="5120640" cy="960120"/>
          </a:xfrm>
          <a:prstGeom prst="rect">
            <a:avLst/>
          </a:prstGeom>
          <a:noFill/>
          <a:ln/>
        </p:spPr>
        <p:txBody>
          <a:bodyPr wrap="square" lIns="0" tIns="0" rIns="0" bIns="0" rtlCol="0" anchor="ctr"/>
          <a:lstStyle/>
          <a:p>
            <a:pPr algn="l" indent="0" marL="0">
              <a:buNone/>
            </a:pPr>
            <a:r>
              <a:rPr lang="en-US" sz="6000" b="1" dirty="0">
                <a:solidFill>
                  <a:srgbClr val="5EEAD4"/>
                </a:solidFill>
                <a:latin typeface="Arial" pitchFamily="34" charset="0"/>
                <a:ea typeface="Arial" pitchFamily="34" charset="-122"/>
                <a:cs typeface="Arial" pitchFamily="34" charset="-120"/>
              </a:rPr>
              <a:t>1,32</a:t>
            </a:r>
            <a:pPr algn="l" indent="0" marL="0">
              <a:buNone/>
            </a:pPr>
            <a:r>
              <a:rPr lang="en-US" sz="2800" b="1" dirty="0">
                <a:solidFill>
                  <a:srgbClr val="5EEAD4"/>
                </a:solidFill>
                <a:latin typeface="Arial" pitchFamily="34" charset="0"/>
                <a:ea typeface="Arial" pitchFamily="34" charset="-122"/>
                <a:cs typeface="Arial" pitchFamily="34" charset="-120"/>
              </a:rPr>
              <a:t> %</a:t>
            </a:r>
            <a:endParaRPr lang="en-US" sz="1200" dirty="0"/>
          </a:p>
        </p:txBody>
      </p:sp>
      <p:sp>
        <p:nvSpPr>
          <p:cNvPr id="13" name="Shape 10"/>
          <p:cNvSpPr/>
          <p:nvPr/>
        </p:nvSpPr>
        <p:spPr>
          <a:xfrm>
            <a:off x="685800" y="3072384"/>
            <a:ext cx="3749040" cy="329184"/>
          </a:xfrm>
          <a:prstGeom prst="roundRect">
            <a:avLst>
              <a:gd name="adj" fmla="val 50000"/>
            </a:avLst>
          </a:prstGeom>
          <a:solidFill>
            <a:srgbClr val="0F1930"/>
          </a:solidFill>
          <a:ln w="12700">
            <a:solidFill>
              <a:srgbClr val="F5B342"/>
            </a:solidFill>
            <a:prstDash val="solid"/>
          </a:ln>
        </p:spPr>
      </p:sp>
      <p:sp>
        <p:nvSpPr>
          <p:cNvPr id="14" name="Text 11"/>
          <p:cNvSpPr txBox="1"/>
          <p:nvPr/>
        </p:nvSpPr>
        <p:spPr>
          <a:xfrm>
            <a:off x="685800" y="3072384"/>
            <a:ext cx="3749040" cy="329184"/>
          </a:xfrm>
          <a:prstGeom prst="rect">
            <a:avLst/>
          </a:prstGeom>
          <a:noFill/>
          <a:ln/>
        </p:spPr>
        <p:txBody>
          <a:bodyPr wrap="square" lIns="0" tIns="0" rIns="0" bIns="0" rtlCol="0" anchor="ctr"/>
          <a:lstStyle/>
          <a:p>
            <a:pPr algn="ctr" indent="0" marL="0">
              <a:buNone/>
            </a:pPr>
            <a:r>
              <a:rPr lang="en-US" sz="1050" b="1" dirty="0">
                <a:solidFill>
                  <a:srgbClr val="F5B342"/>
                </a:solidFill>
                <a:latin typeface="Arial" pitchFamily="34" charset="0"/>
                <a:ea typeface="Arial" pitchFamily="34" charset="-122"/>
                <a:cs typeface="Arial" pitchFamily="34" charset="-120"/>
              </a:rPr>
              <a:t>▲  +0,67 pp vs julio (0,65 %)  ·  un caso más</a:t>
            </a:r>
            <a:endParaRPr lang="en-US" sz="1050" dirty="0"/>
          </a:p>
        </p:txBody>
      </p:sp>
      <p:sp>
        <p:nvSpPr>
          <p:cNvPr id="15" name="Text 12"/>
          <p:cNvSpPr txBox="1"/>
          <p:nvPr/>
        </p:nvSpPr>
        <p:spPr>
          <a:xfrm>
            <a:off x="685800" y="3511296"/>
            <a:ext cx="5120640" cy="256032"/>
          </a:xfrm>
          <a:prstGeom prst="rect">
            <a:avLst/>
          </a:prstGeom>
          <a:noFill/>
          <a:ln/>
        </p:spPr>
        <p:txBody>
          <a:bodyPr wrap="square" lIns="0" tIns="0" rIns="0" bIns="0" rtlCol="0" anchor="t"/>
          <a:lstStyle/>
          <a:p>
            <a:pPr algn="l" indent="0" marL="0">
              <a:buNone/>
            </a:pPr>
            <a:r>
              <a:rPr lang="en-US" sz="1100" dirty="0">
                <a:solidFill>
                  <a:srgbClr val="C6D6EE"/>
                </a:solidFill>
                <a:latin typeface="Arial" pitchFamily="34" charset="0"/>
                <a:ea typeface="Arial" pitchFamily="34" charset="-122"/>
                <a:cs typeface="Arial" pitchFamily="34" charset="-120"/>
              </a:rPr>
              <a:t>2 suspensiones de 152 programadas normales · L–V · monitoreo homogéneo</a:t>
            </a:r>
            <a:endParaRPr lang="en-US" sz="1100" dirty="0"/>
          </a:p>
        </p:txBody>
      </p:sp>
      <p:sp>
        <p:nvSpPr>
          <p:cNvPr id="16" name="Text 13"/>
          <p:cNvSpPr txBox="1"/>
          <p:nvPr/>
        </p:nvSpPr>
        <p:spPr>
          <a:xfrm>
            <a:off x="685800" y="3803904"/>
            <a:ext cx="5120640"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Agosto 2025 a la misma fecha: 12,11 % (23 / 190) · tasa bruta del mes, todas las fechas: 0,52 % (2 / 385)</a:t>
            </a:r>
            <a:endParaRPr lang="en-US" sz="950" dirty="0"/>
          </a:p>
        </p:txBody>
      </p:sp>
      <p:sp>
        <p:nvSpPr>
          <p:cNvPr id="17" name="Shape 14"/>
          <p:cNvSpPr/>
          <p:nvPr/>
        </p:nvSpPr>
        <p:spPr>
          <a:xfrm>
            <a:off x="502920" y="4389120"/>
            <a:ext cx="5486400" cy="1463040"/>
          </a:xfrm>
          <a:prstGeom prst="roundRect">
            <a:avLst>
              <a:gd name="adj" fmla="val 5000"/>
            </a:avLst>
          </a:prstGeom>
          <a:solidFill>
            <a:srgbClr val="0F1930"/>
          </a:solidFill>
          <a:ln w="9525">
            <a:solidFill>
              <a:srgbClr val="22304A"/>
            </a:solidFill>
            <a:prstDash val="solid"/>
          </a:ln>
        </p:spPr>
      </p:sp>
      <p:sp>
        <p:nvSpPr>
          <p:cNvPr id="18" name="Text 15"/>
          <p:cNvSpPr txBox="1"/>
          <p:nvPr/>
        </p:nvSpPr>
        <p:spPr>
          <a:xfrm>
            <a:off x="685800" y="4480560"/>
            <a:ext cx="512064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TASA HÁBIL · SERIE HOMOGÉNEA  ·  MAR → AGO 2026</a:t>
            </a:r>
            <a:endParaRPr lang="en-US" sz="850" dirty="0"/>
          </a:p>
        </p:txBody>
      </p:sp>
      <p:sp>
        <p:nvSpPr>
          <p:cNvPr id="19" name="Shape 16"/>
          <p:cNvSpPr/>
          <p:nvPr/>
        </p:nvSpPr>
        <p:spPr>
          <a:xfrm>
            <a:off x="921258" y="4882896"/>
            <a:ext cx="534924" cy="694944"/>
          </a:xfrm>
          <a:prstGeom prst="roundRect">
            <a:avLst>
              <a:gd name="adj" fmla="val 5128"/>
            </a:avLst>
          </a:prstGeom>
          <a:solidFill>
            <a:srgbClr val="2DD4BF"/>
          </a:solidFill>
          <a:ln/>
        </p:spPr>
      </p:sp>
      <p:sp>
        <p:nvSpPr>
          <p:cNvPr id="20" name="Text 17"/>
          <p:cNvSpPr txBox="1"/>
          <p:nvPr/>
        </p:nvSpPr>
        <p:spPr>
          <a:xfrm>
            <a:off x="738378" y="4681728"/>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8,33</a:t>
            </a:r>
            <a:endParaRPr lang="en-US" sz="1000" dirty="0"/>
          </a:p>
        </p:txBody>
      </p:sp>
      <p:sp>
        <p:nvSpPr>
          <p:cNvPr id="21" name="Text 18"/>
          <p:cNvSpPr txBox="1"/>
          <p:nvPr/>
        </p:nvSpPr>
        <p:spPr>
          <a:xfrm>
            <a:off x="69265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Mar</a:t>
            </a:r>
            <a:endParaRPr lang="en-US" sz="900" dirty="0"/>
          </a:p>
        </p:txBody>
      </p:sp>
      <p:sp>
        <p:nvSpPr>
          <p:cNvPr id="22" name="Shape 19"/>
          <p:cNvSpPr/>
          <p:nvPr/>
        </p:nvSpPr>
        <p:spPr>
          <a:xfrm>
            <a:off x="1744218" y="5098137"/>
            <a:ext cx="534924" cy="479703"/>
          </a:xfrm>
          <a:prstGeom prst="roundRect">
            <a:avLst>
              <a:gd name="adj" fmla="val 5719"/>
            </a:avLst>
          </a:prstGeom>
          <a:solidFill>
            <a:srgbClr val="2DD4BF"/>
          </a:solidFill>
          <a:ln/>
        </p:spPr>
      </p:sp>
      <p:sp>
        <p:nvSpPr>
          <p:cNvPr id="23" name="Text 20"/>
          <p:cNvSpPr txBox="1"/>
          <p:nvPr/>
        </p:nvSpPr>
        <p:spPr>
          <a:xfrm>
            <a:off x="1561338" y="4896969"/>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5,75</a:t>
            </a:r>
            <a:endParaRPr lang="en-US" sz="1000" dirty="0"/>
          </a:p>
        </p:txBody>
      </p:sp>
      <p:sp>
        <p:nvSpPr>
          <p:cNvPr id="24" name="Text 21"/>
          <p:cNvSpPr txBox="1"/>
          <p:nvPr/>
        </p:nvSpPr>
        <p:spPr>
          <a:xfrm>
            <a:off x="151561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Abr</a:t>
            </a:r>
            <a:endParaRPr lang="en-US" sz="900" dirty="0"/>
          </a:p>
        </p:txBody>
      </p:sp>
      <p:sp>
        <p:nvSpPr>
          <p:cNvPr id="25" name="Shape 22"/>
          <p:cNvSpPr/>
          <p:nvPr/>
        </p:nvSpPr>
        <p:spPr>
          <a:xfrm>
            <a:off x="2567178" y="5225780"/>
            <a:ext cx="534924" cy="352060"/>
          </a:xfrm>
          <a:prstGeom prst="roundRect">
            <a:avLst>
              <a:gd name="adj" fmla="val 7792"/>
            </a:avLst>
          </a:prstGeom>
          <a:solidFill>
            <a:srgbClr val="2DD4BF"/>
          </a:solidFill>
          <a:ln/>
        </p:spPr>
      </p:sp>
      <p:sp>
        <p:nvSpPr>
          <p:cNvPr id="26" name="Text 23"/>
          <p:cNvSpPr txBox="1"/>
          <p:nvPr/>
        </p:nvSpPr>
        <p:spPr>
          <a:xfrm>
            <a:off x="2384298" y="5024612"/>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4,22</a:t>
            </a:r>
            <a:endParaRPr lang="en-US" sz="1000" dirty="0"/>
          </a:p>
        </p:txBody>
      </p:sp>
      <p:sp>
        <p:nvSpPr>
          <p:cNvPr id="27" name="Text 24"/>
          <p:cNvSpPr txBox="1"/>
          <p:nvPr/>
        </p:nvSpPr>
        <p:spPr>
          <a:xfrm>
            <a:off x="233857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May</a:t>
            </a:r>
            <a:endParaRPr lang="en-US" sz="900" dirty="0"/>
          </a:p>
        </p:txBody>
      </p:sp>
      <p:sp>
        <p:nvSpPr>
          <p:cNvPr id="28" name="Shape 25"/>
          <p:cNvSpPr/>
          <p:nvPr/>
        </p:nvSpPr>
        <p:spPr>
          <a:xfrm>
            <a:off x="3390138" y="5437683"/>
            <a:ext cx="534924" cy="140157"/>
          </a:xfrm>
          <a:prstGeom prst="roundRect">
            <a:avLst>
              <a:gd name="adj" fmla="val 19572"/>
            </a:avLst>
          </a:prstGeom>
          <a:solidFill>
            <a:srgbClr val="2DD4BF"/>
          </a:solidFill>
          <a:ln/>
        </p:spPr>
      </p:sp>
      <p:sp>
        <p:nvSpPr>
          <p:cNvPr id="29" name="Text 26"/>
          <p:cNvSpPr txBox="1"/>
          <p:nvPr/>
        </p:nvSpPr>
        <p:spPr>
          <a:xfrm>
            <a:off x="3207258" y="5236515"/>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1,68</a:t>
            </a:r>
            <a:endParaRPr lang="en-US" sz="1000" dirty="0"/>
          </a:p>
        </p:txBody>
      </p:sp>
      <p:sp>
        <p:nvSpPr>
          <p:cNvPr id="30" name="Text 27"/>
          <p:cNvSpPr txBox="1"/>
          <p:nvPr/>
        </p:nvSpPr>
        <p:spPr>
          <a:xfrm>
            <a:off x="316153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Jun</a:t>
            </a:r>
            <a:endParaRPr lang="en-US" sz="900" dirty="0"/>
          </a:p>
        </p:txBody>
      </p:sp>
      <p:sp>
        <p:nvSpPr>
          <p:cNvPr id="31" name="Shape 28"/>
          <p:cNvSpPr/>
          <p:nvPr/>
        </p:nvSpPr>
        <p:spPr>
          <a:xfrm>
            <a:off x="4213098" y="5523613"/>
            <a:ext cx="534924" cy="54227"/>
          </a:xfrm>
          <a:prstGeom prst="roundRect">
            <a:avLst>
              <a:gd name="adj" fmla="val 50587"/>
            </a:avLst>
          </a:prstGeom>
          <a:solidFill>
            <a:srgbClr val="2DD4BF"/>
          </a:solidFill>
          <a:ln/>
        </p:spPr>
      </p:sp>
      <p:sp>
        <p:nvSpPr>
          <p:cNvPr id="32" name="Text 29"/>
          <p:cNvSpPr txBox="1"/>
          <p:nvPr/>
        </p:nvSpPr>
        <p:spPr>
          <a:xfrm>
            <a:off x="4030218" y="5322445"/>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0,65</a:t>
            </a:r>
            <a:endParaRPr lang="en-US" sz="1000" dirty="0"/>
          </a:p>
        </p:txBody>
      </p:sp>
      <p:sp>
        <p:nvSpPr>
          <p:cNvPr id="33" name="Text 30"/>
          <p:cNvSpPr txBox="1"/>
          <p:nvPr/>
        </p:nvSpPr>
        <p:spPr>
          <a:xfrm>
            <a:off x="398449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Jul</a:t>
            </a:r>
            <a:endParaRPr lang="en-US" sz="900" dirty="0"/>
          </a:p>
        </p:txBody>
      </p:sp>
      <p:sp>
        <p:nvSpPr>
          <p:cNvPr id="34" name="Shape 31"/>
          <p:cNvSpPr/>
          <p:nvPr/>
        </p:nvSpPr>
        <p:spPr>
          <a:xfrm>
            <a:off x="5036058" y="5467717"/>
            <a:ext cx="534924" cy="110123"/>
          </a:xfrm>
          <a:prstGeom prst="roundRect">
            <a:avLst>
              <a:gd name="adj" fmla="val 24910"/>
            </a:avLst>
          </a:prstGeom>
          <a:solidFill>
            <a:srgbClr val="5EEAD4"/>
          </a:solidFill>
          <a:ln/>
        </p:spPr>
      </p:sp>
      <p:sp>
        <p:nvSpPr>
          <p:cNvPr id="35" name="Text 32"/>
          <p:cNvSpPr txBox="1"/>
          <p:nvPr/>
        </p:nvSpPr>
        <p:spPr>
          <a:xfrm>
            <a:off x="4853178" y="5266549"/>
            <a:ext cx="900684" cy="201168"/>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1,32</a:t>
            </a:r>
            <a:endParaRPr lang="en-US" sz="1000" dirty="0"/>
          </a:p>
        </p:txBody>
      </p:sp>
      <p:sp>
        <p:nvSpPr>
          <p:cNvPr id="36" name="Text 33"/>
          <p:cNvSpPr txBox="1"/>
          <p:nvPr/>
        </p:nvSpPr>
        <p:spPr>
          <a:xfrm>
            <a:off x="4807458" y="5577840"/>
            <a:ext cx="992124" cy="219456"/>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Ago</a:t>
            </a:r>
            <a:endParaRPr lang="en-US" sz="900" dirty="0"/>
          </a:p>
        </p:txBody>
      </p:sp>
      <p:sp>
        <p:nvSpPr>
          <p:cNvPr id="37" name="Shape 34"/>
          <p:cNvSpPr/>
          <p:nvPr/>
        </p:nvSpPr>
        <p:spPr>
          <a:xfrm>
            <a:off x="6172200" y="1691640"/>
            <a:ext cx="5513832" cy="932688"/>
          </a:xfrm>
          <a:prstGeom prst="roundRect">
            <a:avLst>
              <a:gd name="adj" fmla="val 7843"/>
            </a:avLst>
          </a:prstGeom>
          <a:solidFill>
            <a:srgbClr val="0F1930"/>
          </a:solidFill>
          <a:ln w="9525">
            <a:solidFill>
              <a:srgbClr val="22304A"/>
            </a:solidFill>
            <a:prstDash val="solid"/>
          </a:ln>
        </p:spPr>
      </p:sp>
      <p:sp>
        <p:nvSpPr>
          <p:cNvPr id="38" name="Text 35"/>
          <p:cNvSpPr txBox="1"/>
          <p:nvPr/>
        </p:nvSpPr>
        <p:spPr>
          <a:xfrm>
            <a:off x="6336792" y="1691640"/>
            <a:ext cx="1691640" cy="932688"/>
          </a:xfrm>
          <a:prstGeom prst="rect">
            <a:avLst/>
          </a:prstGeom>
          <a:noFill/>
          <a:ln/>
        </p:spPr>
        <p:txBody>
          <a:bodyPr wrap="square" lIns="0" tIns="0" rIns="0" bIns="0" rtlCol="0" anchor="ctr"/>
          <a:lstStyle/>
          <a:p>
            <a:pPr algn="l" indent="0" marL="0">
              <a:buNone/>
            </a:pPr>
            <a:r>
              <a:rPr lang="en-US" sz="2600" b="1" dirty="0">
                <a:solidFill>
                  <a:srgbClr val="34D399"/>
                </a:solidFill>
                <a:latin typeface="Arial" pitchFamily="34" charset="0"/>
                <a:ea typeface="Arial" pitchFamily="34" charset="-122"/>
                <a:cs typeface="Arial" pitchFamily="34" charset="-120"/>
              </a:rPr>
              <a:t>+13,5 %</a:t>
            </a:r>
            <a:endParaRPr lang="en-US" sz="2600" dirty="0"/>
          </a:p>
        </p:txBody>
      </p:sp>
      <p:sp>
        <p:nvSpPr>
          <p:cNvPr id="39" name="Text 36"/>
          <p:cNvSpPr txBox="1"/>
          <p:nvPr/>
        </p:nvSpPr>
        <p:spPr>
          <a:xfrm>
            <a:off x="8028432" y="1810512"/>
            <a:ext cx="3493008" cy="237744"/>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CME EN HORARIO HÁBIL · ENE–AGO</a:t>
            </a:r>
            <a:endParaRPr lang="en-US" sz="850" dirty="0"/>
          </a:p>
        </p:txBody>
      </p:sp>
      <p:sp>
        <p:nvSpPr>
          <p:cNvPr id="40" name="Text 37"/>
          <p:cNvSpPr txBox="1"/>
          <p:nvPr/>
        </p:nvSpPr>
        <p:spPr>
          <a:xfrm>
            <a:off x="8028432" y="2075688"/>
            <a:ext cx="3493008" cy="475488"/>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1.657 → 1.880 (2025 → 2026) · mismos 173 días L–V · de 9,6 a 10,9 CME por día hábil</a:t>
            </a:r>
            <a:endParaRPr lang="en-US" sz="950" dirty="0"/>
          </a:p>
        </p:txBody>
      </p:sp>
      <p:sp>
        <p:nvSpPr>
          <p:cNvPr id="41" name="Shape 38"/>
          <p:cNvSpPr/>
          <p:nvPr/>
        </p:nvSpPr>
        <p:spPr>
          <a:xfrm>
            <a:off x="6172200" y="2734056"/>
            <a:ext cx="5513832" cy="932688"/>
          </a:xfrm>
          <a:prstGeom prst="roundRect">
            <a:avLst>
              <a:gd name="adj" fmla="val 7843"/>
            </a:avLst>
          </a:prstGeom>
          <a:solidFill>
            <a:srgbClr val="0F1930"/>
          </a:solidFill>
          <a:ln w="9525">
            <a:solidFill>
              <a:srgbClr val="22304A"/>
            </a:solidFill>
            <a:prstDash val="solid"/>
          </a:ln>
        </p:spPr>
      </p:sp>
      <p:sp>
        <p:nvSpPr>
          <p:cNvPr id="42" name="Text 39"/>
          <p:cNvSpPr txBox="1"/>
          <p:nvPr/>
        </p:nvSpPr>
        <p:spPr>
          <a:xfrm>
            <a:off x="6336792" y="2734056"/>
            <a:ext cx="1691640" cy="932688"/>
          </a:xfrm>
          <a:prstGeom prst="rect">
            <a:avLst/>
          </a:prstGeom>
          <a:noFill/>
          <a:ln/>
        </p:spPr>
        <p:txBody>
          <a:bodyPr wrap="square" lIns="0" tIns="0" rIns="0" bIns="0" rtlCol="0" anchor="ctr"/>
          <a:lstStyle/>
          <a:p>
            <a:pPr algn="l" indent="0" marL="0">
              <a:buNone/>
            </a:pPr>
            <a:r>
              <a:rPr lang="en-US" sz="2600" b="1" dirty="0">
                <a:solidFill>
                  <a:srgbClr val="34D399"/>
                </a:solidFill>
                <a:latin typeface="Arial" pitchFamily="34" charset="0"/>
                <a:ea typeface="Arial" pitchFamily="34" charset="-122"/>
                <a:cs typeface="Arial" pitchFamily="34" charset="-120"/>
              </a:rPr>
              <a:t>−44 %</a:t>
            </a:r>
            <a:endParaRPr lang="en-US" sz="2600" dirty="0"/>
          </a:p>
        </p:txBody>
      </p:sp>
      <p:sp>
        <p:nvSpPr>
          <p:cNvPr id="43" name="Text 40"/>
          <p:cNvSpPr txBox="1"/>
          <p:nvPr/>
        </p:nvSpPr>
        <p:spPr>
          <a:xfrm>
            <a:off x="8028432" y="2852928"/>
            <a:ext cx="3493008" cy="237744"/>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SUSPENSIONES HÁBILES · ENE–AGO</a:t>
            </a:r>
            <a:endParaRPr lang="en-US" sz="850" dirty="0"/>
          </a:p>
        </p:txBody>
      </p:sp>
      <p:sp>
        <p:nvSpPr>
          <p:cNvPr id="44" name="Text 41"/>
          <p:cNvSpPr txBox="1"/>
          <p:nvPr/>
        </p:nvSpPr>
        <p:spPr>
          <a:xfrm>
            <a:off x="8028432" y="3118104"/>
            <a:ext cx="3493008" cy="475488"/>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133 → 74 · tasa 9,83 % → 5,04 % · diferencia significativa (Fisher p &lt; 0,001)</a:t>
            </a:r>
            <a:endParaRPr lang="en-US" sz="950" dirty="0"/>
          </a:p>
        </p:txBody>
      </p:sp>
      <p:sp>
        <p:nvSpPr>
          <p:cNvPr id="45" name="Shape 42"/>
          <p:cNvSpPr/>
          <p:nvPr/>
        </p:nvSpPr>
        <p:spPr>
          <a:xfrm>
            <a:off x="6172200" y="3776472"/>
            <a:ext cx="5513832" cy="932688"/>
          </a:xfrm>
          <a:prstGeom prst="roundRect">
            <a:avLst>
              <a:gd name="adj" fmla="val 7843"/>
            </a:avLst>
          </a:prstGeom>
          <a:solidFill>
            <a:srgbClr val="0F1930"/>
          </a:solidFill>
          <a:ln w="9525">
            <a:solidFill>
              <a:srgbClr val="22304A"/>
            </a:solidFill>
            <a:prstDash val="solid"/>
          </a:ln>
        </p:spPr>
      </p:sp>
      <p:sp>
        <p:nvSpPr>
          <p:cNvPr id="46" name="Text 43"/>
          <p:cNvSpPr txBox="1"/>
          <p:nvPr/>
        </p:nvSpPr>
        <p:spPr>
          <a:xfrm>
            <a:off x="6336792" y="3776472"/>
            <a:ext cx="1691640" cy="932688"/>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411</a:t>
            </a:r>
            <a:endParaRPr lang="en-US" sz="2600" dirty="0"/>
          </a:p>
        </p:txBody>
      </p:sp>
      <p:sp>
        <p:nvSpPr>
          <p:cNvPr id="47" name="Text 44"/>
          <p:cNvSpPr txBox="1"/>
          <p:nvPr/>
        </p:nvSpPr>
        <p:spPr>
          <a:xfrm>
            <a:off x="8028432" y="3895344"/>
            <a:ext cx="3493008" cy="237744"/>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CME REALIZADAS · AGOSTO · TODAS LAS FECHAS</a:t>
            </a:r>
            <a:endParaRPr lang="en-US" sz="850" dirty="0"/>
          </a:p>
        </p:txBody>
      </p:sp>
      <p:sp>
        <p:nvSpPr>
          <p:cNvPr id="48" name="Text 45"/>
          <p:cNvSpPr txBox="1"/>
          <p:nvPr/>
        </p:nvSpPr>
        <p:spPr>
          <a:xfrm>
            <a:off x="8028432" y="4160520"/>
            <a:ext cx="3493008" cy="475488"/>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201 L–V + 210 fin de semana · +33,4 % vs julio (308) · −1,9 % vs agosto 2025 (419)</a:t>
            </a:r>
            <a:endParaRPr lang="en-US" sz="950" dirty="0"/>
          </a:p>
        </p:txBody>
      </p:sp>
      <p:sp>
        <p:nvSpPr>
          <p:cNvPr id="49" name="Shape 46"/>
          <p:cNvSpPr/>
          <p:nvPr/>
        </p:nvSpPr>
        <p:spPr>
          <a:xfrm>
            <a:off x="6172200" y="4818888"/>
            <a:ext cx="5513832" cy="1033272"/>
          </a:xfrm>
          <a:prstGeom prst="roundRect">
            <a:avLst>
              <a:gd name="adj" fmla="val 7080"/>
            </a:avLst>
          </a:prstGeom>
          <a:solidFill>
            <a:srgbClr val="0F1930"/>
          </a:solidFill>
          <a:ln w="15875">
            <a:solidFill>
              <a:srgbClr val="F26B6B"/>
            </a:solidFill>
            <a:prstDash val="solid"/>
          </a:ln>
        </p:spPr>
      </p:sp>
      <p:sp>
        <p:nvSpPr>
          <p:cNvPr id="50" name="Text 47"/>
          <p:cNvSpPr txBox="1"/>
          <p:nvPr/>
        </p:nvSpPr>
        <p:spPr>
          <a:xfrm>
            <a:off x="6336792" y="4818888"/>
            <a:ext cx="1691640" cy="1033272"/>
          </a:xfrm>
          <a:prstGeom prst="rect">
            <a:avLst/>
          </a:prstGeom>
          <a:noFill/>
          <a:ln/>
        </p:spPr>
        <p:txBody>
          <a:bodyPr wrap="square" lIns="0" tIns="0" rIns="0" bIns="0" rtlCol="0" anchor="ctr"/>
          <a:lstStyle/>
          <a:p>
            <a:pPr algn="l" indent="0" marL="0">
              <a:buNone/>
            </a:pPr>
            <a:r>
              <a:rPr lang="en-US" sz="2600" b="1" dirty="0">
                <a:solidFill>
                  <a:srgbClr val="F26B6B"/>
                </a:solidFill>
                <a:latin typeface="Arial" pitchFamily="34" charset="0"/>
                <a:ea typeface="Arial" pitchFamily="34" charset="-122"/>
                <a:cs typeface="Arial" pitchFamily="34" charset="-120"/>
              </a:rPr>
              <a:t>38</a:t>
            </a:r>
            <a:endParaRPr lang="en-US" sz="2600" dirty="0"/>
          </a:p>
        </p:txBody>
      </p:sp>
      <p:sp>
        <p:nvSpPr>
          <p:cNvPr id="51" name="Text 48"/>
          <p:cNvSpPr txBox="1"/>
          <p:nvPr/>
        </p:nvSpPr>
        <p:spPr>
          <a:xfrm>
            <a:off x="8028432" y="4937760"/>
            <a:ext cx="3493008" cy="237744"/>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EVENTOS · REGISTRO OPERATIVO</a:t>
            </a:r>
            <a:endParaRPr lang="en-US" sz="850" dirty="0"/>
          </a:p>
        </p:txBody>
      </p:sp>
      <p:sp>
        <p:nvSpPr>
          <p:cNvPr id="52" name="Text 49"/>
          <p:cNvSpPr txBox="1"/>
          <p:nvPr/>
        </p:nvSpPr>
        <p:spPr>
          <a:xfrm>
            <a:off x="8028432" y="5202936"/>
            <a:ext cx="3493008" cy="576072"/>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Solo 2 (5,3 %) visibles para MINSAL · 18 sin causal (47 %) · 18 oftalmológicas de fin de semana · error de programación causa #1 (7)</a:t>
            </a:r>
            <a:endParaRPr lang="en-US" sz="950" dirty="0"/>
          </a:p>
        </p:txBody>
      </p:sp>
      <p:sp>
        <p:nvSpPr>
          <p:cNvPr id="53" name="Text 50"/>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Hábil = lunes a viernes. CME = cirugía mayor electiva. Cada indicador se lee con su denominador propio; las poblaciones de suspensión no se suman (lámina "Cuatro fuentes").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01  ·  RESUMEN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El período en cifras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Producción y suspensiones consolidadas · Agosto 2026 y enero–agosto 2026 · CME normal en día hábil</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02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2132381" cy="914400"/>
          </a:xfrm>
          <a:prstGeom prst="roundRect">
            <a:avLst>
              <a:gd name="adj" fmla="val 8000"/>
            </a:avLst>
          </a:prstGeom>
          <a:solidFill>
            <a:srgbClr val="0F1930"/>
          </a:solidFill>
          <a:ln w="9525">
            <a:solidFill>
              <a:srgbClr val="22304A"/>
            </a:solidFill>
            <a:prstDash val="solid"/>
          </a:ln>
        </p:spPr>
      </p:sp>
      <p:sp>
        <p:nvSpPr>
          <p:cNvPr id="11" name="Text 8"/>
          <p:cNvSpPr txBox="1"/>
          <p:nvPr/>
        </p:nvSpPr>
        <p:spPr>
          <a:xfrm>
            <a:off x="640080" y="1764792"/>
            <a:ext cx="1858061"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1.469</a:t>
            </a:r>
            <a:endParaRPr lang="en-US" sz="1800" dirty="0"/>
          </a:p>
        </p:txBody>
      </p:sp>
      <p:sp>
        <p:nvSpPr>
          <p:cNvPr id="12" name="Text 9"/>
          <p:cNvSpPr txBox="1"/>
          <p:nvPr/>
        </p:nvSpPr>
        <p:spPr>
          <a:xfrm>
            <a:off x="640080" y="2075688"/>
            <a:ext cx="1858061"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PROG. HÁBIL ENE–AGO</a:t>
            </a:r>
            <a:endParaRPr lang="en-US" sz="750" dirty="0"/>
          </a:p>
        </p:txBody>
      </p:sp>
      <p:sp>
        <p:nvSpPr>
          <p:cNvPr id="13" name="Text 10"/>
          <p:cNvSpPr txBox="1"/>
          <p:nvPr/>
        </p:nvSpPr>
        <p:spPr>
          <a:xfrm>
            <a:off x="640080" y="2240280"/>
            <a:ext cx="1858061"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1.353 en 2025 · +8,6 %</a:t>
            </a:r>
            <a:endParaRPr lang="en-US" sz="850" dirty="0"/>
          </a:p>
        </p:txBody>
      </p:sp>
      <p:sp>
        <p:nvSpPr>
          <p:cNvPr id="14" name="Shape 11"/>
          <p:cNvSpPr/>
          <p:nvPr/>
        </p:nvSpPr>
        <p:spPr>
          <a:xfrm>
            <a:off x="2763317" y="1691640"/>
            <a:ext cx="2132381" cy="914400"/>
          </a:xfrm>
          <a:prstGeom prst="roundRect">
            <a:avLst>
              <a:gd name="adj" fmla="val 8000"/>
            </a:avLst>
          </a:prstGeom>
          <a:solidFill>
            <a:srgbClr val="0F1930"/>
          </a:solidFill>
          <a:ln w="9525">
            <a:solidFill>
              <a:srgbClr val="22304A"/>
            </a:solidFill>
            <a:prstDash val="solid"/>
          </a:ln>
        </p:spPr>
      </p:sp>
      <p:sp>
        <p:nvSpPr>
          <p:cNvPr id="15" name="Text 12"/>
          <p:cNvSpPr txBox="1"/>
          <p:nvPr/>
        </p:nvSpPr>
        <p:spPr>
          <a:xfrm>
            <a:off x="2900477" y="1764792"/>
            <a:ext cx="1858061"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74</a:t>
            </a:r>
            <a:endParaRPr lang="en-US" sz="1800" dirty="0"/>
          </a:p>
        </p:txBody>
      </p:sp>
      <p:sp>
        <p:nvSpPr>
          <p:cNvPr id="16" name="Text 13"/>
          <p:cNvSpPr txBox="1"/>
          <p:nvPr/>
        </p:nvSpPr>
        <p:spPr>
          <a:xfrm>
            <a:off x="2900477" y="2075688"/>
            <a:ext cx="1858061"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SUSP. MINSAL ENE–AGO</a:t>
            </a:r>
            <a:endParaRPr lang="en-US" sz="750" dirty="0"/>
          </a:p>
        </p:txBody>
      </p:sp>
      <p:sp>
        <p:nvSpPr>
          <p:cNvPr id="17" name="Text 14"/>
          <p:cNvSpPr txBox="1"/>
          <p:nvPr/>
        </p:nvSpPr>
        <p:spPr>
          <a:xfrm>
            <a:off x="2900477" y="2240280"/>
            <a:ext cx="1858061"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133 en 2025 · −44,4 %</a:t>
            </a:r>
            <a:endParaRPr lang="en-US" sz="850" dirty="0"/>
          </a:p>
        </p:txBody>
      </p:sp>
      <p:sp>
        <p:nvSpPr>
          <p:cNvPr id="18" name="Shape 15"/>
          <p:cNvSpPr/>
          <p:nvPr/>
        </p:nvSpPr>
        <p:spPr>
          <a:xfrm>
            <a:off x="5023714" y="1691640"/>
            <a:ext cx="2132381" cy="914400"/>
          </a:xfrm>
          <a:prstGeom prst="roundRect">
            <a:avLst>
              <a:gd name="adj" fmla="val 8000"/>
            </a:avLst>
          </a:prstGeom>
          <a:solidFill>
            <a:srgbClr val="0F1930"/>
          </a:solidFill>
          <a:ln w="9525">
            <a:solidFill>
              <a:srgbClr val="22304A"/>
            </a:solidFill>
            <a:prstDash val="solid"/>
          </a:ln>
        </p:spPr>
      </p:sp>
      <p:sp>
        <p:nvSpPr>
          <p:cNvPr id="19" name="Text 16"/>
          <p:cNvSpPr txBox="1"/>
          <p:nvPr/>
        </p:nvSpPr>
        <p:spPr>
          <a:xfrm>
            <a:off x="5160874" y="1764792"/>
            <a:ext cx="1858061"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5,04 %</a:t>
            </a:r>
            <a:endParaRPr lang="en-US" sz="1800" dirty="0"/>
          </a:p>
        </p:txBody>
      </p:sp>
      <p:sp>
        <p:nvSpPr>
          <p:cNvPr id="20" name="Text 17"/>
          <p:cNvSpPr txBox="1"/>
          <p:nvPr/>
        </p:nvSpPr>
        <p:spPr>
          <a:xfrm>
            <a:off x="5160874" y="2075688"/>
            <a:ext cx="1858061"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TASA HÁBIL ENE–AGO</a:t>
            </a:r>
            <a:endParaRPr lang="en-US" sz="750" dirty="0"/>
          </a:p>
        </p:txBody>
      </p:sp>
      <p:sp>
        <p:nvSpPr>
          <p:cNvPr id="21" name="Text 18"/>
          <p:cNvSpPr txBox="1"/>
          <p:nvPr/>
        </p:nvSpPr>
        <p:spPr>
          <a:xfrm>
            <a:off x="5160874" y="2240280"/>
            <a:ext cx="1858061"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9,83 % en 2025 · −48,7 % relativo</a:t>
            </a:r>
            <a:endParaRPr lang="en-US" sz="850" dirty="0"/>
          </a:p>
        </p:txBody>
      </p:sp>
      <p:sp>
        <p:nvSpPr>
          <p:cNvPr id="22" name="Shape 19"/>
          <p:cNvSpPr/>
          <p:nvPr/>
        </p:nvSpPr>
        <p:spPr>
          <a:xfrm>
            <a:off x="7284110" y="1691640"/>
            <a:ext cx="2132381" cy="914400"/>
          </a:xfrm>
          <a:prstGeom prst="roundRect">
            <a:avLst>
              <a:gd name="adj" fmla="val 8000"/>
            </a:avLst>
          </a:prstGeom>
          <a:solidFill>
            <a:srgbClr val="0F1930"/>
          </a:solidFill>
          <a:ln w="15875">
            <a:solidFill>
              <a:srgbClr val="2DD4BF"/>
            </a:solidFill>
            <a:prstDash val="solid"/>
          </a:ln>
        </p:spPr>
      </p:sp>
      <p:sp>
        <p:nvSpPr>
          <p:cNvPr id="23" name="Text 20"/>
          <p:cNvSpPr txBox="1"/>
          <p:nvPr/>
        </p:nvSpPr>
        <p:spPr>
          <a:xfrm>
            <a:off x="7421270" y="1764792"/>
            <a:ext cx="1858061" cy="329184"/>
          </a:xfrm>
          <a:prstGeom prst="rect">
            <a:avLst/>
          </a:prstGeom>
          <a:noFill/>
          <a:ln/>
        </p:spPr>
        <p:txBody>
          <a:bodyPr wrap="square" lIns="0" tIns="0" rIns="0" bIns="0" rtlCol="0" anchor="ctr"/>
          <a:lstStyle/>
          <a:p>
            <a:pPr algn="l" indent="0" marL="0">
              <a:buNone/>
            </a:pPr>
            <a:r>
              <a:rPr lang="en-US" sz="1800" b="1" dirty="0">
                <a:solidFill>
                  <a:srgbClr val="5EEAD4"/>
                </a:solidFill>
                <a:latin typeface="Arial" pitchFamily="34" charset="0"/>
                <a:ea typeface="Arial" pitchFamily="34" charset="-122"/>
                <a:cs typeface="Arial" pitchFamily="34" charset="-120"/>
              </a:rPr>
              <a:t>1,32 %</a:t>
            </a:r>
            <a:endParaRPr lang="en-US" sz="1800" dirty="0"/>
          </a:p>
        </p:txBody>
      </p:sp>
      <p:sp>
        <p:nvSpPr>
          <p:cNvPr id="24" name="Text 21"/>
          <p:cNvSpPr txBox="1"/>
          <p:nvPr/>
        </p:nvSpPr>
        <p:spPr>
          <a:xfrm>
            <a:off x="7421270" y="2075688"/>
            <a:ext cx="1858061"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AGOSTO HÁBIL</a:t>
            </a:r>
            <a:endParaRPr lang="en-US" sz="750" dirty="0"/>
          </a:p>
        </p:txBody>
      </p:sp>
      <p:sp>
        <p:nvSpPr>
          <p:cNvPr id="25" name="Text 22"/>
          <p:cNvSpPr txBox="1"/>
          <p:nvPr/>
        </p:nvSpPr>
        <p:spPr>
          <a:xfrm>
            <a:off x="7421270" y="2240280"/>
            <a:ext cx="1858061"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2 de 152 · julio 0,65 %</a:t>
            </a:r>
            <a:endParaRPr lang="en-US" sz="850" dirty="0"/>
          </a:p>
        </p:txBody>
      </p:sp>
      <p:sp>
        <p:nvSpPr>
          <p:cNvPr id="26" name="Shape 23"/>
          <p:cNvSpPr/>
          <p:nvPr/>
        </p:nvSpPr>
        <p:spPr>
          <a:xfrm>
            <a:off x="9544507" y="1691640"/>
            <a:ext cx="2132381" cy="914400"/>
          </a:xfrm>
          <a:prstGeom prst="roundRect">
            <a:avLst>
              <a:gd name="adj" fmla="val 8000"/>
            </a:avLst>
          </a:prstGeom>
          <a:solidFill>
            <a:srgbClr val="0F1930"/>
          </a:solidFill>
          <a:ln w="15875">
            <a:solidFill>
              <a:srgbClr val="2DD4BF"/>
            </a:solidFill>
            <a:prstDash val="solid"/>
          </a:ln>
        </p:spPr>
      </p:sp>
      <p:sp>
        <p:nvSpPr>
          <p:cNvPr id="27" name="Text 24"/>
          <p:cNvSpPr txBox="1"/>
          <p:nvPr/>
        </p:nvSpPr>
        <p:spPr>
          <a:xfrm>
            <a:off x="9681667" y="1764792"/>
            <a:ext cx="1858061" cy="329184"/>
          </a:xfrm>
          <a:prstGeom prst="rect">
            <a:avLst/>
          </a:prstGeom>
          <a:noFill/>
          <a:ln/>
        </p:spPr>
        <p:txBody>
          <a:bodyPr wrap="square" lIns="0" tIns="0" rIns="0" bIns="0" rtlCol="0" anchor="ctr"/>
          <a:lstStyle/>
          <a:p>
            <a:pPr algn="l" indent="0" marL="0">
              <a:buNone/>
            </a:pPr>
            <a:r>
              <a:rPr lang="en-US" sz="1800" b="1" dirty="0">
                <a:solidFill>
                  <a:srgbClr val="5EEAD4"/>
                </a:solidFill>
                <a:latin typeface="Arial" pitchFamily="34" charset="0"/>
                <a:ea typeface="Arial" pitchFamily="34" charset="-122"/>
                <a:cs typeface="Arial" pitchFamily="34" charset="-120"/>
              </a:rPr>
              <a:t>6.417</a:t>
            </a:r>
            <a:endParaRPr lang="en-US" sz="1800" dirty="0"/>
          </a:p>
        </p:txBody>
      </p:sp>
      <p:sp>
        <p:nvSpPr>
          <p:cNvPr id="28" name="Text 25"/>
          <p:cNvSpPr txBox="1"/>
          <p:nvPr/>
        </p:nvSpPr>
        <p:spPr>
          <a:xfrm>
            <a:off x="9681667" y="2075688"/>
            <a:ext cx="1858061"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ACTIVIDAD TOTAL ENE–AGO</a:t>
            </a:r>
            <a:endParaRPr lang="en-US" sz="750" dirty="0"/>
          </a:p>
        </p:txBody>
      </p:sp>
      <p:sp>
        <p:nvSpPr>
          <p:cNvPr id="29" name="Text 26"/>
          <p:cNvSpPr txBox="1"/>
          <p:nvPr/>
        </p:nvSpPr>
        <p:spPr>
          <a:xfrm>
            <a:off x="9681667" y="2240280"/>
            <a:ext cx="1858061"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+17,9 % interanual · todas las fechas</a:t>
            </a:r>
            <a:endParaRPr lang="en-US" sz="850" dirty="0"/>
          </a:p>
        </p:txBody>
      </p:sp>
      <p:sp>
        <p:nvSpPr>
          <p:cNvPr id="30" name="Text 27"/>
          <p:cNvSpPr txBox="1"/>
          <p:nvPr/>
        </p:nvSpPr>
        <p:spPr>
          <a:xfrm>
            <a:off x="502920" y="2743200"/>
            <a:ext cx="7315200" cy="237744"/>
          </a:xfrm>
          <a:prstGeom prst="rect">
            <a:avLst/>
          </a:prstGeom>
          <a:noFill/>
          <a:ln/>
        </p:spPr>
        <p:txBody>
          <a:bodyPr wrap="square" lIns="0" tIns="0" rIns="0" bIns="0" rtlCol="0" anchor="ctr"/>
          <a:lstStyle/>
          <a:p>
            <a:pPr algn="l" indent="0" marL="0">
              <a:buNone/>
            </a:pPr>
            <a:r>
              <a:rPr lang="en-US" sz="900" b="1" spc="200" kern="0" dirty="0">
                <a:solidFill>
                  <a:srgbClr val="BCCDE8"/>
                </a:solidFill>
                <a:latin typeface="Arial" pitchFamily="34" charset="0"/>
                <a:ea typeface="Arial" pitchFamily="34" charset="-122"/>
                <a:cs typeface="Arial" pitchFamily="34" charset="-120"/>
              </a:rPr>
              <a:t>FICHA DEL MES  ·  CME NORMAL DÍA HÁBIL</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3017520"/>
          <a:ext cx="11173968" cy="914400"/>
        </p:xfrm>
        <a:graphic>
          <a:graphicData uri="http://schemas.openxmlformats.org/drawingml/2006/table">
            <a:tbl>
              <a:tblPr/>
              <a:tblGrid>
                <a:gridCol w="3566160"/>
                <a:gridCol w="1828800"/>
                <a:gridCol w="1828800"/>
                <a:gridCol w="1828800"/>
                <a:gridCol w="2121408"/>
              </a:tblGrid>
              <a:tr h="347472">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Indicador</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Ago 2026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Jul 2026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Ago 2025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Media mensual ene–ago 2026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Programadas normales L–V</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152</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155</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190</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184</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Suspendidas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23</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9,3</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Tasa de suspensión hábil</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1,32 %</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0,65 %</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12,11 %</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5,04 %</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CME realizadas L–V</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201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214</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231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235</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CME por día L–V</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9,57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9,30</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11,00</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10,87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47472">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Días lunes a viernes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21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23</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21,6</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32" name="Text 28"/>
          <p:cNvSpPr txBox="1"/>
          <p:nvPr/>
        </p:nvSpPr>
        <p:spPr>
          <a:xfrm>
            <a:off x="502920" y="5596128"/>
            <a:ext cx="11173968" cy="50292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Ene–ago 2026: 74 / 1.469 = 5,04 % · Media de 20 meses (ene-25 a ago-26): 7,61 % (274 / 3.601) · Actividad declarada = CME + urgencia mayor + cirugía menor + procedimientos del monitoreo (incluye el nuevo registro de procedimientos desde julio; ver "Producción comparada").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02  ·  LECTURA DEL MES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Agosto: un caso más, la segunda tasa más baja de 20 meses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Tasa hábil y tasa bruta siguen bajo todos los umbrales de referencia · primer repunte tras cinco descensos consecutivos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03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394960" cy="1600200"/>
          </a:xfrm>
          <a:prstGeom prst="roundRect">
            <a:avLst>
              <a:gd name="adj" fmla="val 4571"/>
            </a:avLst>
          </a:prstGeom>
          <a:solidFill>
            <a:srgbClr val="0F1930"/>
          </a:solidFill>
          <a:ln w="15875">
            <a:solidFill>
              <a:srgbClr val="2DD4BF"/>
            </a:solidFill>
            <a:prstDash val="solid"/>
          </a:ln>
        </p:spPr>
      </p:sp>
      <p:sp>
        <p:nvSpPr>
          <p:cNvPr id="11" name="Text 8"/>
          <p:cNvSpPr txBox="1"/>
          <p:nvPr/>
        </p:nvSpPr>
        <p:spPr>
          <a:xfrm>
            <a:off x="685800" y="1801368"/>
            <a:ext cx="5029200" cy="237744"/>
          </a:xfrm>
          <a:prstGeom prst="rect">
            <a:avLst/>
          </a:prstGeom>
          <a:noFill/>
          <a:ln/>
        </p:spPr>
        <p:txBody>
          <a:bodyPr wrap="square" lIns="0" tIns="0" rIns="0" bIns="0" rtlCol="0" anchor="ctr"/>
          <a:lstStyle/>
          <a:p>
            <a:pPr algn="l" indent="0" marL="0">
              <a:buNone/>
            </a:pPr>
            <a:r>
              <a:rPr lang="en-US" sz="900" b="1" spc="200" kern="0" dirty="0">
                <a:solidFill>
                  <a:srgbClr val="5EEAD4"/>
                </a:solidFill>
                <a:latin typeface="Arial" pitchFamily="34" charset="0"/>
                <a:ea typeface="Arial" pitchFamily="34" charset="-122"/>
                <a:cs typeface="Arial" pitchFamily="34" charset="-120"/>
              </a:rPr>
              <a:t>◆  EN LA TABLA HÁBIL</a:t>
            </a:r>
            <a:endParaRPr lang="en-US" sz="900" dirty="0"/>
          </a:p>
        </p:txBody>
      </p:sp>
      <p:sp>
        <p:nvSpPr>
          <p:cNvPr id="12" name="Text 9"/>
          <p:cNvSpPr txBox="1"/>
          <p:nvPr/>
        </p:nvSpPr>
        <p:spPr>
          <a:xfrm>
            <a:off x="685800" y="2029968"/>
            <a:ext cx="5029200" cy="731520"/>
          </a:xfrm>
          <a:prstGeom prst="rect">
            <a:avLst/>
          </a:prstGeom>
          <a:noFill/>
          <a:ln/>
        </p:spPr>
        <p:txBody>
          <a:bodyPr wrap="square" lIns="0" tIns="0" rIns="0" bIns="0" rtlCol="0" anchor="ctr"/>
          <a:lstStyle/>
          <a:p>
            <a:pPr algn="l" indent="0" marL="0">
              <a:buNone/>
            </a:pPr>
            <a:r>
              <a:rPr lang="en-US" sz="4400" b="1" dirty="0">
                <a:solidFill>
                  <a:srgbClr val="EAF1FB"/>
                </a:solidFill>
                <a:latin typeface="Arial" pitchFamily="34" charset="0"/>
                <a:ea typeface="Arial" pitchFamily="34" charset="-122"/>
                <a:cs typeface="Arial" pitchFamily="34" charset="-120"/>
              </a:rPr>
              <a:t>1,32 %</a:t>
            </a:r>
            <a:endParaRPr lang="en-US" sz="4400" dirty="0"/>
          </a:p>
        </p:txBody>
      </p:sp>
      <p:sp>
        <p:nvSpPr>
          <p:cNvPr id="13" name="Text 10"/>
          <p:cNvSpPr txBox="1"/>
          <p:nvPr/>
        </p:nvSpPr>
        <p:spPr>
          <a:xfrm>
            <a:off x="685800" y="2788920"/>
            <a:ext cx="5029200" cy="411480"/>
          </a:xfrm>
          <a:prstGeom prst="rect">
            <a:avLst/>
          </a:prstGeom>
          <a:noFill/>
          <a:ln/>
        </p:spPr>
        <p:txBody>
          <a:bodyPr wrap="square" lIns="0" tIns="0" rIns="0" bIns="0" rtlCol="0" anchor="t"/>
          <a:lstStyle/>
          <a:p>
            <a:pPr algn="l" indent="0" marL="0">
              <a:buNone/>
            </a:pPr>
            <a:r>
              <a:rPr lang="en-US" sz="1000" b="1" dirty="0">
                <a:solidFill>
                  <a:srgbClr val="EAF1FB"/>
                </a:solidFill>
                <a:latin typeface="Arial" pitchFamily="34" charset="0"/>
                <a:ea typeface="Arial" pitchFamily="34" charset="-122"/>
                <a:cs typeface="Arial" pitchFamily="34" charset="-120"/>
              </a:rPr>
              <a:t>2 suspensiones</a:t>
            </a:r>
            <a:pPr algn="l" indent="0" marL="0">
              <a:buNone/>
            </a:pPr>
            <a:r>
              <a:rPr lang="en-US" sz="1000" dirty="0">
                <a:solidFill>
                  <a:srgbClr val="94AACC"/>
                </a:solidFill>
                <a:latin typeface="Arial" pitchFamily="34" charset="0"/>
                <a:ea typeface="Arial" pitchFamily="34" charset="-122"/>
                <a:cs typeface="Arial" pitchFamily="34" charset="-120"/>
              </a:rPr>
              <a:t> / 152 CME normales L–V · excluye condicionales y fin de semana</a:t>
            </a:r>
            <a:endParaRPr lang="en-US" sz="1000" dirty="0"/>
          </a:p>
        </p:txBody>
      </p:sp>
      <p:sp>
        <p:nvSpPr>
          <p:cNvPr id="14" name="Shape 11"/>
          <p:cNvSpPr/>
          <p:nvPr/>
        </p:nvSpPr>
        <p:spPr>
          <a:xfrm>
            <a:off x="502920" y="3401568"/>
            <a:ext cx="5394960" cy="1600200"/>
          </a:xfrm>
          <a:prstGeom prst="roundRect">
            <a:avLst>
              <a:gd name="adj" fmla="val 4571"/>
            </a:avLst>
          </a:prstGeom>
          <a:solidFill>
            <a:srgbClr val="0F1930"/>
          </a:solidFill>
          <a:ln w="9525">
            <a:solidFill>
              <a:srgbClr val="22304A"/>
            </a:solidFill>
            <a:prstDash val="solid"/>
          </a:ln>
        </p:spPr>
      </p:sp>
      <p:sp>
        <p:nvSpPr>
          <p:cNvPr id="15" name="Text 12"/>
          <p:cNvSpPr txBox="1"/>
          <p:nvPr/>
        </p:nvSpPr>
        <p:spPr>
          <a:xfrm>
            <a:off x="685800" y="3511296"/>
            <a:ext cx="5029200" cy="237744"/>
          </a:xfrm>
          <a:prstGeom prst="rect">
            <a:avLst/>
          </a:prstGeom>
          <a:noFill/>
          <a:ln/>
        </p:spPr>
        <p:txBody>
          <a:bodyPr wrap="square" lIns="0" tIns="0" rIns="0" bIns="0" rtlCol="0" anchor="ctr"/>
          <a:lstStyle/>
          <a:p>
            <a:pPr algn="l" indent="0" marL="0">
              <a:buNone/>
            </a:pPr>
            <a:r>
              <a:rPr lang="en-US" sz="900" b="1" spc="200" kern="0" dirty="0">
                <a:solidFill>
                  <a:srgbClr val="BCCDE8"/>
                </a:solidFill>
                <a:latin typeface="Arial" pitchFamily="34" charset="0"/>
                <a:ea typeface="Arial" pitchFamily="34" charset="-122"/>
                <a:cs typeface="Arial" pitchFamily="34" charset="-120"/>
              </a:rPr>
              <a:t>◆  TASA BRUTA · TODAS LAS FECHAS</a:t>
            </a:r>
            <a:endParaRPr lang="en-US" sz="900" dirty="0"/>
          </a:p>
        </p:txBody>
      </p:sp>
      <p:sp>
        <p:nvSpPr>
          <p:cNvPr id="16" name="Text 13"/>
          <p:cNvSpPr txBox="1"/>
          <p:nvPr/>
        </p:nvSpPr>
        <p:spPr>
          <a:xfrm>
            <a:off x="685800" y="3739896"/>
            <a:ext cx="5029200" cy="731520"/>
          </a:xfrm>
          <a:prstGeom prst="rect">
            <a:avLst/>
          </a:prstGeom>
          <a:noFill/>
          <a:ln/>
        </p:spPr>
        <p:txBody>
          <a:bodyPr wrap="square" lIns="0" tIns="0" rIns="0" bIns="0" rtlCol="0" anchor="ctr"/>
          <a:lstStyle/>
          <a:p>
            <a:pPr algn="l" indent="0" marL="0">
              <a:buNone/>
            </a:pPr>
            <a:r>
              <a:rPr lang="en-US" sz="4400" b="1" dirty="0">
                <a:solidFill>
                  <a:srgbClr val="EAF1FB"/>
                </a:solidFill>
                <a:latin typeface="Arial" pitchFamily="34" charset="0"/>
                <a:ea typeface="Arial" pitchFamily="34" charset="-122"/>
                <a:cs typeface="Arial" pitchFamily="34" charset="-120"/>
              </a:rPr>
              <a:t>0,52 %</a:t>
            </a:r>
            <a:endParaRPr lang="en-US" sz="4400" dirty="0"/>
          </a:p>
        </p:txBody>
      </p:sp>
      <p:sp>
        <p:nvSpPr>
          <p:cNvPr id="17" name="Text 14"/>
          <p:cNvSpPr txBox="1"/>
          <p:nvPr/>
        </p:nvSpPr>
        <p:spPr>
          <a:xfrm>
            <a:off x="685800" y="4498848"/>
            <a:ext cx="5029200" cy="411480"/>
          </a:xfrm>
          <a:prstGeom prst="rect">
            <a:avLst/>
          </a:prstGeom>
          <a:noFill/>
          <a:ln/>
        </p:spPr>
        <p:txBody>
          <a:bodyPr wrap="square" lIns="0" tIns="0" rIns="0" bIns="0" rtlCol="0" anchor="t"/>
          <a:lstStyle/>
          <a:p>
            <a:pPr algn="l" indent="0" marL="0">
              <a:buNone/>
            </a:pPr>
            <a:r>
              <a:rPr lang="en-US" sz="1000" b="1" dirty="0">
                <a:solidFill>
                  <a:srgbClr val="EAF1FB"/>
                </a:solidFill>
                <a:latin typeface="Arial" pitchFamily="34" charset="0"/>
                <a:ea typeface="Arial" pitchFamily="34" charset="-122"/>
                <a:cs typeface="Arial" pitchFamily="34" charset="-120"/>
              </a:rPr>
              <a:t>2 suspensiones</a:t>
            </a:r>
            <a:pPr algn="l" indent="0" marL="0">
              <a:buNone/>
            </a:pPr>
            <a:r>
              <a:rPr lang="en-US" sz="1000" dirty="0">
                <a:solidFill>
                  <a:srgbClr val="94AACC"/>
                </a:solidFill>
                <a:latin typeface="Arial" pitchFamily="34" charset="0"/>
                <a:ea typeface="Arial" pitchFamily="34" charset="-122"/>
                <a:cs typeface="Arial" pitchFamily="34" charset="-120"/>
              </a:rPr>
              <a:t> / 385 programadas normales · fin de semana 0 / 233 en su campo</a:t>
            </a:r>
            <a:endParaRPr lang="en-US" sz="1000" dirty="0"/>
          </a:p>
        </p:txBody>
      </p:sp>
      <p:sp>
        <p:nvSpPr>
          <p:cNvPr id="18" name="Shape 15"/>
          <p:cNvSpPr/>
          <p:nvPr/>
        </p:nvSpPr>
        <p:spPr>
          <a:xfrm>
            <a:off x="6080760" y="1691640"/>
            <a:ext cx="5596128" cy="3310128"/>
          </a:xfrm>
          <a:prstGeom prst="roundRect">
            <a:avLst>
              <a:gd name="adj" fmla="val 2210"/>
            </a:avLst>
          </a:prstGeom>
          <a:solidFill>
            <a:srgbClr val="0F1930"/>
          </a:solidFill>
          <a:ln w="9525">
            <a:solidFill>
              <a:srgbClr val="22304A"/>
            </a:solidFill>
            <a:prstDash val="solid"/>
          </a:ln>
        </p:spPr>
      </p:sp>
      <p:sp>
        <p:nvSpPr>
          <p:cNvPr id="19" name="Text 16"/>
          <p:cNvSpPr txBox="1"/>
          <p:nvPr/>
        </p:nvSpPr>
        <p:spPr>
          <a:xfrm>
            <a:off x="6263640" y="1801368"/>
            <a:ext cx="5212080" cy="237744"/>
          </a:xfrm>
          <a:prstGeom prst="rect">
            <a:avLst/>
          </a:prstGeom>
          <a:noFill/>
          <a:ln/>
        </p:spPr>
        <p:txBody>
          <a:bodyPr wrap="square" lIns="0" tIns="0" rIns="0" bIns="0" rtlCol="0" anchor="ctr"/>
          <a:lstStyle/>
          <a:p>
            <a:pPr algn="l" indent="0" marL="0">
              <a:buNone/>
            </a:pPr>
            <a:r>
              <a:rPr lang="en-US" sz="900" b="1" spc="200" kern="0" dirty="0">
                <a:solidFill>
                  <a:srgbClr val="BCCDE8"/>
                </a:solidFill>
                <a:latin typeface="Arial" pitchFamily="34" charset="0"/>
                <a:ea typeface="Arial" pitchFamily="34" charset="-122"/>
                <a:cs typeface="Arial" pitchFamily="34" charset="-120"/>
              </a:rPr>
              <a:t>6 MESES · TASA HÁBIL 2026</a:t>
            </a:r>
            <a:endParaRPr lang="en-US" sz="900" dirty="0"/>
          </a:p>
        </p:txBody>
      </p:sp>
      <p:sp>
        <p:nvSpPr>
          <p:cNvPr id="20" name="Shape 17"/>
          <p:cNvSpPr/>
          <p:nvPr/>
        </p:nvSpPr>
        <p:spPr>
          <a:xfrm>
            <a:off x="6503099" y="2340864"/>
            <a:ext cx="549783" cy="2276856"/>
          </a:xfrm>
          <a:prstGeom prst="roundRect">
            <a:avLst>
              <a:gd name="adj" fmla="val 4990"/>
            </a:avLst>
          </a:prstGeom>
          <a:solidFill>
            <a:srgbClr val="2DD4BF"/>
          </a:solidFill>
          <a:ln/>
        </p:spPr>
      </p:sp>
      <p:sp>
        <p:nvSpPr>
          <p:cNvPr id="21" name="Text 18"/>
          <p:cNvSpPr txBox="1"/>
          <p:nvPr/>
        </p:nvSpPr>
        <p:spPr>
          <a:xfrm>
            <a:off x="6320219" y="2103120"/>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8,33</a:t>
            </a:r>
            <a:endParaRPr lang="en-US" sz="1100" dirty="0"/>
          </a:p>
        </p:txBody>
      </p:sp>
      <p:sp>
        <p:nvSpPr>
          <p:cNvPr id="22" name="Text 19"/>
          <p:cNvSpPr txBox="1"/>
          <p:nvPr/>
        </p:nvSpPr>
        <p:spPr>
          <a:xfrm>
            <a:off x="627449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Marzo</a:t>
            </a:r>
            <a:endParaRPr lang="en-US" sz="1000" dirty="0"/>
          </a:p>
        </p:txBody>
      </p:sp>
      <p:sp>
        <p:nvSpPr>
          <p:cNvPr id="23" name="Shape 20"/>
          <p:cNvSpPr/>
          <p:nvPr/>
        </p:nvSpPr>
        <p:spPr>
          <a:xfrm>
            <a:off x="7348919" y="3046061"/>
            <a:ext cx="549783" cy="1571659"/>
          </a:xfrm>
          <a:prstGeom prst="roundRect">
            <a:avLst>
              <a:gd name="adj" fmla="val 4990"/>
            </a:avLst>
          </a:prstGeom>
          <a:solidFill>
            <a:srgbClr val="2DD4BF"/>
          </a:solidFill>
          <a:ln/>
        </p:spPr>
      </p:sp>
      <p:sp>
        <p:nvSpPr>
          <p:cNvPr id="24" name="Text 21"/>
          <p:cNvSpPr txBox="1"/>
          <p:nvPr/>
        </p:nvSpPr>
        <p:spPr>
          <a:xfrm>
            <a:off x="7166039" y="2808317"/>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5,75</a:t>
            </a:r>
            <a:endParaRPr lang="en-US" sz="1100" dirty="0"/>
          </a:p>
        </p:txBody>
      </p:sp>
      <p:sp>
        <p:nvSpPr>
          <p:cNvPr id="25" name="Text 22"/>
          <p:cNvSpPr txBox="1"/>
          <p:nvPr/>
        </p:nvSpPr>
        <p:spPr>
          <a:xfrm>
            <a:off x="712031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Abril</a:t>
            </a:r>
            <a:endParaRPr lang="en-US" sz="1000" dirty="0"/>
          </a:p>
        </p:txBody>
      </p:sp>
      <p:sp>
        <p:nvSpPr>
          <p:cNvPr id="26" name="Shape 23"/>
          <p:cNvSpPr/>
          <p:nvPr/>
        </p:nvSpPr>
        <p:spPr>
          <a:xfrm>
            <a:off x="8194739" y="3464259"/>
            <a:ext cx="549783" cy="1153461"/>
          </a:xfrm>
          <a:prstGeom prst="roundRect">
            <a:avLst>
              <a:gd name="adj" fmla="val 4990"/>
            </a:avLst>
          </a:prstGeom>
          <a:solidFill>
            <a:srgbClr val="2DD4BF"/>
          </a:solidFill>
          <a:ln/>
        </p:spPr>
      </p:sp>
      <p:sp>
        <p:nvSpPr>
          <p:cNvPr id="27" name="Text 24"/>
          <p:cNvSpPr txBox="1"/>
          <p:nvPr/>
        </p:nvSpPr>
        <p:spPr>
          <a:xfrm>
            <a:off x="8011859" y="3226515"/>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4,22</a:t>
            </a:r>
            <a:endParaRPr lang="en-US" sz="1100" dirty="0"/>
          </a:p>
        </p:txBody>
      </p:sp>
      <p:sp>
        <p:nvSpPr>
          <p:cNvPr id="28" name="Text 25"/>
          <p:cNvSpPr txBox="1"/>
          <p:nvPr/>
        </p:nvSpPr>
        <p:spPr>
          <a:xfrm>
            <a:off x="796613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Mayo</a:t>
            </a:r>
            <a:endParaRPr lang="en-US" sz="1000" dirty="0"/>
          </a:p>
        </p:txBody>
      </p:sp>
      <p:sp>
        <p:nvSpPr>
          <p:cNvPr id="29" name="Shape 26"/>
          <p:cNvSpPr/>
          <p:nvPr/>
        </p:nvSpPr>
        <p:spPr>
          <a:xfrm>
            <a:off x="9040559" y="4158522"/>
            <a:ext cx="549783" cy="459198"/>
          </a:xfrm>
          <a:prstGeom prst="roundRect">
            <a:avLst>
              <a:gd name="adj" fmla="val 5974"/>
            </a:avLst>
          </a:prstGeom>
          <a:solidFill>
            <a:srgbClr val="2DD4BF"/>
          </a:solidFill>
          <a:ln/>
        </p:spPr>
      </p:sp>
      <p:sp>
        <p:nvSpPr>
          <p:cNvPr id="30" name="Text 27"/>
          <p:cNvSpPr txBox="1"/>
          <p:nvPr/>
        </p:nvSpPr>
        <p:spPr>
          <a:xfrm>
            <a:off x="8857679" y="3920778"/>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1,68</a:t>
            </a:r>
            <a:endParaRPr lang="en-US" sz="1100" dirty="0"/>
          </a:p>
        </p:txBody>
      </p:sp>
      <p:sp>
        <p:nvSpPr>
          <p:cNvPr id="31" name="Text 28"/>
          <p:cNvSpPr txBox="1"/>
          <p:nvPr/>
        </p:nvSpPr>
        <p:spPr>
          <a:xfrm>
            <a:off x="881195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Junio</a:t>
            </a:r>
            <a:endParaRPr lang="en-US" sz="1000" dirty="0"/>
          </a:p>
        </p:txBody>
      </p:sp>
      <p:sp>
        <p:nvSpPr>
          <p:cNvPr id="32" name="Shape 29"/>
          <p:cNvSpPr/>
          <p:nvPr/>
        </p:nvSpPr>
        <p:spPr>
          <a:xfrm>
            <a:off x="9886379" y="4440054"/>
            <a:ext cx="549783" cy="177666"/>
          </a:xfrm>
          <a:prstGeom prst="roundRect">
            <a:avLst>
              <a:gd name="adj" fmla="val 15440"/>
            </a:avLst>
          </a:prstGeom>
          <a:solidFill>
            <a:srgbClr val="2DD4BF"/>
          </a:solidFill>
          <a:ln/>
        </p:spPr>
      </p:sp>
      <p:sp>
        <p:nvSpPr>
          <p:cNvPr id="33" name="Text 30"/>
          <p:cNvSpPr txBox="1"/>
          <p:nvPr/>
        </p:nvSpPr>
        <p:spPr>
          <a:xfrm>
            <a:off x="9703499" y="4202310"/>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0,65</a:t>
            </a:r>
            <a:endParaRPr lang="en-US" sz="1100" dirty="0"/>
          </a:p>
        </p:txBody>
      </p:sp>
      <p:sp>
        <p:nvSpPr>
          <p:cNvPr id="34" name="Text 31"/>
          <p:cNvSpPr txBox="1"/>
          <p:nvPr/>
        </p:nvSpPr>
        <p:spPr>
          <a:xfrm>
            <a:off x="965777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Julio</a:t>
            </a:r>
            <a:endParaRPr lang="en-US" sz="1000" dirty="0"/>
          </a:p>
        </p:txBody>
      </p:sp>
      <p:sp>
        <p:nvSpPr>
          <p:cNvPr id="35" name="Shape 32"/>
          <p:cNvSpPr/>
          <p:nvPr/>
        </p:nvSpPr>
        <p:spPr>
          <a:xfrm>
            <a:off x="10732199" y="4256922"/>
            <a:ext cx="549783" cy="360798"/>
          </a:xfrm>
          <a:prstGeom prst="roundRect">
            <a:avLst>
              <a:gd name="adj" fmla="val 7603"/>
            </a:avLst>
          </a:prstGeom>
          <a:solidFill>
            <a:srgbClr val="5EEAD4"/>
          </a:solidFill>
          <a:ln/>
        </p:spPr>
      </p:sp>
      <p:sp>
        <p:nvSpPr>
          <p:cNvPr id="36" name="Text 33"/>
          <p:cNvSpPr txBox="1"/>
          <p:nvPr/>
        </p:nvSpPr>
        <p:spPr>
          <a:xfrm>
            <a:off x="10549319" y="4019178"/>
            <a:ext cx="915543" cy="237744"/>
          </a:xfrm>
          <a:prstGeom prst="rect">
            <a:avLst/>
          </a:prstGeom>
          <a:noFill/>
          <a:ln/>
        </p:spPr>
        <p:txBody>
          <a:bodyPr wrap="square" lIns="0" tIns="0" rIns="0" bIns="0" rtlCol="0" anchor="b"/>
          <a:lstStyle/>
          <a:p>
            <a:pPr algn="ctr" indent="0" marL="0">
              <a:buNone/>
            </a:pPr>
            <a:r>
              <a:rPr lang="en-US" sz="1100" b="1" dirty="0">
                <a:solidFill>
                  <a:srgbClr val="EAF1FB"/>
                </a:solidFill>
                <a:latin typeface="Arial" pitchFamily="34" charset="0"/>
                <a:ea typeface="Arial" pitchFamily="34" charset="-122"/>
                <a:cs typeface="Arial" pitchFamily="34" charset="-120"/>
              </a:rPr>
              <a:t>1,32</a:t>
            </a:r>
            <a:endParaRPr lang="en-US" sz="1100" dirty="0"/>
          </a:p>
        </p:txBody>
      </p:sp>
      <p:sp>
        <p:nvSpPr>
          <p:cNvPr id="37" name="Text 34"/>
          <p:cNvSpPr txBox="1"/>
          <p:nvPr/>
        </p:nvSpPr>
        <p:spPr>
          <a:xfrm>
            <a:off x="10503599" y="4617720"/>
            <a:ext cx="1006983" cy="274320"/>
          </a:xfrm>
          <a:prstGeom prst="rect">
            <a:avLst/>
          </a:prstGeom>
          <a:noFill/>
          <a:ln/>
        </p:spPr>
        <p:txBody>
          <a:bodyPr wrap="square" lIns="0" tIns="0" rIns="0" bIns="0" rtlCol="0" anchor="ctr"/>
          <a:lstStyle/>
          <a:p>
            <a:pPr algn="ctr" indent="0" marL="0">
              <a:buNone/>
            </a:pPr>
            <a:r>
              <a:rPr lang="en-US" sz="1000" dirty="0">
                <a:solidFill>
                  <a:srgbClr val="94AACC"/>
                </a:solidFill>
                <a:latin typeface="Arial" pitchFamily="34" charset="0"/>
                <a:ea typeface="Arial" pitchFamily="34" charset="-122"/>
                <a:cs typeface="Arial" pitchFamily="34" charset="-120"/>
              </a:rPr>
              <a:t>Agosto</a:t>
            </a:r>
            <a:endParaRPr lang="en-US" sz="1000" dirty="0"/>
          </a:p>
        </p:txBody>
      </p:sp>
      <p:sp>
        <p:nvSpPr>
          <p:cNvPr id="38" name="Shape 35"/>
          <p:cNvSpPr/>
          <p:nvPr/>
        </p:nvSpPr>
        <p:spPr>
          <a:xfrm>
            <a:off x="502920" y="5138928"/>
            <a:ext cx="2697480" cy="777240"/>
          </a:xfrm>
          <a:prstGeom prst="roundRect">
            <a:avLst>
              <a:gd name="adj" fmla="val 9412"/>
            </a:avLst>
          </a:prstGeom>
          <a:solidFill>
            <a:srgbClr val="0F1930"/>
          </a:solidFill>
          <a:ln w="9525">
            <a:solidFill>
              <a:srgbClr val="22304A"/>
            </a:solidFill>
            <a:prstDash val="solid"/>
          </a:ln>
        </p:spPr>
      </p:sp>
      <p:sp>
        <p:nvSpPr>
          <p:cNvPr id="39" name="Text 36"/>
          <p:cNvSpPr txBox="1"/>
          <p:nvPr/>
        </p:nvSpPr>
        <p:spPr>
          <a:xfrm>
            <a:off x="640080" y="5212080"/>
            <a:ext cx="2423160"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+0,67 pp</a:t>
            </a:r>
            <a:endParaRPr lang="en-US" sz="1800" dirty="0"/>
          </a:p>
        </p:txBody>
      </p:sp>
      <p:sp>
        <p:nvSpPr>
          <p:cNvPr id="40" name="Text 37"/>
          <p:cNvSpPr txBox="1"/>
          <p:nvPr/>
        </p:nvSpPr>
        <p:spPr>
          <a:xfrm>
            <a:off x="640080" y="5522976"/>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VS JULIO (0,65 %)</a:t>
            </a:r>
            <a:endParaRPr lang="en-US" sz="750" dirty="0"/>
          </a:p>
        </p:txBody>
      </p:sp>
      <p:sp>
        <p:nvSpPr>
          <p:cNvPr id="41" name="Text 38"/>
          <p:cNvSpPr txBox="1"/>
          <p:nvPr/>
        </p:nvSpPr>
        <p:spPr>
          <a:xfrm>
            <a:off x="640080" y="5687568"/>
            <a:ext cx="2423160" cy="2103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un caso más · tres programadas menos</a:t>
            </a:r>
            <a:endParaRPr lang="en-US" sz="850" dirty="0"/>
          </a:p>
        </p:txBody>
      </p:sp>
      <p:sp>
        <p:nvSpPr>
          <p:cNvPr id="42" name="Shape 39"/>
          <p:cNvSpPr/>
          <p:nvPr/>
        </p:nvSpPr>
        <p:spPr>
          <a:xfrm>
            <a:off x="3328416" y="5138928"/>
            <a:ext cx="2697480" cy="777240"/>
          </a:xfrm>
          <a:prstGeom prst="roundRect">
            <a:avLst>
              <a:gd name="adj" fmla="val 9412"/>
            </a:avLst>
          </a:prstGeom>
          <a:solidFill>
            <a:srgbClr val="0F1930"/>
          </a:solidFill>
          <a:ln w="9525">
            <a:solidFill>
              <a:srgbClr val="22304A"/>
            </a:solidFill>
            <a:prstDash val="solid"/>
          </a:ln>
        </p:spPr>
      </p:sp>
      <p:sp>
        <p:nvSpPr>
          <p:cNvPr id="43" name="Text 40"/>
          <p:cNvSpPr txBox="1"/>
          <p:nvPr/>
        </p:nvSpPr>
        <p:spPr>
          <a:xfrm>
            <a:off x="3465576" y="5212080"/>
            <a:ext cx="2423160"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−89 %</a:t>
            </a:r>
            <a:endParaRPr lang="en-US" sz="1800" dirty="0"/>
          </a:p>
        </p:txBody>
      </p:sp>
      <p:sp>
        <p:nvSpPr>
          <p:cNvPr id="44" name="Text 41"/>
          <p:cNvSpPr txBox="1"/>
          <p:nvPr/>
        </p:nvSpPr>
        <p:spPr>
          <a:xfrm>
            <a:off x="3465576" y="5522976"/>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VS AGOSTO 2025 (12,11 %)</a:t>
            </a:r>
            <a:endParaRPr lang="en-US" sz="750" dirty="0"/>
          </a:p>
        </p:txBody>
      </p:sp>
      <p:sp>
        <p:nvSpPr>
          <p:cNvPr id="45" name="Text 42"/>
          <p:cNvSpPr txBox="1"/>
          <p:nvPr/>
        </p:nvSpPr>
        <p:spPr>
          <a:xfrm>
            <a:off x="3465576" y="5687568"/>
            <a:ext cx="2423160" cy="2103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23 → 2 suspensiones · Fisher p &lt; 0,001</a:t>
            </a:r>
            <a:endParaRPr lang="en-US" sz="850" dirty="0"/>
          </a:p>
        </p:txBody>
      </p:sp>
      <p:sp>
        <p:nvSpPr>
          <p:cNvPr id="46" name="Shape 43"/>
          <p:cNvSpPr/>
          <p:nvPr/>
        </p:nvSpPr>
        <p:spPr>
          <a:xfrm>
            <a:off x="6153912" y="5138928"/>
            <a:ext cx="2697480" cy="777240"/>
          </a:xfrm>
          <a:prstGeom prst="roundRect">
            <a:avLst>
              <a:gd name="adj" fmla="val 9412"/>
            </a:avLst>
          </a:prstGeom>
          <a:solidFill>
            <a:srgbClr val="0F1930"/>
          </a:solidFill>
          <a:ln w="9525">
            <a:solidFill>
              <a:srgbClr val="22304A"/>
            </a:solidFill>
            <a:prstDash val="solid"/>
          </a:ln>
        </p:spPr>
      </p:sp>
      <p:sp>
        <p:nvSpPr>
          <p:cNvPr id="47" name="Text 44"/>
          <p:cNvSpPr txBox="1"/>
          <p:nvPr/>
        </p:nvSpPr>
        <p:spPr>
          <a:xfrm>
            <a:off x="6291072" y="5212080"/>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&lt; 3 %</a:t>
            </a:r>
            <a:endParaRPr lang="en-US" sz="1800" dirty="0"/>
          </a:p>
        </p:txBody>
      </p:sp>
      <p:sp>
        <p:nvSpPr>
          <p:cNvPr id="48" name="Text 45"/>
          <p:cNvSpPr txBox="1"/>
          <p:nvPr/>
        </p:nvSpPr>
        <p:spPr>
          <a:xfrm>
            <a:off x="6291072" y="5522976"/>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ESTÁNDAR INTERNACIONAL</a:t>
            </a:r>
            <a:endParaRPr lang="en-US" sz="750" dirty="0"/>
          </a:p>
        </p:txBody>
      </p:sp>
      <p:sp>
        <p:nvSpPr>
          <p:cNvPr id="49" name="Text 46"/>
          <p:cNvSpPr txBox="1"/>
          <p:nvPr/>
        </p:nvSpPr>
        <p:spPr>
          <a:xfrm>
            <a:off x="6291072" y="5687568"/>
            <a:ext cx="2423160" cy="2103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3 meses consecutivos bajo el umbral (jun–ago)</a:t>
            </a:r>
            <a:endParaRPr lang="en-US" sz="850" dirty="0"/>
          </a:p>
        </p:txBody>
      </p:sp>
      <p:sp>
        <p:nvSpPr>
          <p:cNvPr id="50" name="Shape 47"/>
          <p:cNvSpPr/>
          <p:nvPr/>
        </p:nvSpPr>
        <p:spPr>
          <a:xfrm>
            <a:off x="8979408" y="5138928"/>
            <a:ext cx="2697480" cy="777240"/>
          </a:xfrm>
          <a:prstGeom prst="roundRect">
            <a:avLst>
              <a:gd name="adj" fmla="val 9412"/>
            </a:avLst>
          </a:prstGeom>
          <a:solidFill>
            <a:srgbClr val="0F1930"/>
          </a:solidFill>
          <a:ln w="9525">
            <a:solidFill>
              <a:srgbClr val="22304A"/>
            </a:solidFill>
            <a:prstDash val="solid"/>
          </a:ln>
        </p:spPr>
      </p:sp>
      <p:sp>
        <p:nvSpPr>
          <p:cNvPr id="51" name="Text 48"/>
          <p:cNvSpPr txBox="1"/>
          <p:nvPr/>
        </p:nvSpPr>
        <p:spPr>
          <a:xfrm>
            <a:off x="9116568" y="5212080"/>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&lt; 6,5 %</a:t>
            </a:r>
            <a:endParaRPr lang="en-US" sz="1800" dirty="0"/>
          </a:p>
        </p:txBody>
      </p:sp>
      <p:sp>
        <p:nvSpPr>
          <p:cNvPr id="52" name="Text 49"/>
          <p:cNvSpPr txBox="1"/>
          <p:nvPr/>
        </p:nvSpPr>
        <p:spPr>
          <a:xfrm>
            <a:off x="9116568" y="5522976"/>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COMGES</a:t>
            </a:r>
            <a:endParaRPr lang="en-US" sz="750" dirty="0"/>
          </a:p>
        </p:txBody>
      </p:sp>
      <p:sp>
        <p:nvSpPr>
          <p:cNvPr id="53" name="Text 50"/>
          <p:cNvSpPr txBox="1"/>
          <p:nvPr/>
        </p:nvSpPr>
        <p:spPr>
          <a:xfrm>
            <a:off x="9116568" y="5687568"/>
            <a:ext cx="2423160" cy="2103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5 meses consecutivos bajo el umbral (abr–ago)</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03  ·  MISMA FECHA · 2025 VS 2026</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Enero a agosto: 2026 frente a 2025 a la misma fecha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Tasa hábil mensual, media móvil de tres meses y acumulado a la fecha · misma fuente y fórmula L–V · el acumulado usa suma / suma</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04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532120" cy="3246120"/>
          </a:xfrm>
          <a:prstGeom prst="roundRect">
            <a:avLst>
              <a:gd name="adj" fmla="val 2254"/>
            </a:avLst>
          </a:prstGeom>
          <a:solidFill>
            <a:srgbClr val="0F1930"/>
          </a:solidFill>
          <a:ln w="9525">
            <a:solidFill>
              <a:srgbClr val="22304A"/>
            </a:solidFill>
            <a:prstDash val="solid"/>
          </a:ln>
        </p:spPr>
      </p:sp>
      <p:sp>
        <p:nvSpPr>
          <p:cNvPr id="11" name="Text 8"/>
          <p:cNvSpPr txBox="1"/>
          <p:nvPr/>
        </p:nvSpPr>
        <p:spPr>
          <a:xfrm>
            <a:off x="685800" y="1783080"/>
            <a:ext cx="5212080" cy="219456"/>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TASA HÁBIL MENSUAL Y MEDIA MÓVIL DE 3 MESES (LÍNEA PUNTEADA)</a:t>
            </a:r>
            <a:endParaRPr lang="en-US" sz="850" dirty="0"/>
          </a:p>
        </p:txBody>
      </p:sp>
      <p:sp>
        <p:nvSpPr>
          <p:cNvPr id="12" name="Shape 9"/>
          <p:cNvSpPr/>
          <p:nvPr/>
        </p:nvSpPr>
        <p:spPr>
          <a:xfrm>
            <a:off x="1097280" y="4517136"/>
            <a:ext cx="4114800" cy="0"/>
          </a:xfrm>
          <a:prstGeom prst="line">
            <a:avLst/>
          </a:prstGeom>
          <a:noFill/>
          <a:ln w="6350">
            <a:solidFill>
              <a:srgbClr val="22304A"/>
            </a:solidFill>
            <a:prstDash val="solid"/>
          </a:ln>
        </p:spPr>
      </p:sp>
      <p:sp>
        <p:nvSpPr>
          <p:cNvPr id="13" name="Text 10"/>
          <p:cNvSpPr txBox="1"/>
          <p:nvPr/>
        </p:nvSpPr>
        <p:spPr>
          <a:xfrm>
            <a:off x="594360" y="4416552"/>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0%</a:t>
            </a:r>
            <a:endParaRPr lang="en-US" sz="800" dirty="0"/>
          </a:p>
        </p:txBody>
      </p:sp>
      <p:sp>
        <p:nvSpPr>
          <p:cNvPr id="14" name="Shape 11"/>
          <p:cNvSpPr/>
          <p:nvPr/>
        </p:nvSpPr>
        <p:spPr>
          <a:xfrm>
            <a:off x="1097280" y="3742944"/>
            <a:ext cx="4114800" cy="0"/>
          </a:xfrm>
          <a:prstGeom prst="line">
            <a:avLst/>
          </a:prstGeom>
          <a:noFill/>
          <a:ln w="6350">
            <a:solidFill>
              <a:srgbClr val="22304A"/>
            </a:solidFill>
            <a:prstDash val="solid"/>
          </a:ln>
        </p:spPr>
      </p:sp>
      <p:sp>
        <p:nvSpPr>
          <p:cNvPr id="15" name="Text 12"/>
          <p:cNvSpPr txBox="1"/>
          <p:nvPr/>
        </p:nvSpPr>
        <p:spPr>
          <a:xfrm>
            <a:off x="594360" y="3642360"/>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5%</a:t>
            </a:r>
            <a:endParaRPr lang="en-US" sz="800" dirty="0"/>
          </a:p>
        </p:txBody>
      </p:sp>
      <p:sp>
        <p:nvSpPr>
          <p:cNvPr id="16" name="Shape 13"/>
          <p:cNvSpPr/>
          <p:nvPr/>
        </p:nvSpPr>
        <p:spPr>
          <a:xfrm>
            <a:off x="1097280" y="2968752"/>
            <a:ext cx="4114800" cy="0"/>
          </a:xfrm>
          <a:prstGeom prst="line">
            <a:avLst/>
          </a:prstGeom>
          <a:noFill/>
          <a:ln w="6350">
            <a:solidFill>
              <a:srgbClr val="22304A"/>
            </a:solidFill>
            <a:prstDash val="solid"/>
          </a:ln>
        </p:spPr>
      </p:sp>
      <p:sp>
        <p:nvSpPr>
          <p:cNvPr id="17" name="Text 14"/>
          <p:cNvSpPr txBox="1"/>
          <p:nvPr/>
        </p:nvSpPr>
        <p:spPr>
          <a:xfrm>
            <a:off x="594360" y="2868168"/>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10%</a:t>
            </a:r>
            <a:endParaRPr lang="en-US" sz="800" dirty="0"/>
          </a:p>
        </p:txBody>
      </p:sp>
      <p:sp>
        <p:nvSpPr>
          <p:cNvPr id="18" name="Shape 15"/>
          <p:cNvSpPr/>
          <p:nvPr/>
        </p:nvSpPr>
        <p:spPr>
          <a:xfrm>
            <a:off x="1097280" y="2194560"/>
            <a:ext cx="4114800" cy="0"/>
          </a:xfrm>
          <a:prstGeom prst="line">
            <a:avLst/>
          </a:prstGeom>
          <a:noFill/>
          <a:ln w="6350">
            <a:solidFill>
              <a:srgbClr val="22304A"/>
            </a:solidFill>
            <a:prstDash val="solid"/>
          </a:ln>
        </p:spPr>
      </p:sp>
      <p:sp>
        <p:nvSpPr>
          <p:cNvPr id="19" name="Text 16"/>
          <p:cNvSpPr txBox="1"/>
          <p:nvPr/>
        </p:nvSpPr>
        <p:spPr>
          <a:xfrm>
            <a:off x="594360" y="2093976"/>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15%</a:t>
            </a:r>
            <a:endParaRPr lang="en-US" sz="800" dirty="0"/>
          </a:p>
        </p:txBody>
      </p:sp>
      <p:sp>
        <p:nvSpPr>
          <p:cNvPr id="20" name="Text 17"/>
          <p:cNvSpPr txBox="1"/>
          <p:nvPr/>
        </p:nvSpPr>
        <p:spPr>
          <a:xfrm>
            <a:off x="73152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p:txBody>
      </p:sp>
      <p:sp>
        <p:nvSpPr>
          <p:cNvPr id="21" name="Text 18"/>
          <p:cNvSpPr txBox="1"/>
          <p:nvPr/>
        </p:nvSpPr>
        <p:spPr>
          <a:xfrm>
            <a:off x="131934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feb</a:t>
            </a:r>
            <a:endParaRPr lang="en-US" sz="800" dirty="0"/>
          </a:p>
        </p:txBody>
      </p:sp>
      <p:sp>
        <p:nvSpPr>
          <p:cNvPr id="22" name="Text 19"/>
          <p:cNvSpPr txBox="1"/>
          <p:nvPr/>
        </p:nvSpPr>
        <p:spPr>
          <a:xfrm>
            <a:off x="1907177"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p:txBody>
      </p:sp>
      <p:sp>
        <p:nvSpPr>
          <p:cNvPr id="23" name="Text 20"/>
          <p:cNvSpPr txBox="1"/>
          <p:nvPr/>
        </p:nvSpPr>
        <p:spPr>
          <a:xfrm>
            <a:off x="2495006"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abr</a:t>
            </a:r>
            <a:endParaRPr lang="en-US" sz="800" dirty="0"/>
          </a:p>
        </p:txBody>
      </p:sp>
      <p:sp>
        <p:nvSpPr>
          <p:cNvPr id="24" name="Text 21"/>
          <p:cNvSpPr txBox="1"/>
          <p:nvPr/>
        </p:nvSpPr>
        <p:spPr>
          <a:xfrm>
            <a:off x="3082834"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p:txBody>
      </p:sp>
      <p:sp>
        <p:nvSpPr>
          <p:cNvPr id="25" name="Text 22"/>
          <p:cNvSpPr txBox="1"/>
          <p:nvPr/>
        </p:nvSpPr>
        <p:spPr>
          <a:xfrm>
            <a:off x="3670663"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jun</a:t>
            </a:r>
            <a:endParaRPr lang="en-US" sz="800" dirty="0"/>
          </a:p>
        </p:txBody>
      </p:sp>
      <p:sp>
        <p:nvSpPr>
          <p:cNvPr id="26" name="Text 23"/>
          <p:cNvSpPr txBox="1"/>
          <p:nvPr/>
        </p:nvSpPr>
        <p:spPr>
          <a:xfrm>
            <a:off x="4258491"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p:txBody>
      </p:sp>
      <p:sp>
        <p:nvSpPr>
          <p:cNvPr id="27" name="Text 24"/>
          <p:cNvSpPr txBox="1"/>
          <p:nvPr/>
        </p:nvSpPr>
        <p:spPr>
          <a:xfrm>
            <a:off x="484632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ago</a:t>
            </a:r>
            <a:endParaRPr lang="en-US" sz="800" dirty="0"/>
          </a:p>
        </p:txBody>
      </p:sp>
      <p:sp>
        <p:nvSpPr>
          <p:cNvPr id="28" name="Shape 25"/>
          <p:cNvSpPr/>
          <p:nvPr/>
        </p:nvSpPr>
        <p:spPr>
          <a:xfrm flipV="1">
            <a:off x="1097280" y="3126687"/>
            <a:ext cx="587829" cy="464515"/>
          </a:xfrm>
          <a:prstGeom prst="line">
            <a:avLst/>
          </a:prstGeom>
          <a:noFill/>
          <a:ln w="19050">
            <a:solidFill>
              <a:srgbClr val="7FA3D9"/>
            </a:solidFill>
            <a:prstDash val="solid"/>
          </a:ln>
        </p:spPr>
      </p:sp>
      <p:sp>
        <p:nvSpPr>
          <p:cNvPr id="29" name="Shape 26"/>
          <p:cNvSpPr/>
          <p:nvPr/>
        </p:nvSpPr>
        <p:spPr>
          <a:xfrm>
            <a:off x="1685109" y="3126687"/>
            <a:ext cx="587829" cy="250838"/>
          </a:xfrm>
          <a:prstGeom prst="line">
            <a:avLst/>
          </a:prstGeom>
          <a:noFill/>
          <a:ln w="19050">
            <a:solidFill>
              <a:srgbClr val="7FA3D9"/>
            </a:solidFill>
            <a:prstDash val="solid"/>
          </a:ln>
        </p:spPr>
      </p:sp>
      <p:sp>
        <p:nvSpPr>
          <p:cNvPr id="30" name="Shape 27"/>
          <p:cNvSpPr/>
          <p:nvPr/>
        </p:nvSpPr>
        <p:spPr>
          <a:xfrm flipV="1">
            <a:off x="2272937" y="2786043"/>
            <a:ext cx="587829" cy="591483"/>
          </a:xfrm>
          <a:prstGeom prst="line">
            <a:avLst/>
          </a:prstGeom>
          <a:noFill/>
          <a:ln w="19050">
            <a:solidFill>
              <a:srgbClr val="7FA3D9"/>
            </a:solidFill>
            <a:prstDash val="solid"/>
          </a:ln>
        </p:spPr>
      </p:sp>
      <p:sp>
        <p:nvSpPr>
          <p:cNvPr id="31" name="Shape 28"/>
          <p:cNvSpPr/>
          <p:nvPr/>
        </p:nvSpPr>
        <p:spPr>
          <a:xfrm>
            <a:off x="2860766" y="2786043"/>
            <a:ext cx="587829" cy="380902"/>
          </a:xfrm>
          <a:prstGeom prst="line">
            <a:avLst/>
          </a:prstGeom>
          <a:noFill/>
          <a:ln w="19050">
            <a:solidFill>
              <a:srgbClr val="7FA3D9"/>
            </a:solidFill>
            <a:prstDash val="solid"/>
          </a:ln>
        </p:spPr>
      </p:sp>
      <p:sp>
        <p:nvSpPr>
          <p:cNvPr id="32" name="Shape 29"/>
          <p:cNvSpPr/>
          <p:nvPr/>
        </p:nvSpPr>
        <p:spPr>
          <a:xfrm>
            <a:off x="3448594" y="3166945"/>
            <a:ext cx="587829" cy="24774"/>
          </a:xfrm>
          <a:prstGeom prst="line">
            <a:avLst/>
          </a:prstGeom>
          <a:noFill/>
          <a:ln w="19050">
            <a:solidFill>
              <a:srgbClr val="7FA3D9"/>
            </a:solidFill>
            <a:prstDash val="solid"/>
          </a:ln>
        </p:spPr>
      </p:sp>
      <p:sp>
        <p:nvSpPr>
          <p:cNvPr id="33" name="Shape 30"/>
          <p:cNvSpPr/>
          <p:nvPr/>
        </p:nvSpPr>
        <p:spPr>
          <a:xfrm flipV="1">
            <a:off x="4036423" y="2453140"/>
            <a:ext cx="587829" cy="738579"/>
          </a:xfrm>
          <a:prstGeom prst="line">
            <a:avLst/>
          </a:prstGeom>
          <a:noFill/>
          <a:ln w="19050">
            <a:solidFill>
              <a:srgbClr val="7FA3D9"/>
            </a:solidFill>
            <a:prstDash val="solid"/>
          </a:ln>
        </p:spPr>
      </p:sp>
      <p:sp>
        <p:nvSpPr>
          <p:cNvPr id="34" name="Shape 31"/>
          <p:cNvSpPr/>
          <p:nvPr/>
        </p:nvSpPr>
        <p:spPr>
          <a:xfrm>
            <a:off x="4624251" y="2453140"/>
            <a:ext cx="587829" cy="188903"/>
          </a:xfrm>
          <a:prstGeom prst="line">
            <a:avLst/>
          </a:prstGeom>
          <a:noFill/>
          <a:ln w="19050">
            <a:solidFill>
              <a:srgbClr val="7FA3D9"/>
            </a:solidFill>
            <a:prstDash val="solid"/>
          </a:ln>
        </p:spPr>
      </p:sp>
      <p:sp>
        <p:nvSpPr>
          <p:cNvPr id="35" name="Shape 32"/>
          <p:cNvSpPr/>
          <p:nvPr/>
        </p:nvSpPr>
        <p:spPr>
          <a:xfrm>
            <a:off x="1051560" y="3545482"/>
            <a:ext cx="91440" cy="91440"/>
          </a:xfrm>
          <a:prstGeom prst="ellipse">
            <a:avLst/>
          </a:prstGeom>
          <a:solidFill>
            <a:srgbClr val="7FA3D9"/>
          </a:solidFill>
          <a:ln w="6350">
            <a:solidFill>
              <a:srgbClr val="0B1220"/>
            </a:solidFill>
            <a:prstDash val="solid"/>
          </a:ln>
        </p:spPr>
      </p:sp>
      <p:sp>
        <p:nvSpPr>
          <p:cNvPr id="36" name="Shape 33"/>
          <p:cNvSpPr/>
          <p:nvPr/>
        </p:nvSpPr>
        <p:spPr>
          <a:xfrm>
            <a:off x="1639389" y="3080967"/>
            <a:ext cx="91440" cy="91440"/>
          </a:xfrm>
          <a:prstGeom prst="ellipse">
            <a:avLst/>
          </a:prstGeom>
          <a:solidFill>
            <a:srgbClr val="7FA3D9"/>
          </a:solidFill>
          <a:ln w="6350">
            <a:solidFill>
              <a:srgbClr val="0B1220"/>
            </a:solidFill>
            <a:prstDash val="solid"/>
          </a:ln>
        </p:spPr>
      </p:sp>
      <p:sp>
        <p:nvSpPr>
          <p:cNvPr id="37" name="Shape 34"/>
          <p:cNvSpPr/>
          <p:nvPr/>
        </p:nvSpPr>
        <p:spPr>
          <a:xfrm>
            <a:off x="2227217" y="3331805"/>
            <a:ext cx="91440" cy="91440"/>
          </a:xfrm>
          <a:prstGeom prst="ellipse">
            <a:avLst/>
          </a:prstGeom>
          <a:solidFill>
            <a:srgbClr val="7FA3D9"/>
          </a:solidFill>
          <a:ln w="6350">
            <a:solidFill>
              <a:srgbClr val="0B1220"/>
            </a:solidFill>
            <a:prstDash val="solid"/>
          </a:ln>
        </p:spPr>
      </p:sp>
      <p:sp>
        <p:nvSpPr>
          <p:cNvPr id="38" name="Shape 35"/>
          <p:cNvSpPr/>
          <p:nvPr/>
        </p:nvSpPr>
        <p:spPr>
          <a:xfrm>
            <a:off x="2815046" y="2740323"/>
            <a:ext cx="91440" cy="91440"/>
          </a:xfrm>
          <a:prstGeom prst="ellipse">
            <a:avLst/>
          </a:prstGeom>
          <a:solidFill>
            <a:srgbClr val="7FA3D9"/>
          </a:solidFill>
          <a:ln w="6350">
            <a:solidFill>
              <a:srgbClr val="0B1220"/>
            </a:solidFill>
            <a:prstDash val="solid"/>
          </a:ln>
        </p:spPr>
      </p:sp>
      <p:sp>
        <p:nvSpPr>
          <p:cNvPr id="39" name="Shape 36"/>
          <p:cNvSpPr/>
          <p:nvPr/>
        </p:nvSpPr>
        <p:spPr>
          <a:xfrm>
            <a:off x="3402874" y="3121225"/>
            <a:ext cx="91440" cy="91440"/>
          </a:xfrm>
          <a:prstGeom prst="ellipse">
            <a:avLst/>
          </a:prstGeom>
          <a:solidFill>
            <a:srgbClr val="7FA3D9"/>
          </a:solidFill>
          <a:ln w="6350">
            <a:solidFill>
              <a:srgbClr val="0B1220"/>
            </a:solidFill>
            <a:prstDash val="solid"/>
          </a:ln>
        </p:spPr>
      </p:sp>
      <p:sp>
        <p:nvSpPr>
          <p:cNvPr id="40" name="Shape 37"/>
          <p:cNvSpPr/>
          <p:nvPr/>
        </p:nvSpPr>
        <p:spPr>
          <a:xfrm>
            <a:off x="3990703" y="3145999"/>
            <a:ext cx="91440" cy="91440"/>
          </a:xfrm>
          <a:prstGeom prst="ellipse">
            <a:avLst/>
          </a:prstGeom>
          <a:solidFill>
            <a:srgbClr val="7FA3D9"/>
          </a:solidFill>
          <a:ln w="6350">
            <a:solidFill>
              <a:srgbClr val="0B1220"/>
            </a:solidFill>
            <a:prstDash val="solid"/>
          </a:ln>
        </p:spPr>
      </p:sp>
      <p:sp>
        <p:nvSpPr>
          <p:cNvPr id="41" name="Shape 38"/>
          <p:cNvSpPr/>
          <p:nvPr/>
        </p:nvSpPr>
        <p:spPr>
          <a:xfrm>
            <a:off x="4578531" y="2407420"/>
            <a:ext cx="91440" cy="91440"/>
          </a:xfrm>
          <a:prstGeom prst="ellipse">
            <a:avLst/>
          </a:prstGeom>
          <a:solidFill>
            <a:srgbClr val="7FA3D9"/>
          </a:solidFill>
          <a:ln w="6350">
            <a:solidFill>
              <a:srgbClr val="0B1220"/>
            </a:solidFill>
            <a:prstDash val="solid"/>
          </a:ln>
        </p:spPr>
      </p:sp>
      <p:sp>
        <p:nvSpPr>
          <p:cNvPr id="42" name="Shape 39"/>
          <p:cNvSpPr/>
          <p:nvPr/>
        </p:nvSpPr>
        <p:spPr>
          <a:xfrm>
            <a:off x="5166360" y="2596323"/>
            <a:ext cx="91440" cy="91440"/>
          </a:xfrm>
          <a:prstGeom prst="ellipse">
            <a:avLst/>
          </a:prstGeom>
          <a:solidFill>
            <a:srgbClr val="7FA3D9"/>
          </a:solidFill>
          <a:ln w="6350">
            <a:solidFill>
              <a:srgbClr val="0B1220"/>
            </a:solidFill>
            <a:prstDash val="solid"/>
          </a:ln>
        </p:spPr>
      </p:sp>
      <p:sp>
        <p:nvSpPr>
          <p:cNvPr id="43" name="Text 40"/>
          <p:cNvSpPr txBox="1"/>
          <p:nvPr/>
        </p:nvSpPr>
        <p:spPr>
          <a:xfrm>
            <a:off x="5303520" y="2541459"/>
            <a:ext cx="685800" cy="201168"/>
          </a:xfrm>
          <a:prstGeom prst="rect">
            <a:avLst/>
          </a:prstGeom>
          <a:noFill/>
          <a:ln/>
        </p:spPr>
        <p:txBody>
          <a:bodyPr wrap="square" lIns="0" tIns="0" rIns="0" bIns="0" rtlCol="0" anchor="ctr"/>
          <a:lstStyle/>
          <a:p>
            <a:pPr algn="l" indent="0" marL="0">
              <a:buNone/>
            </a:pPr>
            <a:r>
              <a:rPr lang="en-US" sz="850" b="1" dirty="0">
                <a:solidFill>
                  <a:srgbClr val="7FA3D9"/>
                </a:solidFill>
                <a:latin typeface="Arial" pitchFamily="34" charset="0"/>
                <a:ea typeface="Arial" pitchFamily="34" charset="-122"/>
                <a:cs typeface="Arial" pitchFamily="34" charset="-120"/>
              </a:rPr>
              <a:t>2025</a:t>
            </a:r>
            <a:endParaRPr lang="en-US" sz="850" dirty="0"/>
          </a:p>
        </p:txBody>
      </p:sp>
      <p:sp>
        <p:nvSpPr>
          <p:cNvPr id="44" name="Shape 41"/>
          <p:cNvSpPr/>
          <p:nvPr/>
        </p:nvSpPr>
        <p:spPr>
          <a:xfrm flipV="1">
            <a:off x="2272937" y="3092623"/>
            <a:ext cx="587829" cy="246193"/>
          </a:xfrm>
          <a:prstGeom prst="line">
            <a:avLst/>
          </a:prstGeom>
          <a:noFill/>
          <a:ln w="19050">
            <a:solidFill>
              <a:srgbClr val="7FA3D9"/>
            </a:solidFill>
            <a:prstDash val="dash"/>
          </a:ln>
        </p:spPr>
      </p:sp>
      <p:sp>
        <p:nvSpPr>
          <p:cNvPr id="45" name="Shape 42"/>
          <p:cNvSpPr/>
          <p:nvPr/>
        </p:nvSpPr>
        <p:spPr>
          <a:xfrm>
            <a:off x="2860766" y="3092623"/>
            <a:ext cx="587829" cy="10839"/>
          </a:xfrm>
          <a:prstGeom prst="line">
            <a:avLst/>
          </a:prstGeom>
          <a:noFill/>
          <a:ln w="19050">
            <a:solidFill>
              <a:srgbClr val="7FA3D9"/>
            </a:solidFill>
            <a:prstDash val="dash"/>
          </a:ln>
        </p:spPr>
      </p:sp>
      <p:sp>
        <p:nvSpPr>
          <p:cNvPr id="46" name="Shape 43"/>
          <p:cNvSpPr/>
          <p:nvPr/>
        </p:nvSpPr>
        <p:spPr>
          <a:xfrm flipV="1">
            <a:off x="3448594" y="3047720"/>
            <a:ext cx="587829" cy="55742"/>
          </a:xfrm>
          <a:prstGeom prst="line">
            <a:avLst/>
          </a:prstGeom>
          <a:noFill/>
          <a:ln w="19050">
            <a:solidFill>
              <a:srgbClr val="7FA3D9"/>
            </a:solidFill>
            <a:prstDash val="dash"/>
          </a:ln>
        </p:spPr>
      </p:sp>
      <p:sp>
        <p:nvSpPr>
          <p:cNvPr id="47" name="Shape 44"/>
          <p:cNvSpPr/>
          <p:nvPr/>
        </p:nvSpPr>
        <p:spPr>
          <a:xfrm flipV="1">
            <a:off x="4036423" y="2900623"/>
            <a:ext cx="587829" cy="147096"/>
          </a:xfrm>
          <a:prstGeom prst="line">
            <a:avLst/>
          </a:prstGeom>
          <a:noFill/>
          <a:ln w="19050">
            <a:solidFill>
              <a:srgbClr val="7FA3D9"/>
            </a:solidFill>
            <a:prstDash val="dash"/>
          </a:ln>
        </p:spPr>
      </p:sp>
      <p:sp>
        <p:nvSpPr>
          <p:cNvPr id="48" name="Shape 45"/>
          <p:cNvSpPr/>
          <p:nvPr/>
        </p:nvSpPr>
        <p:spPr>
          <a:xfrm flipV="1">
            <a:off x="4624251" y="2750430"/>
            <a:ext cx="587829" cy="150193"/>
          </a:xfrm>
          <a:prstGeom prst="line">
            <a:avLst/>
          </a:prstGeom>
          <a:noFill/>
          <a:ln w="19050">
            <a:solidFill>
              <a:srgbClr val="7FA3D9"/>
            </a:solidFill>
            <a:prstDash val="dash"/>
          </a:ln>
        </p:spPr>
      </p:sp>
      <p:sp>
        <p:nvSpPr>
          <p:cNvPr id="49" name="Shape 46"/>
          <p:cNvSpPr/>
          <p:nvPr/>
        </p:nvSpPr>
        <p:spPr>
          <a:xfrm>
            <a:off x="1097280" y="3086429"/>
            <a:ext cx="587829" cy="376257"/>
          </a:xfrm>
          <a:prstGeom prst="line">
            <a:avLst/>
          </a:prstGeom>
          <a:noFill/>
          <a:ln w="28575">
            <a:solidFill>
              <a:srgbClr val="2DD4BF"/>
            </a:solidFill>
            <a:prstDash val="solid"/>
          </a:ln>
        </p:spPr>
      </p:sp>
      <p:sp>
        <p:nvSpPr>
          <p:cNvPr id="50" name="Shape 47"/>
          <p:cNvSpPr/>
          <p:nvPr/>
        </p:nvSpPr>
        <p:spPr>
          <a:xfrm flipV="1">
            <a:off x="1685109" y="3227332"/>
            <a:ext cx="587829" cy="235354"/>
          </a:xfrm>
          <a:prstGeom prst="line">
            <a:avLst/>
          </a:prstGeom>
          <a:noFill/>
          <a:ln w="28575">
            <a:solidFill>
              <a:srgbClr val="2DD4BF"/>
            </a:solidFill>
            <a:prstDash val="solid"/>
          </a:ln>
        </p:spPr>
      </p:sp>
      <p:sp>
        <p:nvSpPr>
          <p:cNvPr id="51" name="Shape 48"/>
          <p:cNvSpPr/>
          <p:nvPr/>
        </p:nvSpPr>
        <p:spPr>
          <a:xfrm>
            <a:off x="2272937" y="3227332"/>
            <a:ext cx="587829" cy="399483"/>
          </a:xfrm>
          <a:prstGeom prst="line">
            <a:avLst/>
          </a:prstGeom>
          <a:noFill/>
          <a:ln w="28575">
            <a:solidFill>
              <a:srgbClr val="2DD4BF"/>
            </a:solidFill>
            <a:prstDash val="solid"/>
          </a:ln>
        </p:spPr>
      </p:sp>
      <p:sp>
        <p:nvSpPr>
          <p:cNvPr id="52" name="Shape 49"/>
          <p:cNvSpPr/>
          <p:nvPr/>
        </p:nvSpPr>
        <p:spPr>
          <a:xfrm>
            <a:off x="2860766" y="3626815"/>
            <a:ext cx="587829" cy="236903"/>
          </a:xfrm>
          <a:prstGeom prst="line">
            <a:avLst/>
          </a:prstGeom>
          <a:noFill/>
          <a:ln w="28575">
            <a:solidFill>
              <a:srgbClr val="2DD4BF"/>
            </a:solidFill>
            <a:prstDash val="solid"/>
          </a:ln>
        </p:spPr>
      </p:sp>
      <p:sp>
        <p:nvSpPr>
          <p:cNvPr id="53" name="Shape 50"/>
          <p:cNvSpPr/>
          <p:nvPr/>
        </p:nvSpPr>
        <p:spPr>
          <a:xfrm>
            <a:off x="3448594" y="3863718"/>
            <a:ext cx="587829" cy="393290"/>
          </a:xfrm>
          <a:prstGeom prst="line">
            <a:avLst/>
          </a:prstGeom>
          <a:noFill/>
          <a:ln w="28575">
            <a:solidFill>
              <a:srgbClr val="2DD4BF"/>
            </a:solidFill>
            <a:prstDash val="solid"/>
          </a:ln>
        </p:spPr>
      </p:sp>
      <p:sp>
        <p:nvSpPr>
          <p:cNvPr id="54" name="Shape 51"/>
          <p:cNvSpPr/>
          <p:nvPr/>
        </p:nvSpPr>
        <p:spPr>
          <a:xfrm>
            <a:off x="4036423" y="4257007"/>
            <a:ext cx="587829" cy="159484"/>
          </a:xfrm>
          <a:prstGeom prst="line">
            <a:avLst/>
          </a:prstGeom>
          <a:noFill/>
          <a:ln w="28575">
            <a:solidFill>
              <a:srgbClr val="2DD4BF"/>
            </a:solidFill>
            <a:prstDash val="solid"/>
          </a:ln>
        </p:spPr>
      </p:sp>
      <p:sp>
        <p:nvSpPr>
          <p:cNvPr id="55" name="Shape 52"/>
          <p:cNvSpPr/>
          <p:nvPr/>
        </p:nvSpPr>
        <p:spPr>
          <a:xfrm flipV="1">
            <a:off x="4624251" y="4312749"/>
            <a:ext cx="587829" cy="103742"/>
          </a:xfrm>
          <a:prstGeom prst="line">
            <a:avLst/>
          </a:prstGeom>
          <a:noFill/>
          <a:ln w="28575">
            <a:solidFill>
              <a:srgbClr val="2DD4BF"/>
            </a:solidFill>
            <a:prstDash val="solid"/>
          </a:ln>
        </p:spPr>
      </p:sp>
      <p:sp>
        <p:nvSpPr>
          <p:cNvPr id="56" name="Shape 53"/>
          <p:cNvSpPr/>
          <p:nvPr/>
        </p:nvSpPr>
        <p:spPr>
          <a:xfrm>
            <a:off x="1051560" y="3040709"/>
            <a:ext cx="91440" cy="91440"/>
          </a:xfrm>
          <a:prstGeom prst="ellipse">
            <a:avLst/>
          </a:prstGeom>
          <a:solidFill>
            <a:srgbClr val="2DD4BF"/>
          </a:solidFill>
          <a:ln w="6350">
            <a:solidFill>
              <a:srgbClr val="0B1220"/>
            </a:solidFill>
            <a:prstDash val="solid"/>
          </a:ln>
        </p:spPr>
      </p:sp>
      <p:sp>
        <p:nvSpPr>
          <p:cNvPr id="57" name="Shape 54"/>
          <p:cNvSpPr/>
          <p:nvPr/>
        </p:nvSpPr>
        <p:spPr>
          <a:xfrm>
            <a:off x="1639389" y="3416966"/>
            <a:ext cx="91440" cy="91440"/>
          </a:xfrm>
          <a:prstGeom prst="ellipse">
            <a:avLst/>
          </a:prstGeom>
          <a:solidFill>
            <a:srgbClr val="2DD4BF"/>
          </a:solidFill>
          <a:ln w="6350">
            <a:solidFill>
              <a:srgbClr val="0B1220"/>
            </a:solidFill>
            <a:prstDash val="solid"/>
          </a:ln>
        </p:spPr>
      </p:sp>
      <p:sp>
        <p:nvSpPr>
          <p:cNvPr id="58" name="Shape 55"/>
          <p:cNvSpPr/>
          <p:nvPr/>
        </p:nvSpPr>
        <p:spPr>
          <a:xfrm>
            <a:off x="2227217" y="3181612"/>
            <a:ext cx="91440" cy="91440"/>
          </a:xfrm>
          <a:prstGeom prst="ellipse">
            <a:avLst/>
          </a:prstGeom>
          <a:solidFill>
            <a:srgbClr val="2DD4BF"/>
          </a:solidFill>
          <a:ln w="6350">
            <a:solidFill>
              <a:srgbClr val="0B1220"/>
            </a:solidFill>
            <a:prstDash val="solid"/>
          </a:ln>
        </p:spPr>
      </p:sp>
      <p:sp>
        <p:nvSpPr>
          <p:cNvPr id="59" name="Shape 56"/>
          <p:cNvSpPr/>
          <p:nvPr/>
        </p:nvSpPr>
        <p:spPr>
          <a:xfrm>
            <a:off x="2815046" y="3581095"/>
            <a:ext cx="91440" cy="91440"/>
          </a:xfrm>
          <a:prstGeom prst="ellipse">
            <a:avLst/>
          </a:prstGeom>
          <a:solidFill>
            <a:srgbClr val="2DD4BF"/>
          </a:solidFill>
          <a:ln w="6350">
            <a:solidFill>
              <a:srgbClr val="0B1220"/>
            </a:solidFill>
            <a:prstDash val="solid"/>
          </a:ln>
        </p:spPr>
      </p:sp>
      <p:sp>
        <p:nvSpPr>
          <p:cNvPr id="60" name="Shape 57"/>
          <p:cNvSpPr/>
          <p:nvPr/>
        </p:nvSpPr>
        <p:spPr>
          <a:xfrm>
            <a:off x="3402874" y="3817998"/>
            <a:ext cx="91440" cy="91440"/>
          </a:xfrm>
          <a:prstGeom prst="ellipse">
            <a:avLst/>
          </a:prstGeom>
          <a:solidFill>
            <a:srgbClr val="2DD4BF"/>
          </a:solidFill>
          <a:ln w="6350">
            <a:solidFill>
              <a:srgbClr val="0B1220"/>
            </a:solidFill>
            <a:prstDash val="solid"/>
          </a:ln>
        </p:spPr>
      </p:sp>
      <p:sp>
        <p:nvSpPr>
          <p:cNvPr id="61" name="Shape 58"/>
          <p:cNvSpPr/>
          <p:nvPr/>
        </p:nvSpPr>
        <p:spPr>
          <a:xfrm>
            <a:off x="3990703" y="4211287"/>
            <a:ext cx="91440" cy="91440"/>
          </a:xfrm>
          <a:prstGeom prst="ellipse">
            <a:avLst/>
          </a:prstGeom>
          <a:solidFill>
            <a:srgbClr val="2DD4BF"/>
          </a:solidFill>
          <a:ln w="6350">
            <a:solidFill>
              <a:srgbClr val="0B1220"/>
            </a:solidFill>
            <a:prstDash val="solid"/>
          </a:ln>
        </p:spPr>
      </p:sp>
      <p:sp>
        <p:nvSpPr>
          <p:cNvPr id="62" name="Shape 59"/>
          <p:cNvSpPr/>
          <p:nvPr/>
        </p:nvSpPr>
        <p:spPr>
          <a:xfrm>
            <a:off x="4578531" y="4370771"/>
            <a:ext cx="91440" cy="91440"/>
          </a:xfrm>
          <a:prstGeom prst="ellipse">
            <a:avLst/>
          </a:prstGeom>
          <a:solidFill>
            <a:srgbClr val="2DD4BF"/>
          </a:solidFill>
          <a:ln w="6350">
            <a:solidFill>
              <a:srgbClr val="0B1220"/>
            </a:solidFill>
            <a:prstDash val="solid"/>
          </a:ln>
        </p:spPr>
      </p:sp>
      <p:sp>
        <p:nvSpPr>
          <p:cNvPr id="63" name="Shape 60"/>
          <p:cNvSpPr/>
          <p:nvPr/>
        </p:nvSpPr>
        <p:spPr>
          <a:xfrm>
            <a:off x="5166360" y="4267029"/>
            <a:ext cx="91440" cy="91440"/>
          </a:xfrm>
          <a:prstGeom prst="ellipse">
            <a:avLst/>
          </a:prstGeom>
          <a:solidFill>
            <a:srgbClr val="2DD4BF"/>
          </a:solidFill>
          <a:ln w="6350">
            <a:solidFill>
              <a:srgbClr val="0B1220"/>
            </a:solidFill>
            <a:prstDash val="solid"/>
          </a:ln>
        </p:spPr>
      </p:sp>
      <p:sp>
        <p:nvSpPr>
          <p:cNvPr id="64" name="Text 61"/>
          <p:cNvSpPr txBox="1"/>
          <p:nvPr/>
        </p:nvSpPr>
        <p:spPr>
          <a:xfrm>
            <a:off x="5303520" y="4212165"/>
            <a:ext cx="685800" cy="201168"/>
          </a:xfrm>
          <a:prstGeom prst="rect">
            <a:avLst/>
          </a:prstGeom>
          <a:noFill/>
          <a:ln/>
        </p:spPr>
        <p:txBody>
          <a:bodyPr wrap="square" lIns="0" tIns="0" rIns="0" bIns="0" rtlCol="0" anchor="ctr"/>
          <a:lstStyle/>
          <a:p>
            <a:pPr algn="l" indent="0" marL="0">
              <a:buNone/>
            </a:pPr>
            <a:r>
              <a:rPr lang="en-US" sz="850" b="1" dirty="0">
                <a:solidFill>
                  <a:srgbClr val="2DD4BF"/>
                </a:solidFill>
                <a:latin typeface="Arial" pitchFamily="34" charset="0"/>
                <a:ea typeface="Arial" pitchFamily="34" charset="-122"/>
                <a:cs typeface="Arial" pitchFamily="34" charset="-120"/>
              </a:rPr>
              <a:t>2026</a:t>
            </a:r>
            <a:endParaRPr lang="en-US" sz="850" dirty="0"/>
          </a:p>
        </p:txBody>
      </p:sp>
      <p:sp>
        <p:nvSpPr>
          <p:cNvPr id="65" name="Shape 62"/>
          <p:cNvSpPr/>
          <p:nvPr/>
        </p:nvSpPr>
        <p:spPr>
          <a:xfrm>
            <a:off x="2272937" y="3259848"/>
            <a:ext cx="587829" cy="181161"/>
          </a:xfrm>
          <a:prstGeom prst="line">
            <a:avLst/>
          </a:prstGeom>
          <a:noFill/>
          <a:ln w="19050">
            <a:solidFill>
              <a:srgbClr val="2DD4BF"/>
            </a:solidFill>
            <a:prstDash val="dash"/>
          </a:ln>
        </p:spPr>
      </p:sp>
      <p:sp>
        <p:nvSpPr>
          <p:cNvPr id="66" name="Shape 63"/>
          <p:cNvSpPr/>
          <p:nvPr/>
        </p:nvSpPr>
        <p:spPr>
          <a:xfrm>
            <a:off x="2860766" y="3441009"/>
            <a:ext cx="587829" cy="108387"/>
          </a:xfrm>
          <a:prstGeom prst="line">
            <a:avLst/>
          </a:prstGeom>
          <a:noFill/>
          <a:ln w="19050">
            <a:solidFill>
              <a:srgbClr val="2DD4BF"/>
            </a:solidFill>
            <a:prstDash val="dash"/>
          </a:ln>
        </p:spPr>
      </p:sp>
      <p:sp>
        <p:nvSpPr>
          <p:cNvPr id="67" name="Shape 64"/>
          <p:cNvSpPr/>
          <p:nvPr/>
        </p:nvSpPr>
        <p:spPr>
          <a:xfrm>
            <a:off x="3448594" y="3549396"/>
            <a:ext cx="587829" cy="343741"/>
          </a:xfrm>
          <a:prstGeom prst="line">
            <a:avLst/>
          </a:prstGeom>
          <a:noFill/>
          <a:ln w="19050">
            <a:solidFill>
              <a:srgbClr val="2DD4BF"/>
            </a:solidFill>
            <a:prstDash val="dash"/>
          </a:ln>
        </p:spPr>
      </p:sp>
      <p:sp>
        <p:nvSpPr>
          <p:cNvPr id="68" name="Shape 65"/>
          <p:cNvSpPr/>
          <p:nvPr/>
        </p:nvSpPr>
        <p:spPr>
          <a:xfrm>
            <a:off x="4036423" y="3893137"/>
            <a:ext cx="587829" cy="283354"/>
          </a:xfrm>
          <a:prstGeom prst="line">
            <a:avLst/>
          </a:prstGeom>
          <a:noFill/>
          <a:ln w="19050">
            <a:solidFill>
              <a:srgbClr val="2DD4BF"/>
            </a:solidFill>
            <a:prstDash val="dash"/>
          </a:ln>
        </p:spPr>
      </p:sp>
      <p:sp>
        <p:nvSpPr>
          <p:cNvPr id="69" name="Shape 66"/>
          <p:cNvSpPr/>
          <p:nvPr/>
        </p:nvSpPr>
        <p:spPr>
          <a:xfrm>
            <a:off x="4624251" y="4176492"/>
            <a:ext cx="587829" cy="150193"/>
          </a:xfrm>
          <a:prstGeom prst="line">
            <a:avLst/>
          </a:prstGeom>
          <a:noFill/>
          <a:ln w="19050">
            <a:solidFill>
              <a:srgbClr val="2DD4BF"/>
            </a:solidFill>
            <a:prstDash val="dash"/>
          </a:ln>
        </p:spPr>
      </p:sp>
      <p:sp>
        <p:nvSpPr>
          <p:cNvPr id="70" name="Shape 67"/>
          <p:cNvSpPr/>
          <p:nvPr/>
        </p:nvSpPr>
        <p:spPr>
          <a:xfrm>
            <a:off x="6172200" y="1691640"/>
            <a:ext cx="5504688" cy="3246120"/>
          </a:xfrm>
          <a:prstGeom prst="roundRect">
            <a:avLst>
              <a:gd name="adj" fmla="val 2254"/>
            </a:avLst>
          </a:prstGeom>
          <a:solidFill>
            <a:srgbClr val="0F1930"/>
          </a:solidFill>
          <a:ln w="9525">
            <a:solidFill>
              <a:srgbClr val="22304A"/>
            </a:solidFill>
            <a:prstDash val="solid"/>
          </a:ln>
        </p:spPr>
      </p:sp>
      <p:sp>
        <p:nvSpPr>
          <p:cNvPr id="71" name="Text 68"/>
          <p:cNvSpPr txBox="1"/>
          <p:nvPr/>
        </p:nvSpPr>
        <p:spPr>
          <a:xfrm>
            <a:off x="6355080" y="1783080"/>
            <a:ext cx="5212080" cy="219456"/>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ACUMULADO A LA FECHA (SUMA / SUMA) · ENERO → AGOSTO</a:t>
            </a:r>
            <a:endParaRPr lang="en-US" sz="850" dirty="0"/>
          </a:p>
        </p:txBody>
      </p:sp>
      <p:sp>
        <p:nvSpPr>
          <p:cNvPr id="72" name="Shape 69"/>
          <p:cNvSpPr/>
          <p:nvPr/>
        </p:nvSpPr>
        <p:spPr>
          <a:xfrm>
            <a:off x="6766560" y="4517136"/>
            <a:ext cx="4087368" cy="0"/>
          </a:xfrm>
          <a:prstGeom prst="line">
            <a:avLst/>
          </a:prstGeom>
          <a:noFill/>
          <a:ln w="6350">
            <a:solidFill>
              <a:srgbClr val="22304A"/>
            </a:solidFill>
            <a:prstDash val="solid"/>
          </a:ln>
        </p:spPr>
      </p:sp>
      <p:sp>
        <p:nvSpPr>
          <p:cNvPr id="73" name="Text 70"/>
          <p:cNvSpPr txBox="1"/>
          <p:nvPr/>
        </p:nvSpPr>
        <p:spPr>
          <a:xfrm>
            <a:off x="6263640" y="4416552"/>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0%</a:t>
            </a:r>
            <a:endParaRPr lang="en-US" sz="800" dirty="0"/>
          </a:p>
        </p:txBody>
      </p:sp>
      <p:sp>
        <p:nvSpPr>
          <p:cNvPr id="74" name="Shape 71"/>
          <p:cNvSpPr/>
          <p:nvPr/>
        </p:nvSpPr>
        <p:spPr>
          <a:xfrm>
            <a:off x="6766560" y="3742944"/>
            <a:ext cx="4087368" cy="0"/>
          </a:xfrm>
          <a:prstGeom prst="line">
            <a:avLst/>
          </a:prstGeom>
          <a:noFill/>
          <a:ln w="6350">
            <a:solidFill>
              <a:srgbClr val="22304A"/>
            </a:solidFill>
            <a:prstDash val="solid"/>
          </a:ln>
        </p:spPr>
      </p:sp>
      <p:sp>
        <p:nvSpPr>
          <p:cNvPr id="75" name="Text 72"/>
          <p:cNvSpPr txBox="1"/>
          <p:nvPr/>
        </p:nvSpPr>
        <p:spPr>
          <a:xfrm>
            <a:off x="6263640" y="3642360"/>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4%</a:t>
            </a:r>
            <a:endParaRPr lang="en-US" sz="800" dirty="0"/>
          </a:p>
        </p:txBody>
      </p:sp>
      <p:sp>
        <p:nvSpPr>
          <p:cNvPr id="76" name="Shape 73"/>
          <p:cNvSpPr/>
          <p:nvPr/>
        </p:nvSpPr>
        <p:spPr>
          <a:xfrm>
            <a:off x="6766560" y="2968752"/>
            <a:ext cx="4087368" cy="0"/>
          </a:xfrm>
          <a:prstGeom prst="line">
            <a:avLst/>
          </a:prstGeom>
          <a:noFill/>
          <a:ln w="6350">
            <a:solidFill>
              <a:srgbClr val="22304A"/>
            </a:solidFill>
            <a:prstDash val="solid"/>
          </a:ln>
        </p:spPr>
      </p:sp>
      <p:sp>
        <p:nvSpPr>
          <p:cNvPr id="77" name="Text 74"/>
          <p:cNvSpPr txBox="1"/>
          <p:nvPr/>
        </p:nvSpPr>
        <p:spPr>
          <a:xfrm>
            <a:off x="6263640" y="2868168"/>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8%</a:t>
            </a:r>
            <a:endParaRPr lang="en-US" sz="800" dirty="0"/>
          </a:p>
        </p:txBody>
      </p:sp>
      <p:sp>
        <p:nvSpPr>
          <p:cNvPr id="78" name="Shape 75"/>
          <p:cNvSpPr/>
          <p:nvPr/>
        </p:nvSpPr>
        <p:spPr>
          <a:xfrm>
            <a:off x="6766560" y="2194560"/>
            <a:ext cx="4087368" cy="0"/>
          </a:xfrm>
          <a:prstGeom prst="line">
            <a:avLst/>
          </a:prstGeom>
          <a:noFill/>
          <a:ln w="6350">
            <a:solidFill>
              <a:srgbClr val="22304A"/>
            </a:solidFill>
            <a:prstDash val="solid"/>
          </a:ln>
        </p:spPr>
      </p:sp>
      <p:sp>
        <p:nvSpPr>
          <p:cNvPr id="79" name="Text 76"/>
          <p:cNvSpPr txBox="1"/>
          <p:nvPr/>
        </p:nvSpPr>
        <p:spPr>
          <a:xfrm>
            <a:off x="6263640" y="2093976"/>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12%</a:t>
            </a:r>
            <a:endParaRPr lang="en-US" sz="800" dirty="0"/>
          </a:p>
        </p:txBody>
      </p:sp>
      <p:sp>
        <p:nvSpPr>
          <p:cNvPr id="80" name="Text 77"/>
          <p:cNvSpPr txBox="1"/>
          <p:nvPr/>
        </p:nvSpPr>
        <p:spPr>
          <a:xfrm>
            <a:off x="640080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p:txBody>
      </p:sp>
      <p:sp>
        <p:nvSpPr>
          <p:cNvPr id="81" name="Text 78"/>
          <p:cNvSpPr txBox="1"/>
          <p:nvPr/>
        </p:nvSpPr>
        <p:spPr>
          <a:xfrm>
            <a:off x="698471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feb</a:t>
            </a:r>
            <a:endParaRPr lang="en-US" sz="800" dirty="0"/>
          </a:p>
        </p:txBody>
      </p:sp>
      <p:sp>
        <p:nvSpPr>
          <p:cNvPr id="82" name="Text 79"/>
          <p:cNvSpPr txBox="1"/>
          <p:nvPr/>
        </p:nvSpPr>
        <p:spPr>
          <a:xfrm>
            <a:off x="756861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p:txBody>
      </p:sp>
      <p:sp>
        <p:nvSpPr>
          <p:cNvPr id="83" name="Text 80"/>
          <p:cNvSpPr txBox="1"/>
          <p:nvPr/>
        </p:nvSpPr>
        <p:spPr>
          <a:xfrm>
            <a:off x="815252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abr</a:t>
            </a:r>
            <a:endParaRPr lang="en-US" sz="800" dirty="0"/>
          </a:p>
        </p:txBody>
      </p:sp>
      <p:sp>
        <p:nvSpPr>
          <p:cNvPr id="84" name="Text 81"/>
          <p:cNvSpPr txBox="1"/>
          <p:nvPr/>
        </p:nvSpPr>
        <p:spPr>
          <a:xfrm>
            <a:off x="873643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p:txBody>
      </p:sp>
      <p:sp>
        <p:nvSpPr>
          <p:cNvPr id="85" name="Text 82"/>
          <p:cNvSpPr txBox="1"/>
          <p:nvPr/>
        </p:nvSpPr>
        <p:spPr>
          <a:xfrm>
            <a:off x="932034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jun</a:t>
            </a:r>
            <a:endParaRPr lang="en-US" sz="800" dirty="0"/>
          </a:p>
        </p:txBody>
      </p:sp>
      <p:sp>
        <p:nvSpPr>
          <p:cNvPr id="86" name="Text 83"/>
          <p:cNvSpPr txBox="1"/>
          <p:nvPr/>
        </p:nvSpPr>
        <p:spPr>
          <a:xfrm>
            <a:off x="9904258"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p:txBody>
      </p:sp>
      <p:sp>
        <p:nvSpPr>
          <p:cNvPr id="87" name="Text 84"/>
          <p:cNvSpPr txBox="1"/>
          <p:nvPr/>
        </p:nvSpPr>
        <p:spPr>
          <a:xfrm>
            <a:off x="10488168"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ago</a:t>
            </a:r>
            <a:endParaRPr lang="en-US" sz="800" dirty="0"/>
          </a:p>
        </p:txBody>
      </p:sp>
      <p:sp>
        <p:nvSpPr>
          <p:cNvPr id="88" name="Shape 85"/>
          <p:cNvSpPr/>
          <p:nvPr/>
        </p:nvSpPr>
        <p:spPr>
          <a:xfrm flipV="1">
            <a:off x="6766560" y="3017139"/>
            <a:ext cx="583910" cy="342580"/>
          </a:xfrm>
          <a:prstGeom prst="line">
            <a:avLst/>
          </a:prstGeom>
          <a:noFill/>
          <a:ln w="25400">
            <a:solidFill>
              <a:srgbClr val="7FA3D9"/>
            </a:solidFill>
            <a:prstDash val="solid"/>
          </a:ln>
        </p:spPr>
      </p:sp>
      <p:sp>
        <p:nvSpPr>
          <p:cNvPr id="89" name="Shape 86"/>
          <p:cNvSpPr/>
          <p:nvPr/>
        </p:nvSpPr>
        <p:spPr>
          <a:xfrm>
            <a:off x="7350470" y="3017139"/>
            <a:ext cx="583910" cy="27097"/>
          </a:xfrm>
          <a:prstGeom prst="line">
            <a:avLst/>
          </a:prstGeom>
          <a:noFill/>
          <a:ln w="25400">
            <a:solidFill>
              <a:srgbClr val="7FA3D9"/>
            </a:solidFill>
            <a:prstDash val="solid"/>
          </a:ln>
        </p:spPr>
      </p:sp>
      <p:sp>
        <p:nvSpPr>
          <p:cNvPr id="90" name="Shape 87"/>
          <p:cNvSpPr/>
          <p:nvPr/>
        </p:nvSpPr>
        <p:spPr>
          <a:xfrm flipV="1">
            <a:off x="7934379" y="2854559"/>
            <a:ext cx="583910" cy="189677"/>
          </a:xfrm>
          <a:prstGeom prst="line">
            <a:avLst/>
          </a:prstGeom>
          <a:noFill/>
          <a:ln w="25400">
            <a:solidFill>
              <a:srgbClr val="7FA3D9"/>
            </a:solidFill>
            <a:prstDash val="solid"/>
          </a:ln>
        </p:spPr>
      </p:sp>
      <p:sp>
        <p:nvSpPr>
          <p:cNvPr id="91" name="Shape 88"/>
          <p:cNvSpPr/>
          <p:nvPr/>
        </p:nvSpPr>
        <p:spPr>
          <a:xfrm flipV="1">
            <a:off x="8518289" y="2848752"/>
            <a:ext cx="583910" cy="5806"/>
          </a:xfrm>
          <a:prstGeom prst="line">
            <a:avLst/>
          </a:prstGeom>
          <a:noFill/>
          <a:ln w="25400">
            <a:solidFill>
              <a:srgbClr val="7FA3D9"/>
            </a:solidFill>
            <a:prstDash val="solid"/>
          </a:ln>
        </p:spPr>
      </p:sp>
      <p:sp>
        <p:nvSpPr>
          <p:cNvPr id="92" name="Shape 89"/>
          <p:cNvSpPr/>
          <p:nvPr/>
        </p:nvSpPr>
        <p:spPr>
          <a:xfrm>
            <a:off x="9102199" y="2848752"/>
            <a:ext cx="583910" cy="3871"/>
          </a:xfrm>
          <a:prstGeom prst="line">
            <a:avLst/>
          </a:prstGeom>
          <a:noFill/>
          <a:ln w="25400">
            <a:solidFill>
              <a:srgbClr val="7FA3D9"/>
            </a:solidFill>
            <a:prstDash val="solid"/>
          </a:ln>
        </p:spPr>
      </p:sp>
      <p:sp>
        <p:nvSpPr>
          <p:cNvPr id="93" name="Shape 90"/>
          <p:cNvSpPr/>
          <p:nvPr/>
        </p:nvSpPr>
        <p:spPr>
          <a:xfrm flipV="1">
            <a:off x="9686109" y="2686172"/>
            <a:ext cx="583910" cy="166451"/>
          </a:xfrm>
          <a:prstGeom prst="line">
            <a:avLst/>
          </a:prstGeom>
          <a:noFill/>
          <a:ln w="25400">
            <a:solidFill>
              <a:srgbClr val="7FA3D9"/>
            </a:solidFill>
            <a:prstDash val="solid"/>
          </a:ln>
        </p:spPr>
      </p:sp>
      <p:sp>
        <p:nvSpPr>
          <p:cNvPr id="94" name="Shape 91"/>
          <p:cNvSpPr/>
          <p:nvPr/>
        </p:nvSpPr>
        <p:spPr>
          <a:xfrm flipV="1">
            <a:off x="10270018" y="2614559"/>
            <a:ext cx="583910" cy="71613"/>
          </a:xfrm>
          <a:prstGeom prst="line">
            <a:avLst/>
          </a:prstGeom>
          <a:noFill/>
          <a:ln w="25400">
            <a:solidFill>
              <a:srgbClr val="7FA3D9"/>
            </a:solidFill>
            <a:prstDash val="solid"/>
          </a:ln>
        </p:spPr>
      </p:sp>
      <p:sp>
        <p:nvSpPr>
          <p:cNvPr id="95" name="Shape 92"/>
          <p:cNvSpPr/>
          <p:nvPr/>
        </p:nvSpPr>
        <p:spPr>
          <a:xfrm>
            <a:off x="6720840" y="3313999"/>
            <a:ext cx="91440" cy="91440"/>
          </a:xfrm>
          <a:prstGeom prst="ellipse">
            <a:avLst/>
          </a:prstGeom>
          <a:solidFill>
            <a:srgbClr val="7FA3D9"/>
          </a:solidFill>
          <a:ln w="6350">
            <a:solidFill>
              <a:srgbClr val="0B1220"/>
            </a:solidFill>
            <a:prstDash val="solid"/>
          </a:ln>
        </p:spPr>
      </p:sp>
      <p:sp>
        <p:nvSpPr>
          <p:cNvPr id="96" name="Shape 93"/>
          <p:cNvSpPr/>
          <p:nvPr/>
        </p:nvSpPr>
        <p:spPr>
          <a:xfrm>
            <a:off x="7304750" y="2971419"/>
            <a:ext cx="91440" cy="91440"/>
          </a:xfrm>
          <a:prstGeom prst="ellipse">
            <a:avLst/>
          </a:prstGeom>
          <a:solidFill>
            <a:srgbClr val="7FA3D9"/>
          </a:solidFill>
          <a:ln w="6350">
            <a:solidFill>
              <a:srgbClr val="0B1220"/>
            </a:solidFill>
            <a:prstDash val="solid"/>
          </a:ln>
        </p:spPr>
      </p:sp>
      <p:sp>
        <p:nvSpPr>
          <p:cNvPr id="97" name="Shape 94"/>
          <p:cNvSpPr/>
          <p:nvPr/>
        </p:nvSpPr>
        <p:spPr>
          <a:xfrm>
            <a:off x="7888659" y="2998516"/>
            <a:ext cx="91440" cy="91440"/>
          </a:xfrm>
          <a:prstGeom prst="ellipse">
            <a:avLst/>
          </a:prstGeom>
          <a:solidFill>
            <a:srgbClr val="7FA3D9"/>
          </a:solidFill>
          <a:ln w="6350">
            <a:solidFill>
              <a:srgbClr val="0B1220"/>
            </a:solidFill>
            <a:prstDash val="solid"/>
          </a:ln>
        </p:spPr>
      </p:sp>
      <p:sp>
        <p:nvSpPr>
          <p:cNvPr id="98" name="Shape 95"/>
          <p:cNvSpPr/>
          <p:nvPr/>
        </p:nvSpPr>
        <p:spPr>
          <a:xfrm>
            <a:off x="8472569" y="2808839"/>
            <a:ext cx="91440" cy="91440"/>
          </a:xfrm>
          <a:prstGeom prst="ellipse">
            <a:avLst/>
          </a:prstGeom>
          <a:solidFill>
            <a:srgbClr val="7FA3D9"/>
          </a:solidFill>
          <a:ln w="6350">
            <a:solidFill>
              <a:srgbClr val="0B1220"/>
            </a:solidFill>
            <a:prstDash val="solid"/>
          </a:ln>
        </p:spPr>
      </p:sp>
      <p:sp>
        <p:nvSpPr>
          <p:cNvPr id="99" name="Shape 96"/>
          <p:cNvSpPr/>
          <p:nvPr/>
        </p:nvSpPr>
        <p:spPr>
          <a:xfrm>
            <a:off x="9056479" y="2803032"/>
            <a:ext cx="91440" cy="91440"/>
          </a:xfrm>
          <a:prstGeom prst="ellipse">
            <a:avLst/>
          </a:prstGeom>
          <a:solidFill>
            <a:srgbClr val="7FA3D9"/>
          </a:solidFill>
          <a:ln w="6350">
            <a:solidFill>
              <a:srgbClr val="0B1220"/>
            </a:solidFill>
            <a:prstDash val="solid"/>
          </a:ln>
        </p:spPr>
      </p:sp>
      <p:sp>
        <p:nvSpPr>
          <p:cNvPr id="100" name="Shape 97"/>
          <p:cNvSpPr/>
          <p:nvPr/>
        </p:nvSpPr>
        <p:spPr>
          <a:xfrm>
            <a:off x="9640389" y="2806903"/>
            <a:ext cx="91440" cy="91440"/>
          </a:xfrm>
          <a:prstGeom prst="ellipse">
            <a:avLst/>
          </a:prstGeom>
          <a:solidFill>
            <a:srgbClr val="7FA3D9"/>
          </a:solidFill>
          <a:ln w="6350">
            <a:solidFill>
              <a:srgbClr val="0B1220"/>
            </a:solidFill>
            <a:prstDash val="solid"/>
          </a:ln>
        </p:spPr>
      </p:sp>
      <p:sp>
        <p:nvSpPr>
          <p:cNvPr id="101" name="Shape 98"/>
          <p:cNvSpPr/>
          <p:nvPr/>
        </p:nvSpPr>
        <p:spPr>
          <a:xfrm>
            <a:off x="10224298" y="2640452"/>
            <a:ext cx="91440" cy="91440"/>
          </a:xfrm>
          <a:prstGeom prst="ellipse">
            <a:avLst/>
          </a:prstGeom>
          <a:solidFill>
            <a:srgbClr val="7FA3D9"/>
          </a:solidFill>
          <a:ln w="6350">
            <a:solidFill>
              <a:srgbClr val="0B1220"/>
            </a:solidFill>
            <a:prstDash val="solid"/>
          </a:ln>
        </p:spPr>
      </p:sp>
      <p:sp>
        <p:nvSpPr>
          <p:cNvPr id="102" name="Shape 99"/>
          <p:cNvSpPr/>
          <p:nvPr/>
        </p:nvSpPr>
        <p:spPr>
          <a:xfrm>
            <a:off x="10808208" y="2568839"/>
            <a:ext cx="91440" cy="91440"/>
          </a:xfrm>
          <a:prstGeom prst="ellipse">
            <a:avLst/>
          </a:prstGeom>
          <a:solidFill>
            <a:srgbClr val="7FA3D9"/>
          </a:solidFill>
          <a:ln w="6350">
            <a:solidFill>
              <a:srgbClr val="0B1220"/>
            </a:solidFill>
            <a:prstDash val="solid"/>
          </a:ln>
        </p:spPr>
      </p:sp>
      <p:sp>
        <p:nvSpPr>
          <p:cNvPr id="103" name="Text 100"/>
          <p:cNvSpPr txBox="1"/>
          <p:nvPr/>
        </p:nvSpPr>
        <p:spPr>
          <a:xfrm>
            <a:off x="6492240" y="3085399"/>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5,98</a:t>
            </a:r>
            <a:endParaRPr lang="en-US" sz="750" dirty="0"/>
          </a:p>
        </p:txBody>
      </p:sp>
      <p:sp>
        <p:nvSpPr>
          <p:cNvPr id="104" name="Text 101"/>
          <p:cNvSpPr txBox="1"/>
          <p:nvPr/>
        </p:nvSpPr>
        <p:spPr>
          <a:xfrm>
            <a:off x="7076150" y="2742819"/>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7,75</a:t>
            </a:r>
            <a:endParaRPr lang="en-US" sz="750" dirty="0"/>
          </a:p>
        </p:txBody>
      </p:sp>
      <p:sp>
        <p:nvSpPr>
          <p:cNvPr id="105" name="Text 102"/>
          <p:cNvSpPr txBox="1"/>
          <p:nvPr/>
        </p:nvSpPr>
        <p:spPr>
          <a:xfrm>
            <a:off x="7660059" y="2769916"/>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7,61</a:t>
            </a:r>
            <a:endParaRPr lang="en-US" sz="750" dirty="0"/>
          </a:p>
        </p:txBody>
      </p:sp>
      <p:sp>
        <p:nvSpPr>
          <p:cNvPr id="106" name="Text 103"/>
          <p:cNvSpPr txBox="1"/>
          <p:nvPr/>
        </p:nvSpPr>
        <p:spPr>
          <a:xfrm>
            <a:off x="8243969" y="2580239"/>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8,59</a:t>
            </a:r>
            <a:endParaRPr lang="en-US" sz="750" dirty="0"/>
          </a:p>
        </p:txBody>
      </p:sp>
      <p:sp>
        <p:nvSpPr>
          <p:cNvPr id="107" name="Text 104"/>
          <p:cNvSpPr txBox="1"/>
          <p:nvPr/>
        </p:nvSpPr>
        <p:spPr>
          <a:xfrm>
            <a:off x="8827879" y="2574432"/>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8,62</a:t>
            </a:r>
            <a:endParaRPr lang="en-US" sz="750" dirty="0"/>
          </a:p>
        </p:txBody>
      </p:sp>
      <p:sp>
        <p:nvSpPr>
          <p:cNvPr id="108" name="Text 105"/>
          <p:cNvSpPr txBox="1"/>
          <p:nvPr/>
        </p:nvSpPr>
        <p:spPr>
          <a:xfrm>
            <a:off x="9411789" y="2578303"/>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8,60</a:t>
            </a:r>
            <a:endParaRPr lang="en-US" sz="750" dirty="0"/>
          </a:p>
        </p:txBody>
      </p:sp>
      <p:sp>
        <p:nvSpPr>
          <p:cNvPr id="109" name="Text 106"/>
          <p:cNvSpPr txBox="1"/>
          <p:nvPr/>
        </p:nvSpPr>
        <p:spPr>
          <a:xfrm>
            <a:off x="9995698" y="2411852"/>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9,46</a:t>
            </a:r>
            <a:endParaRPr lang="en-US" sz="750" dirty="0"/>
          </a:p>
        </p:txBody>
      </p:sp>
      <p:sp>
        <p:nvSpPr>
          <p:cNvPr id="110" name="Text 107"/>
          <p:cNvSpPr txBox="1"/>
          <p:nvPr/>
        </p:nvSpPr>
        <p:spPr>
          <a:xfrm>
            <a:off x="10579608" y="2340239"/>
            <a:ext cx="548640" cy="201168"/>
          </a:xfrm>
          <a:prstGeom prst="rect">
            <a:avLst/>
          </a:prstGeom>
          <a:noFill/>
          <a:ln/>
        </p:spPr>
        <p:txBody>
          <a:bodyPr wrap="square" lIns="0" tIns="0" rIns="0" bIns="0" rtlCol="0" anchor="ctr"/>
          <a:lstStyle/>
          <a:p>
            <a:pPr algn="ctr" indent="0" marL="0">
              <a:buNone/>
            </a:pPr>
            <a:r>
              <a:rPr lang="en-US" sz="750" dirty="0">
                <a:solidFill>
                  <a:srgbClr val="7FA3D9"/>
                </a:solidFill>
                <a:latin typeface="Arial" pitchFamily="34" charset="0"/>
                <a:ea typeface="Arial" pitchFamily="34" charset="-122"/>
                <a:cs typeface="Arial" pitchFamily="34" charset="-120"/>
              </a:rPr>
              <a:t>9,83</a:t>
            </a:r>
            <a:endParaRPr lang="en-US" sz="750" dirty="0"/>
          </a:p>
        </p:txBody>
      </p:sp>
      <p:sp>
        <p:nvSpPr>
          <p:cNvPr id="111" name="Text 108"/>
          <p:cNvSpPr txBox="1"/>
          <p:nvPr/>
        </p:nvSpPr>
        <p:spPr>
          <a:xfrm>
            <a:off x="10945368" y="2513975"/>
            <a:ext cx="685800" cy="201168"/>
          </a:xfrm>
          <a:prstGeom prst="rect">
            <a:avLst/>
          </a:prstGeom>
          <a:noFill/>
          <a:ln/>
        </p:spPr>
        <p:txBody>
          <a:bodyPr wrap="square" lIns="0" tIns="0" rIns="0" bIns="0" rtlCol="0" anchor="ctr"/>
          <a:lstStyle/>
          <a:p>
            <a:pPr algn="l" indent="0" marL="0">
              <a:buNone/>
            </a:pPr>
            <a:r>
              <a:rPr lang="en-US" sz="850" b="1" dirty="0">
                <a:solidFill>
                  <a:srgbClr val="7FA3D9"/>
                </a:solidFill>
                <a:latin typeface="Arial" pitchFamily="34" charset="0"/>
                <a:ea typeface="Arial" pitchFamily="34" charset="-122"/>
                <a:cs typeface="Arial" pitchFamily="34" charset="-120"/>
              </a:rPr>
              <a:t>2025</a:t>
            </a:r>
            <a:endParaRPr lang="en-US" sz="850" dirty="0"/>
          </a:p>
        </p:txBody>
      </p:sp>
      <p:sp>
        <p:nvSpPr>
          <p:cNvPr id="112" name="Shape 109"/>
          <p:cNvSpPr/>
          <p:nvPr/>
        </p:nvSpPr>
        <p:spPr>
          <a:xfrm>
            <a:off x="6766560" y="2728752"/>
            <a:ext cx="583910" cy="240000"/>
          </a:xfrm>
          <a:prstGeom prst="line">
            <a:avLst/>
          </a:prstGeom>
          <a:noFill/>
          <a:ln w="28575">
            <a:solidFill>
              <a:srgbClr val="2DD4BF"/>
            </a:solidFill>
            <a:prstDash val="solid"/>
          </a:ln>
        </p:spPr>
      </p:sp>
      <p:sp>
        <p:nvSpPr>
          <p:cNvPr id="113" name="Shape 110"/>
          <p:cNvSpPr/>
          <p:nvPr/>
        </p:nvSpPr>
        <p:spPr>
          <a:xfrm flipV="1">
            <a:off x="7350470" y="2945526"/>
            <a:ext cx="583910" cy="23226"/>
          </a:xfrm>
          <a:prstGeom prst="line">
            <a:avLst/>
          </a:prstGeom>
          <a:noFill/>
          <a:ln w="28575">
            <a:solidFill>
              <a:srgbClr val="2DD4BF"/>
            </a:solidFill>
            <a:prstDash val="solid"/>
          </a:ln>
        </p:spPr>
      </p:sp>
      <p:sp>
        <p:nvSpPr>
          <p:cNvPr id="114" name="Shape 111"/>
          <p:cNvSpPr/>
          <p:nvPr/>
        </p:nvSpPr>
        <p:spPr>
          <a:xfrm>
            <a:off x="7934379" y="2945526"/>
            <a:ext cx="583910" cy="125806"/>
          </a:xfrm>
          <a:prstGeom prst="line">
            <a:avLst/>
          </a:prstGeom>
          <a:noFill/>
          <a:ln w="28575">
            <a:solidFill>
              <a:srgbClr val="2DD4BF"/>
            </a:solidFill>
            <a:prstDash val="solid"/>
          </a:ln>
        </p:spPr>
      </p:sp>
      <p:sp>
        <p:nvSpPr>
          <p:cNvPr id="115" name="Shape 112"/>
          <p:cNvSpPr/>
          <p:nvPr/>
        </p:nvSpPr>
        <p:spPr>
          <a:xfrm>
            <a:off x="8518289" y="3071332"/>
            <a:ext cx="583910" cy="106451"/>
          </a:xfrm>
          <a:prstGeom prst="line">
            <a:avLst/>
          </a:prstGeom>
          <a:noFill/>
          <a:ln w="28575">
            <a:solidFill>
              <a:srgbClr val="2DD4BF"/>
            </a:solidFill>
            <a:prstDash val="solid"/>
          </a:ln>
        </p:spPr>
      </p:sp>
      <p:sp>
        <p:nvSpPr>
          <p:cNvPr id="116" name="Shape 113"/>
          <p:cNvSpPr/>
          <p:nvPr/>
        </p:nvSpPr>
        <p:spPr>
          <a:xfrm>
            <a:off x="9102199" y="3177784"/>
            <a:ext cx="583910" cy="156774"/>
          </a:xfrm>
          <a:prstGeom prst="line">
            <a:avLst/>
          </a:prstGeom>
          <a:noFill/>
          <a:ln w="28575">
            <a:solidFill>
              <a:srgbClr val="2DD4BF"/>
            </a:solidFill>
            <a:prstDash val="solid"/>
          </a:ln>
        </p:spPr>
      </p:sp>
      <p:sp>
        <p:nvSpPr>
          <p:cNvPr id="117" name="Shape 114"/>
          <p:cNvSpPr/>
          <p:nvPr/>
        </p:nvSpPr>
        <p:spPr>
          <a:xfrm>
            <a:off x="9686109" y="3334558"/>
            <a:ext cx="583910" cy="123871"/>
          </a:xfrm>
          <a:prstGeom prst="line">
            <a:avLst/>
          </a:prstGeom>
          <a:noFill/>
          <a:ln w="28575">
            <a:solidFill>
              <a:srgbClr val="2DD4BF"/>
            </a:solidFill>
            <a:prstDash val="solid"/>
          </a:ln>
        </p:spPr>
      </p:sp>
      <p:sp>
        <p:nvSpPr>
          <p:cNvPr id="118" name="Shape 115"/>
          <p:cNvSpPr/>
          <p:nvPr/>
        </p:nvSpPr>
        <p:spPr>
          <a:xfrm>
            <a:off x="10270018" y="3458428"/>
            <a:ext cx="583910" cy="83226"/>
          </a:xfrm>
          <a:prstGeom prst="line">
            <a:avLst/>
          </a:prstGeom>
          <a:noFill/>
          <a:ln w="28575">
            <a:solidFill>
              <a:srgbClr val="2DD4BF"/>
            </a:solidFill>
            <a:prstDash val="solid"/>
          </a:ln>
        </p:spPr>
      </p:sp>
      <p:sp>
        <p:nvSpPr>
          <p:cNvPr id="119" name="Shape 116"/>
          <p:cNvSpPr/>
          <p:nvPr/>
        </p:nvSpPr>
        <p:spPr>
          <a:xfrm>
            <a:off x="6720840" y="2683032"/>
            <a:ext cx="91440" cy="91440"/>
          </a:xfrm>
          <a:prstGeom prst="ellipse">
            <a:avLst/>
          </a:prstGeom>
          <a:solidFill>
            <a:srgbClr val="2DD4BF"/>
          </a:solidFill>
          <a:ln w="6350">
            <a:solidFill>
              <a:srgbClr val="0B1220"/>
            </a:solidFill>
            <a:prstDash val="solid"/>
          </a:ln>
        </p:spPr>
      </p:sp>
      <p:sp>
        <p:nvSpPr>
          <p:cNvPr id="120" name="Shape 117"/>
          <p:cNvSpPr/>
          <p:nvPr/>
        </p:nvSpPr>
        <p:spPr>
          <a:xfrm>
            <a:off x="7304750" y="2923032"/>
            <a:ext cx="91440" cy="91440"/>
          </a:xfrm>
          <a:prstGeom prst="ellipse">
            <a:avLst/>
          </a:prstGeom>
          <a:solidFill>
            <a:srgbClr val="2DD4BF"/>
          </a:solidFill>
          <a:ln w="6350">
            <a:solidFill>
              <a:srgbClr val="0B1220"/>
            </a:solidFill>
            <a:prstDash val="solid"/>
          </a:ln>
        </p:spPr>
      </p:sp>
      <p:sp>
        <p:nvSpPr>
          <p:cNvPr id="121" name="Shape 118"/>
          <p:cNvSpPr/>
          <p:nvPr/>
        </p:nvSpPr>
        <p:spPr>
          <a:xfrm>
            <a:off x="7888659" y="2899806"/>
            <a:ext cx="91440" cy="91440"/>
          </a:xfrm>
          <a:prstGeom prst="ellipse">
            <a:avLst/>
          </a:prstGeom>
          <a:solidFill>
            <a:srgbClr val="2DD4BF"/>
          </a:solidFill>
          <a:ln w="6350">
            <a:solidFill>
              <a:srgbClr val="0B1220"/>
            </a:solidFill>
            <a:prstDash val="solid"/>
          </a:ln>
        </p:spPr>
      </p:sp>
      <p:sp>
        <p:nvSpPr>
          <p:cNvPr id="122" name="Shape 119"/>
          <p:cNvSpPr/>
          <p:nvPr/>
        </p:nvSpPr>
        <p:spPr>
          <a:xfrm>
            <a:off x="8472569" y="3025612"/>
            <a:ext cx="91440" cy="91440"/>
          </a:xfrm>
          <a:prstGeom prst="ellipse">
            <a:avLst/>
          </a:prstGeom>
          <a:solidFill>
            <a:srgbClr val="2DD4BF"/>
          </a:solidFill>
          <a:ln w="6350">
            <a:solidFill>
              <a:srgbClr val="0B1220"/>
            </a:solidFill>
            <a:prstDash val="solid"/>
          </a:ln>
        </p:spPr>
      </p:sp>
      <p:sp>
        <p:nvSpPr>
          <p:cNvPr id="123" name="Shape 120"/>
          <p:cNvSpPr/>
          <p:nvPr/>
        </p:nvSpPr>
        <p:spPr>
          <a:xfrm>
            <a:off x="9056479" y="3132064"/>
            <a:ext cx="91440" cy="91440"/>
          </a:xfrm>
          <a:prstGeom prst="ellipse">
            <a:avLst/>
          </a:prstGeom>
          <a:solidFill>
            <a:srgbClr val="2DD4BF"/>
          </a:solidFill>
          <a:ln w="6350">
            <a:solidFill>
              <a:srgbClr val="0B1220"/>
            </a:solidFill>
            <a:prstDash val="solid"/>
          </a:ln>
        </p:spPr>
      </p:sp>
      <p:sp>
        <p:nvSpPr>
          <p:cNvPr id="124" name="Shape 121"/>
          <p:cNvSpPr/>
          <p:nvPr/>
        </p:nvSpPr>
        <p:spPr>
          <a:xfrm>
            <a:off x="9640389" y="3288838"/>
            <a:ext cx="91440" cy="91440"/>
          </a:xfrm>
          <a:prstGeom prst="ellipse">
            <a:avLst/>
          </a:prstGeom>
          <a:solidFill>
            <a:srgbClr val="2DD4BF"/>
          </a:solidFill>
          <a:ln w="6350">
            <a:solidFill>
              <a:srgbClr val="0B1220"/>
            </a:solidFill>
            <a:prstDash val="solid"/>
          </a:ln>
        </p:spPr>
      </p:sp>
      <p:sp>
        <p:nvSpPr>
          <p:cNvPr id="125" name="Shape 122"/>
          <p:cNvSpPr/>
          <p:nvPr/>
        </p:nvSpPr>
        <p:spPr>
          <a:xfrm>
            <a:off x="10224298" y="3412708"/>
            <a:ext cx="91440" cy="91440"/>
          </a:xfrm>
          <a:prstGeom prst="ellipse">
            <a:avLst/>
          </a:prstGeom>
          <a:solidFill>
            <a:srgbClr val="2DD4BF"/>
          </a:solidFill>
          <a:ln w="6350">
            <a:solidFill>
              <a:srgbClr val="0B1220"/>
            </a:solidFill>
            <a:prstDash val="solid"/>
          </a:ln>
        </p:spPr>
      </p:sp>
      <p:sp>
        <p:nvSpPr>
          <p:cNvPr id="126" name="Shape 123"/>
          <p:cNvSpPr/>
          <p:nvPr/>
        </p:nvSpPr>
        <p:spPr>
          <a:xfrm>
            <a:off x="10808208" y="3495934"/>
            <a:ext cx="91440" cy="91440"/>
          </a:xfrm>
          <a:prstGeom prst="ellipse">
            <a:avLst/>
          </a:prstGeom>
          <a:solidFill>
            <a:srgbClr val="2DD4BF"/>
          </a:solidFill>
          <a:ln w="6350">
            <a:solidFill>
              <a:srgbClr val="0B1220"/>
            </a:solidFill>
            <a:prstDash val="solid"/>
          </a:ln>
        </p:spPr>
      </p:sp>
      <p:sp>
        <p:nvSpPr>
          <p:cNvPr id="127" name="Text 124"/>
          <p:cNvSpPr txBox="1"/>
          <p:nvPr/>
        </p:nvSpPr>
        <p:spPr>
          <a:xfrm>
            <a:off x="6492240" y="2792760"/>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9,24</a:t>
            </a:r>
            <a:endParaRPr lang="en-US" sz="750" dirty="0"/>
          </a:p>
        </p:txBody>
      </p:sp>
      <p:sp>
        <p:nvSpPr>
          <p:cNvPr id="128" name="Text 125"/>
          <p:cNvSpPr txBox="1"/>
          <p:nvPr/>
        </p:nvSpPr>
        <p:spPr>
          <a:xfrm>
            <a:off x="7076150" y="3032760"/>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8,00</a:t>
            </a:r>
            <a:endParaRPr lang="en-US" sz="750" dirty="0"/>
          </a:p>
        </p:txBody>
      </p:sp>
      <p:sp>
        <p:nvSpPr>
          <p:cNvPr id="129" name="Text 126"/>
          <p:cNvSpPr txBox="1"/>
          <p:nvPr/>
        </p:nvSpPr>
        <p:spPr>
          <a:xfrm>
            <a:off x="7660059" y="3009534"/>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8,12</a:t>
            </a:r>
            <a:endParaRPr lang="en-US" sz="750" dirty="0"/>
          </a:p>
        </p:txBody>
      </p:sp>
      <p:sp>
        <p:nvSpPr>
          <p:cNvPr id="130" name="Text 127"/>
          <p:cNvSpPr txBox="1"/>
          <p:nvPr/>
        </p:nvSpPr>
        <p:spPr>
          <a:xfrm>
            <a:off x="8243969" y="3135340"/>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7,47</a:t>
            </a:r>
            <a:endParaRPr lang="en-US" sz="750" dirty="0"/>
          </a:p>
        </p:txBody>
      </p:sp>
      <p:sp>
        <p:nvSpPr>
          <p:cNvPr id="131" name="Text 128"/>
          <p:cNvSpPr txBox="1"/>
          <p:nvPr/>
        </p:nvSpPr>
        <p:spPr>
          <a:xfrm>
            <a:off x="8827879" y="3241792"/>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6,92</a:t>
            </a:r>
            <a:endParaRPr lang="en-US" sz="750" dirty="0"/>
          </a:p>
        </p:txBody>
      </p:sp>
      <p:sp>
        <p:nvSpPr>
          <p:cNvPr id="132" name="Text 129"/>
          <p:cNvSpPr txBox="1"/>
          <p:nvPr/>
        </p:nvSpPr>
        <p:spPr>
          <a:xfrm>
            <a:off x="9411789" y="3398566"/>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6,11</a:t>
            </a:r>
            <a:endParaRPr lang="en-US" sz="750" dirty="0"/>
          </a:p>
        </p:txBody>
      </p:sp>
      <p:sp>
        <p:nvSpPr>
          <p:cNvPr id="133" name="Text 130"/>
          <p:cNvSpPr txBox="1"/>
          <p:nvPr/>
        </p:nvSpPr>
        <p:spPr>
          <a:xfrm>
            <a:off x="9995698" y="3522436"/>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5,47</a:t>
            </a:r>
            <a:endParaRPr lang="en-US" sz="750" dirty="0"/>
          </a:p>
        </p:txBody>
      </p:sp>
      <p:sp>
        <p:nvSpPr>
          <p:cNvPr id="134" name="Text 131"/>
          <p:cNvSpPr txBox="1"/>
          <p:nvPr/>
        </p:nvSpPr>
        <p:spPr>
          <a:xfrm>
            <a:off x="10579608" y="3605662"/>
            <a:ext cx="548640" cy="201168"/>
          </a:xfrm>
          <a:prstGeom prst="rect">
            <a:avLst/>
          </a:prstGeom>
          <a:noFill/>
          <a:ln/>
        </p:spPr>
        <p:txBody>
          <a:bodyPr wrap="square" lIns="0" tIns="0" rIns="0" bIns="0" rtlCol="0" anchor="ctr"/>
          <a:lstStyle/>
          <a:p>
            <a:pPr algn="ctr" indent="0" marL="0">
              <a:buNone/>
            </a:pPr>
            <a:r>
              <a:rPr lang="en-US" sz="750" dirty="0">
                <a:solidFill>
                  <a:srgbClr val="2DD4BF"/>
                </a:solidFill>
                <a:latin typeface="Arial" pitchFamily="34" charset="0"/>
                <a:ea typeface="Arial" pitchFamily="34" charset="-122"/>
                <a:cs typeface="Arial" pitchFamily="34" charset="-120"/>
              </a:rPr>
              <a:t>5,04</a:t>
            </a:r>
            <a:endParaRPr lang="en-US" sz="750" dirty="0"/>
          </a:p>
        </p:txBody>
      </p:sp>
      <p:sp>
        <p:nvSpPr>
          <p:cNvPr id="135" name="Text 132"/>
          <p:cNvSpPr txBox="1"/>
          <p:nvPr/>
        </p:nvSpPr>
        <p:spPr>
          <a:xfrm>
            <a:off x="10945368" y="3441070"/>
            <a:ext cx="685800" cy="201168"/>
          </a:xfrm>
          <a:prstGeom prst="rect">
            <a:avLst/>
          </a:prstGeom>
          <a:noFill/>
          <a:ln/>
        </p:spPr>
        <p:txBody>
          <a:bodyPr wrap="square" lIns="0" tIns="0" rIns="0" bIns="0" rtlCol="0" anchor="ctr"/>
          <a:lstStyle/>
          <a:p>
            <a:pPr algn="l" indent="0" marL="0">
              <a:buNone/>
            </a:pPr>
            <a:r>
              <a:rPr lang="en-US" sz="850" b="1" dirty="0">
                <a:solidFill>
                  <a:srgbClr val="2DD4BF"/>
                </a:solidFill>
                <a:latin typeface="Arial" pitchFamily="34" charset="0"/>
                <a:ea typeface="Arial" pitchFamily="34" charset="-122"/>
                <a:cs typeface="Arial" pitchFamily="34" charset="-120"/>
              </a:rPr>
              <a:t>2026</a:t>
            </a:r>
            <a:endParaRPr lang="en-US" sz="850" dirty="0"/>
          </a:p>
        </p:txBody>
      </p:sp>
      <p:sp>
        <p:nvSpPr>
          <p:cNvPr id="136" name="Shape 133"/>
          <p:cNvSpPr/>
          <p:nvPr/>
        </p:nvSpPr>
        <p:spPr>
          <a:xfrm>
            <a:off x="502920" y="5074920"/>
            <a:ext cx="2697480" cy="841248"/>
          </a:xfrm>
          <a:prstGeom prst="roundRect">
            <a:avLst>
              <a:gd name="adj" fmla="val 8696"/>
            </a:avLst>
          </a:prstGeom>
          <a:solidFill>
            <a:srgbClr val="0F1930"/>
          </a:solidFill>
          <a:ln w="15875">
            <a:solidFill>
              <a:srgbClr val="34D399"/>
            </a:solidFill>
            <a:prstDash val="solid"/>
          </a:ln>
        </p:spPr>
      </p:sp>
      <p:sp>
        <p:nvSpPr>
          <p:cNvPr id="137" name="Text 134"/>
          <p:cNvSpPr txBox="1"/>
          <p:nvPr/>
        </p:nvSpPr>
        <p:spPr>
          <a:xfrm>
            <a:off x="640080" y="5148072"/>
            <a:ext cx="2423160"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−4,8 pp</a:t>
            </a:r>
            <a:endParaRPr lang="en-US" sz="1800" dirty="0"/>
          </a:p>
        </p:txBody>
      </p:sp>
      <p:sp>
        <p:nvSpPr>
          <p:cNvPr id="138" name="Text 135"/>
          <p:cNvSpPr txBox="1"/>
          <p:nvPr/>
        </p:nvSpPr>
        <p:spPr>
          <a:xfrm>
            <a:off x="640080"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ACUMULADO A AGOSTO</a:t>
            </a:r>
            <a:endParaRPr lang="en-US" sz="750" dirty="0"/>
          </a:p>
        </p:txBody>
      </p:sp>
      <p:sp>
        <p:nvSpPr>
          <p:cNvPr id="139" name="Text 136"/>
          <p:cNvSpPr txBox="1"/>
          <p:nvPr/>
        </p:nvSpPr>
        <p:spPr>
          <a:xfrm>
            <a:off x="640080"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9,83 % → 5,04 % · 133 → 74 suspensiones con +8,6 % de programadas · p &lt; 0,001</a:t>
            </a:r>
            <a:endParaRPr lang="en-US" sz="850" dirty="0"/>
          </a:p>
        </p:txBody>
      </p:sp>
      <p:sp>
        <p:nvSpPr>
          <p:cNvPr id="140" name="Shape 137"/>
          <p:cNvSpPr/>
          <p:nvPr/>
        </p:nvSpPr>
        <p:spPr>
          <a:xfrm>
            <a:off x="3328416" y="5074920"/>
            <a:ext cx="2697480" cy="841248"/>
          </a:xfrm>
          <a:prstGeom prst="roundRect">
            <a:avLst>
              <a:gd name="adj" fmla="val 8696"/>
            </a:avLst>
          </a:prstGeom>
          <a:solidFill>
            <a:srgbClr val="0F1930"/>
          </a:solidFill>
          <a:ln w="9525">
            <a:solidFill>
              <a:srgbClr val="22304A"/>
            </a:solidFill>
            <a:prstDash val="solid"/>
          </a:ln>
        </p:spPr>
      </p:sp>
      <p:sp>
        <p:nvSpPr>
          <p:cNvPr id="141" name="Text 138"/>
          <p:cNvSpPr txBox="1"/>
          <p:nvPr/>
        </p:nvSpPr>
        <p:spPr>
          <a:xfrm>
            <a:off x="3465576" y="5148072"/>
            <a:ext cx="2423160" cy="329184"/>
          </a:xfrm>
          <a:prstGeom prst="rect">
            <a:avLst/>
          </a:prstGeom>
          <a:noFill/>
          <a:ln/>
        </p:spPr>
        <p:txBody>
          <a:bodyPr wrap="square" lIns="0" tIns="0" rIns="0" bIns="0" rtlCol="0" anchor="ctr"/>
          <a:lstStyle/>
          <a:p>
            <a:pPr algn="l" indent="0" marL="0">
              <a:buNone/>
            </a:pPr>
            <a:r>
              <a:rPr lang="en-US" sz="1600" b="1" dirty="0">
                <a:solidFill>
                  <a:srgbClr val="5EEAD4"/>
                </a:solidFill>
                <a:latin typeface="Arial" pitchFamily="34" charset="0"/>
                <a:ea typeface="Arial" pitchFamily="34" charset="-122"/>
                <a:cs typeface="Arial" pitchFamily="34" charset="-120"/>
              </a:rPr>
              <a:t>11,41 → 1,23 %</a:t>
            </a:r>
            <a:endParaRPr lang="en-US" sz="1600" dirty="0"/>
          </a:p>
        </p:txBody>
      </p:sp>
      <p:sp>
        <p:nvSpPr>
          <p:cNvPr id="142" name="Text 139"/>
          <p:cNvSpPr txBox="1"/>
          <p:nvPr/>
        </p:nvSpPr>
        <p:spPr>
          <a:xfrm>
            <a:off x="3465576"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MEDIA MÓVIL 3 M · JUN–AGO</a:t>
            </a:r>
            <a:endParaRPr lang="en-US" sz="750" dirty="0"/>
          </a:p>
        </p:txBody>
      </p:sp>
      <p:sp>
        <p:nvSpPr>
          <p:cNvPr id="143" name="Text 140"/>
          <p:cNvSpPr txBox="1"/>
          <p:nvPr/>
        </p:nvSpPr>
        <p:spPr>
          <a:xfrm>
            <a:off x="3465576"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el trimestre móvil de 2026 cierra en su mínimo; el de 2025 cerraba en su máximo</a:t>
            </a:r>
            <a:endParaRPr lang="en-US" sz="850" dirty="0"/>
          </a:p>
        </p:txBody>
      </p:sp>
      <p:sp>
        <p:nvSpPr>
          <p:cNvPr id="144" name="Shape 141"/>
          <p:cNvSpPr/>
          <p:nvPr/>
        </p:nvSpPr>
        <p:spPr>
          <a:xfrm>
            <a:off x="6153912" y="5074920"/>
            <a:ext cx="2697480" cy="841248"/>
          </a:xfrm>
          <a:prstGeom prst="roundRect">
            <a:avLst>
              <a:gd name="adj" fmla="val 8696"/>
            </a:avLst>
          </a:prstGeom>
          <a:solidFill>
            <a:srgbClr val="0F1930"/>
          </a:solidFill>
          <a:ln w="9525">
            <a:solidFill>
              <a:srgbClr val="22304A"/>
            </a:solidFill>
            <a:prstDash val="solid"/>
          </a:ln>
        </p:spPr>
      </p:sp>
      <p:sp>
        <p:nvSpPr>
          <p:cNvPr id="145" name="Text 142"/>
          <p:cNvSpPr txBox="1"/>
          <p:nvPr/>
        </p:nvSpPr>
        <p:spPr>
          <a:xfrm>
            <a:off x="6291072" y="5148072"/>
            <a:ext cx="2423160"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70</a:t>
            </a:r>
            <a:endParaRPr lang="en-US" sz="1800" dirty="0"/>
          </a:p>
        </p:txBody>
      </p:sp>
      <p:sp>
        <p:nvSpPr>
          <p:cNvPr id="146" name="Text 143"/>
          <p:cNvSpPr txBox="1"/>
          <p:nvPr/>
        </p:nvSpPr>
        <p:spPr>
          <a:xfrm>
            <a:off x="6291072"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SUSPENSIONES EVITADAS · ENE–AGO</a:t>
            </a:r>
            <a:endParaRPr lang="en-US" sz="750" dirty="0"/>
          </a:p>
        </p:txBody>
      </p:sp>
      <p:sp>
        <p:nvSpPr>
          <p:cNvPr id="147" name="Text 144"/>
          <p:cNvSpPr txBox="1"/>
          <p:nvPr/>
        </p:nvSpPr>
        <p:spPr>
          <a:xfrm>
            <a:off x="6291072"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144,3 esperadas al ritmo 2025 a la misma fecha vs 74 observadas</a:t>
            </a:r>
            <a:endParaRPr lang="en-US" sz="850" dirty="0"/>
          </a:p>
        </p:txBody>
      </p:sp>
      <p:sp>
        <p:nvSpPr>
          <p:cNvPr id="148" name="Shape 145"/>
          <p:cNvSpPr/>
          <p:nvPr/>
        </p:nvSpPr>
        <p:spPr>
          <a:xfrm>
            <a:off x="8979408" y="5074920"/>
            <a:ext cx="2697480" cy="841248"/>
          </a:xfrm>
          <a:prstGeom prst="roundRect">
            <a:avLst>
              <a:gd name="adj" fmla="val 8696"/>
            </a:avLst>
          </a:prstGeom>
          <a:solidFill>
            <a:srgbClr val="0F1930"/>
          </a:solidFill>
          <a:ln w="9525">
            <a:solidFill>
              <a:srgbClr val="22304A"/>
            </a:solidFill>
            <a:prstDash val="solid"/>
          </a:ln>
        </p:spPr>
      </p:sp>
      <p:sp>
        <p:nvSpPr>
          <p:cNvPr id="149" name="Text 146"/>
          <p:cNvSpPr txBox="1"/>
          <p:nvPr/>
        </p:nvSpPr>
        <p:spPr>
          <a:xfrm>
            <a:off x="9116568" y="5148072"/>
            <a:ext cx="2423160" cy="329184"/>
          </a:xfrm>
          <a:prstGeom prst="rect">
            <a:avLst/>
          </a:prstGeom>
          <a:noFill/>
          <a:ln/>
        </p:spPr>
        <p:txBody>
          <a:bodyPr wrap="square" lIns="0" tIns="0" rIns="0" bIns="0" rtlCol="0" anchor="ctr"/>
          <a:lstStyle/>
          <a:p>
            <a:pPr algn="l" indent="0" marL="0">
              <a:buNone/>
            </a:pPr>
            <a:r>
              <a:rPr lang="en-US" sz="1600" b="1" dirty="0">
                <a:solidFill>
                  <a:srgbClr val="5EEAD4"/>
                </a:solidFill>
                <a:latin typeface="Arial" pitchFamily="34" charset="0"/>
                <a:ea typeface="Arial" pitchFamily="34" charset="-122"/>
                <a:cs typeface="Arial" pitchFamily="34" charset="-120"/>
              </a:rPr>
              <a:t>14,3 → 2</a:t>
            </a:r>
            <a:endParaRPr lang="en-US" sz="1600" dirty="0"/>
          </a:p>
        </p:txBody>
      </p:sp>
      <p:sp>
        <p:nvSpPr>
          <p:cNvPr id="150" name="Text 147"/>
          <p:cNvSpPr txBox="1"/>
          <p:nvPr/>
        </p:nvSpPr>
        <p:spPr>
          <a:xfrm>
            <a:off x="9116568"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AGOSTO · ESPERADAS VS OBSERVADAS</a:t>
            </a:r>
            <a:endParaRPr lang="en-US" sz="750" dirty="0"/>
          </a:p>
        </p:txBody>
      </p:sp>
      <p:sp>
        <p:nvSpPr>
          <p:cNvPr id="151" name="Text 148"/>
          <p:cNvSpPr txBox="1"/>
          <p:nvPr/>
        </p:nvSpPr>
        <p:spPr>
          <a:xfrm>
            <a:off x="9116568"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a la tasa 2025 (9,38 %) sobre 152 programadas · 12 pacientes que se habrían suspendido</a:t>
            </a:r>
            <a:endParaRPr lang="en-US" sz="850" dirty="0"/>
          </a:p>
        </p:txBody>
      </p:sp>
      <p:sp>
        <p:nvSpPr>
          <p:cNvPr id="152" name="Text 149"/>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La media móvil suma suspendidas y programadas de tres meses consecutivos (no promedia tasas). "Suspensiones evitadas" es un contrafactual aritmético al ritmo de 2025; no atribuye causalidad a una medida específica.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04  ·  CONTROL ESTADÍSTICO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100" b="1" dirty="0">
                <a:solidFill>
                  <a:srgbClr val="EAF1FB"/>
                </a:solidFill>
                <a:latin typeface="Arial" pitchFamily="34" charset="0"/>
                <a:ea typeface="Arial" pitchFamily="34" charset="-122"/>
                <a:cs typeface="Arial" pitchFamily="34" charset="-120"/>
              </a:rPr>
              <a:t>La mejora se sostiene: tres meses bajo el límite inferior de control</a:t>
            </a:r>
            <a:endParaRPr lang="en-US" sz="21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Carta p mensual · línea central 9,38 % (2025 completo) · límites ±3σ calculados con el denominador de cada mes · 20 meses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05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sp>
        <p:nvSpPr>
          <p:cNvPr id="11" name="Shape 8"/>
          <p:cNvSpPr/>
          <p:nvPr/>
        </p:nvSpPr>
        <p:spPr>
          <a:xfrm>
            <a:off x="1051560" y="5376672"/>
            <a:ext cx="6858000" cy="0"/>
          </a:xfrm>
          <a:prstGeom prst="line">
            <a:avLst/>
          </a:prstGeom>
          <a:noFill/>
          <a:ln w="6350">
            <a:solidFill>
              <a:srgbClr val="22304A"/>
            </a:solidFill>
            <a:prstDash val="solid"/>
          </a:ln>
        </p:spPr>
      </p:sp>
      <p:sp>
        <p:nvSpPr>
          <p:cNvPr id="12" name="Text 9"/>
          <p:cNvSpPr txBox="1"/>
          <p:nvPr/>
        </p:nvSpPr>
        <p:spPr>
          <a:xfrm>
            <a:off x="594360" y="5276088"/>
            <a:ext cx="38404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0%</a:t>
            </a:r>
            <a:endParaRPr lang="en-US" sz="800" dirty="0"/>
          </a:p>
        </p:txBody>
      </p:sp>
      <p:sp>
        <p:nvSpPr>
          <p:cNvPr id="13" name="Shape 10"/>
          <p:cNvSpPr/>
          <p:nvPr/>
        </p:nvSpPr>
        <p:spPr>
          <a:xfrm>
            <a:off x="1051560" y="4535424"/>
            <a:ext cx="6858000" cy="0"/>
          </a:xfrm>
          <a:prstGeom prst="line">
            <a:avLst/>
          </a:prstGeom>
          <a:noFill/>
          <a:ln w="6350">
            <a:solidFill>
              <a:srgbClr val="22304A"/>
            </a:solidFill>
            <a:prstDash val="solid"/>
          </a:ln>
        </p:spPr>
      </p:sp>
      <p:sp>
        <p:nvSpPr>
          <p:cNvPr id="14" name="Text 11"/>
          <p:cNvSpPr txBox="1"/>
          <p:nvPr/>
        </p:nvSpPr>
        <p:spPr>
          <a:xfrm>
            <a:off x="594360" y="4434840"/>
            <a:ext cx="38404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4%</a:t>
            </a:r>
            <a:endParaRPr lang="en-US" sz="800" dirty="0"/>
          </a:p>
        </p:txBody>
      </p:sp>
      <p:sp>
        <p:nvSpPr>
          <p:cNvPr id="15" name="Shape 12"/>
          <p:cNvSpPr/>
          <p:nvPr/>
        </p:nvSpPr>
        <p:spPr>
          <a:xfrm>
            <a:off x="1051560" y="3694176"/>
            <a:ext cx="6858000" cy="0"/>
          </a:xfrm>
          <a:prstGeom prst="line">
            <a:avLst/>
          </a:prstGeom>
          <a:noFill/>
          <a:ln w="6350">
            <a:solidFill>
              <a:srgbClr val="22304A"/>
            </a:solidFill>
            <a:prstDash val="solid"/>
          </a:ln>
        </p:spPr>
      </p:sp>
      <p:sp>
        <p:nvSpPr>
          <p:cNvPr id="16" name="Text 13"/>
          <p:cNvSpPr txBox="1"/>
          <p:nvPr/>
        </p:nvSpPr>
        <p:spPr>
          <a:xfrm>
            <a:off x="594360" y="3593592"/>
            <a:ext cx="38404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8%</a:t>
            </a:r>
            <a:endParaRPr lang="en-US" sz="800" dirty="0"/>
          </a:p>
        </p:txBody>
      </p:sp>
      <p:sp>
        <p:nvSpPr>
          <p:cNvPr id="17" name="Shape 14"/>
          <p:cNvSpPr/>
          <p:nvPr/>
        </p:nvSpPr>
        <p:spPr>
          <a:xfrm>
            <a:off x="1051560" y="2852928"/>
            <a:ext cx="6858000" cy="0"/>
          </a:xfrm>
          <a:prstGeom prst="line">
            <a:avLst/>
          </a:prstGeom>
          <a:noFill/>
          <a:ln w="6350">
            <a:solidFill>
              <a:srgbClr val="22304A"/>
            </a:solidFill>
            <a:prstDash val="solid"/>
          </a:ln>
        </p:spPr>
      </p:sp>
      <p:sp>
        <p:nvSpPr>
          <p:cNvPr id="18" name="Text 15"/>
          <p:cNvSpPr txBox="1"/>
          <p:nvPr/>
        </p:nvSpPr>
        <p:spPr>
          <a:xfrm>
            <a:off x="594360" y="2752344"/>
            <a:ext cx="38404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12%</a:t>
            </a:r>
            <a:endParaRPr lang="en-US" sz="800" dirty="0"/>
          </a:p>
        </p:txBody>
      </p:sp>
      <p:sp>
        <p:nvSpPr>
          <p:cNvPr id="19" name="Shape 16"/>
          <p:cNvSpPr/>
          <p:nvPr/>
        </p:nvSpPr>
        <p:spPr>
          <a:xfrm>
            <a:off x="1051560" y="2011680"/>
            <a:ext cx="6858000" cy="0"/>
          </a:xfrm>
          <a:prstGeom prst="line">
            <a:avLst/>
          </a:prstGeom>
          <a:noFill/>
          <a:ln w="6350">
            <a:solidFill>
              <a:srgbClr val="22304A"/>
            </a:solidFill>
            <a:prstDash val="solid"/>
          </a:ln>
        </p:spPr>
      </p:sp>
      <p:sp>
        <p:nvSpPr>
          <p:cNvPr id="20" name="Text 17"/>
          <p:cNvSpPr txBox="1"/>
          <p:nvPr/>
        </p:nvSpPr>
        <p:spPr>
          <a:xfrm>
            <a:off x="594360" y="1911096"/>
            <a:ext cx="38404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16%</a:t>
            </a:r>
            <a:endParaRPr lang="en-US" sz="800" dirty="0"/>
          </a:p>
        </p:txBody>
      </p:sp>
      <p:sp>
        <p:nvSpPr>
          <p:cNvPr id="21" name="Shape 18"/>
          <p:cNvSpPr/>
          <p:nvPr/>
        </p:nvSpPr>
        <p:spPr>
          <a:xfrm>
            <a:off x="1051560" y="2011680"/>
            <a:ext cx="6858000" cy="3364992"/>
          </a:xfrm>
          <a:custGeom>
            <a:avLst/>
            <a:gdLst/>
            <a:ahLst/>
            <a:cxnLst/>
            <a:rect l="l" t="t" r="r" b="b"/>
            <a:pathLst>
              <a:path w="6858000" h="3364992">
                <a:moveTo>
                  <a:pt x="0" y="0"/>
                </a:moveTo>
                <a:lnTo>
                  <a:pt x="360947" y="0"/>
                </a:lnTo>
                <a:lnTo>
                  <a:pt x="721895" y="0"/>
                </a:lnTo>
                <a:lnTo>
                  <a:pt x="1082842" y="0"/>
                </a:lnTo>
                <a:lnTo>
                  <a:pt x="1443789" y="0"/>
                </a:lnTo>
                <a:lnTo>
                  <a:pt x="1804737" y="46269"/>
                </a:lnTo>
                <a:lnTo>
                  <a:pt x="2165684" y="121981"/>
                </a:lnTo>
                <a:lnTo>
                  <a:pt x="2526632" y="56784"/>
                </a:lnTo>
                <a:lnTo>
                  <a:pt x="2887579" y="60990"/>
                </a:lnTo>
                <a:lnTo>
                  <a:pt x="3248526" y="149322"/>
                </a:lnTo>
                <a:lnTo>
                  <a:pt x="3609474" y="75712"/>
                </a:lnTo>
                <a:lnTo>
                  <a:pt x="3970421" y="0"/>
                </a:lnTo>
                <a:lnTo>
                  <a:pt x="4331368" y="35753"/>
                </a:lnTo>
                <a:lnTo>
                  <a:pt x="4692316" y="60990"/>
                </a:lnTo>
                <a:lnTo>
                  <a:pt x="5053263" y="140909"/>
                </a:lnTo>
                <a:lnTo>
                  <a:pt x="5414211" y="168250"/>
                </a:lnTo>
                <a:lnTo>
                  <a:pt x="5775158" y="0"/>
                </a:lnTo>
                <a:lnTo>
                  <a:pt x="6136105" y="16825"/>
                </a:lnTo>
                <a:lnTo>
                  <a:pt x="6497053" y="0"/>
                </a:lnTo>
                <a:lnTo>
                  <a:pt x="6858000" y="0"/>
                </a:lnTo>
                <a:lnTo>
                  <a:pt x="6858000" y="2883378"/>
                </a:lnTo>
                <a:lnTo>
                  <a:pt x="6497053" y="2868656"/>
                </a:lnTo>
                <a:lnTo>
                  <a:pt x="6136105" y="2767706"/>
                </a:lnTo>
                <a:lnTo>
                  <a:pt x="5775158" y="2820284"/>
                </a:lnTo>
                <a:lnTo>
                  <a:pt x="5414211" y="2616281"/>
                </a:lnTo>
                <a:lnTo>
                  <a:pt x="5053263" y="2643622"/>
                </a:lnTo>
                <a:lnTo>
                  <a:pt x="4692316" y="2723540"/>
                </a:lnTo>
                <a:lnTo>
                  <a:pt x="4331368" y="2748778"/>
                </a:lnTo>
                <a:lnTo>
                  <a:pt x="3970421" y="2786634"/>
                </a:lnTo>
                <a:lnTo>
                  <a:pt x="3609474" y="2708819"/>
                </a:lnTo>
                <a:lnTo>
                  <a:pt x="3248526" y="2635209"/>
                </a:lnTo>
                <a:lnTo>
                  <a:pt x="2887579" y="2723540"/>
                </a:lnTo>
                <a:lnTo>
                  <a:pt x="2526632" y="2725644"/>
                </a:lnTo>
                <a:lnTo>
                  <a:pt x="2165684" y="2662550"/>
                </a:lnTo>
                <a:lnTo>
                  <a:pt x="1804737" y="2738262"/>
                </a:lnTo>
                <a:lnTo>
                  <a:pt x="1443789" y="2898099"/>
                </a:lnTo>
                <a:lnTo>
                  <a:pt x="1082842" y="2803459"/>
                </a:lnTo>
                <a:lnTo>
                  <a:pt x="721895" y="2832903"/>
                </a:lnTo>
                <a:lnTo>
                  <a:pt x="360947" y="2816078"/>
                </a:lnTo>
                <a:lnTo>
                  <a:pt x="0" y="3093690"/>
                </a:lnTo>
                <a:close/>
              </a:path>
            </a:pathLst>
          </a:custGeom>
          <a:solidFill>
            <a:srgbClr val="5B7DB1">
              <a:alpha val="18000"/>
            </a:srgbClr>
          </a:solidFill>
          <a:ln/>
        </p:spPr>
      </p:sp>
      <p:sp>
        <p:nvSpPr>
          <p:cNvPr id="22" name="Shape 19"/>
          <p:cNvSpPr/>
          <p:nvPr/>
        </p:nvSpPr>
        <p:spPr>
          <a:xfrm>
            <a:off x="1051560" y="3403945"/>
            <a:ext cx="6858000" cy="0"/>
          </a:xfrm>
          <a:prstGeom prst="line">
            <a:avLst/>
          </a:prstGeom>
          <a:noFill/>
          <a:ln w="15875">
            <a:solidFill>
              <a:srgbClr val="F5B342"/>
            </a:solidFill>
            <a:prstDash val="dash"/>
          </a:ln>
        </p:spPr>
      </p:sp>
      <p:sp>
        <p:nvSpPr>
          <p:cNvPr id="23" name="Text 20"/>
          <p:cNvSpPr txBox="1"/>
          <p:nvPr/>
        </p:nvSpPr>
        <p:spPr>
          <a:xfrm>
            <a:off x="6446520" y="3175345"/>
            <a:ext cx="1463040" cy="201168"/>
          </a:xfrm>
          <a:prstGeom prst="rect">
            <a:avLst/>
          </a:prstGeom>
          <a:noFill/>
          <a:ln/>
        </p:spPr>
        <p:txBody>
          <a:bodyPr wrap="square" lIns="0" tIns="0" rIns="0" bIns="0" rtlCol="0" anchor="ctr"/>
          <a:lstStyle/>
          <a:p>
            <a:pPr algn="r" indent="0" marL="0">
              <a:buNone/>
            </a:pPr>
            <a:r>
              <a:rPr lang="en-US" sz="800" dirty="0">
                <a:solidFill>
                  <a:srgbClr val="F5B342"/>
                </a:solidFill>
                <a:latin typeface="Arial" pitchFamily="34" charset="0"/>
                <a:ea typeface="Arial" pitchFamily="34" charset="-122"/>
                <a:cs typeface="Arial" pitchFamily="34" charset="-120"/>
              </a:rPr>
              <a:t>media 2025 · 9,38 %</a:t>
            </a:r>
            <a:endParaRPr lang="en-US" sz="800" dirty="0"/>
          </a:p>
        </p:txBody>
      </p:sp>
      <p:sp>
        <p:nvSpPr>
          <p:cNvPr id="24" name="Text 21"/>
          <p:cNvSpPr txBox="1"/>
          <p:nvPr/>
        </p:nvSpPr>
        <p:spPr>
          <a:xfrm>
            <a:off x="1124712" y="4867626"/>
            <a:ext cx="2011680" cy="201168"/>
          </a:xfrm>
          <a:prstGeom prst="rect">
            <a:avLst/>
          </a:prstGeom>
          <a:noFill/>
          <a:ln/>
        </p:spPr>
        <p:txBody>
          <a:bodyPr wrap="square" lIns="0" tIns="0" rIns="0" bIns="0" rtlCol="0" anchor="ctr"/>
          <a:lstStyle/>
          <a:p>
            <a:pPr algn="l" indent="0" marL="0">
              <a:buNone/>
            </a:pPr>
            <a:r>
              <a:rPr lang="en-US" sz="800" dirty="0">
                <a:solidFill>
                  <a:srgbClr val="7FA3D9"/>
                </a:solidFill>
                <a:latin typeface="Arial" pitchFamily="34" charset="0"/>
                <a:ea typeface="Arial" pitchFamily="34" charset="-122"/>
                <a:cs typeface="Arial" pitchFamily="34" charset="-120"/>
              </a:rPr>
              <a:t>banda ±3σ (n de cada mes)</a:t>
            </a:r>
            <a:endParaRPr lang="en-US" sz="800" dirty="0"/>
          </a:p>
        </p:txBody>
      </p:sp>
      <p:sp>
        <p:nvSpPr>
          <p:cNvPr id="25" name="Shape 22"/>
          <p:cNvSpPr/>
          <p:nvPr/>
        </p:nvSpPr>
        <p:spPr>
          <a:xfrm flipV="1">
            <a:off x="1051560" y="3488070"/>
            <a:ext cx="360947" cy="630936"/>
          </a:xfrm>
          <a:prstGeom prst="line">
            <a:avLst/>
          </a:prstGeom>
          <a:noFill/>
          <a:ln w="25400">
            <a:solidFill>
              <a:srgbClr val="2DD4BF"/>
            </a:solidFill>
            <a:prstDash val="solid"/>
          </a:ln>
        </p:spPr>
      </p:sp>
      <p:sp>
        <p:nvSpPr>
          <p:cNvPr id="26" name="Shape 23"/>
          <p:cNvSpPr/>
          <p:nvPr/>
        </p:nvSpPr>
        <p:spPr>
          <a:xfrm>
            <a:off x="1412507" y="3488070"/>
            <a:ext cx="360947" cy="340705"/>
          </a:xfrm>
          <a:prstGeom prst="line">
            <a:avLst/>
          </a:prstGeom>
          <a:noFill/>
          <a:ln w="25400">
            <a:solidFill>
              <a:srgbClr val="2DD4BF"/>
            </a:solidFill>
            <a:prstDash val="solid"/>
          </a:ln>
        </p:spPr>
      </p:sp>
      <p:sp>
        <p:nvSpPr>
          <p:cNvPr id="27" name="Shape 24"/>
          <p:cNvSpPr/>
          <p:nvPr/>
        </p:nvSpPr>
        <p:spPr>
          <a:xfrm flipV="1">
            <a:off x="1773455" y="3025384"/>
            <a:ext cx="360947" cy="803392"/>
          </a:xfrm>
          <a:prstGeom prst="line">
            <a:avLst/>
          </a:prstGeom>
          <a:noFill/>
          <a:ln w="25400">
            <a:solidFill>
              <a:srgbClr val="2DD4BF"/>
            </a:solidFill>
            <a:prstDash val="solid"/>
          </a:ln>
        </p:spPr>
      </p:sp>
      <p:sp>
        <p:nvSpPr>
          <p:cNvPr id="28" name="Shape 25"/>
          <p:cNvSpPr/>
          <p:nvPr/>
        </p:nvSpPr>
        <p:spPr>
          <a:xfrm>
            <a:off x="2134402" y="3025384"/>
            <a:ext cx="360947" cy="517368"/>
          </a:xfrm>
          <a:prstGeom prst="line">
            <a:avLst/>
          </a:prstGeom>
          <a:noFill/>
          <a:ln w="25400">
            <a:solidFill>
              <a:srgbClr val="2DD4BF"/>
            </a:solidFill>
            <a:prstDash val="solid"/>
          </a:ln>
        </p:spPr>
      </p:sp>
      <p:sp>
        <p:nvSpPr>
          <p:cNvPr id="29" name="Shape 26"/>
          <p:cNvSpPr/>
          <p:nvPr/>
        </p:nvSpPr>
        <p:spPr>
          <a:xfrm>
            <a:off x="2495349" y="3542751"/>
            <a:ext cx="360947" cy="33650"/>
          </a:xfrm>
          <a:prstGeom prst="line">
            <a:avLst/>
          </a:prstGeom>
          <a:noFill/>
          <a:ln w="25400">
            <a:solidFill>
              <a:srgbClr val="2DD4BF"/>
            </a:solidFill>
            <a:prstDash val="solid"/>
          </a:ln>
        </p:spPr>
      </p:sp>
      <p:sp>
        <p:nvSpPr>
          <p:cNvPr id="30" name="Shape 27"/>
          <p:cNvSpPr/>
          <p:nvPr/>
        </p:nvSpPr>
        <p:spPr>
          <a:xfrm flipV="1">
            <a:off x="2856297" y="2573213"/>
            <a:ext cx="360947" cy="1003188"/>
          </a:xfrm>
          <a:prstGeom prst="line">
            <a:avLst/>
          </a:prstGeom>
          <a:noFill/>
          <a:ln w="25400">
            <a:solidFill>
              <a:srgbClr val="2DD4BF"/>
            </a:solidFill>
            <a:prstDash val="solid"/>
          </a:ln>
        </p:spPr>
      </p:sp>
      <p:sp>
        <p:nvSpPr>
          <p:cNvPr id="31" name="Shape 28"/>
          <p:cNvSpPr/>
          <p:nvPr/>
        </p:nvSpPr>
        <p:spPr>
          <a:xfrm>
            <a:off x="3217244" y="2573213"/>
            <a:ext cx="360947" cy="256581"/>
          </a:xfrm>
          <a:prstGeom prst="line">
            <a:avLst/>
          </a:prstGeom>
          <a:noFill/>
          <a:ln w="25400">
            <a:solidFill>
              <a:srgbClr val="2DD4BF"/>
            </a:solidFill>
            <a:prstDash val="solid"/>
          </a:ln>
        </p:spPr>
      </p:sp>
      <p:sp>
        <p:nvSpPr>
          <p:cNvPr id="32" name="Shape 29"/>
          <p:cNvSpPr/>
          <p:nvPr/>
        </p:nvSpPr>
        <p:spPr>
          <a:xfrm>
            <a:off x="3578192" y="2829794"/>
            <a:ext cx="360947" cy="895929"/>
          </a:xfrm>
          <a:prstGeom prst="line">
            <a:avLst/>
          </a:prstGeom>
          <a:noFill/>
          <a:ln w="25400">
            <a:solidFill>
              <a:srgbClr val="2DD4BF"/>
            </a:solidFill>
            <a:prstDash val="solid"/>
          </a:ln>
        </p:spPr>
      </p:sp>
      <p:sp>
        <p:nvSpPr>
          <p:cNvPr id="33" name="Shape 30"/>
          <p:cNvSpPr/>
          <p:nvPr/>
        </p:nvSpPr>
        <p:spPr>
          <a:xfrm>
            <a:off x="3939139" y="3725723"/>
            <a:ext cx="360947" cy="113568"/>
          </a:xfrm>
          <a:prstGeom prst="line">
            <a:avLst/>
          </a:prstGeom>
          <a:noFill/>
          <a:ln w="25400">
            <a:solidFill>
              <a:srgbClr val="2DD4BF"/>
            </a:solidFill>
            <a:prstDash val="solid"/>
          </a:ln>
        </p:spPr>
      </p:sp>
      <p:sp>
        <p:nvSpPr>
          <p:cNvPr id="34" name="Shape 31"/>
          <p:cNvSpPr/>
          <p:nvPr/>
        </p:nvSpPr>
        <p:spPr>
          <a:xfrm flipV="1">
            <a:off x="4300086" y="3218871"/>
            <a:ext cx="360947" cy="620420"/>
          </a:xfrm>
          <a:prstGeom prst="line">
            <a:avLst/>
          </a:prstGeom>
          <a:noFill/>
          <a:ln w="25400">
            <a:solidFill>
              <a:srgbClr val="2DD4BF"/>
            </a:solidFill>
            <a:prstDash val="solid"/>
          </a:ln>
        </p:spPr>
      </p:sp>
      <p:sp>
        <p:nvSpPr>
          <p:cNvPr id="35" name="Shape 32"/>
          <p:cNvSpPr/>
          <p:nvPr/>
        </p:nvSpPr>
        <p:spPr>
          <a:xfrm>
            <a:off x="4661034" y="3218871"/>
            <a:ext cx="360947" cy="222931"/>
          </a:xfrm>
          <a:prstGeom prst="line">
            <a:avLst/>
          </a:prstGeom>
          <a:noFill/>
          <a:ln w="25400">
            <a:solidFill>
              <a:srgbClr val="2DD4BF"/>
            </a:solidFill>
            <a:prstDash val="solid"/>
          </a:ln>
        </p:spPr>
      </p:sp>
      <p:sp>
        <p:nvSpPr>
          <p:cNvPr id="36" name="Shape 33"/>
          <p:cNvSpPr/>
          <p:nvPr/>
        </p:nvSpPr>
        <p:spPr>
          <a:xfrm flipV="1">
            <a:off x="5021981" y="3433389"/>
            <a:ext cx="360947" cy="8412"/>
          </a:xfrm>
          <a:prstGeom prst="line">
            <a:avLst/>
          </a:prstGeom>
          <a:noFill/>
          <a:ln w="25400">
            <a:solidFill>
              <a:srgbClr val="2DD4BF"/>
            </a:solidFill>
            <a:prstDash val="solid"/>
          </a:ln>
        </p:spPr>
      </p:sp>
      <p:sp>
        <p:nvSpPr>
          <p:cNvPr id="37" name="Shape 34"/>
          <p:cNvSpPr/>
          <p:nvPr/>
        </p:nvSpPr>
        <p:spPr>
          <a:xfrm>
            <a:off x="5382928" y="3433389"/>
            <a:ext cx="360947" cy="511058"/>
          </a:xfrm>
          <a:prstGeom prst="line">
            <a:avLst/>
          </a:prstGeom>
          <a:noFill/>
          <a:ln w="25400">
            <a:solidFill>
              <a:srgbClr val="2DD4BF"/>
            </a:solidFill>
            <a:prstDash val="solid"/>
          </a:ln>
        </p:spPr>
      </p:sp>
      <p:sp>
        <p:nvSpPr>
          <p:cNvPr id="38" name="Shape 35"/>
          <p:cNvSpPr/>
          <p:nvPr/>
        </p:nvSpPr>
        <p:spPr>
          <a:xfrm flipV="1">
            <a:off x="5743876" y="3624773"/>
            <a:ext cx="360947" cy="319674"/>
          </a:xfrm>
          <a:prstGeom prst="line">
            <a:avLst/>
          </a:prstGeom>
          <a:noFill/>
          <a:ln w="25400">
            <a:solidFill>
              <a:srgbClr val="2DD4BF"/>
            </a:solidFill>
            <a:prstDash val="solid"/>
          </a:ln>
        </p:spPr>
      </p:sp>
      <p:sp>
        <p:nvSpPr>
          <p:cNvPr id="39" name="Shape 36"/>
          <p:cNvSpPr/>
          <p:nvPr/>
        </p:nvSpPr>
        <p:spPr>
          <a:xfrm>
            <a:off x="6104823" y="3624773"/>
            <a:ext cx="360947" cy="542605"/>
          </a:xfrm>
          <a:prstGeom prst="line">
            <a:avLst/>
          </a:prstGeom>
          <a:noFill/>
          <a:ln w="25400">
            <a:solidFill>
              <a:srgbClr val="2DD4BF"/>
            </a:solidFill>
            <a:prstDash val="solid"/>
          </a:ln>
        </p:spPr>
      </p:sp>
      <p:sp>
        <p:nvSpPr>
          <p:cNvPr id="40" name="Shape 37"/>
          <p:cNvSpPr/>
          <p:nvPr/>
        </p:nvSpPr>
        <p:spPr>
          <a:xfrm>
            <a:off x="6465771" y="4167378"/>
            <a:ext cx="360947" cy="321777"/>
          </a:xfrm>
          <a:prstGeom prst="line">
            <a:avLst/>
          </a:prstGeom>
          <a:noFill/>
          <a:ln w="25400">
            <a:solidFill>
              <a:srgbClr val="2DD4BF"/>
            </a:solidFill>
            <a:prstDash val="solid"/>
          </a:ln>
        </p:spPr>
      </p:sp>
      <p:sp>
        <p:nvSpPr>
          <p:cNvPr id="41" name="Shape 38"/>
          <p:cNvSpPr/>
          <p:nvPr/>
        </p:nvSpPr>
        <p:spPr>
          <a:xfrm>
            <a:off x="6826718" y="4489155"/>
            <a:ext cx="360947" cy="534192"/>
          </a:xfrm>
          <a:prstGeom prst="line">
            <a:avLst/>
          </a:prstGeom>
          <a:noFill/>
          <a:ln w="25400">
            <a:solidFill>
              <a:srgbClr val="2DD4BF"/>
            </a:solidFill>
            <a:prstDash val="solid"/>
          </a:ln>
        </p:spPr>
      </p:sp>
      <p:sp>
        <p:nvSpPr>
          <p:cNvPr id="42" name="Shape 39"/>
          <p:cNvSpPr/>
          <p:nvPr/>
        </p:nvSpPr>
        <p:spPr>
          <a:xfrm>
            <a:off x="7187665" y="5023348"/>
            <a:ext cx="360947" cy="216621"/>
          </a:xfrm>
          <a:prstGeom prst="line">
            <a:avLst/>
          </a:prstGeom>
          <a:noFill/>
          <a:ln w="25400">
            <a:solidFill>
              <a:srgbClr val="2DD4BF"/>
            </a:solidFill>
            <a:prstDash val="solid"/>
          </a:ln>
        </p:spPr>
      </p:sp>
      <p:sp>
        <p:nvSpPr>
          <p:cNvPr id="43" name="Shape 40"/>
          <p:cNvSpPr/>
          <p:nvPr/>
        </p:nvSpPr>
        <p:spPr>
          <a:xfrm flipV="1">
            <a:off x="7548613" y="5099060"/>
            <a:ext cx="360947" cy="140909"/>
          </a:xfrm>
          <a:prstGeom prst="line">
            <a:avLst/>
          </a:prstGeom>
          <a:noFill/>
          <a:ln w="25400">
            <a:solidFill>
              <a:srgbClr val="2DD4BF"/>
            </a:solidFill>
            <a:prstDash val="solid"/>
          </a:ln>
        </p:spPr>
      </p:sp>
      <p:sp>
        <p:nvSpPr>
          <p:cNvPr id="44" name="Shape 41"/>
          <p:cNvSpPr/>
          <p:nvPr/>
        </p:nvSpPr>
        <p:spPr>
          <a:xfrm>
            <a:off x="996696" y="4064142"/>
            <a:ext cx="109728" cy="109728"/>
          </a:xfrm>
          <a:prstGeom prst="ellipse">
            <a:avLst/>
          </a:prstGeom>
          <a:solidFill>
            <a:srgbClr val="2DD4BF"/>
          </a:solidFill>
          <a:ln w="9525">
            <a:solidFill>
              <a:srgbClr val="0B1220"/>
            </a:solidFill>
            <a:prstDash val="solid"/>
          </a:ln>
        </p:spPr>
      </p:sp>
      <p:sp>
        <p:nvSpPr>
          <p:cNvPr id="45" name="Text 42"/>
          <p:cNvSpPr txBox="1"/>
          <p:nvPr/>
        </p:nvSpPr>
        <p:spPr>
          <a:xfrm>
            <a:off x="731520"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ene</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46" name="Text 43"/>
          <p:cNvSpPr txBox="1"/>
          <p:nvPr/>
        </p:nvSpPr>
        <p:spPr>
          <a:xfrm>
            <a:off x="777240" y="3817254"/>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6,0</a:t>
            </a:r>
            <a:endParaRPr lang="en-US" sz="750" dirty="0"/>
          </a:p>
        </p:txBody>
      </p:sp>
      <p:sp>
        <p:nvSpPr>
          <p:cNvPr id="47" name="Shape 44"/>
          <p:cNvSpPr/>
          <p:nvPr/>
        </p:nvSpPr>
        <p:spPr>
          <a:xfrm>
            <a:off x="1357643" y="3433206"/>
            <a:ext cx="109728" cy="109728"/>
          </a:xfrm>
          <a:prstGeom prst="ellipse">
            <a:avLst/>
          </a:prstGeom>
          <a:solidFill>
            <a:srgbClr val="2DD4BF"/>
          </a:solidFill>
          <a:ln w="9525">
            <a:solidFill>
              <a:srgbClr val="0B1220"/>
            </a:solidFill>
            <a:prstDash val="solid"/>
          </a:ln>
        </p:spPr>
      </p:sp>
      <p:sp>
        <p:nvSpPr>
          <p:cNvPr id="48" name="Text 45"/>
          <p:cNvSpPr txBox="1"/>
          <p:nvPr/>
        </p:nvSpPr>
        <p:spPr>
          <a:xfrm>
            <a:off x="1092467"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feb</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49" name="Text 46"/>
          <p:cNvSpPr txBox="1"/>
          <p:nvPr/>
        </p:nvSpPr>
        <p:spPr>
          <a:xfrm>
            <a:off x="1138187" y="3186318"/>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9,0</a:t>
            </a:r>
            <a:endParaRPr lang="en-US" sz="750" dirty="0"/>
          </a:p>
        </p:txBody>
      </p:sp>
      <p:sp>
        <p:nvSpPr>
          <p:cNvPr id="50" name="Shape 47"/>
          <p:cNvSpPr/>
          <p:nvPr/>
        </p:nvSpPr>
        <p:spPr>
          <a:xfrm>
            <a:off x="1718591" y="3773912"/>
            <a:ext cx="109728" cy="109728"/>
          </a:xfrm>
          <a:prstGeom prst="ellipse">
            <a:avLst/>
          </a:prstGeom>
          <a:solidFill>
            <a:srgbClr val="2DD4BF"/>
          </a:solidFill>
          <a:ln w="9525">
            <a:solidFill>
              <a:srgbClr val="0B1220"/>
            </a:solidFill>
            <a:prstDash val="solid"/>
          </a:ln>
        </p:spPr>
      </p:sp>
      <p:sp>
        <p:nvSpPr>
          <p:cNvPr id="51" name="Text 48"/>
          <p:cNvSpPr txBox="1"/>
          <p:nvPr/>
        </p:nvSpPr>
        <p:spPr>
          <a:xfrm>
            <a:off x="1453415"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mar</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52" name="Text 49"/>
          <p:cNvSpPr txBox="1"/>
          <p:nvPr/>
        </p:nvSpPr>
        <p:spPr>
          <a:xfrm>
            <a:off x="1499135" y="3901928"/>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7,4</a:t>
            </a:r>
            <a:endParaRPr lang="en-US" sz="750" dirty="0"/>
          </a:p>
        </p:txBody>
      </p:sp>
      <p:sp>
        <p:nvSpPr>
          <p:cNvPr id="53" name="Shape 50"/>
          <p:cNvSpPr/>
          <p:nvPr/>
        </p:nvSpPr>
        <p:spPr>
          <a:xfrm>
            <a:off x="2079538" y="2970520"/>
            <a:ext cx="109728" cy="109728"/>
          </a:xfrm>
          <a:prstGeom prst="ellipse">
            <a:avLst/>
          </a:prstGeom>
          <a:solidFill>
            <a:srgbClr val="2DD4BF"/>
          </a:solidFill>
          <a:ln w="9525">
            <a:solidFill>
              <a:srgbClr val="0B1220"/>
            </a:solidFill>
            <a:prstDash val="solid"/>
          </a:ln>
        </p:spPr>
      </p:sp>
      <p:sp>
        <p:nvSpPr>
          <p:cNvPr id="54" name="Text 51"/>
          <p:cNvSpPr txBox="1"/>
          <p:nvPr/>
        </p:nvSpPr>
        <p:spPr>
          <a:xfrm>
            <a:off x="1814362"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abr</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55" name="Text 52"/>
          <p:cNvSpPr txBox="1"/>
          <p:nvPr/>
        </p:nvSpPr>
        <p:spPr>
          <a:xfrm>
            <a:off x="1860082" y="2723632"/>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11,2</a:t>
            </a:r>
            <a:endParaRPr lang="en-US" sz="750" dirty="0"/>
          </a:p>
        </p:txBody>
      </p:sp>
      <p:sp>
        <p:nvSpPr>
          <p:cNvPr id="56" name="Shape 53"/>
          <p:cNvSpPr/>
          <p:nvPr/>
        </p:nvSpPr>
        <p:spPr>
          <a:xfrm>
            <a:off x="2440485" y="3487887"/>
            <a:ext cx="109728" cy="109728"/>
          </a:xfrm>
          <a:prstGeom prst="ellipse">
            <a:avLst/>
          </a:prstGeom>
          <a:solidFill>
            <a:srgbClr val="2DD4BF"/>
          </a:solidFill>
          <a:ln w="9525">
            <a:solidFill>
              <a:srgbClr val="0B1220"/>
            </a:solidFill>
            <a:prstDash val="solid"/>
          </a:ln>
        </p:spPr>
      </p:sp>
      <p:sp>
        <p:nvSpPr>
          <p:cNvPr id="57" name="Text 54"/>
          <p:cNvSpPr txBox="1"/>
          <p:nvPr/>
        </p:nvSpPr>
        <p:spPr>
          <a:xfrm>
            <a:off x="2175309"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may</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58" name="Text 55"/>
          <p:cNvSpPr txBox="1"/>
          <p:nvPr/>
        </p:nvSpPr>
        <p:spPr>
          <a:xfrm>
            <a:off x="2221029" y="3615903"/>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8,7</a:t>
            </a:r>
            <a:endParaRPr lang="en-US" sz="750" dirty="0"/>
          </a:p>
        </p:txBody>
      </p:sp>
      <p:sp>
        <p:nvSpPr>
          <p:cNvPr id="59" name="Shape 56"/>
          <p:cNvSpPr/>
          <p:nvPr/>
        </p:nvSpPr>
        <p:spPr>
          <a:xfrm>
            <a:off x="2801433" y="3521537"/>
            <a:ext cx="109728" cy="109728"/>
          </a:xfrm>
          <a:prstGeom prst="ellipse">
            <a:avLst/>
          </a:prstGeom>
          <a:solidFill>
            <a:srgbClr val="2DD4BF"/>
          </a:solidFill>
          <a:ln w="9525">
            <a:solidFill>
              <a:srgbClr val="0B1220"/>
            </a:solidFill>
            <a:prstDash val="solid"/>
          </a:ln>
        </p:spPr>
      </p:sp>
      <p:sp>
        <p:nvSpPr>
          <p:cNvPr id="60" name="Text 57"/>
          <p:cNvSpPr txBox="1"/>
          <p:nvPr/>
        </p:nvSpPr>
        <p:spPr>
          <a:xfrm>
            <a:off x="2536257"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jun</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61" name="Text 58"/>
          <p:cNvSpPr txBox="1"/>
          <p:nvPr/>
        </p:nvSpPr>
        <p:spPr>
          <a:xfrm>
            <a:off x="2581977" y="3649553"/>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8,6</a:t>
            </a:r>
            <a:endParaRPr lang="en-US" sz="750" dirty="0"/>
          </a:p>
        </p:txBody>
      </p:sp>
      <p:sp>
        <p:nvSpPr>
          <p:cNvPr id="62" name="Shape 59"/>
          <p:cNvSpPr/>
          <p:nvPr/>
        </p:nvSpPr>
        <p:spPr>
          <a:xfrm>
            <a:off x="3162380" y="2518349"/>
            <a:ext cx="109728" cy="109728"/>
          </a:xfrm>
          <a:prstGeom prst="ellipse">
            <a:avLst/>
          </a:prstGeom>
          <a:solidFill>
            <a:srgbClr val="2DD4BF"/>
          </a:solidFill>
          <a:ln w="9525">
            <a:solidFill>
              <a:srgbClr val="0B1220"/>
            </a:solidFill>
            <a:prstDash val="solid"/>
          </a:ln>
        </p:spPr>
      </p:sp>
      <p:sp>
        <p:nvSpPr>
          <p:cNvPr id="63" name="Text 60"/>
          <p:cNvSpPr txBox="1"/>
          <p:nvPr/>
        </p:nvSpPr>
        <p:spPr>
          <a:xfrm>
            <a:off x="2897204"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jul</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64" name="Text 61"/>
          <p:cNvSpPr txBox="1"/>
          <p:nvPr/>
        </p:nvSpPr>
        <p:spPr>
          <a:xfrm>
            <a:off x="2942924" y="2271461"/>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13,3</a:t>
            </a:r>
            <a:endParaRPr lang="en-US" sz="750" dirty="0"/>
          </a:p>
        </p:txBody>
      </p:sp>
      <p:sp>
        <p:nvSpPr>
          <p:cNvPr id="65" name="Shape 62"/>
          <p:cNvSpPr/>
          <p:nvPr/>
        </p:nvSpPr>
        <p:spPr>
          <a:xfrm>
            <a:off x="3523328" y="2774930"/>
            <a:ext cx="109728" cy="109728"/>
          </a:xfrm>
          <a:prstGeom prst="ellipse">
            <a:avLst/>
          </a:prstGeom>
          <a:solidFill>
            <a:srgbClr val="2DD4BF"/>
          </a:solidFill>
          <a:ln w="9525">
            <a:solidFill>
              <a:srgbClr val="0B1220"/>
            </a:solidFill>
            <a:prstDash val="solid"/>
          </a:ln>
        </p:spPr>
      </p:sp>
      <p:sp>
        <p:nvSpPr>
          <p:cNvPr id="66" name="Text 63"/>
          <p:cNvSpPr txBox="1"/>
          <p:nvPr/>
        </p:nvSpPr>
        <p:spPr>
          <a:xfrm>
            <a:off x="3258152"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ago</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67" name="Text 64"/>
          <p:cNvSpPr txBox="1"/>
          <p:nvPr/>
        </p:nvSpPr>
        <p:spPr>
          <a:xfrm>
            <a:off x="3303872" y="2902946"/>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12,1</a:t>
            </a:r>
            <a:endParaRPr lang="en-US" sz="750" dirty="0"/>
          </a:p>
        </p:txBody>
      </p:sp>
      <p:sp>
        <p:nvSpPr>
          <p:cNvPr id="68" name="Shape 65"/>
          <p:cNvSpPr/>
          <p:nvPr/>
        </p:nvSpPr>
        <p:spPr>
          <a:xfrm>
            <a:off x="3884275" y="3670859"/>
            <a:ext cx="109728" cy="109728"/>
          </a:xfrm>
          <a:prstGeom prst="ellipse">
            <a:avLst/>
          </a:prstGeom>
          <a:solidFill>
            <a:srgbClr val="2DD4BF"/>
          </a:solidFill>
          <a:ln w="9525">
            <a:solidFill>
              <a:srgbClr val="0B1220"/>
            </a:solidFill>
            <a:prstDash val="solid"/>
          </a:ln>
        </p:spPr>
      </p:sp>
      <p:sp>
        <p:nvSpPr>
          <p:cNvPr id="69" name="Text 66"/>
          <p:cNvSpPr txBox="1"/>
          <p:nvPr/>
        </p:nvSpPr>
        <p:spPr>
          <a:xfrm>
            <a:off x="3619099"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sep</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70" name="Text 67"/>
          <p:cNvSpPr txBox="1"/>
          <p:nvPr/>
        </p:nvSpPr>
        <p:spPr>
          <a:xfrm>
            <a:off x="3664819" y="3798875"/>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7,8</a:t>
            </a:r>
            <a:endParaRPr lang="en-US" sz="750" dirty="0"/>
          </a:p>
        </p:txBody>
      </p:sp>
      <p:sp>
        <p:nvSpPr>
          <p:cNvPr id="71" name="Shape 68"/>
          <p:cNvSpPr/>
          <p:nvPr/>
        </p:nvSpPr>
        <p:spPr>
          <a:xfrm>
            <a:off x="4245222" y="3784427"/>
            <a:ext cx="109728" cy="109728"/>
          </a:xfrm>
          <a:prstGeom prst="ellipse">
            <a:avLst/>
          </a:prstGeom>
          <a:solidFill>
            <a:srgbClr val="2DD4BF"/>
          </a:solidFill>
          <a:ln w="9525">
            <a:solidFill>
              <a:srgbClr val="0B1220"/>
            </a:solidFill>
            <a:prstDash val="solid"/>
          </a:ln>
        </p:spPr>
      </p:sp>
      <p:sp>
        <p:nvSpPr>
          <p:cNvPr id="72" name="Text 69"/>
          <p:cNvSpPr txBox="1"/>
          <p:nvPr/>
        </p:nvSpPr>
        <p:spPr>
          <a:xfrm>
            <a:off x="3980046"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oct</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73" name="Text 70"/>
          <p:cNvSpPr txBox="1"/>
          <p:nvPr/>
        </p:nvSpPr>
        <p:spPr>
          <a:xfrm>
            <a:off x="4025766" y="3912443"/>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7,3</a:t>
            </a:r>
            <a:endParaRPr lang="en-US" sz="750" dirty="0"/>
          </a:p>
        </p:txBody>
      </p:sp>
      <p:sp>
        <p:nvSpPr>
          <p:cNvPr id="74" name="Shape 71"/>
          <p:cNvSpPr/>
          <p:nvPr/>
        </p:nvSpPr>
        <p:spPr>
          <a:xfrm>
            <a:off x="4606170" y="3164007"/>
            <a:ext cx="109728" cy="109728"/>
          </a:xfrm>
          <a:prstGeom prst="ellipse">
            <a:avLst/>
          </a:prstGeom>
          <a:solidFill>
            <a:srgbClr val="2DD4BF"/>
          </a:solidFill>
          <a:ln w="9525">
            <a:solidFill>
              <a:srgbClr val="0B1220"/>
            </a:solidFill>
            <a:prstDash val="solid"/>
          </a:ln>
        </p:spPr>
      </p:sp>
      <p:sp>
        <p:nvSpPr>
          <p:cNvPr id="75" name="Text 72"/>
          <p:cNvSpPr txBox="1"/>
          <p:nvPr/>
        </p:nvSpPr>
        <p:spPr>
          <a:xfrm>
            <a:off x="4340994"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nov</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76" name="Text 73"/>
          <p:cNvSpPr txBox="1"/>
          <p:nvPr/>
        </p:nvSpPr>
        <p:spPr>
          <a:xfrm>
            <a:off x="4386714" y="2917119"/>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10,3</a:t>
            </a:r>
            <a:endParaRPr lang="en-US" sz="750" dirty="0"/>
          </a:p>
        </p:txBody>
      </p:sp>
      <p:sp>
        <p:nvSpPr>
          <p:cNvPr id="77" name="Shape 74"/>
          <p:cNvSpPr/>
          <p:nvPr/>
        </p:nvSpPr>
        <p:spPr>
          <a:xfrm>
            <a:off x="4967117" y="3386938"/>
            <a:ext cx="109728" cy="109728"/>
          </a:xfrm>
          <a:prstGeom prst="ellipse">
            <a:avLst/>
          </a:prstGeom>
          <a:solidFill>
            <a:srgbClr val="2DD4BF"/>
          </a:solidFill>
          <a:ln w="9525">
            <a:solidFill>
              <a:srgbClr val="0B1220"/>
            </a:solidFill>
            <a:prstDash val="solid"/>
          </a:ln>
        </p:spPr>
      </p:sp>
      <p:sp>
        <p:nvSpPr>
          <p:cNvPr id="78" name="Text 75"/>
          <p:cNvSpPr txBox="1"/>
          <p:nvPr/>
        </p:nvSpPr>
        <p:spPr>
          <a:xfrm>
            <a:off x="4701941"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dic</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25</a:t>
            </a:r>
            <a:endParaRPr lang="en-US" sz="750" dirty="0"/>
          </a:p>
        </p:txBody>
      </p:sp>
      <p:sp>
        <p:nvSpPr>
          <p:cNvPr id="79" name="Text 76"/>
          <p:cNvSpPr txBox="1"/>
          <p:nvPr/>
        </p:nvSpPr>
        <p:spPr>
          <a:xfrm>
            <a:off x="4747661" y="3514954"/>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9,2</a:t>
            </a:r>
            <a:endParaRPr lang="en-US" sz="750" dirty="0"/>
          </a:p>
        </p:txBody>
      </p:sp>
      <p:sp>
        <p:nvSpPr>
          <p:cNvPr id="80" name="Shape 77"/>
          <p:cNvSpPr/>
          <p:nvPr/>
        </p:nvSpPr>
        <p:spPr>
          <a:xfrm>
            <a:off x="5328064" y="3378525"/>
            <a:ext cx="109728" cy="109728"/>
          </a:xfrm>
          <a:prstGeom prst="ellipse">
            <a:avLst/>
          </a:prstGeom>
          <a:solidFill>
            <a:srgbClr val="2DD4BF"/>
          </a:solidFill>
          <a:ln w="9525">
            <a:solidFill>
              <a:srgbClr val="0B1220"/>
            </a:solidFill>
            <a:prstDash val="solid"/>
          </a:ln>
        </p:spPr>
      </p:sp>
      <p:sp>
        <p:nvSpPr>
          <p:cNvPr id="81" name="Text 78"/>
          <p:cNvSpPr txBox="1"/>
          <p:nvPr/>
        </p:nvSpPr>
        <p:spPr>
          <a:xfrm>
            <a:off x="5062888"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ene</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82" name="Text 79"/>
          <p:cNvSpPr txBox="1"/>
          <p:nvPr/>
        </p:nvSpPr>
        <p:spPr>
          <a:xfrm>
            <a:off x="5108608" y="3131637"/>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9,2</a:t>
            </a:r>
            <a:endParaRPr lang="en-US" sz="750" dirty="0"/>
          </a:p>
        </p:txBody>
      </p:sp>
      <p:sp>
        <p:nvSpPr>
          <p:cNvPr id="83" name="Shape 80"/>
          <p:cNvSpPr/>
          <p:nvPr/>
        </p:nvSpPr>
        <p:spPr>
          <a:xfrm>
            <a:off x="5689012" y="3889583"/>
            <a:ext cx="109728" cy="109728"/>
          </a:xfrm>
          <a:prstGeom prst="ellipse">
            <a:avLst/>
          </a:prstGeom>
          <a:solidFill>
            <a:srgbClr val="2DD4BF"/>
          </a:solidFill>
          <a:ln w="9525">
            <a:solidFill>
              <a:srgbClr val="0B1220"/>
            </a:solidFill>
            <a:prstDash val="solid"/>
          </a:ln>
        </p:spPr>
      </p:sp>
      <p:sp>
        <p:nvSpPr>
          <p:cNvPr id="84" name="Text 81"/>
          <p:cNvSpPr txBox="1"/>
          <p:nvPr/>
        </p:nvSpPr>
        <p:spPr>
          <a:xfrm>
            <a:off x="5423836"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feb</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85" name="Text 82"/>
          <p:cNvSpPr txBox="1"/>
          <p:nvPr/>
        </p:nvSpPr>
        <p:spPr>
          <a:xfrm>
            <a:off x="5469556" y="4017599"/>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6,8</a:t>
            </a:r>
            <a:endParaRPr lang="en-US" sz="750" dirty="0"/>
          </a:p>
        </p:txBody>
      </p:sp>
      <p:sp>
        <p:nvSpPr>
          <p:cNvPr id="86" name="Shape 83"/>
          <p:cNvSpPr/>
          <p:nvPr/>
        </p:nvSpPr>
        <p:spPr>
          <a:xfrm>
            <a:off x="6049959" y="3569909"/>
            <a:ext cx="109728" cy="109728"/>
          </a:xfrm>
          <a:prstGeom prst="ellipse">
            <a:avLst/>
          </a:prstGeom>
          <a:solidFill>
            <a:srgbClr val="2DD4BF"/>
          </a:solidFill>
          <a:ln w="9525">
            <a:solidFill>
              <a:srgbClr val="0B1220"/>
            </a:solidFill>
            <a:prstDash val="solid"/>
          </a:ln>
        </p:spPr>
      </p:sp>
      <p:sp>
        <p:nvSpPr>
          <p:cNvPr id="87" name="Text 84"/>
          <p:cNvSpPr txBox="1"/>
          <p:nvPr/>
        </p:nvSpPr>
        <p:spPr>
          <a:xfrm>
            <a:off x="5784783"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mar</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88" name="Text 85"/>
          <p:cNvSpPr txBox="1"/>
          <p:nvPr/>
        </p:nvSpPr>
        <p:spPr>
          <a:xfrm>
            <a:off x="5830503" y="3323021"/>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8,3</a:t>
            </a:r>
            <a:endParaRPr lang="en-US" sz="750" dirty="0"/>
          </a:p>
        </p:txBody>
      </p:sp>
      <p:sp>
        <p:nvSpPr>
          <p:cNvPr id="89" name="Shape 86"/>
          <p:cNvSpPr/>
          <p:nvPr/>
        </p:nvSpPr>
        <p:spPr>
          <a:xfrm>
            <a:off x="6410907" y="4112514"/>
            <a:ext cx="109728" cy="109728"/>
          </a:xfrm>
          <a:prstGeom prst="ellipse">
            <a:avLst/>
          </a:prstGeom>
          <a:solidFill>
            <a:srgbClr val="2DD4BF"/>
          </a:solidFill>
          <a:ln w="9525">
            <a:solidFill>
              <a:srgbClr val="0B1220"/>
            </a:solidFill>
            <a:prstDash val="solid"/>
          </a:ln>
        </p:spPr>
      </p:sp>
      <p:sp>
        <p:nvSpPr>
          <p:cNvPr id="90" name="Text 87"/>
          <p:cNvSpPr txBox="1"/>
          <p:nvPr/>
        </p:nvSpPr>
        <p:spPr>
          <a:xfrm>
            <a:off x="6145731"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abr</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91" name="Text 88"/>
          <p:cNvSpPr txBox="1"/>
          <p:nvPr/>
        </p:nvSpPr>
        <p:spPr>
          <a:xfrm>
            <a:off x="6191451" y="4240530"/>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5,8</a:t>
            </a:r>
            <a:endParaRPr lang="en-US" sz="750" dirty="0"/>
          </a:p>
        </p:txBody>
      </p:sp>
      <p:sp>
        <p:nvSpPr>
          <p:cNvPr id="92" name="Shape 89"/>
          <p:cNvSpPr/>
          <p:nvPr/>
        </p:nvSpPr>
        <p:spPr>
          <a:xfrm>
            <a:off x="6771854" y="4434291"/>
            <a:ext cx="109728" cy="109728"/>
          </a:xfrm>
          <a:prstGeom prst="ellipse">
            <a:avLst/>
          </a:prstGeom>
          <a:solidFill>
            <a:srgbClr val="2DD4BF"/>
          </a:solidFill>
          <a:ln w="9525">
            <a:solidFill>
              <a:srgbClr val="0B1220"/>
            </a:solidFill>
            <a:prstDash val="solid"/>
          </a:ln>
        </p:spPr>
      </p:sp>
      <p:sp>
        <p:nvSpPr>
          <p:cNvPr id="93" name="Text 90"/>
          <p:cNvSpPr txBox="1"/>
          <p:nvPr/>
        </p:nvSpPr>
        <p:spPr>
          <a:xfrm>
            <a:off x="6506678"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may</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94" name="Text 91"/>
          <p:cNvSpPr txBox="1"/>
          <p:nvPr/>
        </p:nvSpPr>
        <p:spPr>
          <a:xfrm>
            <a:off x="6552398" y="4562307"/>
            <a:ext cx="548640" cy="201168"/>
          </a:xfrm>
          <a:prstGeom prst="rect">
            <a:avLst/>
          </a:prstGeom>
          <a:noFill/>
          <a:ln/>
        </p:spPr>
        <p:txBody>
          <a:bodyPr wrap="square" lIns="0" tIns="0" rIns="0" bIns="0" rtlCol="0" anchor="ctr"/>
          <a:lstStyle/>
          <a:p>
            <a:pPr algn="ctr" indent="0" marL="0">
              <a:buNone/>
            </a:pPr>
            <a:r>
              <a:rPr lang="en-US" sz="750" dirty="0">
                <a:solidFill>
                  <a:srgbClr val="BCCDE8"/>
                </a:solidFill>
                <a:latin typeface="Arial" pitchFamily="34" charset="0"/>
                <a:ea typeface="Arial" pitchFamily="34" charset="-122"/>
                <a:cs typeface="Arial" pitchFamily="34" charset="-120"/>
              </a:rPr>
              <a:t>4,2</a:t>
            </a:r>
            <a:endParaRPr lang="en-US" sz="750" dirty="0"/>
          </a:p>
        </p:txBody>
      </p:sp>
      <p:sp>
        <p:nvSpPr>
          <p:cNvPr id="95" name="Shape 92"/>
          <p:cNvSpPr/>
          <p:nvPr/>
        </p:nvSpPr>
        <p:spPr>
          <a:xfrm>
            <a:off x="7132801" y="4968484"/>
            <a:ext cx="109728" cy="109728"/>
          </a:xfrm>
          <a:prstGeom prst="ellipse">
            <a:avLst/>
          </a:prstGeom>
          <a:solidFill>
            <a:srgbClr val="34D399"/>
          </a:solidFill>
          <a:ln w="9525">
            <a:solidFill>
              <a:srgbClr val="0B1220"/>
            </a:solidFill>
            <a:prstDash val="solid"/>
          </a:ln>
        </p:spPr>
      </p:sp>
      <p:sp>
        <p:nvSpPr>
          <p:cNvPr id="96" name="Text 93"/>
          <p:cNvSpPr txBox="1"/>
          <p:nvPr/>
        </p:nvSpPr>
        <p:spPr>
          <a:xfrm>
            <a:off x="6867625"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jun</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97" name="Text 94"/>
          <p:cNvSpPr txBox="1"/>
          <p:nvPr/>
        </p:nvSpPr>
        <p:spPr>
          <a:xfrm>
            <a:off x="6913345" y="4721596"/>
            <a:ext cx="548640" cy="201168"/>
          </a:xfrm>
          <a:prstGeom prst="rect">
            <a:avLst/>
          </a:prstGeom>
          <a:noFill/>
          <a:ln/>
        </p:spPr>
        <p:txBody>
          <a:bodyPr wrap="square" lIns="0" tIns="0" rIns="0" bIns="0" rtlCol="0" anchor="ctr"/>
          <a:lstStyle/>
          <a:p>
            <a:pPr algn="ctr" indent="0" marL="0">
              <a:buNone/>
            </a:pPr>
            <a:r>
              <a:rPr lang="en-US" sz="750" b="1" dirty="0">
                <a:solidFill>
                  <a:srgbClr val="34D399"/>
                </a:solidFill>
                <a:latin typeface="Arial" pitchFamily="34" charset="0"/>
                <a:ea typeface="Arial" pitchFamily="34" charset="-122"/>
                <a:cs typeface="Arial" pitchFamily="34" charset="-120"/>
              </a:rPr>
              <a:t>1,7</a:t>
            </a:r>
            <a:endParaRPr lang="en-US" sz="750" dirty="0"/>
          </a:p>
        </p:txBody>
      </p:sp>
      <p:sp>
        <p:nvSpPr>
          <p:cNvPr id="98" name="Shape 95"/>
          <p:cNvSpPr/>
          <p:nvPr/>
        </p:nvSpPr>
        <p:spPr>
          <a:xfrm>
            <a:off x="7493749" y="5185105"/>
            <a:ext cx="109728" cy="109728"/>
          </a:xfrm>
          <a:prstGeom prst="ellipse">
            <a:avLst/>
          </a:prstGeom>
          <a:solidFill>
            <a:srgbClr val="34D399"/>
          </a:solidFill>
          <a:ln w="9525">
            <a:solidFill>
              <a:srgbClr val="0B1220"/>
            </a:solidFill>
            <a:prstDash val="solid"/>
          </a:ln>
        </p:spPr>
      </p:sp>
      <p:sp>
        <p:nvSpPr>
          <p:cNvPr id="99" name="Text 96"/>
          <p:cNvSpPr txBox="1"/>
          <p:nvPr/>
        </p:nvSpPr>
        <p:spPr>
          <a:xfrm>
            <a:off x="7228573"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jul</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100" name="Text 97"/>
          <p:cNvSpPr txBox="1"/>
          <p:nvPr/>
        </p:nvSpPr>
        <p:spPr>
          <a:xfrm>
            <a:off x="7274293" y="4938217"/>
            <a:ext cx="548640" cy="201168"/>
          </a:xfrm>
          <a:prstGeom prst="rect">
            <a:avLst/>
          </a:prstGeom>
          <a:noFill/>
          <a:ln/>
        </p:spPr>
        <p:txBody>
          <a:bodyPr wrap="square" lIns="0" tIns="0" rIns="0" bIns="0" rtlCol="0" anchor="ctr"/>
          <a:lstStyle/>
          <a:p>
            <a:pPr algn="ctr" indent="0" marL="0">
              <a:buNone/>
            </a:pPr>
            <a:r>
              <a:rPr lang="en-US" sz="750" b="1" dirty="0">
                <a:solidFill>
                  <a:srgbClr val="34D399"/>
                </a:solidFill>
                <a:latin typeface="Arial" pitchFamily="34" charset="0"/>
                <a:ea typeface="Arial" pitchFamily="34" charset="-122"/>
                <a:cs typeface="Arial" pitchFamily="34" charset="-120"/>
              </a:rPr>
              <a:t>0,7</a:t>
            </a:r>
            <a:endParaRPr lang="en-US" sz="750" dirty="0"/>
          </a:p>
        </p:txBody>
      </p:sp>
      <p:sp>
        <p:nvSpPr>
          <p:cNvPr id="101" name="Shape 98"/>
          <p:cNvSpPr/>
          <p:nvPr/>
        </p:nvSpPr>
        <p:spPr>
          <a:xfrm>
            <a:off x="7854696" y="5044196"/>
            <a:ext cx="109728" cy="109728"/>
          </a:xfrm>
          <a:prstGeom prst="ellipse">
            <a:avLst/>
          </a:prstGeom>
          <a:solidFill>
            <a:srgbClr val="34D399"/>
          </a:solidFill>
          <a:ln w="9525">
            <a:solidFill>
              <a:srgbClr val="0B1220"/>
            </a:solidFill>
            <a:prstDash val="solid"/>
          </a:ln>
        </p:spPr>
      </p:sp>
      <p:sp>
        <p:nvSpPr>
          <p:cNvPr id="102" name="Text 99"/>
          <p:cNvSpPr txBox="1"/>
          <p:nvPr/>
        </p:nvSpPr>
        <p:spPr>
          <a:xfrm>
            <a:off x="7589520" y="5431536"/>
            <a:ext cx="640080" cy="201168"/>
          </a:xfrm>
          <a:prstGeom prst="rect">
            <a:avLst/>
          </a:prstGeom>
          <a:noFill/>
          <a:ln/>
        </p:spPr>
        <p:txBody>
          <a:bodyPr wrap="square" lIns="0" tIns="0" rIns="0" bIns="0" rtlCol="0" anchor="ctr"/>
          <a:lstStyle/>
          <a:p>
            <a:pPr algn="ctr" indent="0" marL="0">
              <a:buNone/>
            </a:pPr>
            <a:r>
              <a:rPr lang="en-US" sz="750" dirty="0">
                <a:solidFill>
                  <a:srgbClr val="94AACC"/>
                </a:solidFill>
                <a:latin typeface="Arial" pitchFamily="34" charset="0"/>
                <a:ea typeface="Arial" pitchFamily="34" charset="-122"/>
                <a:cs typeface="Arial" pitchFamily="34" charset="-120"/>
              </a:rPr>
              <a:t>ago</a:t>
            </a:r>
            <a:endParaRPr lang="en-US" sz="750" dirty="0"/>
          </a:p>
          <a:p>
            <a:pPr algn="ctr" indent="0" marL="0">
              <a:buNone/>
            </a:pPr>
            <a:r>
              <a:rPr lang="en-US" sz="750" dirty="0">
                <a:solidFill>
                  <a:srgbClr val="94AACC"/>
                </a:solidFill>
                <a:latin typeface="Arial" pitchFamily="34" charset="0"/>
                <a:ea typeface="Arial" pitchFamily="34" charset="-122"/>
                <a:cs typeface="Arial" pitchFamily="34" charset="-120"/>
              </a:rPr>
              <a:t>26</a:t>
            </a:r>
            <a:endParaRPr lang="en-US" sz="750" dirty="0"/>
          </a:p>
        </p:txBody>
      </p:sp>
      <p:sp>
        <p:nvSpPr>
          <p:cNvPr id="103" name="Text 100"/>
          <p:cNvSpPr txBox="1"/>
          <p:nvPr/>
        </p:nvSpPr>
        <p:spPr>
          <a:xfrm>
            <a:off x="7635240" y="4797308"/>
            <a:ext cx="548640" cy="201168"/>
          </a:xfrm>
          <a:prstGeom prst="rect">
            <a:avLst/>
          </a:prstGeom>
          <a:noFill/>
          <a:ln/>
        </p:spPr>
        <p:txBody>
          <a:bodyPr wrap="square" lIns="0" tIns="0" rIns="0" bIns="0" rtlCol="0" anchor="ctr"/>
          <a:lstStyle/>
          <a:p>
            <a:pPr algn="ctr" indent="0" marL="0">
              <a:buNone/>
            </a:pPr>
            <a:r>
              <a:rPr lang="en-US" sz="750" b="1" dirty="0">
                <a:solidFill>
                  <a:srgbClr val="34D399"/>
                </a:solidFill>
                <a:latin typeface="Arial" pitchFamily="34" charset="0"/>
                <a:ea typeface="Arial" pitchFamily="34" charset="-122"/>
                <a:cs typeface="Arial" pitchFamily="34" charset="-120"/>
              </a:rPr>
              <a:t>1,3</a:t>
            </a:r>
            <a:endParaRPr lang="en-US" sz="750" dirty="0"/>
          </a:p>
        </p:txBody>
      </p:sp>
      <p:sp>
        <p:nvSpPr>
          <p:cNvPr id="104" name="Shape 101"/>
          <p:cNvSpPr/>
          <p:nvPr/>
        </p:nvSpPr>
        <p:spPr>
          <a:xfrm>
            <a:off x="8275320" y="1691640"/>
            <a:ext cx="3401568" cy="1298448"/>
          </a:xfrm>
          <a:prstGeom prst="roundRect">
            <a:avLst>
              <a:gd name="adj" fmla="val 5634"/>
            </a:avLst>
          </a:prstGeom>
          <a:solidFill>
            <a:srgbClr val="0F1930"/>
          </a:solidFill>
          <a:ln w="15875">
            <a:solidFill>
              <a:srgbClr val="34D399"/>
            </a:solidFill>
            <a:prstDash val="solid"/>
          </a:ln>
        </p:spPr>
      </p:sp>
      <p:sp>
        <p:nvSpPr>
          <p:cNvPr id="105" name="Text 102"/>
          <p:cNvSpPr txBox="1"/>
          <p:nvPr/>
        </p:nvSpPr>
        <p:spPr>
          <a:xfrm>
            <a:off x="8430768" y="1801368"/>
            <a:ext cx="3090672" cy="445770"/>
          </a:xfrm>
          <a:prstGeom prst="rect">
            <a:avLst/>
          </a:prstGeom>
          <a:noFill/>
          <a:ln/>
        </p:spPr>
        <p:txBody>
          <a:bodyPr wrap="square" lIns="0" tIns="0" rIns="0" bIns="0" rtlCol="0" anchor="ctr"/>
          <a:lstStyle/>
          <a:p>
            <a:pPr algn="l" indent="0" marL="0">
              <a:buNone/>
            </a:pPr>
            <a:r>
              <a:rPr lang="en-US" sz="2600" b="1" dirty="0">
                <a:solidFill>
                  <a:srgbClr val="34D399"/>
                </a:solidFill>
                <a:latin typeface="Arial" pitchFamily="34" charset="0"/>
                <a:ea typeface="Arial" pitchFamily="34" charset="-122"/>
                <a:cs typeface="Arial" pitchFamily="34" charset="-120"/>
              </a:rPr>
              <a:t>3 meses</a:t>
            </a:r>
            <a:endParaRPr lang="en-US" sz="2600" dirty="0"/>
          </a:p>
        </p:txBody>
      </p:sp>
      <p:sp>
        <p:nvSpPr>
          <p:cNvPr id="106" name="Text 103"/>
          <p:cNvSpPr txBox="1"/>
          <p:nvPr/>
        </p:nvSpPr>
        <p:spPr>
          <a:xfrm>
            <a:off x="8430768" y="226542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BAJO −3σ · JUN, JUL Y AGO 2026</a:t>
            </a:r>
            <a:endParaRPr lang="en-US" sz="850" dirty="0"/>
          </a:p>
        </p:txBody>
      </p:sp>
      <p:sp>
        <p:nvSpPr>
          <p:cNvPr id="107" name="Text 104"/>
          <p:cNvSpPr txBox="1"/>
          <p:nvPr/>
        </p:nvSpPr>
        <p:spPr>
          <a:xfrm>
            <a:off x="8430768" y="2503170"/>
            <a:ext cx="30906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1,68 % · 0,65 % · 1,32 % frente a límites inferiores de 2,84 · 2,36 · 2,29 %</a:t>
            </a:r>
            <a:endParaRPr lang="en-US" sz="1000" dirty="0"/>
          </a:p>
        </p:txBody>
      </p:sp>
      <p:sp>
        <p:nvSpPr>
          <p:cNvPr id="108" name="Shape 105"/>
          <p:cNvSpPr/>
          <p:nvPr/>
        </p:nvSpPr>
        <p:spPr>
          <a:xfrm>
            <a:off x="8275320" y="3099816"/>
            <a:ext cx="3401568" cy="1298448"/>
          </a:xfrm>
          <a:prstGeom prst="roundRect">
            <a:avLst>
              <a:gd name="adj" fmla="val 5634"/>
            </a:avLst>
          </a:prstGeom>
          <a:solidFill>
            <a:srgbClr val="0F1930"/>
          </a:solidFill>
          <a:ln w="9525">
            <a:solidFill>
              <a:srgbClr val="22304A"/>
            </a:solidFill>
            <a:prstDash val="solid"/>
          </a:ln>
        </p:spPr>
      </p:sp>
      <p:sp>
        <p:nvSpPr>
          <p:cNvPr id="109" name="Text 106"/>
          <p:cNvSpPr txBox="1"/>
          <p:nvPr/>
        </p:nvSpPr>
        <p:spPr>
          <a:xfrm>
            <a:off x="8430768" y="3209544"/>
            <a:ext cx="3090672" cy="445770"/>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1,23 %</a:t>
            </a:r>
            <a:endParaRPr lang="en-US" sz="2600" dirty="0"/>
          </a:p>
        </p:txBody>
      </p:sp>
      <p:sp>
        <p:nvSpPr>
          <p:cNvPr id="110" name="Text 107"/>
          <p:cNvSpPr txBox="1"/>
          <p:nvPr/>
        </p:nvSpPr>
        <p:spPr>
          <a:xfrm>
            <a:off x="8430768" y="3673602"/>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TRIMESTRE JUN–AGO 2026</a:t>
            </a:r>
            <a:endParaRPr lang="en-US" sz="850" dirty="0"/>
          </a:p>
        </p:txBody>
      </p:sp>
      <p:sp>
        <p:nvSpPr>
          <p:cNvPr id="111" name="Text 108"/>
          <p:cNvSpPr txBox="1"/>
          <p:nvPr/>
        </p:nvSpPr>
        <p:spPr>
          <a:xfrm>
            <a:off x="8430768" y="3911346"/>
            <a:ext cx="30906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6 / 486 · RR 0,14 vs ene-25–may-26 (8,60 %) · Fisher p &lt; 0,0001</a:t>
            </a:r>
            <a:endParaRPr lang="en-US" sz="1000" dirty="0"/>
          </a:p>
        </p:txBody>
      </p:sp>
      <p:sp>
        <p:nvSpPr>
          <p:cNvPr id="112" name="Shape 109"/>
          <p:cNvSpPr/>
          <p:nvPr/>
        </p:nvSpPr>
        <p:spPr>
          <a:xfrm>
            <a:off x="8275320" y="4507992"/>
            <a:ext cx="3401568" cy="1344168"/>
          </a:xfrm>
          <a:prstGeom prst="roundRect">
            <a:avLst>
              <a:gd name="adj" fmla="val 5442"/>
            </a:avLst>
          </a:prstGeom>
          <a:solidFill>
            <a:srgbClr val="0F1930"/>
          </a:solidFill>
          <a:ln w="9525">
            <a:solidFill>
              <a:srgbClr val="22304A"/>
            </a:solidFill>
            <a:prstDash val="solid"/>
          </a:ln>
        </p:spPr>
      </p:sp>
      <p:sp>
        <p:nvSpPr>
          <p:cNvPr id="113" name="Text 110"/>
          <p:cNvSpPr txBox="1"/>
          <p:nvPr/>
        </p:nvSpPr>
        <p:spPr>
          <a:xfrm>
            <a:off x="8430768" y="4617720"/>
            <a:ext cx="3090672" cy="445770"/>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RR 0,11</a:t>
            </a:r>
            <a:endParaRPr lang="en-US" sz="2600" dirty="0"/>
          </a:p>
        </p:txBody>
      </p:sp>
      <p:sp>
        <p:nvSpPr>
          <p:cNvPr id="114" name="Text 111"/>
          <p:cNvSpPr txBox="1"/>
          <p:nvPr/>
        </p:nvSpPr>
        <p:spPr>
          <a:xfrm>
            <a:off x="8430768" y="5081778"/>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VS MISMO TRIMESTRE 2025</a:t>
            </a:r>
            <a:endParaRPr lang="en-US" sz="850" dirty="0"/>
          </a:p>
        </p:txBody>
      </p:sp>
      <p:sp>
        <p:nvSpPr>
          <p:cNvPr id="115" name="Text 112"/>
          <p:cNvSpPr txBox="1"/>
          <p:nvPr/>
        </p:nvSpPr>
        <p:spPr>
          <a:xfrm>
            <a:off x="8430768" y="5319522"/>
            <a:ext cx="3090672" cy="49606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jun–ago 2025: 67 / 587 = 11,41 % · el quiebre de enero 2026 (CUSUM, informe de julio) no se revierte</a:t>
            </a:r>
            <a:endParaRPr lang="en-US" sz="1000" dirty="0"/>
          </a:p>
        </p:txBody>
      </p:sp>
      <p:sp>
        <p:nvSpPr>
          <p:cNvPr id="116" name="Text 113"/>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Puntos verdes: meses bajo el límite inferior. Un mes con numerador de 1–2 casos varía por azar; la evidencia de mejora está en la secuencia jun–ago y en el acumulado. La carta usa la serie homogénea del monitoreo (L–V).</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05  ·  ALGORITMOS · CUSUM Y EWMA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Dónde se quebró la serie y qué esperar en septiembre</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CUSUM: suspensiones acumuladas por debajo de lo esperado a la tasa 2025 · EWMA (λ = 0,3): tasa suavizada que pondera más los meses recientes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06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532120" cy="3246120"/>
          </a:xfrm>
          <a:prstGeom prst="roundRect">
            <a:avLst>
              <a:gd name="adj" fmla="val 2254"/>
            </a:avLst>
          </a:prstGeom>
          <a:solidFill>
            <a:srgbClr val="0F1930"/>
          </a:solidFill>
          <a:ln w="9525">
            <a:solidFill>
              <a:srgbClr val="22304A"/>
            </a:solidFill>
            <a:prstDash val="solid"/>
          </a:ln>
        </p:spPr>
      </p:sp>
      <p:sp>
        <p:nvSpPr>
          <p:cNvPr id="11" name="Text 8"/>
          <p:cNvSpPr txBox="1"/>
          <p:nvPr/>
        </p:nvSpPr>
        <p:spPr>
          <a:xfrm>
            <a:off x="685800" y="1783080"/>
            <a:ext cx="5212080" cy="219456"/>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CUSUM · SUSPENSIONES ACUMULADAS BAJO LO ESPERADO A TASA 2025</a:t>
            </a:r>
            <a:endParaRPr lang="en-US" sz="850" dirty="0"/>
          </a:p>
        </p:txBody>
      </p:sp>
      <p:sp>
        <p:nvSpPr>
          <p:cNvPr id="12" name="Shape 9"/>
          <p:cNvSpPr/>
          <p:nvPr/>
        </p:nvSpPr>
        <p:spPr>
          <a:xfrm>
            <a:off x="1097280" y="4517136"/>
            <a:ext cx="4663440" cy="0"/>
          </a:xfrm>
          <a:prstGeom prst="line">
            <a:avLst/>
          </a:prstGeom>
          <a:noFill/>
          <a:ln w="6350">
            <a:solidFill>
              <a:srgbClr val="22304A"/>
            </a:solidFill>
            <a:prstDash val="solid"/>
          </a:ln>
        </p:spPr>
      </p:sp>
      <p:sp>
        <p:nvSpPr>
          <p:cNvPr id="13" name="Text 10"/>
          <p:cNvSpPr txBox="1"/>
          <p:nvPr/>
        </p:nvSpPr>
        <p:spPr>
          <a:xfrm>
            <a:off x="594360" y="4416552"/>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-10</a:t>
            </a:r>
            <a:endParaRPr lang="en-US" sz="800" dirty="0"/>
          </a:p>
        </p:txBody>
      </p:sp>
      <p:sp>
        <p:nvSpPr>
          <p:cNvPr id="14" name="Shape 11"/>
          <p:cNvSpPr/>
          <p:nvPr/>
        </p:nvSpPr>
        <p:spPr>
          <a:xfrm>
            <a:off x="1097280" y="3936492"/>
            <a:ext cx="4663440" cy="0"/>
          </a:xfrm>
          <a:prstGeom prst="line">
            <a:avLst/>
          </a:prstGeom>
          <a:noFill/>
          <a:ln w="6350">
            <a:solidFill>
              <a:srgbClr val="22304A"/>
            </a:solidFill>
            <a:prstDash val="solid"/>
          </a:ln>
        </p:spPr>
      </p:sp>
      <p:sp>
        <p:nvSpPr>
          <p:cNvPr id="15" name="Text 12"/>
          <p:cNvSpPr txBox="1"/>
          <p:nvPr/>
        </p:nvSpPr>
        <p:spPr>
          <a:xfrm>
            <a:off x="594360" y="3835908"/>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10</a:t>
            </a:r>
            <a:endParaRPr lang="en-US" sz="800" dirty="0"/>
          </a:p>
        </p:txBody>
      </p:sp>
      <p:sp>
        <p:nvSpPr>
          <p:cNvPr id="16" name="Shape 13"/>
          <p:cNvSpPr/>
          <p:nvPr/>
        </p:nvSpPr>
        <p:spPr>
          <a:xfrm>
            <a:off x="1097280" y="3355848"/>
            <a:ext cx="4663440" cy="0"/>
          </a:xfrm>
          <a:prstGeom prst="line">
            <a:avLst/>
          </a:prstGeom>
          <a:noFill/>
          <a:ln w="6350">
            <a:solidFill>
              <a:srgbClr val="22304A"/>
            </a:solidFill>
            <a:prstDash val="solid"/>
          </a:ln>
        </p:spPr>
      </p:sp>
      <p:sp>
        <p:nvSpPr>
          <p:cNvPr id="17" name="Text 14"/>
          <p:cNvSpPr txBox="1"/>
          <p:nvPr/>
        </p:nvSpPr>
        <p:spPr>
          <a:xfrm>
            <a:off x="594360" y="3255264"/>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30</a:t>
            </a:r>
            <a:endParaRPr lang="en-US" sz="800" dirty="0"/>
          </a:p>
        </p:txBody>
      </p:sp>
      <p:sp>
        <p:nvSpPr>
          <p:cNvPr id="18" name="Shape 15"/>
          <p:cNvSpPr/>
          <p:nvPr/>
        </p:nvSpPr>
        <p:spPr>
          <a:xfrm>
            <a:off x="1097280" y="2775204"/>
            <a:ext cx="4663440" cy="0"/>
          </a:xfrm>
          <a:prstGeom prst="line">
            <a:avLst/>
          </a:prstGeom>
          <a:noFill/>
          <a:ln w="6350">
            <a:solidFill>
              <a:srgbClr val="22304A"/>
            </a:solidFill>
            <a:prstDash val="solid"/>
          </a:ln>
        </p:spPr>
      </p:sp>
      <p:sp>
        <p:nvSpPr>
          <p:cNvPr id="19" name="Text 16"/>
          <p:cNvSpPr txBox="1"/>
          <p:nvPr/>
        </p:nvSpPr>
        <p:spPr>
          <a:xfrm>
            <a:off x="594360" y="2674620"/>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50</a:t>
            </a:r>
            <a:endParaRPr lang="en-US" sz="800" dirty="0"/>
          </a:p>
        </p:txBody>
      </p:sp>
      <p:sp>
        <p:nvSpPr>
          <p:cNvPr id="20" name="Shape 17"/>
          <p:cNvSpPr/>
          <p:nvPr/>
        </p:nvSpPr>
        <p:spPr>
          <a:xfrm>
            <a:off x="1097280" y="2194560"/>
            <a:ext cx="4663440" cy="0"/>
          </a:xfrm>
          <a:prstGeom prst="line">
            <a:avLst/>
          </a:prstGeom>
          <a:noFill/>
          <a:ln w="6350">
            <a:solidFill>
              <a:srgbClr val="22304A"/>
            </a:solidFill>
            <a:prstDash val="solid"/>
          </a:ln>
        </p:spPr>
      </p:sp>
      <p:sp>
        <p:nvSpPr>
          <p:cNvPr id="21" name="Text 18"/>
          <p:cNvSpPr txBox="1"/>
          <p:nvPr/>
        </p:nvSpPr>
        <p:spPr>
          <a:xfrm>
            <a:off x="594360" y="2093976"/>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70</a:t>
            </a:r>
            <a:endParaRPr lang="en-US" sz="800" dirty="0"/>
          </a:p>
        </p:txBody>
      </p:sp>
      <p:sp>
        <p:nvSpPr>
          <p:cNvPr id="22" name="Shape 19"/>
          <p:cNvSpPr/>
          <p:nvPr/>
        </p:nvSpPr>
        <p:spPr>
          <a:xfrm>
            <a:off x="1097280" y="4226814"/>
            <a:ext cx="4663440" cy="0"/>
          </a:xfrm>
          <a:prstGeom prst="line">
            <a:avLst/>
          </a:prstGeom>
          <a:noFill/>
          <a:ln w="12700">
            <a:solidFill>
              <a:srgbClr val="94AACC"/>
            </a:solidFill>
            <a:prstDash val="dash"/>
          </a:ln>
        </p:spPr>
      </p:sp>
      <p:sp>
        <p:nvSpPr>
          <p:cNvPr id="23" name="Text 20"/>
          <p:cNvSpPr txBox="1"/>
          <p:nvPr/>
        </p:nvSpPr>
        <p:spPr>
          <a:xfrm>
            <a:off x="73152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4" name="Text 21"/>
          <p:cNvSpPr txBox="1"/>
          <p:nvPr/>
        </p:nvSpPr>
        <p:spPr>
          <a:xfrm>
            <a:off x="1222408"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5" name="Text 22"/>
          <p:cNvSpPr txBox="1"/>
          <p:nvPr/>
        </p:nvSpPr>
        <p:spPr>
          <a:xfrm>
            <a:off x="1713297"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6" name="Text 23"/>
          <p:cNvSpPr txBox="1"/>
          <p:nvPr/>
        </p:nvSpPr>
        <p:spPr>
          <a:xfrm>
            <a:off x="2204185"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7" name="Text 24"/>
          <p:cNvSpPr txBox="1"/>
          <p:nvPr/>
        </p:nvSpPr>
        <p:spPr>
          <a:xfrm>
            <a:off x="2695074"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sep</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8" name="Text 25"/>
          <p:cNvSpPr txBox="1"/>
          <p:nvPr/>
        </p:nvSpPr>
        <p:spPr>
          <a:xfrm>
            <a:off x="3185962"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nov</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29" name="Text 26"/>
          <p:cNvSpPr txBox="1"/>
          <p:nvPr/>
        </p:nvSpPr>
        <p:spPr>
          <a:xfrm>
            <a:off x="3676851"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30" name="Text 27"/>
          <p:cNvSpPr txBox="1"/>
          <p:nvPr/>
        </p:nvSpPr>
        <p:spPr>
          <a:xfrm>
            <a:off x="4167739"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31" name="Text 28"/>
          <p:cNvSpPr txBox="1"/>
          <p:nvPr/>
        </p:nvSpPr>
        <p:spPr>
          <a:xfrm>
            <a:off x="4658627"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32" name="Text 29"/>
          <p:cNvSpPr txBox="1"/>
          <p:nvPr/>
        </p:nvSpPr>
        <p:spPr>
          <a:xfrm>
            <a:off x="5149516"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33" name="Shape 30"/>
          <p:cNvSpPr/>
          <p:nvPr/>
        </p:nvSpPr>
        <p:spPr>
          <a:xfrm flipV="1">
            <a:off x="1097280" y="4093266"/>
            <a:ext cx="245444" cy="17419"/>
          </a:xfrm>
          <a:prstGeom prst="line">
            <a:avLst/>
          </a:prstGeom>
          <a:noFill/>
          <a:ln w="28575">
            <a:solidFill>
              <a:srgbClr val="2DD4BF"/>
            </a:solidFill>
            <a:prstDash val="solid"/>
          </a:ln>
        </p:spPr>
      </p:sp>
      <p:sp>
        <p:nvSpPr>
          <p:cNvPr id="34" name="Shape 31"/>
          <p:cNvSpPr/>
          <p:nvPr/>
        </p:nvSpPr>
        <p:spPr>
          <a:xfrm flipV="1">
            <a:off x="1342724" y="3997460"/>
            <a:ext cx="245444" cy="95806"/>
          </a:xfrm>
          <a:prstGeom prst="line">
            <a:avLst/>
          </a:prstGeom>
          <a:noFill/>
          <a:ln w="28575">
            <a:solidFill>
              <a:srgbClr val="2DD4BF"/>
            </a:solidFill>
            <a:prstDash val="solid"/>
          </a:ln>
        </p:spPr>
      </p:sp>
      <p:sp>
        <p:nvSpPr>
          <p:cNvPr id="35" name="Shape 32"/>
          <p:cNvSpPr/>
          <p:nvPr/>
        </p:nvSpPr>
        <p:spPr>
          <a:xfrm>
            <a:off x="1588168" y="3997460"/>
            <a:ext cx="245444" cy="87097"/>
          </a:xfrm>
          <a:prstGeom prst="line">
            <a:avLst/>
          </a:prstGeom>
          <a:noFill/>
          <a:ln w="28575">
            <a:solidFill>
              <a:srgbClr val="2DD4BF"/>
            </a:solidFill>
            <a:prstDash val="solid"/>
          </a:ln>
        </p:spPr>
      </p:sp>
      <p:sp>
        <p:nvSpPr>
          <p:cNvPr id="36" name="Shape 33"/>
          <p:cNvSpPr/>
          <p:nvPr/>
        </p:nvSpPr>
        <p:spPr>
          <a:xfrm flipV="1">
            <a:off x="1833613" y="4055524"/>
            <a:ext cx="245444" cy="29032"/>
          </a:xfrm>
          <a:prstGeom prst="line">
            <a:avLst/>
          </a:prstGeom>
          <a:noFill/>
          <a:ln w="28575">
            <a:solidFill>
              <a:srgbClr val="2DD4BF"/>
            </a:solidFill>
            <a:prstDash val="solid"/>
          </a:ln>
        </p:spPr>
      </p:sp>
      <p:sp>
        <p:nvSpPr>
          <p:cNvPr id="37" name="Shape 34"/>
          <p:cNvSpPr/>
          <p:nvPr/>
        </p:nvSpPr>
        <p:spPr>
          <a:xfrm flipV="1">
            <a:off x="2079057" y="4011976"/>
            <a:ext cx="245444" cy="43548"/>
          </a:xfrm>
          <a:prstGeom prst="line">
            <a:avLst/>
          </a:prstGeom>
          <a:noFill/>
          <a:ln w="28575">
            <a:solidFill>
              <a:srgbClr val="2DD4BF"/>
            </a:solidFill>
            <a:prstDash val="solid"/>
          </a:ln>
        </p:spPr>
      </p:sp>
      <p:sp>
        <p:nvSpPr>
          <p:cNvPr id="38" name="Shape 35"/>
          <p:cNvSpPr/>
          <p:nvPr/>
        </p:nvSpPr>
        <p:spPr>
          <a:xfrm>
            <a:off x="2324501" y="4011976"/>
            <a:ext cx="245444" cy="240967"/>
          </a:xfrm>
          <a:prstGeom prst="line">
            <a:avLst/>
          </a:prstGeom>
          <a:noFill/>
          <a:ln w="28575">
            <a:solidFill>
              <a:srgbClr val="2DD4BF"/>
            </a:solidFill>
            <a:prstDash val="solid"/>
          </a:ln>
        </p:spPr>
      </p:sp>
      <p:sp>
        <p:nvSpPr>
          <p:cNvPr id="39" name="Shape 36"/>
          <p:cNvSpPr/>
          <p:nvPr/>
        </p:nvSpPr>
        <p:spPr>
          <a:xfrm>
            <a:off x="2569945" y="4252943"/>
            <a:ext cx="245444" cy="150967"/>
          </a:xfrm>
          <a:prstGeom prst="line">
            <a:avLst/>
          </a:prstGeom>
          <a:noFill/>
          <a:ln w="28575">
            <a:solidFill>
              <a:srgbClr val="2DD4BF"/>
            </a:solidFill>
            <a:prstDash val="solid"/>
          </a:ln>
        </p:spPr>
      </p:sp>
      <p:sp>
        <p:nvSpPr>
          <p:cNvPr id="40" name="Shape 37"/>
          <p:cNvSpPr/>
          <p:nvPr/>
        </p:nvSpPr>
        <p:spPr>
          <a:xfrm flipV="1">
            <a:off x="2815389" y="4319717"/>
            <a:ext cx="245444" cy="84193"/>
          </a:xfrm>
          <a:prstGeom prst="line">
            <a:avLst/>
          </a:prstGeom>
          <a:noFill/>
          <a:ln w="28575">
            <a:solidFill>
              <a:srgbClr val="2DD4BF"/>
            </a:solidFill>
            <a:prstDash val="solid"/>
          </a:ln>
        </p:spPr>
      </p:sp>
      <p:sp>
        <p:nvSpPr>
          <p:cNvPr id="41" name="Shape 38"/>
          <p:cNvSpPr/>
          <p:nvPr/>
        </p:nvSpPr>
        <p:spPr>
          <a:xfrm flipV="1">
            <a:off x="3060834" y="4186169"/>
            <a:ext cx="245444" cy="133548"/>
          </a:xfrm>
          <a:prstGeom prst="line">
            <a:avLst/>
          </a:prstGeom>
          <a:noFill/>
          <a:ln w="28575">
            <a:solidFill>
              <a:srgbClr val="2DD4BF"/>
            </a:solidFill>
            <a:prstDash val="solid"/>
          </a:ln>
        </p:spPr>
      </p:sp>
      <p:sp>
        <p:nvSpPr>
          <p:cNvPr id="42" name="Shape 39"/>
          <p:cNvSpPr/>
          <p:nvPr/>
        </p:nvSpPr>
        <p:spPr>
          <a:xfrm>
            <a:off x="3306278" y="4186169"/>
            <a:ext cx="245444" cy="49355"/>
          </a:xfrm>
          <a:prstGeom prst="line">
            <a:avLst/>
          </a:prstGeom>
          <a:noFill/>
          <a:ln w="28575">
            <a:solidFill>
              <a:srgbClr val="2DD4BF"/>
            </a:solidFill>
            <a:prstDash val="solid"/>
          </a:ln>
        </p:spPr>
      </p:sp>
      <p:sp>
        <p:nvSpPr>
          <p:cNvPr id="43" name="Shape 40"/>
          <p:cNvSpPr/>
          <p:nvPr/>
        </p:nvSpPr>
        <p:spPr>
          <a:xfrm flipV="1">
            <a:off x="3551722" y="4226814"/>
            <a:ext cx="245444" cy="8710"/>
          </a:xfrm>
          <a:prstGeom prst="line">
            <a:avLst/>
          </a:prstGeom>
          <a:noFill/>
          <a:ln w="28575">
            <a:solidFill>
              <a:srgbClr val="2DD4BF"/>
            </a:solidFill>
            <a:prstDash val="solid"/>
          </a:ln>
        </p:spPr>
      </p:sp>
      <p:sp>
        <p:nvSpPr>
          <p:cNvPr id="44" name="Shape 41"/>
          <p:cNvSpPr/>
          <p:nvPr/>
        </p:nvSpPr>
        <p:spPr>
          <a:xfrm flipV="1">
            <a:off x="3797166" y="4218104"/>
            <a:ext cx="245444" cy="8710"/>
          </a:xfrm>
          <a:prstGeom prst="line">
            <a:avLst/>
          </a:prstGeom>
          <a:noFill/>
          <a:ln w="28575">
            <a:solidFill>
              <a:srgbClr val="2DD4BF"/>
            </a:solidFill>
            <a:prstDash val="solid"/>
          </a:ln>
        </p:spPr>
      </p:sp>
      <p:sp>
        <p:nvSpPr>
          <p:cNvPr id="45" name="Shape 42"/>
          <p:cNvSpPr/>
          <p:nvPr/>
        </p:nvSpPr>
        <p:spPr>
          <a:xfrm flipV="1">
            <a:off x="4042611" y="4075847"/>
            <a:ext cx="245444" cy="142258"/>
          </a:xfrm>
          <a:prstGeom prst="line">
            <a:avLst/>
          </a:prstGeom>
          <a:noFill/>
          <a:ln w="28575">
            <a:solidFill>
              <a:srgbClr val="2DD4BF"/>
            </a:solidFill>
            <a:prstDash val="solid"/>
          </a:ln>
        </p:spPr>
      </p:sp>
      <p:sp>
        <p:nvSpPr>
          <p:cNvPr id="46" name="Shape 43"/>
          <p:cNvSpPr/>
          <p:nvPr/>
        </p:nvSpPr>
        <p:spPr>
          <a:xfrm flipV="1">
            <a:off x="4288055" y="4011976"/>
            <a:ext cx="245444" cy="63871"/>
          </a:xfrm>
          <a:prstGeom prst="line">
            <a:avLst/>
          </a:prstGeom>
          <a:noFill/>
          <a:ln w="28575">
            <a:solidFill>
              <a:srgbClr val="2DD4BF"/>
            </a:solidFill>
            <a:prstDash val="solid"/>
          </a:ln>
        </p:spPr>
      </p:sp>
      <p:sp>
        <p:nvSpPr>
          <p:cNvPr id="47" name="Shape 44"/>
          <p:cNvSpPr/>
          <p:nvPr/>
        </p:nvSpPr>
        <p:spPr>
          <a:xfrm flipV="1">
            <a:off x="4533499" y="3773912"/>
            <a:ext cx="245444" cy="238064"/>
          </a:xfrm>
          <a:prstGeom prst="line">
            <a:avLst/>
          </a:prstGeom>
          <a:noFill/>
          <a:ln w="28575">
            <a:solidFill>
              <a:srgbClr val="2DD4BF"/>
            </a:solidFill>
            <a:prstDash val="solid"/>
          </a:ln>
        </p:spPr>
      </p:sp>
      <p:sp>
        <p:nvSpPr>
          <p:cNvPr id="48" name="Shape 45"/>
          <p:cNvSpPr/>
          <p:nvPr/>
        </p:nvSpPr>
        <p:spPr>
          <a:xfrm flipV="1">
            <a:off x="4778943" y="3524235"/>
            <a:ext cx="245444" cy="249677"/>
          </a:xfrm>
          <a:prstGeom prst="line">
            <a:avLst/>
          </a:prstGeom>
          <a:noFill/>
          <a:ln w="28575">
            <a:solidFill>
              <a:srgbClr val="2DD4BF"/>
            </a:solidFill>
            <a:prstDash val="solid"/>
          </a:ln>
        </p:spPr>
      </p:sp>
      <p:sp>
        <p:nvSpPr>
          <p:cNvPr id="49" name="Shape 46"/>
          <p:cNvSpPr/>
          <p:nvPr/>
        </p:nvSpPr>
        <p:spPr>
          <a:xfrm flipV="1">
            <a:off x="5024387" y="3123590"/>
            <a:ext cx="245444" cy="400644"/>
          </a:xfrm>
          <a:prstGeom prst="line">
            <a:avLst/>
          </a:prstGeom>
          <a:noFill/>
          <a:ln w="28575">
            <a:solidFill>
              <a:srgbClr val="2DD4BF"/>
            </a:solidFill>
            <a:prstDash val="solid"/>
          </a:ln>
        </p:spPr>
      </p:sp>
      <p:sp>
        <p:nvSpPr>
          <p:cNvPr id="50" name="Shape 47"/>
          <p:cNvSpPr/>
          <p:nvPr/>
        </p:nvSpPr>
        <p:spPr>
          <a:xfrm flipV="1">
            <a:off x="5269832" y="2731656"/>
            <a:ext cx="245444" cy="391935"/>
          </a:xfrm>
          <a:prstGeom prst="line">
            <a:avLst/>
          </a:prstGeom>
          <a:noFill/>
          <a:ln w="28575">
            <a:solidFill>
              <a:srgbClr val="2DD4BF"/>
            </a:solidFill>
            <a:prstDash val="solid"/>
          </a:ln>
        </p:spPr>
      </p:sp>
      <p:sp>
        <p:nvSpPr>
          <p:cNvPr id="51" name="Shape 48"/>
          <p:cNvSpPr/>
          <p:nvPr/>
        </p:nvSpPr>
        <p:spPr>
          <a:xfrm flipV="1">
            <a:off x="5515276" y="2374560"/>
            <a:ext cx="245444" cy="357096"/>
          </a:xfrm>
          <a:prstGeom prst="line">
            <a:avLst/>
          </a:prstGeom>
          <a:noFill/>
          <a:ln w="28575">
            <a:solidFill>
              <a:srgbClr val="2DD4BF"/>
            </a:solidFill>
            <a:prstDash val="solid"/>
          </a:ln>
        </p:spPr>
      </p:sp>
      <p:sp>
        <p:nvSpPr>
          <p:cNvPr id="52" name="Shape 49"/>
          <p:cNvSpPr/>
          <p:nvPr/>
        </p:nvSpPr>
        <p:spPr>
          <a:xfrm>
            <a:off x="1051560" y="4064965"/>
            <a:ext cx="91440" cy="91440"/>
          </a:xfrm>
          <a:prstGeom prst="ellipse">
            <a:avLst/>
          </a:prstGeom>
          <a:solidFill>
            <a:srgbClr val="2DD4BF"/>
          </a:solidFill>
          <a:ln w="6350">
            <a:solidFill>
              <a:srgbClr val="0B1220"/>
            </a:solidFill>
            <a:prstDash val="solid"/>
          </a:ln>
        </p:spPr>
      </p:sp>
      <p:sp>
        <p:nvSpPr>
          <p:cNvPr id="53" name="Shape 50"/>
          <p:cNvSpPr/>
          <p:nvPr/>
        </p:nvSpPr>
        <p:spPr>
          <a:xfrm>
            <a:off x="1297004" y="4047546"/>
            <a:ext cx="91440" cy="91440"/>
          </a:xfrm>
          <a:prstGeom prst="ellipse">
            <a:avLst/>
          </a:prstGeom>
          <a:solidFill>
            <a:srgbClr val="2DD4BF"/>
          </a:solidFill>
          <a:ln w="6350">
            <a:solidFill>
              <a:srgbClr val="0B1220"/>
            </a:solidFill>
            <a:prstDash val="solid"/>
          </a:ln>
        </p:spPr>
      </p:sp>
      <p:sp>
        <p:nvSpPr>
          <p:cNvPr id="54" name="Shape 51"/>
          <p:cNvSpPr/>
          <p:nvPr/>
        </p:nvSpPr>
        <p:spPr>
          <a:xfrm>
            <a:off x="1542448" y="3951740"/>
            <a:ext cx="91440" cy="91440"/>
          </a:xfrm>
          <a:prstGeom prst="ellipse">
            <a:avLst/>
          </a:prstGeom>
          <a:solidFill>
            <a:srgbClr val="2DD4BF"/>
          </a:solidFill>
          <a:ln w="6350">
            <a:solidFill>
              <a:srgbClr val="0B1220"/>
            </a:solidFill>
            <a:prstDash val="solid"/>
          </a:ln>
        </p:spPr>
      </p:sp>
      <p:sp>
        <p:nvSpPr>
          <p:cNvPr id="55" name="Shape 52"/>
          <p:cNvSpPr/>
          <p:nvPr/>
        </p:nvSpPr>
        <p:spPr>
          <a:xfrm>
            <a:off x="1787893" y="4038836"/>
            <a:ext cx="91440" cy="91440"/>
          </a:xfrm>
          <a:prstGeom prst="ellipse">
            <a:avLst/>
          </a:prstGeom>
          <a:solidFill>
            <a:srgbClr val="2DD4BF"/>
          </a:solidFill>
          <a:ln w="6350">
            <a:solidFill>
              <a:srgbClr val="0B1220"/>
            </a:solidFill>
            <a:prstDash val="solid"/>
          </a:ln>
        </p:spPr>
      </p:sp>
      <p:sp>
        <p:nvSpPr>
          <p:cNvPr id="56" name="Shape 53"/>
          <p:cNvSpPr/>
          <p:nvPr/>
        </p:nvSpPr>
        <p:spPr>
          <a:xfrm>
            <a:off x="2033337" y="4009804"/>
            <a:ext cx="91440" cy="91440"/>
          </a:xfrm>
          <a:prstGeom prst="ellipse">
            <a:avLst/>
          </a:prstGeom>
          <a:solidFill>
            <a:srgbClr val="2DD4BF"/>
          </a:solidFill>
          <a:ln w="6350">
            <a:solidFill>
              <a:srgbClr val="0B1220"/>
            </a:solidFill>
            <a:prstDash val="solid"/>
          </a:ln>
        </p:spPr>
      </p:sp>
      <p:sp>
        <p:nvSpPr>
          <p:cNvPr id="57" name="Shape 54"/>
          <p:cNvSpPr/>
          <p:nvPr/>
        </p:nvSpPr>
        <p:spPr>
          <a:xfrm>
            <a:off x="2278781" y="3966256"/>
            <a:ext cx="91440" cy="91440"/>
          </a:xfrm>
          <a:prstGeom prst="ellipse">
            <a:avLst/>
          </a:prstGeom>
          <a:solidFill>
            <a:srgbClr val="2DD4BF"/>
          </a:solidFill>
          <a:ln w="6350">
            <a:solidFill>
              <a:srgbClr val="0B1220"/>
            </a:solidFill>
            <a:prstDash val="solid"/>
          </a:ln>
        </p:spPr>
      </p:sp>
      <p:sp>
        <p:nvSpPr>
          <p:cNvPr id="58" name="Shape 55"/>
          <p:cNvSpPr/>
          <p:nvPr/>
        </p:nvSpPr>
        <p:spPr>
          <a:xfrm>
            <a:off x="2524225" y="4207223"/>
            <a:ext cx="91440" cy="91440"/>
          </a:xfrm>
          <a:prstGeom prst="ellipse">
            <a:avLst/>
          </a:prstGeom>
          <a:solidFill>
            <a:srgbClr val="2DD4BF"/>
          </a:solidFill>
          <a:ln w="6350">
            <a:solidFill>
              <a:srgbClr val="0B1220"/>
            </a:solidFill>
            <a:prstDash val="solid"/>
          </a:ln>
        </p:spPr>
      </p:sp>
      <p:sp>
        <p:nvSpPr>
          <p:cNvPr id="59" name="Shape 56"/>
          <p:cNvSpPr/>
          <p:nvPr/>
        </p:nvSpPr>
        <p:spPr>
          <a:xfrm>
            <a:off x="2769669" y="4358190"/>
            <a:ext cx="91440" cy="91440"/>
          </a:xfrm>
          <a:prstGeom prst="ellipse">
            <a:avLst/>
          </a:prstGeom>
          <a:solidFill>
            <a:srgbClr val="2DD4BF"/>
          </a:solidFill>
          <a:ln w="6350">
            <a:solidFill>
              <a:srgbClr val="0B1220"/>
            </a:solidFill>
            <a:prstDash val="solid"/>
          </a:ln>
        </p:spPr>
      </p:sp>
      <p:sp>
        <p:nvSpPr>
          <p:cNvPr id="60" name="Shape 57"/>
          <p:cNvSpPr/>
          <p:nvPr/>
        </p:nvSpPr>
        <p:spPr>
          <a:xfrm>
            <a:off x="3015114" y="4273997"/>
            <a:ext cx="91440" cy="91440"/>
          </a:xfrm>
          <a:prstGeom prst="ellipse">
            <a:avLst/>
          </a:prstGeom>
          <a:solidFill>
            <a:srgbClr val="2DD4BF"/>
          </a:solidFill>
          <a:ln w="6350">
            <a:solidFill>
              <a:srgbClr val="0B1220"/>
            </a:solidFill>
            <a:prstDash val="solid"/>
          </a:ln>
        </p:spPr>
      </p:sp>
      <p:sp>
        <p:nvSpPr>
          <p:cNvPr id="61" name="Shape 58"/>
          <p:cNvSpPr/>
          <p:nvPr/>
        </p:nvSpPr>
        <p:spPr>
          <a:xfrm>
            <a:off x="3260558" y="4140449"/>
            <a:ext cx="91440" cy="91440"/>
          </a:xfrm>
          <a:prstGeom prst="ellipse">
            <a:avLst/>
          </a:prstGeom>
          <a:solidFill>
            <a:srgbClr val="2DD4BF"/>
          </a:solidFill>
          <a:ln w="6350">
            <a:solidFill>
              <a:srgbClr val="0B1220"/>
            </a:solidFill>
            <a:prstDash val="solid"/>
          </a:ln>
        </p:spPr>
      </p:sp>
      <p:sp>
        <p:nvSpPr>
          <p:cNvPr id="62" name="Shape 59"/>
          <p:cNvSpPr/>
          <p:nvPr/>
        </p:nvSpPr>
        <p:spPr>
          <a:xfrm>
            <a:off x="3506002" y="4189804"/>
            <a:ext cx="91440" cy="91440"/>
          </a:xfrm>
          <a:prstGeom prst="ellipse">
            <a:avLst/>
          </a:prstGeom>
          <a:solidFill>
            <a:srgbClr val="2DD4BF"/>
          </a:solidFill>
          <a:ln w="6350">
            <a:solidFill>
              <a:srgbClr val="0B1220"/>
            </a:solidFill>
            <a:prstDash val="solid"/>
          </a:ln>
        </p:spPr>
      </p:sp>
      <p:sp>
        <p:nvSpPr>
          <p:cNvPr id="63" name="Shape 60"/>
          <p:cNvSpPr/>
          <p:nvPr/>
        </p:nvSpPr>
        <p:spPr>
          <a:xfrm>
            <a:off x="3751446" y="4181094"/>
            <a:ext cx="91440" cy="91440"/>
          </a:xfrm>
          <a:prstGeom prst="ellipse">
            <a:avLst/>
          </a:prstGeom>
          <a:solidFill>
            <a:srgbClr val="2DD4BF"/>
          </a:solidFill>
          <a:ln w="6350">
            <a:solidFill>
              <a:srgbClr val="0B1220"/>
            </a:solidFill>
            <a:prstDash val="solid"/>
          </a:ln>
        </p:spPr>
      </p:sp>
      <p:sp>
        <p:nvSpPr>
          <p:cNvPr id="64" name="Shape 61"/>
          <p:cNvSpPr/>
          <p:nvPr/>
        </p:nvSpPr>
        <p:spPr>
          <a:xfrm>
            <a:off x="3996891" y="4172384"/>
            <a:ext cx="91440" cy="91440"/>
          </a:xfrm>
          <a:prstGeom prst="ellipse">
            <a:avLst/>
          </a:prstGeom>
          <a:solidFill>
            <a:srgbClr val="2DD4BF"/>
          </a:solidFill>
          <a:ln w="6350">
            <a:solidFill>
              <a:srgbClr val="0B1220"/>
            </a:solidFill>
            <a:prstDash val="solid"/>
          </a:ln>
        </p:spPr>
      </p:sp>
      <p:sp>
        <p:nvSpPr>
          <p:cNvPr id="65" name="Shape 62"/>
          <p:cNvSpPr/>
          <p:nvPr/>
        </p:nvSpPr>
        <p:spPr>
          <a:xfrm>
            <a:off x="4242335" y="4030127"/>
            <a:ext cx="91440" cy="91440"/>
          </a:xfrm>
          <a:prstGeom prst="ellipse">
            <a:avLst/>
          </a:prstGeom>
          <a:solidFill>
            <a:srgbClr val="2DD4BF"/>
          </a:solidFill>
          <a:ln w="6350">
            <a:solidFill>
              <a:srgbClr val="0B1220"/>
            </a:solidFill>
            <a:prstDash val="solid"/>
          </a:ln>
        </p:spPr>
      </p:sp>
      <p:sp>
        <p:nvSpPr>
          <p:cNvPr id="66" name="Shape 63"/>
          <p:cNvSpPr/>
          <p:nvPr/>
        </p:nvSpPr>
        <p:spPr>
          <a:xfrm>
            <a:off x="4487779" y="3966256"/>
            <a:ext cx="91440" cy="91440"/>
          </a:xfrm>
          <a:prstGeom prst="ellipse">
            <a:avLst/>
          </a:prstGeom>
          <a:solidFill>
            <a:srgbClr val="2DD4BF"/>
          </a:solidFill>
          <a:ln w="6350">
            <a:solidFill>
              <a:srgbClr val="0B1220"/>
            </a:solidFill>
            <a:prstDash val="solid"/>
          </a:ln>
        </p:spPr>
      </p:sp>
      <p:sp>
        <p:nvSpPr>
          <p:cNvPr id="67" name="Shape 64"/>
          <p:cNvSpPr/>
          <p:nvPr/>
        </p:nvSpPr>
        <p:spPr>
          <a:xfrm>
            <a:off x="4733223" y="3728192"/>
            <a:ext cx="91440" cy="91440"/>
          </a:xfrm>
          <a:prstGeom prst="ellipse">
            <a:avLst/>
          </a:prstGeom>
          <a:solidFill>
            <a:srgbClr val="2DD4BF"/>
          </a:solidFill>
          <a:ln w="6350">
            <a:solidFill>
              <a:srgbClr val="0B1220"/>
            </a:solidFill>
            <a:prstDash val="solid"/>
          </a:ln>
        </p:spPr>
      </p:sp>
      <p:sp>
        <p:nvSpPr>
          <p:cNvPr id="68" name="Shape 65"/>
          <p:cNvSpPr/>
          <p:nvPr/>
        </p:nvSpPr>
        <p:spPr>
          <a:xfrm>
            <a:off x="4978667" y="3478515"/>
            <a:ext cx="91440" cy="91440"/>
          </a:xfrm>
          <a:prstGeom prst="ellipse">
            <a:avLst/>
          </a:prstGeom>
          <a:solidFill>
            <a:srgbClr val="2DD4BF"/>
          </a:solidFill>
          <a:ln w="6350">
            <a:solidFill>
              <a:srgbClr val="0B1220"/>
            </a:solidFill>
            <a:prstDash val="solid"/>
          </a:ln>
        </p:spPr>
      </p:sp>
      <p:sp>
        <p:nvSpPr>
          <p:cNvPr id="69" name="Shape 66"/>
          <p:cNvSpPr/>
          <p:nvPr/>
        </p:nvSpPr>
        <p:spPr>
          <a:xfrm>
            <a:off x="5224112" y="3077870"/>
            <a:ext cx="91440" cy="91440"/>
          </a:xfrm>
          <a:prstGeom prst="ellipse">
            <a:avLst/>
          </a:prstGeom>
          <a:solidFill>
            <a:srgbClr val="2DD4BF"/>
          </a:solidFill>
          <a:ln w="6350">
            <a:solidFill>
              <a:srgbClr val="0B1220"/>
            </a:solidFill>
            <a:prstDash val="solid"/>
          </a:ln>
        </p:spPr>
      </p:sp>
      <p:sp>
        <p:nvSpPr>
          <p:cNvPr id="70" name="Shape 67"/>
          <p:cNvSpPr/>
          <p:nvPr/>
        </p:nvSpPr>
        <p:spPr>
          <a:xfrm>
            <a:off x="5469556" y="2685936"/>
            <a:ext cx="91440" cy="91440"/>
          </a:xfrm>
          <a:prstGeom prst="ellipse">
            <a:avLst/>
          </a:prstGeom>
          <a:solidFill>
            <a:srgbClr val="2DD4BF"/>
          </a:solidFill>
          <a:ln w="6350">
            <a:solidFill>
              <a:srgbClr val="0B1220"/>
            </a:solidFill>
            <a:prstDash val="solid"/>
          </a:ln>
        </p:spPr>
      </p:sp>
      <p:sp>
        <p:nvSpPr>
          <p:cNvPr id="71" name="Shape 68"/>
          <p:cNvSpPr/>
          <p:nvPr/>
        </p:nvSpPr>
        <p:spPr>
          <a:xfrm>
            <a:off x="5715000" y="2328840"/>
            <a:ext cx="91440" cy="91440"/>
          </a:xfrm>
          <a:prstGeom prst="ellipse">
            <a:avLst/>
          </a:prstGeom>
          <a:solidFill>
            <a:srgbClr val="2DD4BF"/>
          </a:solidFill>
          <a:ln w="6350">
            <a:solidFill>
              <a:srgbClr val="0B1220"/>
            </a:solidFill>
            <a:prstDash val="solid"/>
          </a:ln>
        </p:spPr>
      </p:sp>
      <p:sp>
        <p:nvSpPr>
          <p:cNvPr id="72" name="Shape 69"/>
          <p:cNvSpPr/>
          <p:nvPr/>
        </p:nvSpPr>
        <p:spPr>
          <a:xfrm>
            <a:off x="4205759" y="3993551"/>
            <a:ext cx="164592" cy="164592"/>
          </a:xfrm>
          <a:prstGeom prst="ellipse">
            <a:avLst/>
          </a:prstGeom>
          <a:solidFill>
            <a:srgbClr val="F5B342">
              <a:alpha val="80000"/>
            </a:srgbClr>
          </a:solidFill>
          <a:ln w="12700">
            <a:solidFill>
              <a:srgbClr val="F5B342"/>
            </a:solidFill>
            <a:prstDash val="solid"/>
          </a:ln>
        </p:spPr>
      </p:sp>
      <p:sp>
        <p:nvSpPr>
          <p:cNvPr id="73" name="Text 70"/>
          <p:cNvSpPr txBox="1"/>
          <p:nvPr/>
        </p:nvSpPr>
        <p:spPr>
          <a:xfrm>
            <a:off x="3373655" y="3691799"/>
            <a:ext cx="1828800" cy="201168"/>
          </a:xfrm>
          <a:prstGeom prst="rect">
            <a:avLst/>
          </a:prstGeom>
          <a:noFill/>
          <a:ln/>
        </p:spPr>
        <p:txBody>
          <a:bodyPr wrap="square" lIns="0" tIns="0" rIns="0" bIns="0" rtlCol="0" anchor="ctr"/>
          <a:lstStyle/>
          <a:p>
            <a:pPr algn="ctr" indent="0" marL="0">
              <a:buNone/>
            </a:pPr>
            <a:r>
              <a:rPr lang="en-US" sz="800" b="1" dirty="0">
                <a:solidFill>
                  <a:srgbClr val="F5B342"/>
                </a:solidFill>
                <a:latin typeface="Arial" pitchFamily="34" charset="0"/>
                <a:ea typeface="Arial" pitchFamily="34" charset="-122"/>
                <a:cs typeface="Arial" pitchFamily="34" charset="-120"/>
              </a:rPr>
              <a:t>quiebre feb-26</a:t>
            </a:r>
            <a:endParaRPr lang="en-US" sz="800" dirty="0"/>
          </a:p>
        </p:txBody>
      </p:sp>
      <p:sp>
        <p:nvSpPr>
          <p:cNvPr id="74" name="Text 71"/>
          <p:cNvSpPr txBox="1"/>
          <p:nvPr/>
        </p:nvSpPr>
        <p:spPr>
          <a:xfrm>
            <a:off x="5074920" y="2057400"/>
            <a:ext cx="822960" cy="274320"/>
          </a:xfrm>
          <a:prstGeom prst="rect">
            <a:avLst/>
          </a:prstGeom>
          <a:noFill/>
          <a:ln/>
        </p:spPr>
        <p:txBody>
          <a:bodyPr wrap="square" lIns="0" tIns="0" rIns="0" bIns="0" rtlCol="0" anchor="ctr"/>
          <a:lstStyle/>
          <a:p>
            <a:pPr algn="r" indent="0" marL="0">
              <a:buNone/>
            </a:pPr>
            <a:r>
              <a:rPr lang="en-US" sz="1200" b="1" dirty="0">
                <a:solidFill>
                  <a:srgbClr val="5EEAD4"/>
                </a:solidFill>
                <a:latin typeface="Arial" pitchFamily="34" charset="0"/>
                <a:ea typeface="Arial" pitchFamily="34" charset="-122"/>
                <a:cs typeface="Arial" pitchFamily="34" charset="-120"/>
              </a:rPr>
              <a:t>63,8</a:t>
            </a:r>
            <a:endParaRPr lang="en-US" sz="1200" dirty="0"/>
          </a:p>
        </p:txBody>
      </p:sp>
      <p:sp>
        <p:nvSpPr>
          <p:cNvPr id="75" name="Shape 72"/>
          <p:cNvSpPr/>
          <p:nvPr/>
        </p:nvSpPr>
        <p:spPr>
          <a:xfrm>
            <a:off x="6172200" y="1691640"/>
            <a:ext cx="5504688" cy="3246120"/>
          </a:xfrm>
          <a:prstGeom prst="roundRect">
            <a:avLst>
              <a:gd name="adj" fmla="val 2254"/>
            </a:avLst>
          </a:prstGeom>
          <a:solidFill>
            <a:srgbClr val="0F1930"/>
          </a:solidFill>
          <a:ln w="9525">
            <a:solidFill>
              <a:srgbClr val="22304A"/>
            </a:solidFill>
            <a:prstDash val="solid"/>
          </a:ln>
        </p:spPr>
      </p:sp>
      <p:sp>
        <p:nvSpPr>
          <p:cNvPr id="76" name="Text 73"/>
          <p:cNvSpPr txBox="1"/>
          <p:nvPr/>
        </p:nvSpPr>
        <p:spPr>
          <a:xfrm>
            <a:off x="6355080" y="1783080"/>
            <a:ext cx="5212080" cy="219456"/>
          </a:xfrm>
          <a:prstGeom prst="rect">
            <a:avLst/>
          </a:prstGeom>
          <a:noFill/>
          <a:ln/>
        </p:spPr>
        <p:txBody>
          <a:bodyPr wrap="square" lIns="0" tIns="0" rIns="0" bIns="0" rtlCol="0" anchor="ctr"/>
          <a:lstStyle/>
          <a:p>
            <a:pPr algn="l" indent="0" marL="0">
              <a:buNone/>
            </a:pPr>
            <a:r>
              <a:rPr lang="en-US" sz="850" b="1" spc="120" kern="0" dirty="0">
                <a:solidFill>
                  <a:srgbClr val="BCCDE8"/>
                </a:solidFill>
                <a:latin typeface="Arial" pitchFamily="34" charset="0"/>
                <a:ea typeface="Arial" pitchFamily="34" charset="-122"/>
                <a:cs typeface="Arial" pitchFamily="34" charset="-120"/>
              </a:rPr>
              <a:t>EWMA (λ = 0,3) SOBRE LA TASA MENSUAL · PRONÓSTICO SEPTIEMBRE</a:t>
            </a:r>
            <a:endParaRPr lang="en-US" sz="850" dirty="0"/>
          </a:p>
        </p:txBody>
      </p:sp>
      <p:sp>
        <p:nvSpPr>
          <p:cNvPr id="77" name="Shape 74"/>
          <p:cNvSpPr/>
          <p:nvPr/>
        </p:nvSpPr>
        <p:spPr>
          <a:xfrm>
            <a:off x="6766560" y="4517136"/>
            <a:ext cx="4636008" cy="0"/>
          </a:xfrm>
          <a:prstGeom prst="line">
            <a:avLst/>
          </a:prstGeom>
          <a:noFill/>
          <a:ln w="6350">
            <a:solidFill>
              <a:srgbClr val="22304A"/>
            </a:solidFill>
            <a:prstDash val="solid"/>
          </a:ln>
        </p:spPr>
      </p:sp>
      <p:sp>
        <p:nvSpPr>
          <p:cNvPr id="78" name="Text 75"/>
          <p:cNvSpPr txBox="1"/>
          <p:nvPr/>
        </p:nvSpPr>
        <p:spPr>
          <a:xfrm>
            <a:off x="6263640" y="4416552"/>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0%</a:t>
            </a:r>
            <a:endParaRPr lang="en-US" sz="800" dirty="0"/>
          </a:p>
        </p:txBody>
      </p:sp>
      <p:sp>
        <p:nvSpPr>
          <p:cNvPr id="79" name="Shape 76"/>
          <p:cNvSpPr/>
          <p:nvPr/>
        </p:nvSpPr>
        <p:spPr>
          <a:xfrm>
            <a:off x="6766560" y="3742944"/>
            <a:ext cx="4636008" cy="0"/>
          </a:xfrm>
          <a:prstGeom prst="line">
            <a:avLst/>
          </a:prstGeom>
          <a:noFill/>
          <a:ln w="6350">
            <a:solidFill>
              <a:srgbClr val="22304A"/>
            </a:solidFill>
            <a:prstDash val="solid"/>
          </a:ln>
        </p:spPr>
      </p:sp>
      <p:sp>
        <p:nvSpPr>
          <p:cNvPr id="80" name="Text 77"/>
          <p:cNvSpPr txBox="1"/>
          <p:nvPr/>
        </p:nvSpPr>
        <p:spPr>
          <a:xfrm>
            <a:off x="6263640" y="3642360"/>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5%</a:t>
            </a:r>
            <a:endParaRPr lang="en-US" sz="800" dirty="0"/>
          </a:p>
        </p:txBody>
      </p:sp>
      <p:sp>
        <p:nvSpPr>
          <p:cNvPr id="81" name="Shape 78"/>
          <p:cNvSpPr/>
          <p:nvPr/>
        </p:nvSpPr>
        <p:spPr>
          <a:xfrm>
            <a:off x="6766560" y="2968752"/>
            <a:ext cx="4636008" cy="0"/>
          </a:xfrm>
          <a:prstGeom prst="line">
            <a:avLst/>
          </a:prstGeom>
          <a:noFill/>
          <a:ln w="6350">
            <a:solidFill>
              <a:srgbClr val="22304A"/>
            </a:solidFill>
            <a:prstDash val="solid"/>
          </a:ln>
        </p:spPr>
      </p:sp>
      <p:sp>
        <p:nvSpPr>
          <p:cNvPr id="82" name="Text 79"/>
          <p:cNvSpPr txBox="1"/>
          <p:nvPr/>
        </p:nvSpPr>
        <p:spPr>
          <a:xfrm>
            <a:off x="6263640" y="2868168"/>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10%</a:t>
            </a:r>
            <a:endParaRPr lang="en-US" sz="800" dirty="0"/>
          </a:p>
        </p:txBody>
      </p:sp>
      <p:sp>
        <p:nvSpPr>
          <p:cNvPr id="83" name="Shape 80"/>
          <p:cNvSpPr/>
          <p:nvPr/>
        </p:nvSpPr>
        <p:spPr>
          <a:xfrm>
            <a:off x="6766560" y="2194560"/>
            <a:ext cx="4636008" cy="0"/>
          </a:xfrm>
          <a:prstGeom prst="line">
            <a:avLst/>
          </a:prstGeom>
          <a:noFill/>
          <a:ln w="6350">
            <a:solidFill>
              <a:srgbClr val="22304A"/>
            </a:solidFill>
            <a:prstDash val="solid"/>
          </a:ln>
        </p:spPr>
      </p:sp>
      <p:sp>
        <p:nvSpPr>
          <p:cNvPr id="84" name="Text 81"/>
          <p:cNvSpPr txBox="1"/>
          <p:nvPr/>
        </p:nvSpPr>
        <p:spPr>
          <a:xfrm>
            <a:off x="6263640" y="2093976"/>
            <a:ext cx="429768" cy="201168"/>
          </a:xfrm>
          <a:prstGeom prst="rect">
            <a:avLst/>
          </a:prstGeom>
          <a:noFill/>
          <a:ln/>
        </p:spPr>
        <p:txBody>
          <a:bodyPr wrap="square" lIns="0" tIns="0" rIns="0" bIns="0" rtlCol="0" anchor="ctr"/>
          <a:lstStyle/>
          <a:p>
            <a:pPr algn="r" indent="0" marL="0">
              <a:buNone/>
            </a:pPr>
            <a:r>
              <a:rPr lang="en-US" sz="800" dirty="0">
                <a:solidFill>
                  <a:srgbClr val="94AACC"/>
                </a:solidFill>
                <a:latin typeface="Arial" pitchFamily="34" charset="0"/>
                <a:ea typeface="Arial" pitchFamily="34" charset="-122"/>
                <a:cs typeface="Arial" pitchFamily="34" charset="-120"/>
              </a:rPr>
              <a:t>15%</a:t>
            </a:r>
            <a:endParaRPr lang="en-US" sz="800" dirty="0"/>
          </a:p>
        </p:txBody>
      </p:sp>
      <p:sp>
        <p:nvSpPr>
          <p:cNvPr id="85" name="Text 82"/>
          <p:cNvSpPr txBox="1"/>
          <p:nvPr/>
        </p:nvSpPr>
        <p:spPr>
          <a:xfrm>
            <a:off x="6400800"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86" name="Text 83"/>
          <p:cNvSpPr txBox="1"/>
          <p:nvPr/>
        </p:nvSpPr>
        <p:spPr>
          <a:xfrm>
            <a:off x="6864401"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87" name="Text 84"/>
          <p:cNvSpPr txBox="1"/>
          <p:nvPr/>
        </p:nvSpPr>
        <p:spPr>
          <a:xfrm>
            <a:off x="7328002"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88" name="Text 85"/>
          <p:cNvSpPr txBox="1"/>
          <p:nvPr/>
        </p:nvSpPr>
        <p:spPr>
          <a:xfrm>
            <a:off x="7791602"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89" name="Text 86"/>
          <p:cNvSpPr txBox="1"/>
          <p:nvPr/>
        </p:nvSpPr>
        <p:spPr>
          <a:xfrm>
            <a:off x="8255203"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sep</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90" name="Text 87"/>
          <p:cNvSpPr txBox="1"/>
          <p:nvPr/>
        </p:nvSpPr>
        <p:spPr>
          <a:xfrm>
            <a:off x="8718804"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nov</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25</a:t>
            </a:r>
            <a:endParaRPr lang="en-US" sz="800" dirty="0"/>
          </a:p>
        </p:txBody>
      </p:sp>
      <p:sp>
        <p:nvSpPr>
          <p:cNvPr id="91" name="Text 88"/>
          <p:cNvSpPr txBox="1"/>
          <p:nvPr/>
        </p:nvSpPr>
        <p:spPr>
          <a:xfrm>
            <a:off x="9182405"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ene</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92" name="Text 89"/>
          <p:cNvSpPr txBox="1"/>
          <p:nvPr/>
        </p:nvSpPr>
        <p:spPr>
          <a:xfrm>
            <a:off x="9646006"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mar</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93" name="Text 90"/>
          <p:cNvSpPr txBox="1"/>
          <p:nvPr/>
        </p:nvSpPr>
        <p:spPr>
          <a:xfrm>
            <a:off x="10109606"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may</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94" name="Text 91"/>
          <p:cNvSpPr txBox="1"/>
          <p:nvPr/>
        </p:nvSpPr>
        <p:spPr>
          <a:xfrm>
            <a:off x="10573207"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jul</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95" name="Text 92"/>
          <p:cNvSpPr txBox="1"/>
          <p:nvPr/>
        </p:nvSpPr>
        <p:spPr>
          <a:xfrm>
            <a:off x="11036808" y="4572000"/>
            <a:ext cx="731520" cy="201168"/>
          </a:xfrm>
          <a:prstGeom prst="rect">
            <a:avLst/>
          </a:prstGeom>
          <a:noFill/>
          <a:ln/>
        </p:spPr>
        <p:txBody>
          <a:bodyPr wrap="square" lIns="0" tIns="0" rIns="0" bIns="0" rtlCol="0" anchor="ctr"/>
          <a:lstStyle/>
          <a:p>
            <a:pPr algn="ctr" indent="0" marL="0">
              <a:buNone/>
            </a:pPr>
            <a:r>
              <a:rPr lang="en-US" sz="800" dirty="0">
                <a:solidFill>
                  <a:srgbClr val="94AACC"/>
                </a:solidFill>
                <a:latin typeface="Arial" pitchFamily="34" charset="0"/>
                <a:ea typeface="Arial" pitchFamily="34" charset="-122"/>
                <a:cs typeface="Arial" pitchFamily="34" charset="-120"/>
              </a:rPr>
              <a:t>sep</a:t>
            </a:r>
            <a:endParaRPr lang="en-US" sz="800" dirty="0"/>
          </a:p>
          <a:p>
            <a:pPr algn="ctr" indent="0" marL="0">
              <a:buNone/>
            </a:pPr>
            <a:r>
              <a:rPr lang="en-US" sz="800" dirty="0">
                <a:solidFill>
                  <a:srgbClr val="94AACC"/>
                </a:solidFill>
                <a:latin typeface="Arial" pitchFamily="34" charset="0"/>
                <a:ea typeface="Arial" pitchFamily="34" charset="-122"/>
                <a:cs typeface="Arial" pitchFamily="34" charset="-120"/>
              </a:rPr>
              <a:t>26</a:t>
            </a:r>
            <a:endParaRPr lang="en-US" sz="800" dirty="0"/>
          </a:p>
        </p:txBody>
      </p:sp>
      <p:sp>
        <p:nvSpPr>
          <p:cNvPr id="96" name="Shape 93"/>
          <p:cNvSpPr/>
          <p:nvPr/>
        </p:nvSpPr>
        <p:spPr>
          <a:xfrm flipV="1">
            <a:off x="6766560" y="3126687"/>
            <a:ext cx="231800" cy="464515"/>
          </a:xfrm>
          <a:prstGeom prst="line">
            <a:avLst/>
          </a:prstGeom>
          <a:noFill/>
          <a:ln w="15875">
            <a:solidFill>
              <a:srgbClr val="7FA3D9"/>
            </a:solidFill>
            <a:prstDash val="solid"/>
          </a:ln>
        </p:spPr>
      </p:sp>
      <p:sp>
        <p:nvSpPr>
          <p:cNvPr id="97" name="Shape 94"/>
          <p:cNvSpPr/>
          <p:nvPr/>
        </p:nvSpPr>
        <p:spPr>
          <a:xfrm>
            <a:off x="6998360" y="3126687"/>
            <a:ext cx="231800" cy="250838"/>
          </a:xfrm>
          <a:prstGeom prst="line">
            <a:avLst/>
          </a:prstGeom>
          <a:noFill/>
          <a:ln w="15875">
            <a:solidFill>
              <a:srgbClr val="7FA3D9"/>
            </a:solidFill>
            <a:prstDash val="solid"/>
          </a:ln>
        </p:spPr>
      </p:sp>
      <p:sp>
        <p:nvSpPr>
          <p:cNvPr id="98" name="Shape 95"/>
          <p:cNvSpPr/>
          <p:nvPr/>
        </p:nvSpPr>
        <p:spPr>
          <a:xfrm flipV="1">
            <a:off x="7230161" y="2786043"/>
            <a:ext cx="231800" cy="591483"/>
          </a:xfrm>
          <a:prstGeom prst="line">
            <a:avLst/>
          </a:prstGeom>
          <a:noFill/>
          <a:ln w="15875">
            <a:solidFill>
              <a:srgbClr val="7FA3D9"/>
            </a:solidFill>
            <a:prstDash val="solid"/>
          </a:ln>
        </p:spPr>
      </p:sp>
      <p:sp>
        <p:nvSpPr>
          <p:cNvPr id="99" name="Shape 96"/>
          <p:cNvSpPr/>
          <p:nvPr/>
        </p:nvSpPr>
        <p:spPr>
          <a:xfrm>
            <a:off x="7461961" y="2786043"/>
            <a:ext cx="231800" cy="380902"/>
          </a:xfrm>
          <a:prstGeom prst="line">
            <a:avLst/>
          </a:prstGeom>
          <a:noFill/>
          <a:ln w="15875">
            <a:solidFill>
              <a:srgbClr val="7FA3D9"/>
            </a:solidFill>
            <a:prstDash val="solid"/>
          </a:ln>
        </p:spPr>
      </p:sp>
      <p:sp>
        <p:nvSpPr>
          <p:cNvPr id="100" name="Shape 97"/>
          <p:cNvSpPr/>
          <p:nvPr/>
        </p:nvSpPr>
        <p:spPr>
          <a:xfrm>
            <a:off x="7693762" y="3166945"/>
            <a:ext cx="231800" cy="24774"/>
          </a:xfrm>
          <a:prstGeom prst="line">
            <a:avLst/>
          </a:prstGeom>
          <a:noFill/>
          <a:ln w="15875">
            <a:solidFill>
              <a:srgbClr val="7FA3D9"/>
            </a:solidFill>
            <a:prstDash val="solid"/>
          </a:ln>
        </p:spPr>
      </p:sp>
      <p:sp>
        <p:nvSpPr>
          <p:cNvPr id="101" name="Shape 98"/>
          <p:cNvSpPr/>
          <p:nvPr/>
        </p:nvSpPr>
        <p:spPr>
          <a:xfrm flipV="1">
            <a:off x="7925562" y="2453140"/>
            <a:ext cx="231800" cy="738579"/>
          </a:xfrm>
          <a:prstGeom prst="line">
            <a:avLst/>
          </a:prstGeom>
          <a:noFill/>
          <a:ln w="15875">
            <a:solidFill>
              <a:srgbClr val="7FA3D9"/>
            </a:solidFill>
            <a:prstDash val="solid"/>
          </a:ln>
        </p:spPr>
      </p:sp>
      <p:sp>
        <p:nvSpPr>
          <p:cNvPr id="102" name="Shape 99"/>
          <p:cNvSpPr/>
          <p:nvPr/>
        </p:nvSpPr>
        <p:spPr>
          <a:xfrm>
            <a:off x="8157362" y="2453140"/>
            <a:ext cx="231800" cy="188903"/>
          </a:xfrm>
          <a:prstGeom prst="line">
            <a:avLst/>
          </a:prstGeom>
          <a:noFill/>
          <a:ln w="15875">
            <a:solidFill>
              <a:srgbClr val="7FA3D9"/>
            </a:solidFill>
            <a:prstDash val="solid"/>
          </a:ln>
        </p:spPr>
      </p:sp>
      <p:sp>
        <p:nvSpPr>
          <p:cNvPr id="103" name="Shape 100"/>
          <p:cNvSpPr/>
          <p:nvPr/>
        </p:nvSpPr>
        <p:spPr>
          <a:xfrm>
            <a:off x="8389163" y="2642043"/>
            <a:ext cx="231800" cy="659612"/>
          </a:xfrm>
          <a:prstGeom prst="line">
            <a:avLst/>
          </a:prstGeom>
          <a:noFill/>
          <a:ln w="15875">
            <a:solidFill>
              <a:srgbClr val="7FA3D9"/>
            </a:solidFill>
            <a:prstDash val="solid"/>
          </a:ln>
        </p:spPr>
      </p:sp>
      <p:sp>
        <p:nvSpPr>
          <p:cNvPr id="104" name="Shape 101"/>
          <p:cNvSpPr/>
          <p:nvPr/>
        </p:nvSpPr>
        <p:spPr>
          <a:xfrm>
            <a:off x="8620963" y="3301655"/>
            <a:ext cx="231800" cy="83613"/>
          </a:xfrm>
          <a:prstGeom prst="line">
            <a:avLst/>
          </a:prstGeom>
          <a:noFill/>
          <a:ln w="15875">
            <a:solidFill>
              <a:srgbClr val="7FA3D9"/>
            </a:solidFill>
            <a:prstDash val="solid"/>
          </a:ln>
        </p:spPr>
      </p:sp>
      <p:sp>
        <p:nvSpPr>
          <p:cNvPr id="105" name="Shape 102"/>
          <p:cNvSpPr/>
          <p:nvPr/>
        </p:nvSpPr>
        <p:spPr>
          <a:xfrm flipV="1">
            <a:off x="8852764" y="2928494"/>
            <a:ext cx="231800" cy="456773"/>
          </a:xfrm>
          <a:prstGeom prst="line">
            <a:avLst/>
          </a:prstGeom>
          <a:noFill/>
          <a:ln w="15875">
            <a:solidFill>
              <a:srgbClr val="7FA3D9"/>
            </a:solidFill>
            <a:prstDash val="solid"/>
          </a:ln>
        </p:spPr>
      </p:sp>
      <p:sp>
        <p:nvSpPr>
          <p:cNvPr id="106" name="Shape 103"/>
          <p:cNvSpPr/>
          <p:nvPr/>
        </p:nvSpPr>
        <p:spPr>
          <a:xfrm>
            <a:off x="9084564" y="2928494"/>
            <a:ext cx="231800" cy="164129"/>
          </a:xfrm>
          <a:prstGeom prst="line">
            <a:avLst/>
          </a:prstGeom>
          <a:noFill/>
          <a:ln w="15875">
            <a:solidFill>
              <a:srgbClr val="7FA3D9"/>
            </a:solidFill>
            <a:prstDash val="solid"/>
          </a:ln>
        </p:spPr>
      </p:sp>
      <p:sp>
        <p:nvSpPr>
          <p:cNvPr id="107" name="Shape 104"/>
          <p:cNvSpPr/>
          <p:nvPr/>
        </p:nvSpPr>
        <p:spPr>
          <a:xfrm flipV="1">
            <a:off x="9316364" y="3086429"/>
            <a:ext cx="231800" cy="6194"/>
          </a:xfrm>
          <a:prstGeom prst="line">
            <a:avLst/>
          </a:prstGeom>
          <a:noFill/>
          <a:ln w="15875">
            <a:solidFill>
              <a:srgbClr val="7FA3D9"/>
            </a:solidFill>
            <a:prstDash val="solid"/>
          </a:ln>
        </p:spPr>
      </p:sp>
      <p:sp>
        <p:nvSpPr>
          <p:cNvPr id="108" name="Shape 105"/>
          <p:cNvSpPr/>
          <p:nvPr/>
        </p:nvSpPr>
        <p:spPr>
          <a:xfrm>
            <a:off x="9548165" y="3086429"/>
            <a:ext cx="231800" cy="376257"/>
          </a:xfrm>
          <a:prstGeom prst="line">
            <a:avLst/>
          </a:prstGeom>
          <a:noFill/>
          <a:ln w="15875">
            <a:solidFill>
              <a:srgbClr val="7FA3D9"/>
            </a:solidFill>
            <a:prstDash val="solid"/>
          </a:ln>
        </p:spPr>
      </p:sp>
      <p:sp>
        <p:nvSpPr>
          <p:cNvPr id="109" name="Shape 106"/>
          <p:cNvSpPr/>
          <p:nvPr/>
        </p:nvSpPr>
        <p:spPr>
          <a:xfrm flipV="1">
            <a:off x="9779965" y="3227332"/>
            <a:ext cx="231800" cy="235354"/>
          </a:xfrm>
          <a:prstGeom prst="line">
            <a:avLst/>
          </a:prstGeom>
          <a:noFill/>
          <a:ln w="15875">
            <a:solidFill>
              <a:srgbClr val="7FA3D9"/>
            </a:solidFill>
            <a:prstDash val="solid"/>
          </a:ln>
        </p:spPr>
      </p:sp>
      <p:sp>
        <p:nvSpPr>
          <p:cNvPr id="110" name="Shape 107"/>
          <p:cNvSpPr/>
          <p:nvPr/>
        </p:nvSpPr>
        <p:spPr>
          <a:xfrm>
            <a:off x="10011766" y="3227332"/>
            <a:ext cx="231800" cy="399483"/>
          </a:xfrm>
          <a:prstGeom prst="line">
            <a:avLst/>
          </a:prstGeom>
          <a:noFill/>
          <a:ln w="15875">
            <a:solidFill>
              <a:srgbClr val="7FA3D9"/>
            </a:solidFill>
            <a:prstDash val="solid"/>
          </a:ln>
        </p:spPr>
      </p:sp>
      <p:sp>
        <p:nvSpPr>
          <p:cNvPr id="111" name="Shape 108"/>
          <p:cNvSpPr/>
          <p:nvPr/>
        </p:nvSpPr>
        <p:spPr>
          <a:xfrm>
            <a:off x="10243566" y="3626815"/>
            <a:ext cx="231800" cy="236903"/>
          </a:xfrm>
          <a:prstGeom prst="line">
            <a:avLst/>
          </a:prstGeom>
          <a:noFill/>
          <a:ln w="15875">
            <a:solidFill>
              <a:srgbClr val="7FA3D9"/>
            </a:solidFill>
            <a:prstDash val="solid"/>
          </a:ln>
        </p:spPr>
      </p:sp>
      <p:sp>
        <p:nvSpPr>
          <p:cNvPr id="112" name="Shape 109"/>
          <p:cNvSpPr/>
          <p:nvPr/>
        </p:nvSpPr>
        <p:spPr>
          <a:xfrm>
            <a:off x="10475366" y="3863718"/>
            <a:ext cx="231800" cy="393290"/>
          </a:xfrm>
          <a:prstGeom prst="line">
            <a:avLst/>
          </a:prstGeom>
          <a:noFill/>
          <a:ln w="15875">
            <a:solidFill>
              <a:srgbClr val="7FA3D9"/>
            </a:solidFill>
            <a:prstDash val="solid"/>
          </a:ln>
        </p:spPr>
      </p:sp>
      <p:sp>
        <p:nvSpPr>
          <p:cNvPr id="113" name="Shape 110"/>
          <p:cNvSpPr/>
          <p:nvPr/>
        </p:nvSpPr>
        <p:spPr>
          <a:xfrm>
            <a:off x="10707167" y="4257007"/>
            <a:ext cx="231800" cy="159484"/>
          </a:xfrm>
          <a:prstGeom prst="line">
            <a:avLst/>
          </a:prstGeom>
          <a:noFill/>
          <a:ln w="15875">
            <a:solidFill>
              <a:srgbClr val="7FA3D9"/>
            </a:solidFill>
            <a:prstDash val="solid"/>
          </a:ln>
        </p:spPr>
      </p:sp>
      <p:sp>
        <p:nvSpPr>
          <p:cNvPr id="114" name="Shape 111"/>
          <p:cNvSpPr/>
          <p:nvPr/>
        </p:nvSpPr>
        <p:spPr>
          <a:xfrm flipV="1">
            <a:off x="10938967" y="4312749"/>
            <a:ext cx="231800" cy="103742"/>
          </a:xfrm>
          <a:prstGeom prst="line">
            <a:avLst/>
          </a:prstGeom>
          <a:noFill/>
          <a:ln w="15875">
            <a:solidFill>
              <a:srgbClr val="7FA3D9"/>
            </a:solidFill>
            <a:prstDash val="solid"/>
          </a:ln>
        </p:spPr>
      </p:sp>
      <p:sp>
        <p:nvSpPr>
          <p:cNvPr id="115" name="Shape 112"/>
          <p:cNvSpPr/>
          <p:nvPr/>
        </p:nvSpPr>
        <p:spPr>
          <a:xfrm>
            <a:off x="6720840" y="3545482"/>
            <a:ext cx="91440" cy="91440"/>
          </a:xfrm>
          <a:prstGeom prst="ellipse">
            <a:avLst/>
          </a:prstGeom>
          <a:solidFill>
            <a:srgbClr val="7FA3D9"/>
          </a:solidFill>
          <a:ln w="6350">
            <a:solidFill>
              <a:srgbClr val="0B1220"/>
            </a:solidFill>
            <a:prstDash val="solid"/>
          </a:ln>
        </p:spPr>
      </p:sp>
      <p:sp>
        <p:nvSpPr>
          <p:cNvPr id="116" name="Shape 113"/>
          <p:cNvSpPr/>
          <p:nvPr/>
        </p:nvSpPr>
        <p:spPr>
          <a:xfrm>
            <a:off x="6952640" y="3080967"/>
            <a:ext cx="91440" cy="91440"/>
          </a:xfrm>
          <a:prstGeom prst="ellipse">
            <a:avLst/>
          </a:prstGeom>
          <a:solidFill>
            <a:srgbClr val="7FA3D9"/>
          </a:solidFill>
          <a:ln w="6350">
            <a:solidFill>
              <a:srgbClr val="0B1220"/>
            </a:solidFill>
            <a:prstDash val="solid"/>
          </a:ln>
        </p:spPr>
      </p:sp>
      <p:sp>
        <p:nvSpPr>
          <p:cNvPr id="117" name="Shape 114"/>
          <p:cNvSpPr/>
          <p:nvPr/>
        </p:nvSpPr>
        <p:spPr>
          <a:xfrm>
            <a:off x="7184441" y="3331805"/>
            <a:ext cx="91440" cy="91440"/>
          </a:xfrm>
          <a:prstGeom prst="ellipse">
            <a:avLst/>
          </a:prstGeom>
          <a:solidFill>
            <a:srgbClr val="7FA3D9"/>
          </a:solidFill>
          <a:ln w="6350">
            <a:solidFill>
              <a:srgbClr val="0B1220"/>
            </a:solidFill>
            <a:prstDash val="solid"/>
          </a:ln>
        </p:spPr>
      </p:sp>
      <p:sp>
        <p:nvSpPr>
          <p:cNvPr id="118" name="Shape 115"/>
          <p:cNvSpPr/>
          <p:nvPr/>
        </p:nvSpPr>
        <p:spPr>
          <a:xfrm>
            <a:off x="7416241" y="2740323"/>
            <a:ext cx="91440" cy="91440"/>
          </a:xfrm>
          <a:prstGeom prst="ellipse">
            <a:avLst/>
          </a:prstGeom>
          <a:solidFill>
            <a:srgbClr val="7FA3D9"/>
          </a:solidFill>
          <a:ln w="6350">
            <a:solidFill>
              <a:srgbClr val="0B1220"/>
            </a:solidFill>
            <a:prstDash val="solid"/>
          </a:ln>
        </p:spPr>
      </p:sp>
      <p:sp>
        <p:nvSpPr>
          <p:cNvPr id="119" name="Shape 116"/>
          <p:cNvSpPr/>
          <p:nvPr/>
        </p:nvSpPr>
        <p:spPr>
          <a:xfrm>
            <a:off x="7648042" y="3121225"/>
            <a:ext cx="91440" cy="91440"/>
          </a:xfrm>
          <a:prstGeom prst="ellipse">
            <a:avLst/>
          </a:prstGeom>
          <a:solidFill>
            <a:srgbClr val="7FA3D9"/>
          </a:solidFill>
          <a:ln w="6350">
            <a:solidFill>
              <a:srgbClr val="0B1220"/>
            </a:solidFill>
            <a:prstDash val="solid"/>
          </a:ln>
        </p:spPr>
      </p:sp>
      <p:sp>
        <p:nvSpPr>
          <p:cNvPr id="120" name="Shape 117"/>
          <p:cNvSpPr/>
          <p:nvPr/>
        </p:nvSpPr>
        <p:spPr>
          <a:xfrm>
            <a:off x="7879842" y="3145999"/>
            <a:ext cx="91440" cy="91440"/>
          </a:xfrm>
          <a:prstGeom prst="ellipse">
            <a:avLst/>
          </a:prstGeom>
          <a:solidFill>
            <a:srgbClr val="7FA3D9"/>
          </a:solidFill>
          <a:ln w="6350">
            <a:solidFill>
              <a:srgbClr val="0B1220"/>
            </a:solidFill>
            <a:prstDash val="solid"/>
          </a:ln>
        </p:spPr>
      </p:sp>
      <p:sp>
        <p:nvSpPr>
          <p:cNvPr id="121" name="Shape 118"/>
          <p:cNvSpPr/>
          <p:nvPr/>
        </p:nvSpPr>
        <p:spPr>
          <a:xfrm>
            <a:off x="8111642" y="2407420"/>
            <a:ext cx="91440" cy="91440"/>
          </a:xfrm>
          <a:prstGeom prst="ellipse">
            <a:avLst/>
          </a:prstGeom>
          <a:solidFill>
            <a:srgbClr val="7FA3D9"/>
          </a:solidFill>
          <a:ln w="6350">
            <a:solidFill>
              <a:srgbClr val="0B1220"/>
            </a:solidFill>
            <a:prstDash val="solid"/>
          </a:ln>
        </p:spPr>
      </p:sp>
      <p:sp>
        <p:nvSpPr>
          <p:cNvPr id="122" name="Shape 119"/>
          <p:cNvSpPr/>
          <p:nvPr/>
        </p:nvSpPr>
        <p:spPr>
          <a:xfrm>
            <a:off x="8343443" y="2596323"/>
            <a:ext cx="91440" cy="91440"/>
          </a:xfrm>
          <a:prstGeom prst="ellipse">
            <a:avLst/>
          </a:prstGeom>
          <a:solidFill>
            <a:srgbClr val="7FA3D9"/>
          </a:solidFill>
          <a:ln w="6350">
            <a:solidFill>
              <a:srgbClr val="0B1220"/>
            </a:solidFill>
            <a:prstDash val="solid"/>
          </a:ln>
        </p:spPr>
      </p:sp>
      <p:sp>
        <p:nvSpPr>
          <p:cNvPr id="123" name="Shape 120"/>
          <p:cNvSpPr/>
          <p:nvPr/>
        </p:nvSpPr>
        <p:spPr>
          <a:xfrm>
            <a:off x="8575243" y="3255935"/>
            <a:ext cx="91440" cy="91440"/>
          </a:xfrm>
          <a:prstGeom prst="ellipse">
            <a:avLst/>
          </a:prstGeom>
          <a:solidFill>
            <a:srgbClr val="7FA3D9"/>
          </a:solidFill>
          <a:ln w="6350">
            <a:solidFill>
              <a:srgbClr val="0B1220"/>
            </a:solidFill>
            <a:prstDash val="solid"/>
          </a:ln>
        </p:spPr>
      </p:sp>
      <p:sp>
        <p:nvSpPr>
          <p:cNvPr id="124" name="Shape 121"/>
          <p:cNvSpPr/>
          <p:nvPr/>
        </p:nvSpPr>
        <p:spPr>
          <a:xfrm>
            <a:off x="8807044" y="3339547"/>
            <a:ext cx="91440" cy="91440"/>
          </a:xfrm>
          <a:prstGeom prst="ellipse">
            <a:avLst/>
          </a:prstGeom>
          <a:solidFill>
            <a:srgbClr val="7FA3D9"/>
          </a:solidFill>
          <a:ln w="6350">
            <a:solidFill>
              <a:srgbClr val="0B1220"/>
            </a:solidFill>
            <a:prstDash val="solid"/>
          </a:ln>
        </p:spPr>
      </p:sp>
      <p:sp>
        <p:nvSpPr>
          <p:cNvPr id="125" name="Shape 122"/>
          <p:cNvSpPr/>
          <p:nvPr/>
        </p:nvSpPr>
        <p:spPr>
          <a:xfrm>
            <a:off x="9038844" y="2882774"/>
            <a:ext cx="91440" cy="91440"/>
          </a:xfrm>
          <a:prstGeom prst="ellipse">
            <a:avLst/>
          </a:prstGeom>
          <a:solidFill>
            <a:srgbClr val="7FA3D9"/>
          </a:solidFill>
          <a:ln w="6350">
            <a:solidFill>
              <a:srgbClr val="0B1220"/>
            </a:solidFill>
            <a:prstDash val="solid"/>
          </a:ln>
        </p:spPr>
      </p:sp>
      <p:sp>
        <p:nvSpPr>
          <p:cNvPr id="126" name="Shape 123"/>
          <p:cNvSpPr/>
          <p:nvPr/>
        </p:nvSpPr>
        <p:spPr>
          <a:xfrm>
            <a:off x="9270644" y="3046903"/>
            <a:ext cx="91440" cy="91440"/>
          </a:xfrm>
          <a:prstGeom prst="ellipse">
            <a:avLst/>
          </a:prstGeom>
          <a:solidFill>
            <a:srgbClr val="7FA3D9"/>
          </a:solidFill>
          <a:ln w="6350">
            <a:solidFill>
              <a:srgbClr val="0B1220"/>
            </a:solidFill>
            <a:prstDash val="solid"/>
          </a:ln>
        </p:spPr>
      </p:sp>
      <p:sp>
        <p:nvSpPr>
          <p:cNvPr id="127" name="Shape 124"/>
          <p:cNvSpPr/>
          <p:nvPr/>
        </p:nvSpPr>
        <p:spPr>
          <a:xfrm>
            <a:off x="9502445" y="3040709"/>
            <a:ext cx="91440" cy="91440"/>
          </a:xfrm>
          <a:prstGeom prst="ellipse">
            <a:avLst/>
          </a:prstGeom>
          <a:solidFill>
            <a:srgbClr val="7FA3D9"/>
          </a:solidFill>
          <a:ln w="6350">
            <a:solidFill>
              <a:srgbClr val="0B1220"/>
            </a:solidFill>
            <a:prstDash val="solid"/>
          </a:ln>
        </p:spPr>
      </p:sp>
      <p:sp>
        <p:nvSpPr>
          <p:cNvPr id="128" name="Shape 125"/>
          <p:cNvSpPr/>
          <p:nvPr/>
        </p:nvSpPr>
        <p:spPr>
          <a:xfrm>
            <a:off x="9734245" y="3416966"/>
            <a:ext cx="91440" cy="91440"/>
          </a:xfrm>
          <a:prstGeom prst="ellipse">
            <a:avLst/>
          </a:prstGeom>
          <a:solidFill>
            <a:srgbClr val="7FA3D9"/>
          </a:solidFill>
          <a:ln w="6350">
            <a:solidFill>
              <a:srgbClr val="0B1220"/>
            </a:solidFill>
            <a:prstDash val="solid"/>
          </a:ln>
        </p:spPr>
      </p:sp>
      <p:sp>
        <p:nvSpPr>
          <p:cNvPr id="129" name="Shape 126"/>
          <p:cNvSpPr/>
          <p:nvPr/>
        </p:nvSpPr>
        <p:spPr>
          <a:xfrm>
            <a:off x="9966046" y="3181612"/>
            <a:ext cx="91440" cy="91440"/>
          </a:xfrm>
          <a:prstGeom prst="ellipse">
            <a:avLst/>
          </a:prstGeom>
          <a:solidFill>
            <a:srgbClr val="7FA3D9"/>
          </a:solidFill>
          <a:ln w="6350">
            <a:solidFill>
              <a:srgbClr val="0B1220"/>
            </a:solidFill>
            <a:prstDash val="solid"/>
          </a:ln>
        </p:spPr>
      </p:sp>
      <p:sp>
        <p:nvSpPr>
          <p:cNvPr id="130" name="Shape 127"/>
          <p:cNvSpPr/>
          <p:nvPr/>
        </p:nvSpPr>
        <p:spPr>
          <a:xfrm>
            <a:off x="10197846" y="3581095"/>
            <a:ext cx="91440" cy="91440"/>
          </a:xfrm>
          <a:prstGeom prst="ellipse">
            <a:avLst/>
          </a:prstGeom>
          <a:solidFill>
            <a:srgbClr val="7FA3D9"/>
          </a:solidFill>
          <a:ln w="6350">
            <a:solidFill>
              <a:srgbClr val="0B1220"/>
            </a:solidFill>
            <a:prstDash val="solid"/>
          </a:ln>
        </p:spPr>
      </p:sp>
      <p:sp>
        <p:nvSpPr>
          <p:cNvPr id="131" name="Shape 128"/>
          <p:cNvSpPr/>
          <p:nvPr/>
        </p:nvSpPr>
        <p:spPr>
          <a:xfrm>
            <a:off x="10429646" y="3817998"/>
            <a:ext cx="91440" cy="91440"/>
          </a:xfrm>
          <a:prstGeom prst="ellipse">
            <a:avLst/>
          </a:prstGeom>
          <a:solidFill>
            <a:srgbClr val="7FA3D9"/>
          </a:solidFill>
          <a:ln w="6350">
            <a:solidFill>
              <a:srgbClr val="0B1220"/>
            </a:solidFill>
            <a:prstDash val="solid"/>
          </a:ln>
        </p:spPr>
      </p:sp>
      <p:sp>
        <p:nvSpPr>
          <p:cNvPr id="132" name="Shape 129"/>
          <p:cNvSpPr/>
          <p:nvPr/>
        </p:nvSpPr>
        <p:spPr>
          <a:xfrm>
            <a:off x="10661447" y="4211287"/>
            <a:ext cx="91440" cy="91440"/>
          </a:xfrm>
          <a:prstGeom prst="ellipse">
            <a:avLst/>
          </a:prstGeom>
          <a:solidFill>
            <a:srgbClr val="7FA3D9"/>
          </a:solidFill>
          <a:ln w="6350">
            <a:solidFill>
              <a:srgbClr val="0B1220"/>
            </a:solidFill>
            <a:prstDash val="solid"/>
          </a:ln>
        </p:spPr>
      </p:sp>
      <p:sp>
        <p:nvSpPr>
          <p:cNvPr id="133" name="Shape 130"/>
          <p:cNvSpPr/>
          <p:nvPr/>
        </p:nvSpPr>
        <p:spPr>
          <a:xfrm>
            <a:off x="10893247" y="4370771"/>
            <a:ext cx="91440" cy="91440"/>
          </a:xfrm>
          <a:prstGeom prst="ellipse">
            <a:avLst/>
          </a:prstGeom>
          <a:solidFill>
            <a:srgbClr val="7FA3D9"/>
          </a:solidFill>
          <a:ln w="6350">
            <a:solidFill>
              <a:srgbClr val="0B1220"/>
            </a:solidFill>
            <a:prstDash val="solid"/>
          </a:ln>
        </p:spPr>
      </p:sp>
      <p:sp>
        <p:nvSpPr>
          <p:cNvPr id="134" name="Shape 131"/>
          <p:cNvSpPr/>
          <p:nvPr/>
        </p:nvSpPr>
        <p:spPr>
          <a:xfrm>
            <a:off x="11125048" y="4267029"/>
            <a:ext cx="91440" cy="91440"/>
          </a:xfrm>
          <a:prstGeom prst="ellipse">
            <a:avLst/>
          </a:prstGeom>
          <a:solidFill>
            <a:srgbClr val="7FA3D9"/>
          </a:solidFill>
          <a:ln w="6350">
            <a:solidFill>
              <a:srgbClr val="0B1220"/>
            </a:solidFill>
            <a:prstDash val="solid"/>
          </a:ln>
        </p:spPr>
      </p:sp>
      <p:sp>
        <p:nvSpPr>
          <p:cNvPr id="135" name="Shape 132"/>
          <p:cNvSpPr/>
          <p:nvPr/>
        </p:nvSpPr>
        <p:spPr>
          <a:xfrm flipV="1">
            <a:off x="6766560" y="3193268"/>
            <a:ext cx="231800" cy="29419"/>
          </a:xfrm>
          <a:prstGeom prst="line">
            <a:avLst/>
          </a:prstGeom>
          <a:noFill/>
          <a:ln w="28575">
            <a:solidFill>
              <a:srgbClr val="F5B342"/>
            </a:solidFill>
            <a:prstDash val="solid"/>
          </a:ln>
        </p:spPr>
      </p:sp>
      <p:sp>
        <p:nvSpPr>
          <p:cNvPr id="136" name="Shape 133"/>
          <p:cNvSpPr/>
          <p:nvPr/>
        </p:nvSpPr>
        <p:spPr>
          <a:xfrm>
            <a:off x="6998360" y="3193268"/>
            <a:ext cx="231800" cy="55742"/>
          </a:xfrm>
          <a:prstGeom prst="line">
            <a:avLst/>
          </a:prstGeom>
          <a:noFill/>
          <a:ln w="28575">
            <a:solidFill>
              <a:srgbClr val="F5B342"/>
            </a:solidFill>
            <a:prstDash val="solid"/>
          </a:ln>
        </p:spPr>
      </p:sp>
      <p:sp>
        <p:nvSpPr>
          <p:cNvPr id="137" name="Shape 134"/>
          <p:cNvSpPr/>
          <p:nvPr/>
        </p:nvSpPr>
        <p:spPr>
          <a:xfrm flipV="1">
            <a:off x="7230161" y="3109655"/>
            <a:ext cx="231800" cy="139355"/>
          </a:xfrm>
          <a:prstGeom prst="line">
            <a:avLst/>
          </a:prstGeom>
          <a:noFill/>
          <a:ln w="28575">
            <a:solidFill>
              <a:srgbClr val="F5B342"/>
            </a:solidFill>
            <a:prstDash val="solid"/>
          </a:ln>
        </p:spPr>
      </p:sp>
      <p:sp>
        <p:nvSpPr>
          <p:cNvPr id="138" name="Shape 135"/>
          <p:cNvSpPr/>
          <p:nvPr/>
        </p:nvSpPr>
        <p:spPr>
          <a:xfrm>
            <a:off x="7461961" y="3109655"/>
            <a:ext cx="231800" cy="17032"/>
          </a:xfrm>
          <a:prstGeom prst="line">
            <a:avLst/>
          </a:prstGeom>
          <a:noFill/>
          <a:ln w="28575">
            <a:solidFill>
              <a:srgbClr val="F5B342"/>
            </a:solidFill>
            <a:prstDash val="solid"/>
          </a:ln>
        </p:spPr>
      </p:sp>
      <p:sp>
        <p:nvSpPr>
          <p:cNvPr id="139" name="Shape 136"/>
          <p:cNvSpPr/>
          <p:nvPr/>
        </p:nvSpPr>
        <p:spPr>
          <a:xfrm>
            <a:off x="7693762" y="3126687"/>
            <a:ext cx="231800" cy="20129"/>
          </a:xfrm>
          <a:prstGeom prst="line">
            <a:avLst/>
          </a:prstGeom>
          <a:noFill/>
          <a:ln w="28575">
            <a:solidFill>
              <a:srgbClr val="F5B342"/>
            </a:solidFill>
            <a:prstDash val="solid"/>
          </a:ln>
        </p:spPr>
      </p:sp>
      <p:sp>
        <p:nvSpPr>
          <p:cNvPr id="140" name="Shape 137"/>
          <p:cNvSpPr/>
          <p:nvPr/>
        </p:nvSpPr>
        <p:spPr>
          <a:xfrm flipV="1">
            <a:off x="7925562" y="2937784"/>
            <a:ext cx="231800" cy="209032"/>
          </a:xfrm>
          <a:prstGeom prst="line">
            <a:avLst/>
          </a:prstGeom>
          <a:noFill/>
          <a:ln w="28575">
            <a:solidFill>
              <a:srgbClr val="F5B342"/>
            </a:solidFill>
            <a:prstDash val="solid"/>
          </a:ln>
        </p:spPr>
      </p:sp>
      <p:sp>
        <p:nvSpPr>
          <p:cNvPr id="141" name="Shape 138"/>
          <p:cNvSpPr/>
          <p:nvPr/>
        </p:nvSpPr>
        <p:spPr>
          <a:xfrm flipV="1">
            <a:off x="8157362" y="2849526"/>
            <a:ext cx="231800" cy="88258"/>
          </a:xfrm>
          <a:prstGeom prst="line">
            <a:avLst/>
          </a:prstGeom>
          <a:noFill/>
          <a:ln w="28575">
            <a:solidFill>
              <a:srgbClr val="F5B342"/>
            </a:solidFill>
            <a:prstDash val="solid"/>
          </a:ln>
        </p:spPr>
      </p:sp>
      <p:sp>
        <p:nvSpPr>
          <p:cNvPr id="142" name="Shape 139"/>
          <p:cNvSpPr/>
          <p:nvPr/>
        </p:nvSpPr>
        <p:spPr>
          <a:xfrm>
            <a:off x="8389163" y="2849526"/>
            <a:ext cx="231800" cy="136258"/>
          </a:xfrm>
          <a:prstGeom prst="line">
            <a:avLst/>
          </a:prstGeom>
          <a:noFill/>
          <a:ln w="28575">
            <a:solidFill>
              <a:srgbClr val="F5B342"/>
            </a:solidFill>
            <a:prstDash val="solid"/>
          </a:ln>
        </p:spPr>
      </p:sp>
      <p:sp>
        <p:nvSpPr>
          <p:cNvPr id="143" name="Shape 140"/>
          <p:cNvSpPr/>
          <p:nvPr/>
        </p:nvSpPr>
        <p:spPr>
          <a:xfrm>
            <a:off x="8620963" y="2985784"/>
            <a:ext cx="231800" cy="119226"/>
          </a:xfrm>
          <a:prstGeom prst="line">
            <a:avLst/>
          </a:prstGeom>
          <a:noFill/>
          <a:ln w="28575">
            <a:solidFill>
              <a:srgbClr val="F5B342"/>
            </a:solidFill>
            <a:prstDash val="solid"/>
          </a:ln>
        </p:spPr>
      </p:sp>
      <p:sp>
        <p:nvSpPr>
          <p:cNvPr id="144" name="Shape 141"/>
          <p:cNvSpPr/>
          <p:nvPr/>
        </p:nvSpPr>
        <p:spPr>
          <a:xfrm flipV="1">
            <a:off x="8852764" y="3052365"/>
            <a:ext cx="231800" cy="52645"/>
          </a:xfrm>
          <a:prstGeom prst="line">
            <a:avLst/>
          </a:prstGeom>
          <a:noFill/>
          <a:ln w="28575">
            <a:solidFill>
              <a:srgbClr val="F5B342"/>
            </a:solidFill>
            <a:prstDash val="solid"/>
          </a:ln>
        </p:spPr>
      </p:sp>
      <p:sp>
        <p:nvSpPr>
          <p:cNvPr id="145" name="Shape 142"/>
          <p:cNvSpPr/>
          <p:nvPr/>
        </p:nvSpPr>
        <p:spPr>
          <a:xfrm>
            <a:off x="9084564" y="3052365"/>
            <a:ext cx="231800" cy="12387"/>
          </a:xfrm>
          <a:prstGeom prst="line">
            <a:avLst/>
          </a:prstGeom>
          <a:noFill/>
          <a:ln w="28575">
            <a:solidFill>
              <a:srgbClr val="F5B342"/>
            </a:solidFill>
            <a:prstDash val="solid"/>
          </a:ln>
        </p:spPr>
      </p:sp>
      <p:sp>
        <p:nvSpPr>
          <p:cNvPr id="146" name="Shape 143"/>
          <p:cNvSpPr/>
          <p:nvPr/>
        </p:nvSpPr>
        <p:spPr>
          <a:xfrm>
            <a:off x="9316364" y="3064752"/>
            <a:ext cx="231800" cy="6194"/>
          </a:xfrm>
          <a:prstGeom prst="line">
            <a:avLst/>
          </a:prstGeom>
          <a:noFill/>
          <a:ln w="28575">
            <a:solidFill>
              <a:srgbClr val="F5B342"/>
            </a:solidFill>
            <a:prstDash val="solid"/>
          </a:ln>
        </p:spPr>
      </p:sp>
      <p:sp>
        <p:nvSpPr>
          <p:cNvPr id="147" name="Shape 144"/>
          <p:cNvSpPr/>
          <p:nvPr/>
        </p:nvSpPr>
        <p:spPr>
          <a:xfrm>
            <a:off x="9548165" y="3070945"/>
            <a:ext cx="231800" cy="117677"/>
          </a:xfrm>
          <a:prstGeom prst="line">
            <a:avLst/>
          </a:prstGeom>
          <a:noFill/>
          <a:ln w="28575">
            <a:solidFill>
              <a:srgbClr val="F5B342"/>
            </a:solidFill>
            <a:prstDash val="solid"/>
          </a:ln>
        </p:spPr>
      </p:sp>
      <p:sp>
        <p:nvSpPr>
          <p:cNvPr id="148" name="Shape 145"/>
          <p:cNvSpPr/>
          <p:nvPr/>
        </p:nvSpPr>
        <p:spPr>
          <a:xfrm>
            <a:off x="9779965" y="3188623"/>
            <a:ext cx="231800" cy="10839"/>
          </a:xfrm>
          <a:prstGeom prst="line">
            <a:avLst/>
          </a:prstGeom>
          <a:noFill/>
          <a:ln w="28575">
            <a:solidFill>
              <a:srgbClr val="F5B342"/>
            </a:solidFill>
            <a:prstDash val="solid"/>
          </a:ln>
        </p:spPr>
      </p:sp>
      <p:sp>
        <p:nvSpPr>
          <p:cNvPr id="149" name="Shape 146"/>
          <p:cNvSpPr/>
          <p:nvPr/>
        </p:nvSpPr>
        <p:spPr>
          <a:xfrm>
            <a:off x="10011766" y="3199461"/>
            <a:ext cx="231800" cy="128516"/>
          </a:xfrm>
          <a:prstGeom prst="line">
            <a:avLst/>
          </a:prstGeom>
          <a:noFill/>
          <a:ln w="28575">
            <a:solidFill>
              <a:srgbClr val="F5B342"/>
            </a:solidFill>
            <a:prstDash val="solid"/>
          </a:ln>
        </p:spPr>
      </p:sp>
      <p:sp>
        <p:nvSpPr>
          <p:cNvPr id="150" name="Shape 147"/>
          <p:cNvSpPr/>
          <p:nvPr/>
        </p:nvSpPr>
        <p:spPr>
          <a:xfrm>
            <a:off x="10243566" y="3327977"/>
            <a:ext cx="231800" cy="161032"/>
          </a:xfrm>
          <a:prstGeom prst="line">
            <a:avLst/>
          </a:prstGeom>
          <a:noFill/>
          <a:ln w="28575">
            <a:solidFill>
              <a:srgbClr val="F5B342"/>
            </a:solidFill>
            <a:prstDash val="solid"/>
          </a:ln>
        </p:spPr>
      </p:sp>
      <p:sp>
        <p:nvSpPr>
          <p:cNvPr id="151" name="Shape 148"/>
          <p:cNvSpPr/>
          <p:nvPr/>
        </p:nvSpPr>
        <p:spPr>
          <a:xfrm>
            <a:off x="10475366" y="3489009"/>
            <a:ext cx="231800" cy="230709"/>
          </a:xfrm>
          <a:prstGeom prst="line">
            <a:avLst/>
          </a:prstGeom>
          <a:noFill/>
          <a:ln w="28575">
            <a:solidFill>
              <a:srgbClr val="F5B342"/>
            </a:solidFill>
            <a:prstDash val="solid"/>
          </a:ln>
        </p:spPr>
      </p:sp>
      <p:sp>
        <p:nvSpPr>
          <p:cNvPr id="152" name="Shape 149"/>
          <p:cNvSpPr/>
          <p:nvPr/>
        </p:nvSpPr>
        <p:spPr>
          <a:xfrm>
            <a:off x="10707167" y="3719718"/>
            <a:ext cx="231800" cy="209032"/>
          </a:xfrm>
          <a:prstGeom prst="line">
            <a:avLst/>
          </a:prstGeom>
          <a:noFill/>
          <a:ln w="28575">
            <a:solidFill>
              <a:srgbClr val="F5B342"/>
            </a:solidFill>
            <a:prstDash val="solid"/>
          </a:ln>
        </p:spPr>
      </p:sp>
      <p:sp>
        <p:nvSpPr>
          <p:cNvPr id="153" name="Shape 150"/>
          <p:cNvSpPr/>
          <p:nvPr/>
        </p:nvSpPr>
        <p:spPr>
          <a:xfrm>
            <a:off x="10938967" y="3928750"/>
            <a:ext cx="231800" cy="114580"/>
          </a:xfrm>
          <a:prstGeom prst="line">
            <a:avLst/>
          </a:prstGeom>
          <a:noFill/>
          <a:ln w="28575">
            <a:solidFill>
              <a:srgbClr val="F5B342"/>
            </a:solidFill>
            <a:prstDash val="solid"/>
          </a:ln>
        </p:spPr>
      </p:sp>
      <p:sp>
        <p:nvSpPr>
          <p:cNvPr id="154" name="Shape 151"/>
          <p:cNvSpPr/>
          <p:nvPr/>
        </p:nvSpPr>
        <p:spPr>
          <a:xfrm>
            <a:off x="11170768" y="4043330"/>
            <a:ext cx="231800" cy="0"/>
          </a:xfrm>
          <a:prstGeom prst="line">
            <a:avLst/>
          </a:prstGeom>
          <a:noFill/>
          <a:ln w="28575">
            <a:solidFill>
              <a:srgbClr val="F5B342"/>
            </a:solidFill>
            <a:prstDash val="solid"/>
          </a:ln>
        </p:spPr>
      </p:sp>
      <p:sp>
        <p:nvSpPr>
          <p:cNvPr id="155" name="Shape 152"/>
          <p:cNvSpPr/>
          <p:nvPr/>
        </p:nvSpPr>
        <p:spPr>
          <a:xfrm>
            <a:off x="11320272" y="3961034"/>
            <a:ext cx="164592" cy="164592"/>
          </a:xfrm>
          <a:prstGeom prst="ellipse">
            <a:avLst/>
          </a:prstGeom>
          <a:solidFill>
            <a:srgbClr val="F5B342">
              <a:alpha val="80000"/>
            </a:srgbClr>
          </a:solidFill>
          <a:ln w="12700">
            <a:solidFill>
              <a:srgbClr val="F5B342"/>
            </a:solidFill>
            <a:prstDash val="solid"/>
          </a:ln>
        </p:spPr>
      </p:sp>
      <p:sp>
        <p:nvSpPr>
          <p:cNvPr id="156" name="Text 153"/>
          <p:cNvSpPr txBox="1"/>
          <p:nvPr/>
        </p:nvSpPr>
        <p:spPr>
          <a:xfrm>
            <a:off x="10488168" y="3659282"/>
            <a:ext cx="1828800" cy="201168"/>
          </a:xfrm>
          <a:prstGeom prst="rect">
            <a:avLst/>
          </a:prstGeom>
          <a:noFill/>
          <a:ln/>
        </p:spPr>
        <p:txBody>
          <a:bodyPr wrap="square" lIns="0" tIns="0" rIns="0" bIns="0" rtlCol="0" anchor="ctr"/>
          <a:lstStyle/>
          <a:p>
            <a:pPr algn="ctr" indent="0" marL="0">
              <a:buNone/>
            </a:pPr>
            <a:r>
              <a:rPr lang="en-US" sz="800" b="1" dirty="0">
                <a:solidFill>
                  <a:srgbClr val="F5B342"/>
                </a:solidFill>
                <a:latin typeface="Arial" pitchFamily="34" charset="0"/>
                <a:ea typeface="Arial" pitchFamily="34" charset="-122"/>
                <a:cs typeface="Arial" pitchFamily="34" charset="-120"/>
              </a:rPr>
              <a:t>pronóstico 3,06 %</a:t>
            </a:r>
            <a:endParaRPr lang="en-US" sz="800" dirty="0"/>
          </a:p>
        </p:txBody>
      </p:sp>
      <p:sp>
        <p:nvSpPr>
          <p:cNvPr id="157" name="Shape 154"/>
          <p:cNvSpPr/>
          <p:nvPr/>
        </p:nvSpPr>
        <p:spPr>
          <a:xfrm>
            <a:off x="9052560" y="2084832"/>
            <a:ext cx="109728" cy="109728"/>
          </a:xfrm>
          <a:prstGeom prst="ellipse">
            <a:avLst/>
          </a:prstGeom>
          <a:solidFill>
            <a:srgbClr val="7FA3D9"/>
          </a:solidFill>
          <a:ln/>
        </p:spPr>
      </p:sp>
      <p:sp>
        <p:nvSpPr>
          <p:cNvPr id="158" name="Text 155"/>
          <p:cNvSpPr txBox="1"/>
          <p:nvPr/>
        </p:nvSpPr>
        <p:spPr>
          <a:xfrm>
            <a:off x="9208008" y="2029968"/>
            <a:ext cx="817108"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tasa mensual</a:t>
            </a:r>
            <a:endParaRPr lang="en-US" sz="850" dirty="0"/>
          </a:p>
        </p:txBody>
      </p:sp>
      <p:sp>
        <p:nvSpPr>
          <p:cNvPr id="159" name="Shape 156"/>
          <p:cNvSpPr/>
          <p:nvPr/>
        </p:nvSpPr>
        <p:spPr>
          <a:xfrm>
            <a:off x="10207996" y="2084832"/>
            <a:ext cx="109728" cy="109728"/>
          </a:xfrm>
          <a:prstGeom prst="ellipse">
            <a:avLst/>
          </a:prstGeom>
          <a:solidFill>
            <a:srgbClr val="F5B342"/>
          </a:solidFill>
          <a:ln/>
        </p:spPr>
      </p:sp>
      <p:sp>
        <p:nvSpPr>
          <p:cNvPr id="160" name="Text 157"/>
          <p:cNvSpPr txBox="1"/>
          <p:nvPr/>
        </p:nvSpPr>
        <p:spPr>
          <a:xfrm>
            <a:off x="10363444" y="2029968"/>
            <a:ext cx="394289"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EWMA</a:t>
            </a:r>
            <a:endParaRPr lang="en-US" sz="850" dirty="0"/>
          </a:p>
        </p:txBody>
      </p:sp>
      <p:sp>
        <p:nvSpPr>
          <p:cNvPr id="161" name="Shape 158"/>
          <p:cNvSpPr/>
          <p:nvPr/>
        </p:nvSpPr>
        <p:spPr>
          <a:xfrm>
            <a:off x="502920" y="5074920"/>
            <a:ext cx="2697480" cy="841248"/>
          </a:xfrm>
          <a:prstGeom prst="roundRect">
            <a:avLst>
              <a:gd name="adj" fmla="val 8696"/>
            </a:avLst>
          </a:prstGeom>
          <a:solidFill>
            <a:srgbClr val="0F1930"/>
          </a:solidFill>
          <a:ln w="15875">
            <a:solidFill>
              <a:srgbClr val="F5B342"/>
            </a:solidFill>
            <a:prstDash val="solid"/>
          </a:ln>
        </p:spPr>
      </p:sp>
      <p:sp>
        <p:nvSpPr>
          <p:cNvPr id="162" name="Text 159"/>
          <p:cNvSpPr txBox="1"/>
          <p:nvPr/>
        </p:nvSpPr>
        <p:spPr>
          <a:xfrm>
            <a:off x="640080" y="5148072"/>
            <a:ext cx="2423160" cy="329184"/>
          </a:xfrm>
          <a:prstGeom prst="rect">
            <a:avLst/>
          </a:prstGeom>
          <a:noFill/>
          <a:ln/>
        </p:spPr>
        <p:txBody>
          <a:bodyPr wrap="square" lIns="0" tIns="0" rIns="0" bIns="0" rtlCol="0" anchor="ctr"/>
          <a:lstStyle/>
          <a:p>
            <a:pPr algn="l" indent="0" marL="0">
              <a:buNone/>
            </a:pPr>
            <a:r>
              <a:rPr lang="en-US" sz="2000" b="1" dirty="0">
                <a:solidFill>
                  <a:srgbClr val="F5B342"/>
                </a:solidFill>
                <a:latin typeface="Arial" pitchFamily="34" charset="0"/>
                <a:ea typeface="Arial" pitchFamily="34" charset="-122"/>
                <a:cs typeface="Arial" pitchFamily="34" charset="-120"/>
              </a:rPr>
              <a:t>feb-26</a:t>
            </a:r>
            <a:endParaRPr lang="en-US" sz="2000" dirty="0"/>
          </a:p>
        </p:txBody>
      </p:sp>
      <p:sp>
        <p:nvSpPr>
          <p:cNvPr id="163" name="Text 160"/>
          <p:cNvSpPr txBox="1"/>
          <p:nvPr/>
        </p:nvSpPr>
        <p:spPr>
          <a:xfrm>
            <a:off x="640080"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QUIEBRE DE LA SERIE (CUSUM)</a:t>
            </a:r>
            <a:endParaRPr lang="en-US" sz="750" dirty="0"/>
          </a:p>
        </p:txBody>
      </p:sp>
      <p:sp>
        <p:nvSpPr>
          <p:cNvPr id="164" name="Text 161"/>
          <p:cNvSpPr txBox="1"/>
          <p:nvPr/>
        </p:nvSpPr>
        <p:spPr>
          <a:xfrm>
            <a:off x="640080"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enero 2026 queda en la media (9,24 %); el descenso sostenido empieza en febrero</a:t>
            </a:r>
            <a:endParaRPr lang="en-US" sz="850" dirty="0"/>
          </a:p>
        </p:txBody>
      </p:sp>
      <p:sp>
        <p:nvSpPr>
          <p:cNvPr id="165" name="Shape 162"/>
          <p:cNvSpPr/>
          <p:nvPr/>
        </p:nvSpPr>
        <p:spPr>
          <a:xfrm>
            <a:off x="3328416" y="5074920"/>
            <a:ext cx="2697480" cy="841248"/>
          </a:xfrm>
          <a:prstGeom prst="roundRect">
            <a:avLst>
              <a:gd name="adj" fmla="val 8696"/>
            </a:avLst>
          </a:prstGeom>
          <a:solidFill>
            <a:srgbClr val="0F1930"/>
          </a:solidFill>
          <a:ln w="9525">
            <a:solidFill>
              <a:srgbClr val="22304A"/>
            </a:solidFill>
            <a:prstDash val="solid"/>
          </a:ln>
        </p:spPr>
      </p:sp>
      <p:sp>
        <p:nvSpPr>
          <p:cNvPr id="166" name="Text 163"/>
          <p:cNvSpPr txBox="1"/>
          <p:nvPr/>
        </p:nvSpPr>
        <p:spPr>
          <a:xfrm>
            <a:off x="3465576" y="5148072"/>
            <a:ext cx="2423160" cy="329184"/>
          </a:xfrm>
          <a:prstGeom prst="rect">
            <a:avLst/>
          </a:prstGeom>
          <a:noFill/>
          <a:ln/>
        </p:spPr>
        <p:txBody>
          <a:bodyPr wrap="square" lIns="0" tIns="0" rIns="0" bIns="0" rtlCol="0" anchor="ctr"/>
          <a:lstStyle/>
          <a:p>
            <a:pPr algn="l" indent="0" marL="0">
              <a:buNone/>
            </a:pPr>
            <a:r>
              <a:rPr lang="en-US" sz="2000" b="1" dirty="0">
                <a:solidFill>
                  <a:srgbClr val="34D399"/>
                </a:solidFill>
                <a:latin typeface="Arial" pitchFamily="34" charset="0"/>
                <a:ea typeface="Arial" pitchFamily="34" charset="-122"/>
                <a:cs typeface="Arial" pitchFamily="34" charset="-120"/>
              </a:rPr>
              <a:t>64</a:t>
            </a:r>
            <a:endParaRPr lang="en-US" sz="2000" dirty="0"/>
          </a:p>
        </p:txBody>
      </p:sp>
      <p:sp>
        <p:nvSpPr>
          <p:cNvPr id="167" name="Text 164"/>
          <p:cNvSpPr txBox="1"/>
          <p:nvPr/>
        </p:nvSpPr>
        <p:spPr>
          <a:xfrm>
            <a:off x="3465576" y="5458968"/>
            <a:ext cx="2423160" cy="182880"/>
          </a:xfrm>
          <a:prstGeom prst="rect">
            <a:avLst/>
          </a:prstGeom>
          <a:noFill/>
          <a:ln/>
        </p:spPr>
        <p:txBody>
          <a:bodyPr wrap="square" lIns="0" tIns="0" rIns="0" bIns="0" rtlCol="0" anchor="ctr"/>
          <a:lstStyle/>
          <a:p>
            <a:pPr algn="l" indent="0" marL="0">
              <a:buNone/>
            </a:pPr>
            <a:r>
              <a:rPr lang="en-US" sz="650" b="1" spc="60" kern="0" dirty="0">
                <a:solidFill>
                  <a:srgbClr val="BCCDE8"/>
                </a:solidFill>
                <a:latin typeface="Arial" pitchFamily="34" charset="0"/>
                <a:ea typeface="Arial" pitchFamily="34" charset="-122"/>
                <a:cs typeface="Arial" pitchFamily="34" charset="-120"/>
              </a:rPr>
              <a:t>BAJO LO ESPERADO DESDE EL QUIEBRE</a:t>
            </a:r>
            <a:endParaRPr lang="en-US" sz="650" dirty="0"/>
          </a:p>
        </p:txBody>
      </p:sp>
      <p:sp>
        <p:nvSpPr>
          <p:cNvPr id="168" name="Text 165"/>
          <p:cNvSpPr txBox="1"/>
          <p:nvPr/>
        </p:nvSpPr>
        <p:spPr>
          <a:xfrm>
            <a:off x="3465576"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suspensiones acumuladas por debajo de la tasa 2025 (9,38 %) entre el quiebre y agosto</a:t>
            </a:r>
            <a:endParaRPr lang="en-US" sz="850" dirty="0"/>
          </a:p>
        </p:txBody>
      </p:sp>
      <p:sp>
        <p:nvSpPr>
          <p:cNvPr id="169" name="Shape 166"/>
          <p:cNvSpPr/>
          <p:nvPr/>
        </p:nvSpPr>
        <p:spPr>
          <a:xfrm>
            <a:off x="6153912" y="5074920"/>
            <a:ext cx="2697480" cy="841248"/>
          </a:xfrm>
          <a:prstGeom prst="roundRect">
            <a:avLst>
              <a:gd name="adj" fmla="val 8696"/>
            </a:avLst>
          </a:prstGeom>
          <a:solidFill>
            <a:srgbClr val="0F1930"/>
          </a:solidFill>
          <a:ln w="9525">
            <a:solidFill>
              <a:srgbClr val="22304A"/>
            </a:solidFill>
            <a:prstDash val="solid"/>
          </a:ln>
        </p:spPr>
      </p:sp>
      <p:sp>
        <p:nvSpPr>
          <p:cNvPr id="170" name="Text 167"/>
          <p:cNvSpPr txBox="1"/>
          <p:nvPr/>
        </p:nvSpPr>
        <p:spPr>
          <a:xfrm>
            <a:off x="6291072" y="514807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5,6 (2–10)</a:t>
            </a:r>
            <a:endParaRPr lang="en-US" sz="1800" dirty="0"/>
          </a:p>
        </p:txBody>
      </p:sp>
      <p:sp>
        <p:nvSpPr>
          <p:cNvPr id="171" name="Text 168"/>
          <p:cNvSpPr txBox="1"/>
          <p:nvPr/>
        </p:nvSpPr>
        <p:spPr>
          <a:xfrm>
            <a:off x="6291072"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SEPTIEMBRE · EWMA PRUDENTE</a:t>
            </a:r>
            <a:endParaRPr lang="en-US" sz="750" dirty="0"/>
          </a:p>
        </p:txBody>
      </p:sp>
      <p:sp>
        <p:nvSpPr>
          <p:cNvPr id="172" name="Text 169"/>
          <p:cNvSpPr txBox="1"/>
          <p:nvPr/>
        </p:nvSpPr>
        <p:spPr>
          <a:xfrm>
            <a:off x="6291072"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3,06 % sobre 184 programadas · más de 10 sería una señal de deterioro</a:t>
            </a:r>
            <a:endParaRPr lang="en-US" sz="850" dirty="0"/>
          </a:p>
        </p:txBody>
      </p:sp>
      <p:sp>
        <p:nvSpPr>
          <p:cNvPr id="173" name="Shape 170"/>
          <p:cNvSpPr/>
          <p:nvPr/>
        </p:nvSpPr>
        <p:spPr>
          <a:xfrm>
            <a:off x="8979408" y="5074920"/>
            <a:ext cx="2697480" cy="841248"/>
          </a:xfrm>
          <a:prstGeom prst="roundRect">
            <a:avLst>
              <a:gd name="adj" fmla="val 8696"/>
            </a:avLst>
          </a:prstGeom>
          <a:solidFill>
            <a:srgbClr val="0F1930"/>
          </a:solidFill>
          <a:ln w="15875">
            <a:solidFill>
              <a:srgbClr val="34D399"/>
            </a:solidFill>
            <a:prstDash val="solid"/>
          </a:ln>
        </p:spPr>
      </p:sp>
      <p:sp>
        <p:nvSpPr>
          <p:cNvPr id="174" name="Text 171"/>
          <p:cNvSpPr txBox="1"/>
          <p:nvPr/>
        </p:nvSpPr>
        <p:spPr>
          <a:xfrm>
            <a:off x="9116568" y="5148072"/>
            <a:ext cx="2423160" cy="329184"/>
          </a:xfrm>
          <a:prstGeom prst="rect">
            <a:avLst/>
          </a:prstGeom>
          <a:noFill/>
          <a:ln/>
        </p:spPr>
        <p:txBody>
          <a:bodyPr wrap="square" lIns="0" tIns="0" rIns="0" bIns="0" rtlCol="0" anchor="ctr"/>
          <a:lstStyle/>
          <a:p>
            <a:pPr algn="l" indent="0" marL="0">
              <a:buNone/>
            </a:pPr>
            <a:r>
              <a:rPr lang="en-US" sz="2000" b="1" dirty="0">
                <a:solidFill>
                  <a:srgbClr val="34D399"/>
                </a:solidFill>
                <a:latin typeface="Arial" pitchFamily="34" charset="0"/>
                <a:ea typeface="Arial" pitchFamily="34" charset="-122"/>
                <a:cs typeface="Arial" pitchFamily="34" charset="-120"/>
              </a:rPr>
              <a:t>≈ 2</a:t>
            </a:r>
            <a:endParaRPr lang="en-US" sz="2000" dirty="0"/>
          </a:p>
        </p:txBody>
      </p:sp>
      <p:sp>
        <p:nvSpPr>
          <p:cNvPr id="175" name="Text 172"/>
          <p:cNvSpPr txBox="1"/>
          <p:nvPr/>
        </p:nvSpPr>
        <p:spPr>
          <a:xfrm>
            <a:off x="9116568" y="5458968"/>
            <a:ext cx="2423160" cy="182880"/>
          </a:xfrm>
          <a:prstGeom prst="rect">
            <a:avLst/>
          </a:prstGeom>
          <a:noFill/>
          <a:ln/>
        </p:spPr>
        <p:txBody>
          <a:bodyPr wrap="square" lIns="0" tIns="0" rIns="0" bIns="0" rtlCol="0" anchor="ctr"/>
          <a:lstStyle/>
          <a:p>
            <a:pPr algn="l" indent="0" marL="0">
              <a:buNone/>
            </a:pPr>
            <a:r>
              <a:rPr lang="en-US" sz="650" b="1" spc="60" kern="0" dirty="0">
                <a:solidFill>
                  <a:srgbClr val="BCCDE8"/>
                </a:solidFill>
                <a:latin typeface="Arial" pitchFamily="34" charset="0"/>
                <a:ea typeface="Arial" pitchFamily="34" charset="-122"/>
                <a:cs typeface="Arial" pitchFamily="34" charset="-120"/>
              </a:rPr>
              <a:t>SEPTIEMBRE · SI SE SOSTIENE JUN–AGO</a:t>
            </a:r>
            <a:endParaRPr lang="en-US" sz="650" dirty="0"/>
          </a:p>
        </p:txBody>
      </p:sp>
      <p:sp>
        <p:nvSpPr>
          <p:cNvPr id="176" name="Text 173"/>
          <p:cNvSpPr txBox="1"/>
          <p:nvPr/>
        </p:nvSpPr>
        <p:spPr>
          <a:xfrm>
            <a:off x="9116568" y="5623560"/>
            <a:ext cx="2423160" cy="274320"/>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1,23 % sobre 184 programadas · entre 0 y 5 cae dentro del régimen actual</a:t>
            </a:r>
            <a:endParaRPr lang="en-US" sz="850" dirty="0"/>
          </a:p>
        </p:txBody>
      </p:sp>
      <p:sp>
        <p:nvSpPr>
          <p:cNvPr id="177" name="Text 174"/>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Lectura simple: el CUSUM muestra cuándo el proceso dejó de comportarse como 2025; la EWMA suaviza el azar mes a mes y da un pronóstico prudente. Ambos usan solo la serie homogénea del monitoreo (L–V).</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06  ·  SUSPENSIONES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Cuatro fuentes, cuatro poblaciones: los indicadores no se suman</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Cada indicador se lee con su denominador y alcance propios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07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834640"/>
                <a:gridCol w="1920240"/>
                <a:gridCol w="3657600"/>
                <a:gridCol w="2761488"/>
              </a:tblGrid>
              <a:tr h="457200">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Fuente y población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2026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Qué mide</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Cómo se lee</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Monitoreo · hábil L–V</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 / 152 = 1,32 %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Programación normal de CME, lunes a viernes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Indicador solicitado por el comité</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Monitoreo · total calendario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 / 385 = 0,52 %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El mismo campo, todas las fechas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Diluido por el fin de semana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Monitoreo · fin de semana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0 / 233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Su campo declara cero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No significa ausencia operativa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Registro operativo (informe 5-sep)</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38 suspensiones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19 L–V + 19 fin de semana · 37 electivas + 1 urgencia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Conteo; no es una tasa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REM832 (nuevo sistema)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 suspensiones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 hábil · 2 inhábil L–V · 1 fin de semana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Clasificación propia; fuente diferenciada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Tablero SITGEQ</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7,5 %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Cohorte de agenda confirmada · pabellones 2–4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Fórmula y cohorte del escritorio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502920" y="5029200"/>
            <a:ext cx="5440680" cy="841248"/>
          </a:xfrm>
          <a:prstGeom prst="roundRect">
            <a:avLst>
              <a:gd name="adj" fmla="val 8696"/>
            </a:avLst>
          </a:prstGeom>
          <a:solidFill>
            <a:srgbClr val="0F1930"/>
          </a:solidFill>
          <a:ln w="15875">
            <a:solidFill>
              <a:srgbClr val="2DD4BF"/>
            </a:solidFill>
            <a:prstDash val="solid"/>
          </a:ln>
        </p:spPr>
      </p:sp>
      <p:sp>
        <p:nvSpPr>
          <p:cNvPr id="12" name="Text 8"/>
          <p:cNvSpPr txBox="1"/>
          <p:nvPr/>
        </p:nvSpPr>
        <p:spPr>
          <a:xfrm>
            <a:off x="649224" y="5138928"/>
            <a:ext cx="5148072"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LAS DOS DEL MONITOREO ESTÁN DENTRO DE LAS 38</a:t>
            </a:r>
            <a:endParaRPr lang="en-US" sz="1150" dirty="0"/>
          </a:p>
        </p:txBody>
      </p:sp>
      <p:sp>
        <p:nvSpPr>
          <p:cNvPr id="13" name="Text 9"/>
          <p:cNvSpPr txBox="1"/>
          <p:nvPr/>
        </p:nvSpPr>
        <p:spPr>
          <a:xfrm>
            <a:off x="649224" y="5449824"/>
            <a:ext cx="5148072" cy="329184"/>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No se suman: 3 y 17 de agosto, Traumatología, cirugía mayor directa. Las 18 oftalmológicas están dentro de las 22 condicionales.</a:t>
            </a:r>
            <a:endParaRPr lang="en-US" sz="1050" dirty="0"/>
          </a:p>
        </p:txBody>
      </p:sp>
      <p:sp>
        <p:nvSpPr>
          <p:cNvPr id="14" name="Shape 10"/>
          <p:cNvSpPr/>
          <p:nvPr/>
        </p:nvSpPr>
        <p:spPr>
          <a:xfrm>
            <a:off x="6236208" y="5029200"/>
            <a:ext cx="5440680" cy="841248"/>
          </a:xfrm>
          <a:prstGeom prst="roundRect">
            <a:avLst>
              <a:gd name="adj" fmla="val 8696"/>
            </a:avLst>
          </a:prstGeom>
          <a:solidFill>
            <a:srgbClr val="0F1930"/>
          </a:solidFill>
          <a:ln w="15875">
            <a:solidFill>
              <a:srgbClr val="F5B342"/>
            </a:solidFill>
            <a:prstDash val="solid"/>
          </a:ln>
        </p:spPr>
      </p:sp>
      <p:sp>
        <p:nvSpPr>
          <p:cNvPr id="15" name="Text 11"/>
          <p:cNvSpPr txBox="1"/>
          <p:nvPr/>
        </p:nvSpPr>
        <p:spPr>
          <a:xfrm>
            <a:off x="6382512" y="5138928"/>
            <a:ext cx="5148072"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NO SE CALCULA UNA TASA OFTALMOLÓGICA</a:t>
            </a:r>
            <a:endParaRPr lang="en-US" sz="1150" dirty="0"/>
          </a:p>
        </p:txBody>
      </p:sp>
      <p:sp>
        <p:nvSpPr>
          <p:cNvPr id="16" name="Text 12"/>
          <p:cNvSpPr txBox="1"/>
          <p:nvPr/>
        </p:nvSpPr>
        <p:spPr>
          <a:xfrm>
            <a:off x="6382512" y="5449824"/>
            <a:ext cx="5148072" cy="329184"/>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18 / 251 queda descartada: las suspensiones no coinciden por identidad y fecha con las 251 programadas del REM.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07  ·  REGISTRO COMPLETO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Registro total de suspensiones —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38 eventos en el universo completo (informe operativo 1–31 ago) · solo 2 son CME normal hábil — los eventos MINSAL</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08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68580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UN BLOQUE = UN EVENTO  ·  AGRUPADO POR CLASE DE EVITABILIDAD (CAUSAL REGISTRADA)</a:t>
            </a:r>
            <a:endParaRPr lang="en-US" sz="850" dirty="0"/>
          </a:p>
        </p:txBody>
      </p:sp>
      <p:sp>
        <p:nvSpPr>
          <p:cNvPr id="11" name="Shape 8"/>
          <p:cNvSpPr/>
          <p:nvPr/>
        </p:nvSpPr>
        <p:spPr>
          <a:xfrm>
            <a:off x="502920"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2" name="Shape 9"/>
          <p:cNvSpPr/>
          <p:nvPr/>
        </p:nvSpPr>
        <p:spPr>
          <a:xfrm>
            <a:off x="1161288"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3" name="Shape 10"/>
          <p:cNvSpPr/>
          <p:nvPr/>
        </p:nvSpPr>
        <p:spPr>
          <a:xfrm>
            <a:off x="1819656"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4" name="Shape 11"/>
          <p:cNvSpPr/>
          <p:nvPr/>
        </p:nvSpPr>
        <p:spPr>
          <a:xfrm>
            <a:off x="2478024"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5" name="Shape 12"/>
          <p:cNvSpPr/>
          <p:nvPr/>
        </p:nvSpPr>
        <p:spPr>
          <a:xfrm>
            <a:off x="3136392"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6" name="Shape 13"/>
          <p:cNvSpPr/>
          <p:nvPr/>
        </p:nvSpPr>
        <p:spPr>
          <a:xfrm>
            <a:off x="3794760"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7" name="Shape 14"/>
          <p:cNvSpPr/>
          <p:nvPr/>
        </p:nvSpPr>
        <p:spPr>
          <a:xfrm>
            <a:off x="4453128"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8" name="Shape 15"/>
          <p:cNvSpPr/>
          <p:nvPr/>
        </p:nvSpPr>
        <p:spPr>
          <a:xfrm>
            <a:off x="5111496"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19" name="Shape 16"/>
          <p:cNvSpPr/>
          <p:nvPr/>
        </p:nvSpPr>
        <p:spPr>
          <a:xfrm>
            <a:off x="5769864"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20" name="Shape 17"/>
          <p:cNvSpPr/>
          <p:nvPr/>
        </p:nvSpPr>
        <p:spPr>
          <a:xfrm>
            <a:off x="6428232" y="2057400"/>
            <a:ext cx="566928" cy="457200"/>
          </a:xfrm>
          <a:prstGeom prst="roundRect">
            <a:avLst>
              <a:gd name="adj" fmla="val 12000"/>
            </a:avLst>
          </a:prstGeom>
          <a:solidFill>
            <a:srgbClr val="F26B6B">
              <a:alpha val="65000"/>
            </a:srgbClr>
          </a:solidFill>
          <a:ln w="12700">
            <a:solidFill>
              <a:srgbClr val="F26B6B"/>
            </a:solidFill>
            <a:prstDash val="solid"/>
          </a:ln>
        </p:spPr>
      </p:sp>
      <p:sp>
        <p:nvSpPr>
          <p:cNvPr id="21" name="Shape 18"/>
          <p:cNvSpPr/>
          <p:nvPr/>
        </p:nvSpPr>
        <p:spPr>
          <a:xfrm>
            <a:off x="502920" y="2606040"/>
            <a:ext cx="566928" cy="457200"/>
          </a:xfrm>
          <a:prstGeom prst="roundRect">
            <a:avLst>
              <a:gd name="adj" fmla="val 12000"/>
            </a:avLst>
          </a:prstGeom>
          <a:solidFill>
            <a:srgbClr val="F5B342">
              <a:alpha val="65000"/>
            </a:srgbClr>
          </a:solidFill>
          <a:ln w="12700">
            <a:solidFill>
              <a:srgbClr val="F5B342"/>
            </a:solidFill>
            <a:prstDash val="solid"/>
          </a:ln>
        </p:spPr>
      </p:sp>
      <p:sp>
        <p:nvSpPr>
          <p:cNvPr id="22" name="Shape 19"/>
          <p:cNvSpPr/>
          <p:nvPr/>
        </p:nvSpPr>
        <p:spPr>
          <a:xfrm>
            <a:off x="1161288" y="2606040"/>
            <a:ext cx="566928" cy="457200"/>
          </a:xfrm>
          <a:prstGeom prst="roundRect">
            <a:avLst>
              <a:gd name="adj" fmla="val 12000"/>
            </a:avLst>
          </a:prstGeom>
          <a:solidFill>
            <a:srgbClr val="F5B342">
              <a:alpha val="65000"/>
            </a:srgbClr>
          </a:solidFill>
          <a:ln w="12700">
            <a:solidFill>
              <a:srgbClr val="F5B342"/>
            </a:solidFill>
            <a:prstDash val="solid"/>
          </a:ln>
        </p:spPr>
      </p:sp>
      <p:sp>
        <p:nvSpPr>
          <p:cNvPr id="23" name="Shape 20"/>
          <p:cNvSpPr/>
          <p:nvPr/>
        </p:nvSpPr>
        <p:spPr>
          <a:xfrm>
            <a:off x="1819656" y="2606040"/>
            <a:ext cx="566928" cy="457200"/>
          </a:xfrm>
          <a:prstGeom prst="roundRect">
            <a:avLst>
              <a:gd name="adj" fmla="val 12000"/>
            </a:avLst>
          </a:prstGeom>
          <a:solidFill>
            <a:srgbClr val="F5B342">
              <a:alpha val="65000"/>
            </a:srgbClr>
          </a:solidFill>
          <a:ln w="12700">
            <a:solidFill>
              <a:srgbClr val="F5B342"/>
            </a:solidFill>
            <a:prstDash val="solid"/>
          </a:ln>
        </p:spPr>
      </p:sp>
      <p:sp>
        <p:nvSpPr>
          <p:cNvPr id="24" name="Shape 21"/>
          <p:cNvSpPr/>
          <p:nvPr/>
        </p:nvSpPr>
        <p:spPr>
          <a:xfrm>
            <a:off x="2478024" y="2606040"/>
            <a:ext cx="566928" cy="457200"/>
          </a:xfrm>
          <a:prstGeom prst="roundRect">
            <a:avLst>
              <a:gd name="adj" fmla="val 12000"/>
            </a:avLst>
          </a:prstGeom>
          <a:solidFill>
            <a:srgbClr val="F5B342">
              <a:alpha val="65000"/>
            </a:srgbClr>
          </a:solidFill>
          <a:ln w="12700">
            <a:solidFill>
              <a:srgbClr val="F5B342"/>
            </a:solidFill>
            <a:prstDash val="solid"/>
          </a:ln>
        </p:spPr>
      </p:sp>
      <p:sp>
        <p:nvSpPr>
          <p:cNvPr id="25" name="Shape 22"/>
          <p:cNvSpPr/>
          <p:nvPr/>
        </p:nvSpPr>
        <p:spPr>
          <a:xfrm>
            <a:off x="3136392" y="2606040"/>
            <a:ext cx="566928" cy="457200"/>
          </a:xfrm>
          <a:prstGeom prst="roundRect">
            <a:avLst>
              <a:gd name="adj" fmla="val 12000"/>
            </a:avLst>
          </a:prstGeom>
          <a:solidFill>
            <a:srgbClr val="F5B342">
              <a:alpha val="65000"/>
            </a:srgbClr>
          </a:solidFill>
          <a:ln w="12700">
            <a:solidFill>
              <a:srgbClr val="F5B342"/>
            </a:solidFill>
            <a:prstDash val="solid"/>
          </a:ln>
        </p:spPr>
      </p:sp>
      <p:sp>
        <p:nvSpPr>
          <p:cNvPr id="26" name="Shape 23"/>
          <p:cNvSpPr/>
          <p:nvPr/>
        </p:nvSpPr>
        <p:spPr>
          <a:xfrm>
            <a:off x="3794760" y="2606040"/>
            <a:ext cx="566928" cy="457200"/>
          </a:xfrm>
          <a:prstGeom prst="roundRect">
            <a:avLst>
              <a:gd name="adj" fmla="val 12000"/>
            </a:avLst>
          </a:prstGeom>
          <a:solidFill>
            <a:srgbClr val="34D399">
              <a:alpha val="65000"/>
            </a:srgbClr>
          </a:solidFill>
          <a:ln w="12700">
            <a:solidFill>
              <a:srgbClr val="34D399"/>
            </a:solidFill>
            <a:prstDash val="solid"/>
          </a:ln>
        </p:spPr>
      </p:sp>
      <p:sp>
        <p:nvSpPr>
          <p:cNvPr id="27" name="Shape 24"/>
          <p:cNvSpPr/>
          <p:nvPr/>
        </p:nvSpPr>
        <p:spPr>
          <a:xfrm>
            <a:off x="4453128" y="2606040"/>
            <a:ext cx="566928" cy="457200"/>
          </a:xfrm>
          <a:prstGeom prst="roundRect">
            <a:avLst>
              <a:gd name="adj" fmla="val 12000"/>
            </a:avLst>
          </a:prstGeom>
          <a:solidFill>
            <a:srgbClr val="34D399">
              <a:alpha val="65000"/>
            </a:srgbClr>
          </a:solidFill>
          <a:ln w="12700">
            <a:solidFill>
              <a:srgbClr val="34D399"/>
            </a:solidFill>
            <a:prstDash val="solid"/>
          </a:ln>
        </p:spPr>
      </p:sp>
      <p:sp>
        <p:nvSpPr>
          <p:cNvPr id="28" name="Shape 25"/>
          <p:cNvSpPr/>
          <p:nvPr/>
        </p:nvSpPr>
        <p:spPr>
          <a:xfrm>
            <a:off x="5111496" y="2606040"/>
            <a:ext cx="566928" cy="457200"/>
          </a:xfrm>
          <a:prstGeom prst="roundRect">
            <a:avLst>
              <a:gd name="adj" fmla="val 12000"/>
            </a:avLst>
          </a:prstGeom>
          <a:solidFill>
            <a:srgbClr val="34D399">
              <a:alpha val="65000"/>
            </a:srgbClr>
          </a:solidFill>
          <a:ln w="12700">
            <a:solidFill>
              <a:srgbClr val="34D399"/>
            </a:solidFill>
            <a:prstDash val="solid"/>
          </a:ln>
        </p:spPr>
      </p:sp>
      <p:sp>
        <p:nvSpPr>
          <p:cNvPr id="29" name="Shape 26"/>
          <p:cNvSpPr/>
          <p:nvPr/>
        </p:nvSpPr>
        <p:spPr>
          <a:xfrm>
            <a:off x="5769864" y="2606040"/>
            <a:ext cx="566928" cy="457200"/>
          </a:xfrm>
          <a:prstGeom prst="roundRect">
            <a:avLst>
              <a:gd name="adj" fmla="val 12000"/>
            </a:avLst>
          </a:prstGeom>
          <a:solidFill>
            <a:srgbClr val="34D399">
              <a:alpha val="65000"/>
            </a:srgbClr>
          </a:solidFill>
          <a:ln w="12700">
            <a:solidFill>
              <a:srgbClr val="34D399"/>
            </a:solidFill>
            <a:prstDash val="solid"/>
          </a:ln>
        </p:spPr>
      </p:sp>
      <p:sp>
        <p:nvSpPr>
          <p:cNvPr id="30" name="Shape 27"/>
          <p:cNvSpPr/>
          <p:nvPr/>
        </p:nvSpPr>
        <p:spPr>
          <a:xfrm>
            <a:off x="6428232" y="2606040"/>
            <a:ext cx="566928" cy="457200"/>
          </a:xfrm>
          <a:prstGeom prst="roundRect">
            <a:avLst>
              <a:gd name="adj" fmla="val 12000"/>
            </a:avLst>
          </a:prstGeom>
          <a:solidFill>
            <a:srgbClr val="34D399">
              <a:alpha val="65000"/>
            </a:srgbClr>
          </a:solidFill>
          <a:ln w="12700">
            <a:solidFill>
              <a:srgbClr val="34D399"/>
            </a:solidFill>
            <a:prstDash val="solid"/>
          </a:ln>
        </p:spPr>
      </p:sp>
      <p:sp>
        <p:nvSpPr>
          <p:cNvPr id="31" name="Shape 28"/>
          <p:cNvSpPr/>
          <p:nvPr/>
        </p:nvSpPr>
        <p:spPr>
          <a:xfrm>
            <a:off x="502920"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2" name="Shape 29"/>
          <p:cNvSpPr/>
          <p:nvPr/>
        </p:nvSpPr>
        <p:spPr>
          <a:xfrm>
            <a:off x="1161288"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3" name="Shape 30"/>
          <p:cNvSpPr/>
          <p:nvPr/>
        </p:nvSpPr>
        <p:spPr>
          <a:xfrm>
            <a:off x="1819656"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4" name="Shape 31"/>
          <p:cNvSpPr/>
          <p:nvPr/>
        </p:nvSpPr>
        <p:spPr>
          <a:xfrm>
            <a:off x="2478024"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5" name="Shape 32"/>
          <p:cNvSpPr/>
          <p:nvPr/>
        </p:nvSpPr>
        <p:spPr>
          <a:xfrm>
            <a:off x="3136392"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6" name="Shape 33"/>
          <p:cNvSpPr/>
          <p:nvPr/>
        </p:nvSpPr>
        <p:spPr>
          <a:xfrm>
            <a:off x="3794760"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7" name="Shape 34"/>
          <p:cNvSpPr/>
          <p:nvPr/>
        </p:nvSpPr>
        <p:spPr>
          <a:xfrm>
            <a:off x="4453128"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8" name="Shape 35"/>
          <p:cNvSpPr/>
          <p:nvPr/>
        </p:nvSpPr>
        <p:spPr>
          <a:xfrm>
            <a:off x="5111496"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39" name="Shape 36"/>
          <p:cNvSpPr/>
          <p:nvPr/>
        </p:nvSpPr>
        <p:spPr>
          <a:xfrm>
            <a:off x="5769864"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40" name="Shape 37"/>
          <p:cNvSpPr/>
          <p:nvPr/>
        </p:nvSpPr>
        <p:spPr>
          <a:xfrm>
            <a:off x="6428232" y="3154680"/>
            <a:ext cx="566928" cy="457200"/>
          </a:xfrm>
          <a:prstGeom prst="roundRect">
            <a:avLst>
              <a:gd name="adj" fmla="val 12000"/>
            </a:avLst>
          </a:prstGeom>
          <a:solidFill>
            <a:srgbClr val="5B6B85">
              <a:alpha val="65000"/>
            </a:srgbClr>
          </a:solidFill>
          <a:ln w="12700">
            <a:solidFill>
              <a:srgbClr val="5B6B85"/>
            </a:solidFill>
            <a:prstDash val="solid"/>
          </a:ln>
        </p:spPr>
      </p:sp>
      <p:sp>
        <p:nvSpPr>
          <p:cNvPr id="41" name="Shape 38"/>
          <p:cNvSpPr/>
          <p:nvPr/>
        </p:nvSpPr>
        <p:spPr>
          <a:xfrm>
            <a:off x="502920"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2" name="Shape 39"/>
          <p:cNvSpPr/>
          <p:nvPr/>
        </p:nvSpPr>
        <p:spPr>
          <a:xfrm>
            <a:off x="1161288"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3" name="Shape 40"/>
          <p:cNvSpPr/>
          <p:nvPr/>
        </p:nvSpPr>
        <p:spPr>
          <a:xfrm>
            <a:off x="1819656"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4" name="Shape 41"/>
          <p:cNvSpPr/>
          <p:nvPr/>
        </p:nvSpPr>
        <p:spPr>
          <a:xfrm>
            <a:off x="2478024"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5" name="Shape 42"/>
          <p:cNvSpPr/>
          <p:nvPr/>
        </p:nvSpPr>
        <p:spPr>
          <a:xfrm>
            <a:off x="3136392"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6" name="Shape 43"/>
          <p:cNvSpPr/>
          <p:nvPr/>
        </p:nvSpPr>
        <p:spPr>
          <a:xfrm>
            <a:off x="3794760"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7" name="Shape 44"/>
          <p:cNvSpPr/>
          <p:nvPr/>
        </p:nvSpPr>
        <p:spPr>
          <a:xfrm>
            <a:off x="4453128"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8" name="Shape 45"/>
          <p:cNvSpPr/>
          <p:nvPr/>
        </p:nvSpPr>
        <p:spPr>
          <a:xfrm>
            <a:off x="5111496" y="3703320"/>
            <a:ext cx="566928" cy="457200"/>
          </a:xfrm>
          <a:prstGeom prst="roundRect">
            <a:avLst>
              <a:gd name="adj" fmla="val 12000"/>
            </a:avLst>
          </a:prstGeom>
          <a:solidFill>
            <a:srgbClr val="5B6B85">
              <a:alpha val="65000"/>
            </a:srgbClr>
          </a:solidFill>
          <a:ln w="12700">
            <a:solidFill>
              <a:srgbClr val="5B6B85"/>
            </a:solidFill>
            <a:prstDash val="solid"/>
          </a:ln>
        </p:spPr>
      </p:sp>
      <p:sp>
        <p:nvSpPr>
          <p:cNvPr id="49" name="Shape 46"/>
          <p:cNvSpPr/>
          <p:nvPr/>
        </p:nvSpPr>
        <p:spPr>
          <a:xfrm>
            <a:off x="502920" y="4370832"/>
            <a:ext cx="109728" cy="109728"/>
          </a:xfrm>
          <a:prstGeom prst="ellipse">
            <a:avLst/>
          </a:prstGeom>
          <a:solidFill>
            <a:srgbClr val="F26B6B"/>
          </a:solidFill>
          <a:ln/>
        </p:spPr>
      </p:sp>
      <p:sp>
        <p:nvSpPr>
          <p:cNvPr id="50" name="Text 47"/>
          <p:cNvSpPr txBox="1"/>
          <p:nvPr/>
        </p:nvSpPr>
        <p:spPr>
          <a:xfrm>
            <a:off x="658368" y="4315968"/>
            <a:ext cx="910377"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Evitable (10)</a:t>
            </a:r>
            <a:endParaRPr lang="en-US" sz="900" dirty="0"/>
          </a:p>
        </p:txBody>
      </p:sp>
      <p:sp>
        <p:nvSpPr>
          <p:cNvPr id="51" name="Shape 48"/>
          <p:cNvSpPr/>
          <p:nvPr/>
        </p:nvSpPr>
        <p:spPr>
          <a:xfrm>
            <a:off x="1769913" y="4370832"/>
            <a:ext cx="109728" cy="109728"/>
          </a:xfrm>
          <a:prstGeom prst="ellipse">
            <a:avLst/>
          </a:prstGeom>
          <a:solidFill>
            <a:srgbClr val="F5B342"/>
          </a:solidFill>
          <a:ln/>
        </p:spPr>
      </p:sp>
      <p:sp>
        <p:nvSpPr>
          <p:cNvPr id="52" name="Text 49"/>
          <p:cNvSpPr txBox="1"/>
          <p:nvPr/>
        </p:nvSpPr>
        <p:spPr>
          <a:xfrm>
            <a:off x="1925361" y="4315968"/>
            <a:ext cx="1693835"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Potencialmente evitable (5)</a:t>
            </a:r>
            <a:endParaRPr lang="en-US" sz="900" dirty="0"/>
          </a:p>
        </p:txBody>
      </p:sp>
      <p:sp>
        <p:nvSpPr>
          <p:cNvPr id="53" name="Shape 50"/>
          <p:cNvSpPr/>
          <p:nvPr/>
        </p:nvSpPr>
        <p:spPr>
          <a:xfrm>
            <a:off x="3820363" y="4370832"/>
            <a:ext cx="109728" cy="109728"/>
          </a:xfrm>
          <a:prstGeom prst="ellipse">
            <a:avLst/>
          </a:prstGeom>
          <a:solidFill>
            <a:srgbClr val="34D399"/>
          </a:solidFill>
          <a:ln/>
        </p:spPr>
      </p:sp>
      <p:sp>
        <p:nvSpPr>
          <p:cNvPr id="54" name="Text 51"/>
          <p:cNvSpPr txBox="1"/>
          <p:nvPr/>
        </p:nvSpPr>
        <p:spPr>
          <a:xfrm>
            <a:off x="3975811" y="4315968"/>
            <a:ext cx="1022299"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No evitable (5)</a:t>
            </a:r>
            <a:endParaRPr lang="en-US" sz="900" dirty="0"/>
          </a:p>
        </p:txBody>
      </p:sp>
      <p:sp>
        <p:nvSpPr>
          <p:cNvPr id="55" name="Shape 52"/>
          <p:cNvSpPr/>
          <p:nvPr/>
        </p:nvSpPr>
        <p:spPr>
          <a:xfrm>
            <a:off x="5199278" y="4370832"/>
            <a:ext cx="109728" cy="109728"/>
          </a:xfrm>
          <a:prstGeom prst="ellipse">
            <a:avLst/>
          </a:prstGeom>
          <a:solidFill>
            <a:srgbClr val="5B6B85"/>
          </a:solidFill>
          <a:ln/>
        </p:spPr>
      </p:sp>
      <p:sp>
        <p:nvSpPr>
          <p:cNvPr id="56" name="Text 53"/>
          <p:cNvSpPr txBox="1"/>
          <p:nvPr/>
        </p:nvSpPr>
        <p:spPr>
          <a:xfrm>
            <a:off x="5354726" y="4315968"/>
            <a:ext cx="1637873"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Sin causal registrada (18)</a:t>
            </a:r>
            <a:endParaRPr lang="en-US" sz="900" dirty="0"/>
          </a:p>
        </p:txBody>
      </p:sp>
      <p:sp>
        <p:nvSpPr>
          <p:cNvPr id="57" name="Text 54"/>
          <p:cNvSpPr txBox="1"/>
          <p:nvPr/>
        </p:nvSpPr>
        <p:spPr>
          <a:xfrm>
            <a:off x="502920" y="4617720"/>
            <a:ext cx="6949440" cy="365760"/>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  15 de los 38 registros tienen causal evitable o potencialmente evitable; 18 no tienen causal y no se clasifican. Regla de evitabilidad: lámina "Evitabilidad".</a:t>
            </a:r>
            <a:endParaRPr lang="en-US" sz="950" dirty="0"/>
          </a:p>
        </p:txBody>
      </p:sp>
      <p:sp>
        <p:nvSpPr>
          <p:cNvPr id="58" name="Text 55"/>
          <p:cNvSpPr txBox="1"/>
          <p:nvPr/>
        </p:nvSpPr>
        <p:spPr>
          <a:xfrm>
            <a:off x="7726680" y="1691640"/>
            <a:ext cx="3931920" cy="731520"/>
          </a:xfrm>
          <a:prstGeom prst="rect">
            <a:avLst/>
          </a:prstGeom>
          <a:noFill/>
          <a:ln/>
        </p:spPr>
        <p:txBody>
          <a:bodyPr wrap="square" lIns="0" tIns="0" rIns="0" bIns="0" rtlCol="0" anchor="ctr"/>
          <a:lstStyle/>
          <a:p>
            <a:pPr algn="l" indent="0" marL="0">
              <a:buNone/>
            </a:pPr>
            <a:r>
              <a:rPr lang="en-US" sz="4800" b="1" dirty="0">
                <a:solidFill>
                  <a:srgbClr val="F5B342"/>
                </a:solidFill>
                <a:latin typeface="Arial" pitchFamily="34" charset="0"/>
                <a:ea typeface="Arial" pitchFamily="34" charset="-122"/>
                <a:cs typeface="Arial" pitchFamily="34" charset="-120"/>
              </a:rPr>
              <a:t>38</a:t>
            </a:r>
            <a:endParaRPr lang="en-US" sz="4800" dirty="0"/>
          </a:p>
        </p:txBody>
      </p:sp>
      <p:sp>
        <p:nvSpPr>
          <p:cNvPr id="59" name="Text 56"/>
          <p:cNvSpPr txBox="1"/>
          <p:nvPr/>
        </p:nvSpPr>
        <p:spPr>
          <a:xfrm>
            <a:off x="7726680" y="2423160"/>
            <a:ext cx="3931920" cy="219456"/>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EVENTOS EN EL UNIVERSO COMPLETO</a:t>
            </a:r>
            <a:endParaRPr lang="en-US" sz="900" dirty="0"/>
          </a:p>
        </p:txBody>
      </p:sp>
      <p:sp>
        <p:nvSpPr>
          <p:cNvPr id="60" name="Text 57"/>
          <p:cNvSpPr txBox="1"/>
          <p:nvPr/>
        </p:nvSpPr>
        <p:spPr>
          <a:xfrm>
            <a:off x="7726680" y="2670048"/>
            <a:ext cx="3931920" cy="566928"/>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27 Cx Mayor · 4 Cx Menor · 7 Procedimientos · 15 directas · 22 condicionales · 1 urgencia · </a:t>
            </a:r>
            <a:pPr algn="l" indent="0" marL="0">
              <a:buNone/>
            </a:pPr>
            <a:r>
              <a:rPr lang="en-US" sz="1000" b="1" dirty="0">
                <a:solidFill>
                  <a:srgbClr val="EAF1FB"/>
                </a:solidFill>
                <a:latin typeface="Arial" pitchFamily="34" charset="0"/>
                <a:ea typeface="Arial" pitchFamily="34" charset="-122"/>
                <a:cs typeface="Arial" pitchFamily="34" charset="-120"/>
              </a:rPr>
              <a:t>solo 2 caen en el indicador oficial</a:t>
            </a:r>
            <a:endParaRPr lang="en-US" sz="1000" dirty="0"/>
          </a:p>
        </p:txBody>
      </p:sp>
      <p:sp>
        <p:nvSpPr>
          <p:cNvPr id="61" name="Shape 58"/>
          <p:cNvSpPr/>
          <p:nvPr/>
        </p:nvSpPr>
        <p:spPr>
          <a:xfrm>
            <a:off x="7726680" y="3291840"/>
            <a:ext cx="3950208" cy="1234440"/>
          </a:xfrm>
          <a:prstGeom prst="roundRect">
            <a:avLst>
              <a:gd name="adj" fmla="val 5926"/>
            </a:avLst>
          </a:prstGeom>
          <a:solidFill>
            <a:srgbClr val="0F1930"/>
          </a:solidFill>
          <a:ln w="15875">
            <a:solidFill>
              <a:srgbClr val="2DD4BF"/>
            </a:solidFill>
            <a:prstDash val="solid"/>
          </a:ln>
        </p:spPr>
      </p:sp>
      <p:sp>
        <p:nvSpPr>
          <p:cNvPr id="62" name="Text 59"/>
          <p:cNvSpPr txBox="1"/>
          <p:nvPr/>
        </p:nvSpPr>
        <p:spPr>
          <a:xfrm>
            <a:off x="7872984" y="3401568"/>
            <a:ext cx="3657600"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SOLO 2 SON VISIBLES PARA MINSAL</a:t>
            </a:r>
            <a:endParaRPr lang="en-US" sz="1150" dirty="0"/>
          </a:p>
        </p:txBody>
      </p:sp>
      <p:sp>
        <p:nvSpPr>
          <p:cNvPr id="63" name="Text 60"/>
          <p:cNvSpPr txBox="1"/>
          <p:nvPr/>
        </p:nvSpPr>
        <p:spPr>
          <a:xfrm>
            <a:off x="7872984" y="3712464"/>
            <a:ext cx="3657600" cy="722376"/>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El monitoreo cuenta la CME normal de lunes a viernes: 5,3 % del registro. Los otros 36 eventos consumen preparación, agenda y pabellón reales, pero son invisibles para la tasa oficial.</a:t>
            </a:r>
            <a:endParaRPr lang="en-US" sz="1050" dirty="0"/>
          </a:p>
        </p:txBody>
      </p:sp>
      <p:sp>
        <p:nvSpPr>
          <p:cNvPr id="64" name="Shape 61"/>
          <p:cNvSpPr/>
          <p:nvPr/>
        </p:nvSpPr>
        <p:spPr>
          <a:xfrm>
            <a:off x="502920" y="5074920"/>
            <a:ext cx="2697480" cy="804672"/>
          </a:xfrm>
          <a:prstGeom prst="roundRect">
            <a:avLst>
              <a:gd name="adj" fmla="val 9091"/>
            </a:avLst>
          </a:prstGeom>
          <a:solidFill>
            <a:srgbClr val="0F1930"/>
          </a:solidFill>
          <a:ln w="9525">
            <a:solidFill>
              <a:srgbClr val="22304A"/>
            </a:solidFill>
            <a:prstDash val="solid"/>
          </a:ln>
        </p:spPr>
      </p:sp>
      <p:sp>
        <p:nvSpPr>
          <p:cNvPr id="65" name="Text 62"/>
          <p:cNvSpPr txBox="1"/>
          <p:nvPr/>
        </p:nvSpPr>
        <p:spPr>
          <a:xfrm>
            <a:off x="640080" y="514807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5,3 %</a:t>
            </a:r>
            <a:endParaRPr lang="en-US" sz="1800" dirty="0"/>
          </a:p>
        </p:txBody>
      </p:sp>
      <p:sp>
        <p:nvSpPr>
          <p:cNvPr id="66" name="Text 63"/>
          <p:cNvSpPr txBox="1"/>
          <p:nvPr/>
        </p:nvSpPr>
        <p:spPr>
          <a:xfrm>
            <a:off x="640080"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VISIBILIDAD MINSAL AGOSTO</a:t>
            </a:r>
            <a:endParaRPr lang="en-US" sz="750" dirty="0"/>
          </a:p>
        </p:txBody>
      </p:sp>
      <p:sp>
        <p:nvSpPr>
          <p:cNvPr id="67" name="Text 64"/>
          <p:cNvSpPr txBox="1"/>
          <p:nvPr/>
        </p:nvSpPr>
        <p:spPr>
          <a:xfrm>
            <a:off x="640080" y="5623560"/>
            <a:ext cx="2423160" cy="237744"/>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2 de 38 eventos · julio: 3,4 % (1 de 29)</a:t>
            </a:r>
            <a:endParaRPr lang="en-US" sz="850" dirty="0"/>
          </a:p>
        </p:txBody>
      </p:sp>
      <p:sp>
        <p:nvSpPr>
          <p:cNvPr id="68" name="Shape 65"/>
          <p:cNvSpPr/>
          <p:nvPr/>
        </p:nvSpPr>
        <p:spPr>
          <a:xfrm>
            <a:off x="3328416" y="5074920"/>
            <a:ext cx="2697480" cy="804672"/>
          </a:xfrm>
          <a:prstGeom prst="roundRect">
            <a:avLst>
              <a:gd name="adj" fmla="val 9091"/>
            </a:avLst>
          </a:prstGeom>
          <a:solidFill>
            <a:srgbClr val="0F1930"/>
          </a:solidFill>
          <a:ln w="9525">
            <a:solidFill>
              <a:srgbClr val="22304A"/>
            </a:solidFill>
            <a:prstDash val="solid"/>
          </a:ln>
        </p:spPr>
      </p:sp>
      <p:sp>
        <p:nvSpPr>
          <p:cNvPr id="69" name="Text 66"/>
          <p:cNvSpPr txBox="1"/>
          <p:nvPr/>
        </p:nvSpPr>
        <p:spPr>
          <a:xfrm>
            <a:off x="3465576" y="514807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13 / 21</a:t>
            </a:r>
            <a:endParaRPr lang="en-US" sz="1800" dirty="0"/>
          </a:p>
        </p:txBody>
      </p:sp>
      <p:sp>
        <p:nvSpPr>
          <p:cNvPr id="70" name="Text 67"/>
          <p:cNvSpPr txBox="1"/>
          <p:nvPr/>
        </p:nvSpPr>
        <p:spPr>
          <a:xfrm>
            <a:off x="3465576"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DÍAS HÁBILES CON REGISTROS</a:t>
            </a:r>
            <a:endParaRPr lang="en-US" sz="750" dirty="0"/>
          </a:p>
        </p:txBody>
      </p:sp>
      <p:sp>
        <p:nvSpPr>
          <p:cNvPr id="71" name="Text 68"/>
          <p:cNvSpPr txBox="1"/>
          <p:nvPr/>
        </p:nvSpPr>
        <p:spPr>
          <a:xfrm>
            <a:off x="3465576" y="5623560"/>
            <a:ext cx="2423160" cy="237744"/>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61,9 % de los días L–V · julio: 16 / 22</a:t>
            </a:r>
            <a:endParaRPr lang="en-US" sz="850" dirty="0"/>
          </a:p>
        </p:txBody>
      </p:sp>
      <p:sp>
        <p:nvSpPr>
          <p:cNvPr id="72" name="Shape 69"/>
          <p:cNvSpPr/>
          <p:nvPr/>
        </p:nvSpPr>
        <p:spPr>
          <a:xfrm>
            <a:off x="6153912" y="5074920"/>
            <a:ext cx="2697480" cy="804672"/>
          </a:xfrm>
          <a:prstGeom prst="roundRect">
            <a:avLst>
              <a:gd name="adj" fmla="val 9091"/>
            </a:avLst>
          </a:prstGeom>
          <a:solidFill>
            <a:srgbClr val="0F1930"/>
          </a:solidFill>
          <a:ln w="15875">
            <a:solidFill>
              <a:srgbClr val="F5B342"/>
            </a:solidFill>
            <a:prstDash val="solid"/>
          </a:ln>
        </p:spPr>
      </p:sp>
      <p:sp>
        <p:nvSpPr>
          <p:cNvPr id="73" name="Text 70"/>
          <p:cNvSpPr txBox="1"/>
          <p:nvPr/>
        </p:nvSpPr>
        <p:spPr>
          <a:xfrm>
            <a:off x="6291072" y="5148072"/>
            <a:ext cx="2423160"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47 %</a:t>
            </a:r>
            <a:endParaRPr lang="en-US" sz="1800" dirty="0"/>
          </a:p>
        </p:txBody>
      </p:sp>
      <p:sp>
        <p:nvSpPr>
          <p:cNvPr id="74" name="Text 71"/>
          <p:cNvSpPr txBox="1"/>
          <p:nvPr/>
        </p:nvSpPr>
        <p:spPr>
          <a:xfrm>
            <a:off x="6291072"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SIN CAUSAL REGISTRADA</a:t>
            </a:r>
            <a:endParaRPr lang="en-US" sz="750" dirty="0"/>
          </a:p>
        </p:txBody>
      </p:sp>
      <p:sp>
        <p:nvSpPr>
          <p:cNvPr id="75" name="Text 72"/>
          <p:cNvSpPr txBox="1"/>
          <p:nvPr/>
        </p:nvSpPr>
        <p:spPr>
          <a:xfrm>
            <a:off x="6291072" y="5623560"/>
            <a:ext cx="2423160" cy="237744"/>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18 de 38 · 17 oftalmológicas de fin de semana + 1</a:t>
            </a:r>
            <a:endParaRPr lang="en-US" sz="850" dirty="0"/>
          </a:p>
        </p:txBody>
      </p:sp>
      <p:sp>
        <p:nvSpPr>
          <p:cNvPr id="76" name="Shape 73"/>
          <p:cNvSpPr/>
          <p:nvPr/>
        </p:nvSpPr>
        <p:spPr>
          <a:xfrm>
            <a:off x="8979408" y="5074920"/>
            <a:ext cx="2697480" cy="804672"/>
          </a:xfrm>
          <a:prstGeom prst="roundRect">
            <a:avLst>
              <a:gd name="adj" fmla="val 9091"/>
            </a:avLst>
          </a:prstGeom>
          <a:solidFill>
            <a:srgbClr val="0F1930"/>
          </a:solidFill>
          <a:ln w="9525">
            <a:solidFill>
              <a:srgbClr val="22304A"/>
            </a:solidFill>
            <a:prstDash val="solid"/>
          </a:ln>
        </p:spPr>
      </p:sp>
      <p:sp>
        <p:nvSpPr>
          <p:cNvPr id="77" name="Text 74"/>
          <p:cNvSpPr txBox="1"/>
          <p:nvPr/>
        </p:nvSpPr>
        <p:spPr>
          <a:xfrm>
            <a:off x="9116568" y="514807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2 de 2</a:t>
            </a:r>
            <a:endParaRPr lang="en-US" sz="1800" dirty="0"/>
          </a:p>
        </p:txBody>
      </p:sp>
      <p:sp>
        <p:nvSpPr>
          <p:cNvPr id="78" name="Text 75"/>
          <p:cNvSpPr txBox="1"/>
          <p:nvPr/>
        </p:nvSpPr>
        <p:spPr>
          <a:xfrm>
            <a:off x="9116568" y="545896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EVENTOS MINSAL EN LUNES</a:t>
            </a:r>
            <a:endParaRPr lang="en-US" sz="750" dirty="0"/>
          </a:p>
        </p:txBody>
      </p:sp>
      <p:sp>
        <p:nvSpPr>
          <p:cNvPr id="79" name="Text 76"/>
          <p:cNvSpPr txBox="1"/>
          <p:nvPr/>
        </p:nvSpPr>
        <p:spPr>
          <a:xfrm>
            <a:off x="9116568" y="5623560"/>
            <a:ext cx="2423160" cy="237744"/>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3 y 17 de agosto · Traumatología · mayor directa</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08  ·  CASUÍSTICA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Las cinco cirugías mayores directas suspendidas en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Registro consolidado por fecha, especialidad y causal · sin datos de pacientes · las dos primeras son los eventos del monitoreo</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09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1234440"/>
                <a:gridCol w="868680"/>
                <a:gridCol w="2331720"/>
                <a:gridCol w="1463040"/>
                <a:gridCol w="1965960"/>
                <a:gridCol w="1847088"/>
                <a:gridCol w="1463040"/>
              </a:tblGrid>
              <a:tr h="420624">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Fecha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Día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Especialidad reportada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Tipo · modalidad</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Causal registrada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Evitabilidad (analista)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Indicador MINSAL</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 de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Lunes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Traumatología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Mayor · Directa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Instrumental incompleto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F26B6B"/>
                          </a:solidFill>
                          <a:latin typeface="Arial" pitchFamily="34" charset="0"/>
                          <a:ea typeface="Arial" pitchFamily="34" charset="-122"/>
                          <a:cs typeface="Arial" pitchFamily="34" charset="-120"/>
                        </a:rPr>
                        <a:t>Evitable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Sí · 1 de 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17 de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Lunes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Traumatología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Mayor · Directa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 presentación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F5B342"/>
                          </a:solidFill>
                          <a:latin typeface="Arial" pitchFamily="34" charset="0"/>
                          <a:ea typeface="Arial" pitchFamily="34" charset="-122"/>
                          <a:cs typeface="Arial" pitchFamily="34" charset="-120"/>
                        </a:rPr>
                        <a:t>Potencialmente evitable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Sí · 2 de 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 de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Jueves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 consignada en el consolidado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Mayor · Directa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Error de programación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F26B6B"/>
                          </a:solidFill>
                          <a:latin typeface="Arial" pitchFamily="34" charset="0"/>
                          <a:ea typeface="Arial" pitchFamily="34" charset="-122"/>
                          <a:cs typeface="Arial" pitchFamily="34" charset="-120"/>
                        </a:rPr>
                        <a:t>Evitable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28 de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Viernes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 consignada en el consolidado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Mayor · Directa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Error de programación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F26B6B"/>
                          </a:solidFill>
                          <a:latin typeface="Arial" pitchFamily="34" charset="0"/>
                          <a:ea typeface="Arial" pitchFamily="34" charset="-122"/>
                          <a:cs typeface="Arial" pitchFamily="34" charset="-120"/>
                        </a:rPr>
                        <a:t>Evitable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31 de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Lunes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 consignada en el consolidado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Mayor · Directa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Error de programación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F26B6B"/>
                          </a:solidFill>
                          <a:latin typeface="Arial" pitchFamily="34" charset="0"/>
                          <a:ea typeface="Arial" pitchFamily="34" charset="-122"/>
                          <a:cs typeface="Arial" pitchFamily="34" charset="-120"/>
                        </a:rPr>
                        <a:t>Evitable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Shape 7"/>
          <p:cNvSpPr/>
          <p:nvPr/>
        </p:nvSpPr>
        <p:spPr>
          <a:xfrm>
            <a:off x="502920" y="4434840"/>
            <a:ext cx="2697480" cy="960120"/>
          </a:xfrm>
          <a:prstGeom prst="roundRect">
            <a:avLst>
              <a:gd name="adj" fmla="val 7619"/>
            </a:avLst>
          </a:prstGeom>
          <a:solidFill>
            <a:srgbClr val="0F1930"/>
          </a:solidFill>
          <a:ln w="9525">
            <a:solidFill>
              <a:srgbClr val="22304A"/>
            </a:solidFill>
            <a:prstDash val="solid"/>
          </a:ln>
        </p:spPr>
      </p:sp>
      <p:sp>
        <p:nvSpPr>
          <p:cNvPr id="12" name="Text 8"/>
          <p:cNvSpPr txBox="1"/>
          <p:nvPr/>
        </p:nvSpPr>
        <p:spPr>
          <a:xfrm>
            <a:off x="640080" y="4507992"/>
            <a:ext cx="2423160" cy="329184"/>
          </a:xfrm>
          <a:prstGeom prst="rect">
            <a:avLst/>
          </a:prstGeom>
          <a:noFill/>
          <a:ln/>
        </p:spPr>
        <p:txBody>
          <a:bodyPr wrap="square" lIns="0" tIns="0" rIns="0" bIns="0" rtlCol="0" anchor="ctr"/>
          <a:lstStyle/>
          <a:p>
            <a:pPr algn="l" indent="0" marL="0">
              <a:buNone/>
            </a:pPr>
            <a:r>
              <a:rPr lang="en-US" sz="1800" b="1" dirty="0">
                <a:solidFill>
                  <a:srgbClr val="5EEAD4"/>
                </a:solidFill>
                <a:latin typeface="Arial" pitchFamily="34" charset="0"/>
                <a:ea typeface="Arial" pitchFamily="34" charset="-122"/>
                <a:cs typeface="Arial" pitchFamily="34" charset="-120"/>
              </a:rPr>
              <a:t>2 de 5</a:t>
            </a:r>
            <a:endParaRPr lang="en-US" sz="1800" dirty="0"/>
          </a:p>
        </p:txBody>
      </p:sp>
      <p:sp>
        <p:nvSpPr>
          <p:cNvPr id="13" name="Text 9"/>
          <p:cNvSpPr txBox="1"/>
          <p:nvPr/>
        </p:nvSpPr>
        <p:spPr>
          <a:xfrm>
            <a:off x="640080" y="481888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EN EL INDICADOR MINSAL</a:t>
            </a:r>
            <a:endParaRPr lang="en-US" sz="750" dirty="0"/>
          </a:p>
        </p:txBody>
      </p:sp>
      <p:sp>
        <p:nvSpPr>
          <p:cNvPr id="14" name="Text 10"/>
          <p:cNvSpPr txBox="1"/>
          <p:nvPr/>
        </p:nvSpPr>
        <p:spPr>
          <a:xfrm>
            <a:off x="640080" y="4983480"/>
            <a:ext cx="2423160"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las 3 por error de programación no figuran en el monitoreo: conciliar criterio</a:t>
            </a:r>
            <a:endParaRPr lang="en-US" sz="850" dirty="0"/>
          </a:p>
        </p:txBody>
      </p:sp>
      <p:sp>
        <p:nvSpPr>
          <p:cNvPr id="15" name="Shape 11"/>
          <p:cNvSpPr/>
          <p:nvPr/>
        </p:nvSpPr>
        <p:spPr>
          <a:xfrm>
            <a:off x="3328416" y="4434840"/>
            <a:ext cx="2697480" cy="960120"/>
          </a:xfrm>
          <a:prstGeom prst="roundRect">
            <a:avLst>
              <a:gd name="adj" fmla="val 7619"/>
            </a:avLst>
          </a:prstGeom>
          <a:solidFill>
            <a:srgbClr val="0F1930"/>
          </a:solidFill>
          <a:ln w="9525">
            <a:solidFill>
              <a:srgbClr val="22304A"/>
            </a:solidFill>
            <a:prstDash val="solid"/>
          </a:ln>
        </p:spPr>
      </p:sp>
      <p:sp>
        <p:nvSpPr>
          <p:cNvPr id="16" name="Text 12"/>
          <p:cNvSpPr txBox="1"/>
          <p:nvPr/>
        </p:nvSpPr>
        <p:spPr>
          <a:xfrm>
            <a:off x="3465576" y="450799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3 de 5</a:t>
            </a:r>
            <a:endParaRPr lang="en-US" sz="1800" dirty="0"/>
          </a:p>
        </p:txBody>
      </p:sp>
      <p:sp>
        <p:nvSpPr>
          <p:cNvPr id="17" name="Text 13"/>
          <p:cNvSpPr txBox="1"/>
          <p:nvPr/>
        </p:nvSpPr>
        <p:spPr>
          <a:xfrm>
            <a:off x="3465576" y="481888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EN LUNES</a:t>
            </a:r>
            <a:endParaRPr lang="en-US" sz="750" dirty="0"/>
          </a:p>
        </p:txBody>
      </p:sp>
      <p:sp>
        <p:nvSpPr>
          <p:cNvPr id="18" name="Text 14"/>
          <p:cNvSpPr txBox="1"/>
          <p:nvPr/>
        </p:nvSpPr>
        <p:spPr>
          <a:xfrm>
            <a:off x="3465576" y="4983480"/>
            <a:ext cx="2423160"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3, 17 y 31 de agosto · el lunes concentra también 6 de los 19 registros L–V</a:t>
            </a:r>
            <a:endParaRPr lang="en-US" sz="850" dirty="0"/>
          </a:p>
        </p:txBody>
      </p:sp>
      <p:sp>
        <p:nvSpPr>
          <p:cNvPr id="19" name="Shape 15"/>
          <p:cNvSpPr/>
          <p:nvPr/>
        </p:nvSpPr>
        <p:spPr>
          <a:xfrm>
            <a:off x="6153912" y="4434840"/>
            <a:ext cx="2697480" cy="960120"/>
          </a:xfrm>
          <a:prstGeom prst="roundRect">
            <a:avLst>
              <a:gd name="adj" fmla="val 7619"/>
            </a:avLst>
          </a:prstGeom>
          <a:solidFill>
            <a:srgbClr val="0F1930"/>
          </a:solidFill>
          <a:ln w="9525">
            <a:solidFill>
              <a:srgbClr val="22304A"/>
            </a:solidFill>
            <a:prstDash val="solid"/>
          </a:ln>
        </p:spPr>
      </p:sp>
      <p:sp>
        <p:nvSpPr>
          <p:cNvPr id="20" name="Text 16"/>
          <p:cNvSpPr txBox="1"/>
          <p:nvPr/>
        </p:nvSpPr>
        <p:spPr>
          <a:xfrm>
            <a:off x="6291072" y="450799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2 de 2</a:t>
            </a:r>
            <a:endParaRPr lang="en-US" sz="1800" dirty="0"/>
          </a:p>
        </p:txBody>
      </p:sp>
      <p:sp>
        <p:nvSpPr>
          <p:cNvPr id="21" name="Text 17"/>
          <p:cNvSpPr txBox="1"/>
          <p:nvPr/>
        </p:nvSpPr>
        <p:spPr>
          <a:xfrm>
            <a:off x="6291072" y="481888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TRAUMATOLOGÍA</a:t>
            </a:r>
            <a:endParaRPr lang="en-US" sz="750" dirty="0"/>
          </a:p>
        </p:txBody>
      </p:sp>
      <p:sp>
        <p:nvSpPr>
          <p:cNvPr id="22" name="Text 18"/>
          <p:cNvSpPr txBox="1"/>
          <p:nvPr/>
        </p:nvSpPr>
        <p:spPr>
          <a:xfrm>
            <a:off x="6291072" y="4983480"/>
            <a:ext cx="2423160"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ambos eventos MINSAL · instrumental incompleto y no presentación</a:t>
            </a:r>
            <a:endParaRPr lang="en-US" sz="850" dirty="0"/>
          </a:p>
        </p:txBody>
      </p:sp>
      <p:sp>
        <p:nvSpPr>
          <p:cNvPr id="23" name="Shape 19"/>
          <p:cNvSpPr/>
          <p:nvPr/>
        </p:nvSpPr>
        <p:spPr>
          <a:xfrm>
            <a:off x="8979408" y="4434840"/>
            <a:ext cx="2697480" cy="960120"/>
          </a:xfrm>
          <a:prstGeom prst="roundRect">
            <a:avLst>
              <a:gd name="adj" fmla="val 7619"/>
            </a:avLst>
          </a:prstGeom>
          <a:solidFill>
            <a:srgbClr val="0F1930"/>
          </a:solidFill>
          <a:ln w="15875">
            <a:solidFill>
              <a:srgbClr val="F26B6B"/>
            </a:solidFill>
            <a:prstDash val="solid"/>
          </a:ln>
        </p:spPr>
      </p:sp>
      <p:sp>
        <p:nvSpPr>
          <p:cNvPr id="24" name="Text 20"/>
          <p:cNvSpPr txBox="1"/>
          <p:nvPr/>
        </p:nvSpPr>
        <p:spPr>
          <a:xfrm>
            <a:off x="9116568" y="4507992"/>
            <a:ext cx="2423160" cy="329184"/>
          </a:xfrm>
          <a:prstGeom prst="rect">
            <a:avLst/>
          </a:prstGeom>
          <a:noFill/>
          <a:ln/>
        </p:spPr>
        <p:txBody>
          <a:bodyPr wrap="square" lIns="0" tIns="0" rIns="0" bIns="0" rtlCol="0" anchor="ctr"/>
          <a:lstStyle/>
          <a:p>
            <a:pPr algn="l" indent="0" marL="0">
              <a:buNone/>
            </a:pPr>
            <a:r>
              <a:rPr lang="en-US" sz="1800" b="1" dirty="0">
                <a:solidFill>
                  <a:srgbClr val="F26B6B"/>
                </a:solidFill>
                <a:latin typeface="Arial" pitchFamily="34" charset="0"/>
                <a:ea typeface="Arial" pitchFamily="34" charset="-122"/>
                <a:cs typeface="Arial" pitchFamily="34" charset="-120"/>
              </a:rPr>
              <a:t>3</a:t>
            </a:r>
            <a:endParaRPr lang="en-US" sz="1800" dirty="0"/>
          </a:p>
        </p:txBody>
      </p:sp>
      <p:sp>
        <p:nvSpPr>
          <p:cNvPr id="25" name="Text 21"/>
          <p:cNvSpPr txBox="1"/>
          <p:nvPr/>
        </p:nvSpPr>
        <p:spPr>
          <a:xfrm>
            <a:off x="9116568" y="481888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ERROR DE PROGRAMACIÓN</a:t>
            </a:r>
            <a:endParaRPr lang="en-US" sz="750" dirty="0"/>
          </a:p>
        </p:txBody>
      </p:sp>
      <p:sp>
        <p:nvSpPr>
          <p:cNvPr id="26" name="Text 22"/>
          <p:cNvSpPr txBox="1"/>
          <p:nvPr/>
        </p:nvSpPr>
        <p:spPr>
          <a:xfrm>
            <a:off x="9116568" y="4983480"/>
            <a:ext cx="2423160"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mayores directas del 20, 28 y 31 · auditar ficha por ficha (agenda vs indicación o insumo)</a:t>
            </a:r>
            <a:endParaRPr lang="en-US" sz="850" dirty="0"/>
          </a:p>
        </p:txBody>
      </p:sp>
      <p:sp>
        <p:nvSpPr>
          <p:cNvPr id="27" name="Text 23"/>
          <p:cNvSpPr txBox="1"/>
          <p:nvPr/>
        </p:nvSpPr>
        <p:spPr>
          <a:xfrm>
            <a:off x="502920" y="5532120"/>
            <a:ext cx="11173968" cy="54864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No convertir la revisión de causas en una estimación de evitabilidad sin validación clínica y operacional. La tabla nominal desidentificada (iniciales, intervención) puede incorporarse desde el archivo "1.- Suspensiones 2026 - Usuarios.xlsx" en la revisión del comité.</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09  ·  CAUSAS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Causal registrada — los 38 eventos de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Error de programación es la causa #1 por segundo mes consecutivo · color = clasificación de evitabilidad del analista aplicada a la causal</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10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6720840" cy="4160520"/>
          </a:xfrm>
          <a:prstGeom prst="roundRect">
            <a:avLst>
              <a:gd name="adj" fmla="val 1758"/>
            </a:avLst>
          </a:prstGeom>
          <a:solidFill>
            <a:srgbClr val="0F1930"/>
          </a:solidFill>
          <a:ln w="9525">
            <a:solidFill>
              <a:srgbClr val="22304A"/>
            </a:solidFill>
            <a:prstDash val="solid"/>
          </a:ln>
        </p:spPr>
      </p:sp>
      <p:sp>
        <p:nvSpPr>
          <p:cNvPr id="11" name="Text 8"/>
          <p:cNvSpPr txBox="1"/>
          <p:nvPr/>
        </p:nvSpPr>
        <p:spPr>
          <a:xfrm>
            <a:off x="640080" y="1847088"/>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Error de programación</a:t>
            </a:r>
            <a:endParaRPr lang="en-US" sz="1050" dirty="0"/>
          </a:p>
        </p:txBody>
      </p:sp>
      <p:sp>
        <p:nvSpPr>
          <p:cNvPr id="12" name="Shape 9"/>
          <p:cNvSpPr/>
          <p:nvPr/>
        </p:nvSpPr>
        <p:spPr>
          <a:xfrm>
            <a:off x="2788920" y="1865376"/>
            <a:ext cx="1493520" cy="278892"/>
          </a:xfrm>
          <a:prstGeom prst="roundRect">
            <a:avLst>
              <a:gd name="adj" fmla="val 13115"/>
            </a:avLst>
          </a:prstGeom>
          <a:solidFill>
            <a:srgbClr val="F26B6B"/>
          </a:solidFill>
          <a:ln/>
        </p:spPr>
      </p:sp>
      <p:sp>
        <p:nvSpPr>
          <p:cNvPr id="13" name="Text 10"/>
          <p:cNvSpPr txBox="1"/>
          <p:nvPr/>
        </p:nvSpPr>
        <p:spPr>
          <a:xfrm>
            <a:off x="4355592" y="1847088"/>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7</a:t>
            </a:r>
            <a:endParaRPr lang="en-US" sz="1100" dirty="0"/>
          </a:p>
        </p:txBody>
      </p:sp>
      <p:sp>
        <p:nvSpPr>
          <p:cNvPr id="14" name="Text 11"/>
          <p:cNvSpPr txBox="1"/>
          <p:nvPr/>
        </p:nvSpPr>
        <p:spPr>
          <a:xfrm>
            <a:off x="640080" y="2199132"/>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Reemplazo por urgencia</a:t>
            </a:r>
            <a:endParaRPr lang="en-US" sz="1050" dirty="0"/>
          </a:p>
        </p:txBody>
      </p:sp>
      <p:sp>
        <p:nvSpPr>
          <p:cNvPr id="15" name="Shape 12"/>
          <p:cNvSpPr/>
          <p:nvPr/>
        </p:nvSpPr>
        <p:spPr>
          <a:xfrm>
            <a:off x="2788920" y="2217420"/>
            <a:ext cx="640080" cy="278892"/>
          </a:xfrm>
          <a:prstGeom prst="roundRect">
            <a:avLst>
              <a:gd name="adj" fmla="val 13115"/>
            </a:avLst>
          </a:prstGeom>
          <a:solidFill>
            <a:srgbClr val="34D399"/>
          </a:solidFill>
          <a:ln/>
        </p:spPr>
      </p:sp>
      <p:sp>
        <p:nvSpPr>
          <p:cNvPr id="16" name="Text 13"/>
          <p:cNvSpPr txBox="1"/>
          <p:nvPr/>
        </p:nvSpPr>
        <p:spPr>
          <a:xfrm>
            <a:off x="3502152" y="2199132"/>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3</a:t>
            </a:r>
            <a:endParaRPr lang="en-US" sz="1100" dirty="0"/>
          </a:p>
        </p:txBody>
      </p:sp>
      <p:sp>
        <p:nvSpPr>
          <p:cNvPr id="17" name="Text 14"/>
          <p:cNvSpPr txBox="1"/>
          <p:nvPr/>
        </p:nvSpPr>
        <p:spPr>
          <a:xfrm>
            <a:off x="640080" y="2551176"/>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No presentación</a:t>
            </a:r>
            <a:endParaRPr lang="en-US" sz="1050" dirty="0"/>
          </a:p>
        </p:txBody>
      </p:sp>
      <p:sp>
        <p:nvSpPr>
          <p:cNvPr id="18" name="Shape 15"/>
          <p:cNvSpPr/>
          <p:nvPr/>
        </p:nvSpPr>
        <p:spPr>
          <a:xfrm>
            <a:off x="2788920" y="2569464"/>
            <a:ext cx="640080" cy="278892"/>
          </a:xfrm>
          <a:prstGeom prst="roundRect">
            <a:avLst>
              <a:gd name="adj" fmla="val 13115"/>
            </a:avLst>
          </a:prstGeom>
          <a:solidFill>
            <a:srgbClr val="F5B342"/>
          </a:solidFill>
          <a:ln/>
        </p:spPr>
      </p:sp>
      <p:sp>
        <p:nvSpPr>
          <p:cNvPr id="19" name="Text 16"/>
          <p:cNvSpPr txBox="1"/>
          <p:nvPr/>
        </p:nvSpPr>
        <p:spPr>
          <a:xfrm>
            <a:off x="3502152" y="2551176"/>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3</a:t>
            </a:r>
            <a:endParaRPr lang="en-US" sz="1100" dirty="0"/>
          </a:p>
        </p:txBody>
      </p:sp>
      <p:sp>
        <p:nvSpPr>
          <p:cNvPr id="20" name="Text 17"/>
          <p:cNvSpPr txBox="1"/>
          <p:nvPr/>
        </p:nvSpPr>
        <p:spPr>
          <a:xfrm>
            <a:off x="640080" y="2903220"/>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Ayuno / exámenes incompletos</a:t>
            </a:r>
            <a:endParaRPr lang="en-US" sz="1050" dirty="0"/>
          </a:p>
        </p:txBody>
      </p:sp>
      <p:sp>
        <p:nvSpPr>
          <p:cNvPr id="21" name="Shape 18"/>
          <p:cNvSpPr/>
          <p:nvPr/>
        </p:nvSpPr>
        <p:spPr>
          <a:xfrm>
            <a:off x="2788920" y="2921508"/>
            <a:ext cx="426720" cy="278892"/>
          </a:xfrm>
          <a:prstGeom prst="roundRect">
            <a:avLst>
              <a:gd name="adj" fmla="val 13115"/>
            </a:avLst>
          </a:prstGeom>
          <a:solidFill>
            <a:srgbClr val="F26B6B"/>
          </a:solidFill>
          <a:ln/>
        </p:spPr>
      </p:sp>
      <p:sp>
        <p:nvSpPr>
          <p:cNvPr id="22" name="Text 19"/>
          <p:cNvSpPr txBox="1"/>
          <p:nvPr/>
        </p:nvSpPr>
        <p:spPr>
          <a:xfrm>
            <a:off x="3288792" y="2903220"/>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2</a:t>
            </a:r>
            <a:endParaRPr lang="en-US" sz="1100" dirty="0"/>
          </a:p>
        </p:txBody>
      </p:sp>
      <p:sp>
        <p:nvSpPr>
          <p:cNvPr id="23" name="Text 20"/>
          <p:cNvSpPr txBox="1"/>
          <p:nvPr/>
        </p:nvSpPr>
        <p:spPr>
          <a:xfrm>
            <a:off x="640080" y="3255264"/>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Instrumental incompleto</a:t>
            </a:r>
            <a:endParaRPr lang="en-US" sz="1050" dirty="0"/>
          </a:p>
        </p:txBody>
      </p:sp>
      <p:sp>
        <p:nvSpPr>
          <p:cNvPr id="24" name="Shape 21"/>
          <p:cNvSpPr/>
          <p:nvPr/>
        </p:nvSpPr>
        <p:spPr>
          <a:xfrm>
            <a:off x="2788920" y="3273552"/>
            <a:ext cx="213360" cy="278892"/>
          </a:xfrm>
          <a:prstGeom prst="roundRect">
            <a:avLst>
              <a:gd name="adj" fmla="val 17143"/>
            </a:avLst>
          </a:prstGeom>
          <a:solidFill>
            <a:srgbClr val="F26B6B"/>
          </a:solidFill>
          <a:ln/>
        </p:spPr>
      </p:sp>
      <p:sp>
        <p:nvSpPr>
          <p:cNvPr id="25" name="Text 22"/>
          <p:cNvSpPr txBox="1"/>
          <p:nvPr/>
        </p:nvSpPr>
        <p:spPr>
          <a:xfrm>
            <a:off x="3075432" y="3255264"/>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a:t>
            </a:r>
            <a:endParaRPr lang="en-US" sz="1100" dirty="0"/>
          </a:p>
        </p:txBody>
      </p:sp>
      <p:sp>
        <p:nvSpPr>
          <p:cNvPr id="26" name="Text 23"/>
          <p:cNvSpPr txBox="1"/>
          <p:nvPr/>
        </p:nvSpPr>
        <p:spPr>
          <a:xfrm>
            <a:off x="640080" y="3607308"/>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Infraestructura</a:t>
            </a:r>
            <a:endParaRPr lang="en-US" sz="1050" dirty="0"/>
          </a:p>
        </p:txBody>
      </p:sp>
      <p:sp>
        <p:nvSpPr>
          <p:cNvPr id="27" name="Shape 24"/>
          <p:cNvSpPr/>
          <p:nvPr/>
        </p:nvSpPr>
        <p:spPr>
          <a:xfrm>
            <a:off x="2788920" y="3625596"/>
            <a:ext cx="213360" cy="278892"/>
          </a:xfrm>
          <a:prstGeom prst="roundRect">
            <a:avLst>
              <a:gd name="adj" fmla="val 17143"/>
            </a:avLst>
          </a:prstGeom>
          <a:solidFill>
            <a:srgbClr val="F5B342"/>
          </a:solidFill>
          <a:ln/>
        </p:spPr>
      </p:sp>
      <p:sp>
        <p:nvSpPr>
          <p:cNvPr id="28" name="Text 25"/>
          <p:cNvSpPr txBox="1"/>
          <p:nvPr/>
        </p:nvSpPr>
        <p:spPr>
          <a:xfrm>
            <a:off x="3075432" y="3607308"/>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a:t>
            </a:r>
            <a:endParaRPr lang="en-US" sz="1100" dirty="0"/>
          </a:p>
        </p:txBody>
      </p:sp>
      <p:sp>
        <p:nvSpPr>
          <p:cNvPr id="29" name="Text 26"/>
          <p:cNvSpPr txBox="1"/>
          <p:nvPr/>
        </p:nvSpPr>
        <p:spPr>
          <a:xfrm>
            <a:off x="640080" y="3959352"/>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Falta de cirujano</a:t>
            </a:r>
            <a:endParaRPr lang="en-US" sz="1050" dirty="0"/>
          </a:p>
        </p:txBody>
      </p:sp>
      <p:sp>
        <p:nvSpPr>
          <p:cNvPr id="30" name="Shape 27"/>
          <p:cNvSpPr/>
          <p:nvPr/>
        </p:nvSpPr>
        <p:spPr>
          <a:xfrm>
            <a:off x="2788920" y="3977640"/>
            <a:ext cx="213360" cy="278892"/>
          </a:xfrm>
          <a:prstGeom prst="roundRect">
            <a:avLst>
              <a:gd name="adj" fmla="val 17143"/>
            </a:avLst>
          </a:prstGeom>
          <a:solidFill>
            <a:srgbClr val="F5B342"/>
          </a:solidFill>
          <a:ln/>
        </p:spPr>
      </p:sp>
      <p:sp>
        <p:nvSpPr>
          <p:cNvPr id="31" name="Text 28"/>
          <p:cNvSpPr txBox="1"/>
          <p:nvPr/>
        </p:nvSpPr>
        <p:spPr>
          <a:xfrm>
            <a:off x="3075432" y="3959352"/>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a:t>
            </a:r>
            <a:endParaRPr lang="en-US" sz="1100" dirty="0"/>
          </a:p>
        </p:txBody>
      </p:sp>
      <p:sp>
        <p:nvSpPr>
          <p:cNvPr id="32" name="Text 29"/>
          <p:cNvSpPr txBox="1"/>
          <p:nvPr/>
        </p:nvSpPr>
        <p:spPr>
          <a:xfrm>
            <a:off x="640080" y="4311396"/>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Enfermedad aguda</a:t>
            </a:r>
            <a:endParaRPr lang="en-US" sz="1050" dirty="0"/>
          </a:p>
        </p:txBody>
      </p:sp>
      <p:sp>
        <p:nvSpPr>
          <p:cNvPr id="33" name="Shape 30"/>
          <p:cNvSpPr/>
          <p:nvPr/>
        </p:nvSpPr>
        <p:spPr>
          <a:xfrm>
            <a:off x="2788920" y="4329684"/>
            <a:ext cx="213360" cy="278892"/>
          </a:xfrm>
          <a:prstGeom prst="roundRect">
            <a:avLst>
              <a:gd name="adj" fmla="val 17143"/>
            </a:avLst>
          </a:prstGeom>
          <a:solidFill>
            <a:srgbClr val="34D399"/>
          </a:solidFill>
          <a:ln/>
        </p:spPr>
      </p:sp>
      <p:sp>
        <p:nvSpPr>
          <p:cNvPr id="34" name="Text 31"/>
          <p:cNvSpPr txBox="1"/>
          <p:nvPr/>
        </p:nvSpPr>
        <p:spPr>
          <a:xfrm>
            <a:off x="3075432" y="4311396"/>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a:t>
            </a:r>
            <a:endParaRPr lang="en-US" sz="1100" dirty="0"/>
          </a:p>
        </p:txBody>
      </p:sp>
      <p:sp>
        <p:nvSpPr>
          <p:cNvPr id="35" name="Text 32"/>
          <p:cNvSpPr txBox="1"/>
          <p:nvPr/>
        </p:nvSpPr>
        <p:spPr>
          <a:xfrm>
            <a:off x="640080" y="4663440"/>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Descompensación</a:t>
            </a:r>
            <a:endParaRPr lang="en-US" sz="1050" dirty="0"/>
          </a:p>
        </p:txBody>
      </p:sp>
      <p:sp>
        <p:nvSpPr>
          <p:cNvPr id="36" name="Shape 33"/>
          <p:cNvSpPr/>
          <p:nvPr/>
        </p:nvSpPr>
        <p:spPr>
          <a:xfrm>
            <a:off x="2788920" y="4681728"/>
            <a:ext cx="213360" cy="278892"/>
          </a:xfrm>
          <a:prstGeom prst="roundRect">
            <a:avLst>
              <a:gd name="adj" fmla="val 17143"/>
            </a:avLst>
          </a:prstGeom>
          <a:solidFill>
            <a:srgbClr val="34D399"/>
          </a:solidFill>
          <a:ln/>
        </p:spPr>
      </p:sp>
      <p:sp>
        <p:nvSpPr>
          <p:cNvPr id="37" name="Text 34"/>
          <p:cNvSpPr txBox="1"/>
          <p:nvPr/>
        </p:nvSpPr>
        <p:spPr>
          <a:xfrm>
            <a:off x="3075432" y="4663440"/>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a:t>
            </a:r>
            <a:endParaRPr lang="en-US" sz="1100" dirty="0"/>
          </a:p>
        </p:txBody>
      </p:sp>
      <p:sp>
        <p:nvSpPr>
          <p:cNvPr id="38" name="Text 35"/>
          <p:cNvSpPr txBox="1"/>
          <p:nvPr/>
        </p:nvSpPr>
        <p:spPr>
          <a:xfrm>
            <a:off x="640080" y="5015484"/>
            <a:ext cx="2039112" cy="315468"/>
          </a:xfrm>
          <a:prstGeom prst="rect">
            <a:avLst/>
          </a:prstGeom>
          <a:noFill/>
          <a:ln/>
        </p:spPr>
        <p:txBody>
          <a:bodyPr wrap="square" lIns="0" tIns="0" rIns="0" bIns="0" rtlCol="0" anchor="ctr"/>
          <a:lstStyle/>
          <a:p>
            <a:pPr algn="r" indent="0" marL="0">
              <a:buNone/>
            </a:pPr>
            <a:r>
              <a:rPr lang="en-US" sz="1050" dirty="0">
                <a:solidFill>
                  <a:srgbClr val="BCCDE8"/>
                </a:solidFill>
                <a:latin typeface="Arial" pitchFamily="34" charset="0"/>
                <a:ea typeface="Arial" pitchFamily="34" charset="-122"/>
                <a:cs typeface="Arial" pitchFamily="34" charset="-120"/>
              </a:rPr>
              <a:t>Sin causal registrada</a:t>
            </a:r>
            <a:endParaRPr lang="en-US" sz="1050" dirty="0"/>
          </a:p>
        </p:txBody>
      </p:sp>
      <p:sp>
        <p:nvSpPr>
          <p:cNvPr id="39" name="Shape 36"/>
          <p:cNvSpPr/>
          <p:nvPr/>
        </p:nvSpPr>
        <p:spPr>
          <a:xfrm>
            <a:off x="2788920" y="5033772"/>
            <a:ext cx="3840480" cy="278892"/>
          </a:xfrm>
          <a:prstGeom prst="roundRect">
            <a:avLst>
              <a:gd name="adj" fmla="val 13115"/>
            </a:avLst>
          </a:prstGeom>
          <a:solidFill>
            <a:srgbClr val="5B6B85"/>
          </a:solidFill>
          <a:ln/>
        </p:spPr>
      </p:sp>
      <p:sp>
        <p:nvSpPr>
          <p:cNvPr id="40" name="Text 37"/>
          <p:cNvSpPr txBox="1"/>
          <p:nvPr/>
        </p:nvSpPr>
        <p:spPr>
          <a:xfrm>
            <a:off x="6702552" y="5015484"/>
            <a:ext cx="1005840" cy="315468"/>
          </a:xfrm>
          <a:prstGeom prst="rect">
            <a:avLst/>
          </a:prstGeom>
          <a:noFill/>
          <a:ln/>
        </p:spPr>
        <p:txBody>
          <a:bodyPr wrap="square" lIns="0" tIns="0" rIns="0" bIns="0" rtlCol="0" anchor="ctr"/>
          <a:lstStyle/>
          <a:p>
            <a:pPr algn="l" indent="0" marL="0">
              <a:buNone/>
            </a:pPr>
            <a:r>
              <a:rPr lang="en-US" sz="1100" b="1" dirty="0">
                <a:solidFill>
                  <a:srgbClr val="EAF1FB"/>
                </a:solidFill>
                <a:latin typeface="Arial" pitchFamily="34" charset="0"/>
                <a:ea typeface="Arial" pitchFamily="34" charset="-122"/>
                <a:cs typeface="Arial" pitchFamily="34" charset="-120"/>
              </a:rPr>
              <a:t>18</a:t>
            </a:r>
            <a:endParaRPr lang="en-US" sz="1100" dirty="0"/>
          </a:p>
        </p:txBody>
      </p:sp>
      <p:sp>
        <p:nvSpPr>
          <p:cNvPr id="41" name="Shape 38"/>
          <p:cNvSpPr/>
          <p:nvPr/>
        </p:nvSpPr>
        <p:spPr>
          <a:xfrm>
            <a:off x="685800" y="5586984"/>
            <a:ext cx="109728" cy="109728"/>
          </a:xfrm>
          <a:prstGeom prst="ellipse">
            <a:avLst/>
          </a:prstGeom>
          <a:solidFill>
            <a:srgbClr val="F26B6B"/>
          </a:solidFill>
          <a:ln/>
        </p:spPr>
      </p:sp>
      <p:sp>
        <p:nvSpPr>
          <p:cNvPr id="42" name="Text 39"/>
          <p:cNvSpPr txBox="1"/>
          <p:nvPr/>
        </p:nvSpPr>
        <p:spPr>
          <a:xfrm>
            <a:off x="841248" y="5532120"/>
            <a:ext cx="86996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Evitable (10)</a:t>
            </a:r>
            <a:endParaRPr lang="en-US" sz="850" dirty="0"/>
          </a:p>
        </p:txBody>
      </p:sp>
      <p:sp>
        <p:nvSpPr>
          <p:cNvPr id="43" name="Shape 40"/>
          <p:cNvSpPr/>
          <p:nvPr/>
        </p:nvSpPr>
        <p:spPr>
          <a:xfrm>
            <a:off x="1857512" y="5586984"/>
            <a:ext cx="109728" cy="109728"/>
          </a:xfrm>
          <a:prstGeom prst="ellipse">
            <a:avLst/>
          </a:prstGeom>
          <a:solidFill>
            <a:srgbClr val="F5B342"/>
          </a:solidFill>
          <a:ln/>
        </p:spPr>
      </p:sp>
      <p:sp>
        <p:nvSpPr>
          <p:cNvPr id="44" name="Text 41"/>
          <p:cNvSpPr txBox="1"/>
          <p:nvPr/>
        </p:nvSpPr>
        <p:spPr>
          <a:xfrm>
            <a:off x="2012960" y="5532120"/>
            <a:ext cx="1609893"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Potencialmente evitable (5)</a:t>
            </a:r>
            <a:endParaRPr lang="en-US" sz="850" dirty="0"/>
          </a:p>
        </p:txBody>
      </p:sp>
      <p:sp>
        <p:nvSpPr>
          <p:cNvPr id="45" name="Shape 42"/>
          <p:cNvSpPr/>
          <p:nvPr/>
        </p:nvSpPr>
        <p:spPr>
          <a:xfrm>
            <a:off x="3769157" y="5586984"/>
            <a:ext cx="109728" cy="109728"/>
          </a:xfrm>
          <a:prstGeom prst="ellipse">
            <a:avLst/>
          </a:prstGeom>
          <a:solidFill>
            <a:srgbClr val="34D399"/>
          </a:solidFill>
          <a:ln/>
        </p:spPr>
      </p:sp>
      <p:sp>
        <p:nvSpPr>
          <p:cNvPr id="46" name="Text 43"/>
          <p:cNvSpPr txBox="1"/>
          <p:nvPr/>
        </p:nvSpPr>
        <p:spPr>
          <a:xfrm>
            <a:off x="3924605" y="5532120"/>
            <a:ext cx="975665"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No evitable (5)</a:t>
            </a:r>
            <a:endParaRPr lang="en-US" sz="850" dirty="0"/>
          </a:p>
        </p:txBody>
      </p:sp>
      <p:sp>
        <p:nvSpPr>
          <p:cNvPr id="47" name="Shape 44"/>
          <p:cNvSpPr/>
          <p:nvPr/>
        </p:nvSpPr>
        <p:spPr>
          <a:xfrm>
            <a:off x="5046574" y="5586984"/>
            <a:ext cx="109728" cy="109728"/>
          </a:xfrm>
          <a:prstGeom prst="ellipse">
            <a:avLst/>
          </a:prstGeom>
          <a:solidFill>
            <a:srgbClr val="5B6B85"/>
          </a:solidFill>
          <a:ln/>
        </p:spPr>
      </p:sp>
      <p:sp>
        <p:nvSpPr>
          <p:cNvPr id="48" name="Text 45"/>
          <p:cNvSpPr txBox="1"/>
          <p:nvPr/>
        </p:nvSpPr>
        <p:spPr>
          <a:xfrm>
            <a:off x="5202022" y="5532120"/>
            <a:ext cx="155704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Sin causal registrada (18)</a:t>
            </a:r>
            <a:endParaRPr lang="en-US" sz="850" dirty="0"/>
          </a:p>
        </p:txBody>
      </p:sp>
      <p:sp>
        <p:nvSpPr>
          <p:cNvPr id="49" name="Shape 46"/>
          <p:cNvSpPr/>
          <p:nvPr/>
        </p:nvSpPr>
        <p:spPr>
          <a:xfrm>
            <a:off x="7360920" y="1691640"/>
            <a:ext cx="4315968" cy="987552"/>
          </a:xfrm>
          <a:prstGeom prst="roundRect">
            <a:avLst>
              <a:gd name="adj" fmla="val 7407"/>
            </a:avLst>
          </a:prstGeom>
          <a:solidFill>
            <a:srgbClr val="0F1930"/>
          </a:solidFill>
          <a:ln w="15875">
            <a:solidFill>
              <a:srgbClr val="F26B6B"/>
            </a:solidFill>
            <a:prstDash val="solid"/>
          </a:ln>
        </p:spPr>
      </p:sp>
      <p:sp>
        <p:nvSpPr>
          <p:cNvPr id="50" name="Text 47"/>
          <p:cNvSpPr txBox="1"/>
          <p:nvPr/>
        </p:nvSpPr>
        <p:spPr>
          <a:xfrm>
            <a:off x="7507224" y="1801368"/>
            <a:ext cx="4023360" cy="274320"/>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EQUIPO QUIRÚRGICO · 11 (28,9 %)</a:t>
            </a:r>
            <a:endParaRPr lang="en-US" sz="1150" dirty="0"/>
          </a:p>
        </p:txBody>
      </p:sp>
      <p:sp>
        <p:nvSpPr>
          <p:cNvPr id="51" name="Text 48"/>
          <p:cNvSpPr txBox="1"/>
          <p:nvPr/>
        </p:nvSpPr>
        <p:spPr>
          <a:xfrm>
            <a:off x="7507224" y="2112264"/>
            <a:ext cx="402336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Error de programación (7) + reemplazo por urgencia (3) + falta de cirujano (1). Sube de 10 a 11; el error de programación pasa de 5 a 7.</a:t>
            </a:r>
            <a:endParaRPr lang="en-US" sz="950" dirty="0"/>
          </a:p>
        </p:txBody>
      </p:sp>
      <p:sp>
        <p:nvSpPr>
          <p:cNvPr id="52" name="Shape 49"/>
          <p:cNvSpPr/>
          <p:nvPr/>
        </p:nvSpPr>
        <p:spPr>
          <a:xfrm>
            <a:off x="7360920" y="2770632"/>
            <a:ext cx="4315968" cy="987552"/>
          </a:xfrm>
          <a:prstGeom prst="roundRect">
            <a:avLst>
              <a:gd name="adj" fmla="val 7407"/>
            </a:avLst>
          </a:prstGeom>
          <a:solidFill>
            <a:srgbClr val="0F1930"/>
          </a:solidFill>
          <a:ln w="15875">
            <a:solidFill>
              <a:srgbClr val="F5B342"/>
            </a:solidFill>
            <a:prstDash val="solid"/>
          </a:ln>
        </p:spPr>
      </p:sp>
      <p:sp>
        <p:nvSpPr>
          <p:cNvPr id="53" name="Text 50"/>
          <p:cNvSpPr txBox="1"/>
          <p:nvPr/>
        </p:nvSpPr>
        <p:spPr>
          <a:xfrm>
            <a:off x="7507224" y="2880360"/>
            <a:ext cx="4023360" cy="274320"/>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PACIENTE · 7 (18,4 %)</a:t>
            </a:r>
            <a:endParaRPr lang="en-US" sz="1150" dirty="0"/>
          </a:p>
        </p:txBody>
      </p:sp>
      <p:sp>
        <p:nvSpPr>
          <p:cNvPr id="54" name="Text 51"/>
          <p:cNvSpPr txBox="1"/>
          <p:nvPr/>
        </p:nvSpPr>
        <p:spPr>
          <a:xfrm>
            <a:off x="7507224" y="3191256"/>
            <a:ext cx="402336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No presentación (3), ayuno / exámenes incompletos (2), enfermedad aguda (1), descompensación (1). La no presentación sube de 1 a 3.</a:t>
            </a:r>
            <a:endParaRPr lang="en-US" sz="950" dirty="0"/>
          </a:p>
        </p:txBody>
      </p:sp>
      <p:sp>
        <p:nvSpPr>
          <p:cNvPr id="55" name="Shape 52"/>
          <p:cNvSpPr/>
          <p:nvPr/>
        </p:nvSpPr>
        <p:spPr>
          <a:xfrm>
            <a:off x="7360920" y="3849624"/>
            <a:ext cx="4315968" cy="987552"/>
          </a:xfrm>
          <a:prstGeom prst="roundRect">
            <a:avLst>
              <a:gd name="adj" fmla="val 7407"/>
            </a:avLst>
          </a:prstGeom>
          <a:solidFill>
            <a:srgbClr val="0F1930"/>
          </a:solidFill>
          <a:ln w="9525">
            <a:solidFill>
              <a:srgbClr val="22304A"/>
            </a:solidFill>
            <a:prstDash val="solid"/>
          </a:ln>
        </p:spPr>
      </p:sp>
      <p:sp>
        <p:nvSpPr>
          <p:cNvPr id="56" name="Text 53"/>
          <p:cNvSpPr txBox="1"/>
          <p:nvPr/>
        </p:nvSpPr>
        <p:spPr>
          <a:xfrm>
            <a:off x="7507224" y="3959352"/>
            <a:ext cx="4023360" cy="274320"/>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APOYO E INFRAESTRUCTURA · 2 (5,3 %)</a:t>
            </a:r>
            <a:endParaRPr lang="en-US" sz="1150" dirty="0"/>
          </a:p>
        </p:txBody>
      </p:sp>
      <p:sp>
        <p:nvSpPr>
          <p:cNvPr id="57" name="Text 54"/>
          <p:cNvSpPr txBox="1"/>
          <p:nvPr/>
        </p:nvSpPr>
        <p:spPr>
          <a:xfrm>
            <a:off x="7507224" y="4270248"/>
            <a:ext cx="402336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Instrumental incompleto (1; evento MINSAL del 3-ago) e infraestructura (1). Julio tuvo 10 por clima, desastres e infraestructura.</a:t>
            </a:r>
            <a:endParaRPr lang="en-US" sz="950" dirty="0"/>
          </a:p>
        </p:txBody>
      </p:sp>
      <p:sp>
        <p:nvSpPr>
          <p:cNvPr id="58" name="Shape 55"/>
          <p:cNvSpPr/>
          <p:nvPr/>
        </p:nvSpPr>
        <p:spPr>
          <a:xfrm>
            <a:off x="7360920" y="4928616"/>
            <a:ext cx="4315968" cy="923544"/>
          </a:xfrm>
          <a:prstGeom prst="roundRect">
            <a:avLst>
              <a:gd name="adj" fmla="val 7921"/>
            </a:avLst>
          </a:prstGeom>
          <a:solidFill>
            <a:srgbClr val="0F1930"/>
          </a:solidFill>
          <a:ln w="15875">
            <a:solidFill>
              <a:srgbClr val="5B6B85"/>
            </a:solidFill>
            <a:prstDash val="solid"/>
          </a:ln>
        </p:spPr>
      </p:sp>
      <p:sp>
        <p:nvSpPr>
          <p:cNvPr id="59" name="Text 56"/>
          <p:cNvSpPr txBox="1"/>
          <p:nvPr/>
        </p:nvSpPr>
        <p:spPr>
          <a:xfrm>
            <a:off x="7507224" y="5038344"/>
            <a:ext cx="4023360" cy="274320"/>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SIN CAUSAL · 18 (47,4 %)</a:t>
            </a:r>
            <a:endParaRPr lang="en-US" sz="1150" dirty="0"/>
          </a:p>
        </p:txBody>
      </p:sp>
      <p:sp>
        <p:nvSpPr>
          <p:cNvPr id="60" name="Text 57"/>
          <p:cNvSpPr txBox="1"/>
          <p:nvPr/>
        </p:nvSpPr>
        <p:spPr>
          <a:xfrm>
            <a:off x="7507224" y="5349240"/>
            <a:ext cx="4023360" cy="411480"/>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17 oftalmológicas condicionales de fin de semana + 1. Completar el dato antes de atribuir evitabilidad.</a:t>
            </a:r>
            <a:endParaRPr lang="en-US" sz="950" dirty="0"/>
          </a:p>
        </p:txBody>
      </p:sp>
      <p:sp>
        <p:nvSpPr>
          <p:cNvPr id="61" name="Text 58"/>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Conteos del informe operativo (5 de septiembre); julio proviene del archivo del 30 de julio (29 registros). Categorías MINSAL según el catálogo SSVQ vigente (la "prolongación de tabla" se absorbió en "error de programación").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10  ·  CAUSAS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Julio y agosto: las causas cambian de composición</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Comparación descriptiva de los registros disponibles · los cortes no son idénticos y no se interpretan como cambio de tasa</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11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926080"/>
                <a:gridCol w="1737360"/>
                <a:gridCol w="1463040"/>
                <a:gridCol w="1188720"/>
                <a:gridCol w="3858768"/>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Causa agrupada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Julio · archivo día 30</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1–31</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Variación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Lectura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Error de programación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Causa #1 dos meses seguidos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Reemplazo por urgencia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Presión urgente menor en el registro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No presentación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Incluye un evento MINSAL (17-ago, lunes)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Ayuno / exámenes incompletos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Reunión del 4-sep sobre ayuno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Infraestructura / clima / desastres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Sin clima ni desastres en agosto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Otras causas consignadas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Instrumental, descompensación, cirujano, enfermedad aguda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Sin causal registrada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17 oftalmológicas de fin de semana + 1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Total de registros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29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Cobertura distinta (29 días vs 31)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502920" y="5440680"/>
            <a:ext cx="11173968" cy="640080"/>
          </a:xfrm>
          <a:prstGeom prst="roundRect">
            <a:avLst>
              <a:gd name="adj" fmla="val 11429"/>
            </a:avLst>
          </a:prstGeom>
          <a:solidFill>
            <a:srgbClr val="0F1930"/>
          </a:solidFill>
          <a:ln w="15875">
            <a:solidFill>
              <a:srgbClr val="2DD4BF"/>
            </a:solidFill>
            <a:prstDash val="solid"/>
          </a:ln>
        </p:spPr>
      </p:sp>
      <p:sp>
        <p:nvSpPr>
          <p:cNvPr id="12" name="Text 8"/>
          <p:cNvSpPr txBox="1"/>
          <p:nvPr/>
        </p:nvSpPr>
        <p:spPr>
          <a:xfrm>
            <a:off x="649224" y="5550408"/>
            <a:ext cx="10881360" cy="438912"/>
          </a:xfrm>
          <a:prstGeom prst="rect">
            <a:avLst/>
          </a:prstGeom>
          <a:noFill/>
          <a:ln/>
        </p:spPr>
        <p:txBody>
          <a:bodyPr wrap="square" lIns="0" tIns="0" rIns="0" bIns="0" rtlCol="0" anchor="t"/>
          <a:lstStyle/>
          <a:p>
            <a:pPr algn="l" indent="0" marL="0">
              <a:buNone/>
            </a:pPr>
            <a:r>
              <a:rPr lang="en-US" sz="1100" b="1" dirty="0">
                <a:solidFill>
                  <a:srgbClr val="EAF1FB"/>
                </a:solidFill>
                <a:latin typeface="Arial" pitchFamily="34" charset="0"/>
                <a:ea typeface="Arial" pitchFamily="34" charset="-122"/>
                <a:cs typeface="Arial" pitchFamily="34" charset="-120"/>
              </a:rPr>
              <a:t>Lo gestionable no cambió de lugar: </a:t>
            </a:r>
            <a:pPr algn="l" indent="0" marL="0">
              <a:buNone/>
            </a:pPr>
            <a:r>
              <a:rPr lang="en-US" sz="1100" dirty="0">
                <a:solidFill>
                  <a:srgbClr val="C6D6EE"/>
                </a:solidFill>
                <a:latin typeface="Arial" pitchFamily="34" charset="0"/>
                <a:ea typeface="Arial" pitchFamily="34" charset="-122"/>
                <a:cs typeface="Arial" pitchFamily="34" charset="-120"/>
              </a:rPr>
              <a:t>equipo quirúrgico y paciente concentran 18 de los 20 registros con causal (90 %). Lo que cambió es el dato faltante: de 0 a 18 registros sin causal en un mes.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11  ·  CLASIFICACIÓN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 clasificación separa tamaño de cirugía y programación</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38 registros de agosto · cada registro aparece una sola vez · sin duplicar las suspensiones del monitoreo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12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6583680" cy="914400"/>
        </p:xfrm>
        <a:graphic>
          <a:graphicData uri="http://schemas.openxmlformats.org/drawingml/2006/table">
            <a:tbl>
              <a:tblPr/>
              <a:tblGrid>
                <a:gridCol w="2011680"/>
                <a:gridCol w="1143000"/>
                <a:gridCol w="1143000"/>
                <a:gridCol w="1371600"/>
                <a:gridCol w="914400"/>
              </a:tblGrid>
              <a:tr h="457200">
                <a:tc>
                  <a:txBody>
                    <a:bodyPr/>
                    <a:lstStyle/>
                    <a:p>
                      <a:pPr algn="l" indent="0" marL="0">
                        <a:buNone/>
                      </a:pPr>
                      <a:r>
                        <a:rPr lang="en-US" sz="1100" b="1" dirty="0">
                          <a:solidFill>
                            <a:srgbClr val="BCCDE8"/>
                          </a:solidFill>
                          <a:latin typeface="Arial" pitchFamily="34" charset="0"/>
                          <a:ea typeface="Arial" pitchFamily="34" charset="-122"/>
                          <a:cs typeface="Arial" pitchFamily="34" charset="-120"/>
                        </a:rPr>
                        <a:t>Modalidad</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BCCDE8"/>
                          </a:solidFill>
                          <a:latin typeface="Arial" pitchFamily="34" charset="0"/>
                          <a:ea typeface="Arial" pitchFamily="34" charset="-122"/>
                          <a:cs typeface="Arial" pitchFamily="34" charset="-120"/>
                        </a:rPr>
                        <a:t>Mayores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BCCDE8"/>
                          </a:solidFill>
                          <a:latin typeface="Arial" pitchFamily="34" charset="0"/>
                          <a:ea typeface="Arial" pitchFamily="34" charset="-122"/>
                          <a:cs typeface="Arial" pitchFamily="34" charset="-120"/>
                        </a:rPr>
                        <a:t>Menores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BCCDE8"/>
                          </a:solidFill>
                          <a:latin typeface="Arial" pitchFamily="34" charset="0"/>
                          <a:ea typeface="Arial" pitchFamily="34" charset="-122"/>
                          <a:cs typeface="Arial" pitchFamily="34" charset="-120"/>
                        </a:rPr>
                        <a:t>Procedimientos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BCCDE8"/>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Directa</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b="1" dirty="0">
                          <a:solidFill>
                            <a:srgbClr val="5EEAD4"/>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Condicional</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b="1" dirty="0">
                          <a:solidFill>
                            <a:srgbClr val="5EEAD4"/>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Urgencia</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dirty="0">
                          <a:solidFill>
                            <a:srgbClr val="EAF1F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200" b="1" dirty="0">
                          <a:solidFill>
                            <a:srgbClr val="5EEAD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200" b="1" dirty="0">
                          <a:solidFill>
                            <a:srgbClr val="EAF1FB"/>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b="1" dirty="0">
                          <a:solidFill>
                            <a:srgbClr val="EAF1FB"/>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b="1" dirty="0">
                          <a:solidFill>
                            <a:srgbClr val="EAF1F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b="1" dirty="0">
                          <a:solidFill>
                            <a:srgbClr val="EAF1F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200" b="1" dirty="0">
                          <a:solidFill>
                            <a:srgbClr val="5EEAD4"/>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7315200" y="1719072"/>
            <a:ext cx="4361688" cy="960120"/>
          </a:xfrm>
          <a:prstGeom prst="roundRect">
            <a:avLst>
              <a:gd name="adj" fmla="val 7619"/>
            </a:avLst>
          </a:prstGeom>
          <a:solidFill>
            <a:srgbClr val="0F1930"/>
          </a:solidFill>
          <a:ln w="9525">
            <a:solidFill>
              <a:srgbClr val="22304A"/>
            </a:solidFill>
            <a:prstDash val="solid"/>
          </a:ln>
        </p:spPr>
      </p:sp>
      <p:sp>
        <p:nvSpPr>
          <p:cNvPr id="12" name="Text 8"/>
          <p:cNvSpPr txBox="1"/>
          <p:nvPr/>
        </p:nvSpPr>
        <p:spPr>
          <a:xfrm>
            <a:off x="7470648" y="1828800"/>
            <a:ext cx="405079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2 ⊂ 5</a:t>
            </a:r>
            <a:endParaRPr lang="en-US" sz="2400" dirty="0"/>
          </a:p>
        </p:txBody>
      </p:sp>
      <p:sp>
        <p:nvSpPr>
          <p:cNvPr id="13" name="Text 9"/>
          <p:cNvSpPr txBox="1"/>
          <p:nvPr/>
        </p:nvSpPr>
        <p:spPr>
          <a:xfrm>
            <a:off x="7470648" y="2258568"/>
            <a:ext cx="405079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MINSAL DENTRO DE MAYORES DIRECTAS</a:t>
            </a:r>
            <a:endParaRPr lang="en-US" sz="850" dirty="0"/>
          </a:p>
        </p:txBody>
      </p:sp>
      <p:sp>
        <p:nvSpPr>
          <p:cNvPr id="14" name="Text 10"/>
          <p:cNvSpPr txBox="1"/>
          <p:nvPr/>
        </p:nvSpPr>
        <p:spPr>
          <a:xfrm>
            <a:off x="7470648" y="2496312"/>
            <a:ext cx="405079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las dos suspensiones consolidadas son 2 de las 5 mayores directas</a:t>
            </a:r>
            <a:endParaRPr lang="en-US" sz="1000" dirty="0"/>
          </a:p>
        </p:txBody>
      </p:sp>
      <p:sp>
        <p:nvSpPr>
          <p:cNvPr id="15" name="Shape 11"/>
          <p:cNvSpPr/>
          <p:nvPr/>
        </p:nvSpPr>
        <p:spPr>
          <a:xfrm>
            <a:off x="7315200" y="2788920"/>
            <a:ext cx="4361688" cy="960120"/>
          </a:xfrm>
          <a:prstGeom prst="roundRect">
            <a:avLst>
              <a:gd name="adj" fmla="val 7619"/>
            </a:avLst>
          </a:prstGeom>
          <a:solidFill>
            <a:srgbClr val="0F1930"/>
          </a:solidFill>
          <a:ln w="9525">
            <a:solidFill>
              <a:srgbClr val="22304A"/>
            </a:solidFill>
            <a:prstDash val="solid"/>
          </a:ln>
        </p:spPr>
      </p:sp>
      <p:sp>
        <p:nvSpPr>
          <p:cNvPr id="16" name="Text 12"/>
          <p:cNvSpPr txBox="1"/>
          <p:nvPr/>
        </p:nvSpPr>
        <p:spPr>
          <a:xfrm>
            <a:off x="7470648" y="2898648"/>
            <a:ext cx="405079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5 ⊂ 15</a:t>
            </a:r>
            <a:endParaRPr lang="en-US" sz="2400" dirty="0"/>
          </a:p>
        </p:txBody>
      </p:sp>
      <p:sp>
        <p:nvSpPr>
          <p:cNvPr id="17" name="Text 13"/>
          <p:cNvSpPr txBox="1"/>
          <p:nvPr/>
        </p:nvSpPr>
        <p:spPr>
          <a:xfrm>
            <a:off x="7470648" y="3328416"/>
            <a:ext cx="405079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MAYORES DENTRO DE DIRECTAS</a:t>
            </a:r>
            <a:endParaRPr lang="en-US" sz="850" dirty="0"/>
          </a:p>
        </p:txBody>
      </p:sp>
      <p:sp>
        <p:nvSpPr>
          <p:cNvPr id="18" name="Text 14"/>
          <p:cNvSpPr txBox="1"/>
          <p:nvPr/>
        </p:nvSpPr>
        <p:spPr>
          <a:xfrm>
            <a:off x="7470648" y="3566160"/>
            <a:ext cx="405079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15 directas = 5 mayores + 4 menores + 6 procedimientos</a:t>
            </a:r>
            <a:endParaRPr lang="en-US" sz="1000" dirty="0"/>
          </a:p>
        </p:txBody>
      </p:sp>
      <p:sp>
        <p:nvSpPr>
          <p:cNvPr id="19" name="Shape 15"/>
          <p:cNvSpPr/>
          <p:nvPr/>
        </p:nvSpPr>
        <p:spPr>
          <a:xfrm>
            <a:off x="7315200" y="3858768"/>
            <a:ext cx="4361688" cy="960120"/>
          </a:xfrm>
          <a:prstGeom prst="roundRect">
            <a:avLst>
              <a:gd name="adj" fmla="val 7619"/>
            </a:avLst>
          </a:prstGeom>
          <a:solidFill>
            <a:srgbClr val="0F1930"/>
          </a:solidFill>
          <a:ln w="9525">
            <a:solidFill>
              <a:srgbClr val="22304A"/>
            </a:solidFill>
            <a:prstDash val="solid"/>
          </a:ln>
        </p:spPr>
      </p:sp>
      <p:sp>
        <p:nvSpPr>
          <p:cNvPr id="20" name="Text 16"/>
          <p:cNvSpPr txBox="1"/>
          <p:nvPr/>
        </p:nvSpPr>
        <p:spPr>
          <a:xfrm>
            <a:off x="7470648" y="3968496"/>
            <a:ext cx="405079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18 ⊂ 22</a:t>
            </a:r>
            <a:endParaRPr lang="en-US" sz="2400" dirty="0"/>
          </a:p>
        </p:txBody>
      </p:sp>
      <p:sp>
        <p:nvSpPr>
          <p:cNvPr id="21" name="Text 17"/>
          <p:cNvSpPr txBox="1"/>
          <p:nvPr/>
        </p:nvSpPr>
        <p:spPr>
          <a:xfrm>
            <a:off x="7470648" y="4398264"/>
            <a:ext cx="405079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OFTALMOLOGÍA DENTRO DE CONDICIONALES</a:t>
            </a:r>
            <a:endParaRPr lang="en-US" sz="850" dirty="0"/>
          </a:p>
        </p:txBody>
      </p:sp>
      <p:sp>
        <p:nvSpPr>
          <p:cNvPr id="22" name="Text 18"/>
          <p:cNvSpPr txBox="1"/>
          <p:nvPr/>
        </p:nvSpPr>
        <p:spPr>
          <a:xfrm>
            <a:off x="7470648" y="4636008"/>
            <a:ext cx="405079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las 22 condicionales son cirugías mayores; 18 son oftalmológicas de fin de semana</a:t>
            </a:r>
            <a:endParaRPr lang="en-US" sz="1000" dirty="0"/>
          </a:p>
        </p:txBody>
      </p:sp>
      <p:sp>
        <p:nvSpPr>
          <p:cNvPr id="23" name="Shape 19"/>
          <p:cNvSpPr/>
          <p:nvPr/>
        </p:nvSpPr>
        <p:spPr>
          <a:xfrm>
            <a:off x="502920" y="4206240"/>
            <a:ext cx="6583680" cy="1234440"/>
          </a:xfrm>
          <a:prstGeom prst="roundRect">
            <a:avLst>
              <a:gd name="adj" fmla="val 5926"/>
            </a:avLst>
          </a:prstGeom>
          <a:solidFill>
            <a:srgbClr val="0F1930"/>
          </a:solidFill>
          <a:ln w="15875">
            <a:solidFill>
              <a:srgbClr val="2DD4BF"/>
            </a:solidFill>
            <a:prstDash val="solid"/>
          </a:ln>
        </p:spPr>
      </p:sp>
      <p:sp>
        <p:nvSpPr>
          <p:cNvPr id="24" name="Text 20"/>
          <p:cNvSpPr txBox="1"/>
          <p:nvPr/>
        </p:nvSpPr>
        <p:spPr>
          <a:xfrm>
            <a:off x="649224" y="4315968"/>
            <a:ext cx="6291072"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15 + 22 + 1 = 38</a:t>
            </a:r>
            <a:endParaRPr lang="en-US" sz="1150" dirty="0"/>
          </a:p>
        </p:txBody>
      </p:sp>
      <p:sp>
        <p:nvSpPr>
          <p:cNvPr id="25" name="Text 21"/>
          <p:cNvSpPr txBox="1"/>
          <p:nvPr/>
        </p:nvSpPr>
        <p:spPr>
          <a:xfrm>
            <a:off x="649224" y="4626864"/>
            <a:ext cx="6291072" cy="722376"/>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El circuito de programación directa (15) es el que la UPPQ prepara y confirma; el condicional (22) depende de cupos que se liberan y explica el fin de semana oftalmológico; la urgencia (1) es un procedimiento.</a:t>
            </a:r>
            <a:endParaRPr lang="en-US" sz="1050" dirty="0"/>
          </a:p>
        </p:txBody>
      </p:sp>
      <p:sp>
        <p:nvSpPr>
          <p:cNvPr id="26" name="Text 22"/>
          <p:cNvSpPr txBox="1"/>
          <p:nvPr/>
        </p:nvSpPr>
        <p:spPr>
          <a:xfrm>
            <a:off x="502920" y="566928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Mayores = cirugía mayor; Menores = cirugía menor; Procedimientos = actividad no quirúrgica de pabellón (endoscopías, curaciones, etc.). Clasificación literal del informe operativo.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12  ·  OFTALMOLOGÍA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100" b="1" dirty="0">
                <a:solidFill>
                  <a:srgbClr val="EAF1FB"/>
                </a:solidFill>
                <a:latin typeface="Arial" pitchFamily="34" charset="0"/>
                <a:ea typeface="Arial" pitchFamily="34" charset="-122"/>
                <a:cs typeface="Arial" pitchFamily="34" charset="-120"/>
              </a:rPr>
              <a:t>Oftalmología: 232 CME y 18 suspensiones, dos cohortes que no se cruzan</a:t>
            </a:r>
            <a:endParaRPr lang="en-US" sz="21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Toda la actividad electiva oftalmológica ocurre en fin de semana · encuentros realizados y suspensiones no cierran una misma cohorte</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13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719072"/>
            <a:ext cx="3611880" cy="1600200"/>
          </a:xfrm>
          <a:prstGeom prst="roundRect">
            <a:avLst>
              <a:gd name="adj" fmla="val 4571"/>
            </a:avLst>
          </a:prstGeom>
          <a:solidFill>
            <a:srgbClr val="0F1930"/>
          </a:solidFill>
          <a:ln w="9525">
            <a:solidFill>
              <a:srgbClr val="22304A"/>
            </a:solidFill>
            <a:prstDash val="solid"/>
          </a:ln>
        </p:spPr>
      </p:sp>
      <p:sp>
        <p:nvSpPr>
          <p:cNvPr id="11" name="Text 8"/>
          <p:cNvSpPr txBox="1"/>
          <p:nvPr/>
        </p:nvSpPr>
        <p:spPr>
          <a:xfrm>
            <a:off x="658368" y="1828800"/>
            <a:ext cx="3300984" cy="685800"/>
          </a:xfrm>
          <a:prstGeom prst="rect">
            <a:avLst/>
          </a:prstGeom>
          <a:noFill/>
          <a:ln/>
        </p:spPr>
        <p:txBody>
          <a:bodyPr wrap="square" lIns="0" tIns="0" rIns="0" bIns="0" rtlCol="0" anchor="ctr"/>
          <a:lstStyle/>
          <a:p>
            <a:pPr algn="l" indent="0" marL="0">
              <a:buNone/>
            </a:pPr>
            <a:r>
              <a:rPr lang="en-US" sz="4000" b="1" dirty="0">
                <a:solidFill>
                  <a:srgbClr val="5EEAD4"/>
                </a:solidFill>
                <a:latin typeface="Arial" pitchFamily="34" charset="0"/>
                <a:ea typeface="Arial" pitchFamily="34" charset="-122"/>
                <a:cs typeface="Arial" pitchFamily="34" charset="-120"/>
              </a:rPr>
              <a:t>232</a:t>
            </a:r>
            <a:endParaRPr lang="en-US" sz="4000" dirty="0"/>
          </a:p>
        </p:txBody>
      </p:sp>
      <p:sp>
        <p:nvSpPr>
          <p:cNvPr id="12" name="Text 9"/>
          <p:cNvSpPr txBox="1"/>
          <p:nvPr/>
        </p:nvSpPr>
        <p:spPr>
          <a:xfrm>
            <a:off x="658368" y="2532888"/>
            <a:ext cx="33009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REALIZADAS · OFTALMOLOGÍA</a:t>
            </a:r>
            <a:endParaRPr lang="en-US" sz="850" dirty="0"/>
          </a:p>
        </p:txBody>
      </p:sp>
      <p:sp>
        <p:nvSpPr>
          <p:cNvPr id="13" name="Text 10"/>
          <p:cNvSpPr txBox="1"/>
          <p:nvPr/>
        </p:nvSpPr>
        <p:spPr>
          <a:xfrm>
            <a:off x="658368" y="2770632"/>
            <a:ext cx="3300984" cy="51206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229 facoéresis + 3 otras · todas en fin de semana · 57 % de las 405 CME del export</a:t>
            </a:r>
            <a:endParaRPr lang="en-US" sz="1000" dirty="0"/>
          </a:p>
        </p:txBody>
      </p:sp>
      <p:sp>
        <p:nvSpPr>
          <p:cNvPr id="14" name="Shape 11"/>
          <p:cNvSpPr/>
          <p:nvPr/>
        </p:nvSpPr>
        <p:spPr>
          <a:xfrm>
            <a:off x="4279392" y="1719072"/>
            <a:ext cx="3611880" cy="1600200"/>
          </a:xfrm>
          <a:prstGeom prst="roundRect">
            <a:avLst>
              <a:gd name="adj" fmla="val 4571"/>
            </a:avLst>
          </a:prstGeom>
          <a:solidFill>
            <a:srgbClr val="0F1930"/>
          </a:solidFill>
          <a:ln w="15875">
            <a:solidFill>
              <a:srgbClr val="F5B342"/>
            </a:solidFill>
            <a:prstDash val="solid"/>
          </a:ln>
        </p:spPr>
      </p:sp>
      <p:sp>
        <p:nvSpPr>
          <p:cNvPr id="15" name="Text 12"/>
          <p:cNvSpPr txBox="1"/>
          <p:nvPr/>
        </p:nvSpPr>
        <p:spPr>
          <a:xfrm>
            <a:off x="4434840" y="1828800"/>
            <a:ext cx="3300984" cy="685800"/>
          </a:xfrm>
          <a:prstGeom prst="rect">
            <a:avLst/>
          </a:prstGeom>
          <a:noFill/>
          <a:ln/>
        </p:spPr>
        <p:txBody>
          <a:bodyPr wrap="square" lIns="0" tIns="0" rIns="0" bIns="0" rtlCol="0" anchor="ctr"/>
          <a:lstStyle/>
          <a:p>
            <a:pPr algn="l" indent="0" marL="0">
              <a:buNone/>
            </a:pPr>
            <a:r>
              <a:rPr lang="en-US" sz="4000" b="1" dirty="0">
                <a:solidFill>
                  <a:srgbClr val="F5B342"/>
                </a:solidFill>
                <a:latin typeface="Arial" pitchFamily="34" charset="0"/>
                <a:ea typeface="Arial" pitchFamily="34" charset="-122"/>
                <a:cs typeface="Arial" pitchFamily="34" charset="-120"/>
              </a:rPr>
              <a:t>18</a:t>
            </a:r>
            <a:endParaRPr lang="en-US" sz="4000" dirty="0"/>
          </a:p>
        </p:txBody>
      </p:sp>
      <p:sp>
        <p:nvSpPr>
          <p:cNvPr id="16" name="Text 13"/>
          <p:cNvSpPr txBox="1"/>
          <p:nvPr/>
        </p:nvSpPr>
        <p:spPr>
          <a:xfrm>
            <a:off x="4434840" y="2532888"/>
            <a:ext cx="33009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SUSPENSIONES · CONDICIONALES</a:t>
            </a:r>
            <a:endParaRPr lang="en-US" sz="850" dirty="0"/>
          </a:p>
        </p:txBody>
      </p:sp>
      <p:sp>
        <p:nvSpPr>
          <p:cNvPr id="17" name="Text 14"/>
          <p:cNvSpPr txBox="1"/>
          <p:nvPr/>
        </p:nvSpPr>
        <p:spPr>
          <a:xfrm>
            <a:off x="4434840" y="2770632"/>
            <a:ext cx="3300984" cy="51206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fin de semana · 17 sin causal registrada · 1 descompensación</a:t>
            </a:r>
            <a:endParaRPr lang="en-US" sz="1000" dirty="0"/>
          </a:p>
        </p:txBody>
      </p:sp>
      <p:sp>
        <p:nvSpPr>
          <p:cNvPr id="18" name="Shape 15"/>
          <p:cNvSpPr/>
          <p:nvPr/>
        </p:nvSpPr>
        <p:spPr>
          <a:xfrm>
            <a:off x="8055864" y="1719072"/>
            <a:ext cx="3621024" cy="1600200"/>
          </a:xfrm>
          <a:prstGeom prst="roundRect">
            <a:avLst>
              <a:gd name="adj" fmla="val 4571"/>
            </a:avLst>
          </a:prstGeom>
          <a:solidFill>
            <a:srgbClr val="0F1930"/>
          </a:solidFill>
          <a:ln w="9525">
            <a:solidFill>
              <a:srgbClr val="22304A"/>
            </a:solidFill>
            <a:prstDash val="solid"/>
          </a:ln>
        </p:spPr>
      </p:sp>
      <p:sp>
        <p:nvSpPr>
          <p:cNvPr id="19" name="Text 16"/>
          <p:cNvSpPr txBox="1"/>
          <p:nvPr/>
        </p:nvSpPr>
        <p:spPr>
          <a:xfrm>
            <a:off x="8211312" y="1828800"/>
            <a:ext cx="3310128" cy="685800"/>
          </a:xfrm>
          <a:prstGeom prst="rect">
            <a:avLst/>
          </a:prstGeom>
          <a:noFill/>
          <a:ln/>
        </p:spPr>
        <p:txBody>
          <a:bodyPr wrap="square" lIns="0" tIns="0" rIns="0" bIns="0" rtlCol="0" anchor="ctr"/>
          <a:lstStyle/>
          <a:p>
            <a:pPr algn="l" indent="0" marL="0">
              <a:buNone/>
            </a:pPr>
            <a:r>
              <a:rPr lang="en-US" sz="4000" b="1" dirty="0">
                <a:solidFill>
                  <a:srgbClr val="5EEAD4"/>
                </a:solidFill>
                <a:latin typeface="Arial" pitchFamily="34" charset="0"/>
                <a:ea typeface="Arial" pitchFamily="34" charset="-122"/>
                <a:cs typeface="Arial" pitchFamily="34" charset="-120"/>
              </a:rPr>
              <a:t>9 min</a:t>
            </a:r>
            <a:endParaRPr lang="en-US" sz="4000" dirty="0"/>
          </a:p>
        </p:txBody>
      </p:sp>
      <p:sp>
        <p:nvSpPr>
          <p:cNvPr id="20" name="Text 17"/>
          <p:cNvSpPr txBox="1"/>
          <p:nvPr/>
        </p:nvSpPr>
        <p:spPr>
          <a:xfrm>
            <a:off x="8211312" y="2532888"/>
            <a:ext cx="3310128"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OCUPACIÓN MEDIANA · FIN DE SEMANA</a:t>
            </a:r>
            <a:endParaRPr lang="en-US" sz="850" dirty="0"/>
          </a:p>
        </p:txBody>
      </p:sp>
      <p:sp>
        <p:nvSpPr>
          <p:cNvPr id="21" name="Text 18"/>
          <p:cNvSpPr txBox="1"/>
          <p:nvPr/>
        </p:nvSpPr>
        <p:spPr>
          <a:xfrm>
            <a:off x="8211312" y="2770632"/>
            <a:ext cx="3310128" cy="51206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media 9,5 min (n = 231) · frente a 100,5 min en electivos L–V</a:t>
            </a:r>
            <a:endParaRPr lang="en-US" sz="1000" dirty="0"/>
          </a:p>
        </p:txBody>
      </p:sp>
      <p:sp>
        <p:nvSpPr>
          <p:cNvPr id="22" name="Text 19"/>
          <p:cNvSpPr txBox="1"/>
          <p:nvPr/>
        </p:nvSpPr>
        <p:spPr>
          <a:xfrm>
            <a:off x="502920" y="3520440"/>
            <a:ext cx="73152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REGISTROS DE SUSPENSIÓN EN FIN DE SEMANA  ·  POR JORNADA</a:t>
            </a:r>
            <a:endParaRPr lang="en-US" sz="850" dirty="0"/>
          </a:p>
        </p:txBody>
      </p:sp>
      <p:sp>
        <p:nvSpPr>
          <p:cNvPr id="23" name="Shape 20"/>
          <p:cNvSpPr/>
          <p:nvPr/>
        </p:nvSpPr>
        <p:spPr>
          <a:xfrm>
            <a:off x="502920" y="3767328"/>
            <a:ext cx="6766560" cy="2103120"/>
          </a:xfrm>
          <a:prstGeom prst="roundRect">
            <a:avLst>
              <a:gd name="adj" fmla="val 3478"/>
            </a:avLst>
          </a:prstGeom>
          <a:solidFill>
            <a:srgbClr val="0F1930"/>
          </a:solidFill>
          <a:ln w="9525">
            <a:solidFill>
              <a:srgbClr val="22304A"/>
            </a:solidFill>
            <a:prstDash val="solid"/>
          </a:ln>
        </p:spPr>
      </p:sp>
      <p:sp>
        <p:nvSpPr>
          <p:cNvPr id="24" name="Shape 21"/>
          <p:cNvSpPr/>
          <p:nvPr/>
        </p:nvSpPr>
        <p:spPr>
          <a:xfrm>
            <a:off x="753694" y="5486400"/>
            <a:ext cx="421996" cy="18288"/>
          </a:xfrm>
          <a:prstGeom prst="roundRect">
            <a:avLst>
              <a:gd name="adj" fmla="val 150000"/>
            </a:avLst>
          </a:prstGeom>
          <a:solidFill>
            <a:srgbClr val="2DD4BF"/>
          </a:solidFill>
          <a:ln/>
        </p:spPr>
      </p:sp>
      <p:sp>
        <p:nvSpPr>
          <p:cNvPr id="25" name="Text 22"/>
          <p:cNvSpPr txBox="1"/>
          <p:nvPr/>
        </p:nvSpPr>
        <p:spPr>
          <a:xfrm>
            <a:off x="570814" y="5248656"/>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0</a:t>
            </a:r>
            <a:endParaRPr lang="en-US" sz="1000" dirty="0"/>
          </a:p>
        </p:txBody>
      </p:sp>
      <p:sp>
        <p:nvSpPr>
          <p:cNvPr id="26" name="Text 23"/>
          <p:cNvSpPr txBox="1"/>
          <p:nvPr/>
        </p:nvSpPr>
        <p:spPr>
          <a:xfrm>
            <a:off x="525094"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S 1</a:t>
            </a:r>
            <a:endParaRPr lang="en-US" sz="900" dirty="0"/>
          </a:p>
        </p:txBody>
      </p:sp>
      <p:sp>
        <p:nvSpPr>
          <p:cNvPr id="27" name="Shape 24"/>
          <p:cNvSpPr/>
          <p:nvPr/>
        </p:nvSpPr>
        <p:spPr>
          <a:xfrm>
            <a:off x="1402918" y="5486400"/>
            <a:ext cx="421996" cy="18288"/>
          </a:xfrm>
          <a:prstGeom prst="roundRect">
            <a:avLst>
              <a:gd name="adj" fmla="val 150000"/>
            </a:avLst>
          </a:prstGeom>
          <a:solidFill>
            <a:srgbClr val="2DD4BF"/>
          </a:solidFill>
          <a:ln/>
        </p:spPr>
      </p:sp>
      <p:sp>
        <p:nvSpPr>
          <p:cNvPr id="28" name="Text 25"/>
          <p:cNvSpPr txBox="1"/>
          <p:nvPr/>
        </p:nvSpPr>
        <p:spPr>
          <a:xfrm>
            <a:off x="1220038" y="5248656"/>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0</a:t>
            </a:r>
            <a:endParaRPr lang="en-US" sz="1000" dirty="0"/>
          </a:p>
        </p:txBody>
      </p:sp>
      <p:sp>
        <p:nvSpPr>
          <p:cNvPr id="29" name="Text 26"/>
          <p:cNvSpPr txBox="1"/>
          <p:nvPr/>
        </p:nvSpPr>
        <p:spPr>
          <a:xfrm>
            <a:off x="1174318"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D 2</a:t>
            </a:r>
            <a:endParaRPr lang="en-US" sz="900" dirty="0"/>
          </a:p>
        </p:txBody>
      </p:sp>
      <p:sp>
        <p:nvSpPr>
          <p:cNvPr id="30" name="Shape 27"/>
          <p:cNvSpPr/>
          <p:nvPr/>
        </p:nvSpPr>
        <p:spPr>
          <a:xfrm>
            <a:off x="2052142" y="4096512"/>
            <a:ext cx="421996" cy="1408176"/>
          </a:xfrm>
          <a:prstGeom prst="roundRect">
            <a:avLst>
              <a:gd name="adj" fmla="val 6501"/>
            </a:avLst>
          </a:prstGeom>
          <a:solidFill>
            <a:srgbClr val="F5B342"/>
          </a:solidFill>
          <a:ln/>
        </p:spPr>
      </p:sp>
      <p:sp>
        <p:nvSpPr>
          <p:cNvPr id="31" name="Text 28"/>
          <p:cNvSpPr txBox="1"/>
          <p:nvPr/>
        </p:nvSpPr>
        <p:spPr>
          <a:xfrm>
            <a:off x="1869262" y="3858768"/>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5</a:t>
            </a:r>
            <a:endParaRPr lang="en-US" sz="1000" dirty="0"/>
          </a:p>
        </p:txBody>
      </p:sp>
      <p:sp>
        <p:nvSpPr>
          <p:cNvPr id="32" name="Text 29"/>
          <p:cNvSpPr txBox="1"/>
          <p:nvPr/>
        </p:nvSpPr>
        <p:spPr>
          <a:xfrm>
            <a:off x="1823542"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S 8</a:t>
            </a:r>
            <a:endParaRPr lang="en-US" sz="900" dirty="0"/>
          </a:p>
        </p:txBody>
      </p:sp>
      <p:sp>
        <p:nvSpPr>
          <p:cNvPr id="33" name="Shape 30"/>
          <p:cNvSpPr/>
          <p:nvPr/>
        </p:nvSpPr>
        <p:spPr>
          <a:xfrm>
            <a:off x="2701366" y="4378147"/>
            <a:ext cx="421996" cy="1126541"/>
          </a:xfrm>
          <a:prstGeom prst="roundRect">
            <a:avLst>
              <a:gd name="adj" fmla="val 6501"/>
            </a:avLst>
          </a:prstGeom>
          <a:solidFill>
            <a:srgbClr val="F5B342"/>
          </a:solidFill>
          <a:ln/>
        </p:spPr>
      </p:sp>
      <p:sp>
        <p:nvSpPr>
          <p:cNvPr id="34" name="Text 31"/>
          <p:cNvSpPr txBox="1"/>
          <p:nvPr/>
        </p:nvSpPr>
        <p:spPr>
          <a:xfrm>
            <a:off x="2518486" y="4140403"/>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4</a:t>
            </a:r>
            <a:endParaRPr lang="en-US" sz="1000" dirty="0"/>
          </a:p>
        </p:txBody>
      </p:sp>
      <p:sp>
        <p:nvSpPr>
          <p:cNvPr id="35" name="Text 32"/>
          <p:cNvSpPr txBox="1"/>
          <p:nvPr/>
        </p:nvSpPr>
        <p:spPr>
          <a:xfrm>
            <a:off x="2472766"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D 9</a:t>
            </a:r>
            <a:endParaRPr lang="en-US" sz="900" dirty="0"/>
          </a:p>
        </p:txBody>
      </p:sp>
      <p:sp>
        <p:nvSpPr>
          <p:cNvPr id="36" name="Shape 33"/>
          <p:cNvSpPr/>
          <p:nvPr/>
        </p:nvSpPr>
        <p:spPr>
          <a:xfrm>
            <a:off x="3350590" y="5223053"/>
            <a:ext cx="421996" cy="281635"/>
          </a:xfrm>
          <a:prstGeom prst="roundRect">
            <a:avLst>
              <a:gd name="adj" fmla="val 9740"/>
            </a:avLst>
          </a:prstGeom>
          <a:solidFill>
            <a:srgbClr val="2DD4BF"/>
          </a:solidFill>
          <a:ln/>
        </p:spPr>
      </p:sp>
      <p:sp>
        <p:nvSpPr>
          <p:cNvPr id="37" name="Text 34"/>
          <p:cNvSpPr txBox="1"/>
          <p:nvPr/>
        </p:nvSpPr>
        <p:spPr>
          <a:xfrm>
            <a:off x="3167710" y="4985309"/>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1</a:t>
            </a:r>
            <a:endParaRPr lang="en-US" sz="1000" dirty="0"/>
          </a:p>
        </p:txBody>
      </p:sp>
      <p:sp>
        <p:nvSpPr>
          <p:cNvPr id="38" name="Text 35"/>
          <p:cNvSpPr txBox="1"/>
          <p:nvPr/>
        </p:nvSpPr>
        <p:spPr>
          <a:xfrm>
            <a:off x="3121990"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S 15</a:t>
            </a:r>
            <a:endParaRPr lang="en-US" sz="900" dirty="0"/>
          </a:p>
        </p:txBody>
      </p:sp>
      <p:sp>
        <p:nvSpPr>
          <p:cNvPr id="39" name="Shape 36"/>
          <p:cNvSpPr/>
          <p:nvPr/>
        </p:nvSpPr>
        <p:spPr>
          <a:xfrm>
            <a:off x="3999814" y="4941418"/>
            <a:ext cx="421996" cy="563270"/>
          </a:xfrm>
          <a:prstGeom prst="roundRect">
            <a:avLst>
              <a:gd name="adj" fmla="val 6501"/>
            </a:avLst>
          </a:prstGeom>
          <a:solidFill>
            <a:srgbClr val="2DD4BF"/>
          </a:solidFill>
          <a:ln/>
        </p:spPr>
      </p:sp>
      <p:sp>
        <p:nvSpPr>
          <p:cNvPr id="40" name="Text 37"/>
          <p:cNvSpPr txBox="1"/>
          <p:nvPr/>
        </p:nvSpPr>
        <p:spPr>
          <a:xfrm>
            <a:off x="3816934" y="4703674"/>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2</a:t>
            </a:r>
            <a:endParaRPr lang="en-US" sz="1000" dirty="0"/>
          </a:p>
        </p:txBody>
      </p:sp>
      <p:sp>
        <p:nvSpPr>
          <p:cNvPr id="41" name="Text 38"/>
          <p:cNvSpPr txBox="1"/>
          <p:nvPr/>
        </p:nvSpPr>
        <p:spPr>
          <a:xfrm>
            <a:off x="3771214"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D 16</a:t>
            </a:r>
            <a:endParaRPr lang="en-US" sz="900" dirty="0"/>
          </a:p>
        </p:txBody>
      </p:sp>
      <p:sp>
        <p:nvSpPr>
          <p:cNvPr id="42" name="Shape 39"/>
          <p:cNvSpPr/>
          <p:nvPr/>
        </p:nvSpPr>
        <p:spPr>
          <a:xfrm>
            <a:off x="4649038" y="4941418"/>
            <a:ext cx="421996" cy="563270"/>
          </a:xfrm>
          <a:prstGeom prst="roundRect">
            <a:avLst>
              <a:gd name="adj" fmla="val 6501"/>
            </a:avLst>
          </a:prstGeom>
          <a:solidFill>
            <a:srgbClr val="2DD4BF"/>
          </a:solidFill>
          <a:ln/>
        </p:spPr>
      </p:sp>
      <p:sp>
        <p:nvSpPr>
          <p:cNvPr id="43" name="Text 40"/>
          <p:cNvSpPr txBox="1"/>
          <p:nvPr/>
        </p:nvSpPr>
        <p:spPr>
          <a:xfrm>
            <a:off x="4466158" y="4703674"/>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2</a:t>
            </a:r>
            <a:endParaRPr lang="en-US" sz="1000" dirty="0"/>
          </a:p>
        </p:txBody>
      </p:sp>
      <p:sp>
        <p:nvSpPr>
          <p:cNvPr id="44" name="Text 41"/>
          <p:cNvSpPr txBox="1"/>
          <p:nvPr/>
        </p:nvSpPr>
        <p:spPr>
          <a:xfrm>
            <a:off x="4420438"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S 22</a:t>
            </a:r>
            <a:endParaRPr lang="en-US" sz="900" dirty="0"/>
          </a:p>
        </p:txBody>
      </p:sp>
      <p:sp>
        <p:nvSpPr>
          <p:cNvPr id="45" name="Shape 42"/>
          <p:cNvSpPr/>
          <p:nvPr/>
        </p:nvSpPr>
        <p:spPr>
          <a:xfrm>
            <a:off x="5298262" y="4096512"/>
            <a:ext cx="421996" cy="1408176"/>
          </a:xfrm>
          <a:prstGeom prst="roundRect">
            <a:avLst>
              <a:gd name="adj" fmla="val 6501"/>
            </a:avLst>
          </a:prstGeom>
          <a:solidFill>
            <a:srgbClr val="F5B342"/>
          </a:solidFill>
          <a:ln/>
        </p:spPr>
      </p:sp>
      <p:sp>
        <p:nvSpPr>
          <p:cNvPr id="46" name="Text 43"/>
          <p:cNvSpPr txBox="1"/>
          <p:nvPr/>
        </p:nvSpPr>
        <p:spPr>
          <a:xfrm>
            <a:off x="5115382" y="3858768"/>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5</a:t>
            </a:r>
            <a:endParaRPr lang="en-US" sz="1000" dirty="0"/>
          </a:p>
        </p:txBody>
      </p:sp>
      <p:sp>
        <p:nvSpPr>
          <p:cNvPr id="47" name="Text 44"/>
          <p:cNvSpPr txBox="1"/>
          <p:nvPr/>
        </p:nvSpPr>
        <p:spPr>
          <a:xfrm>
            <a:off x="5069662"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D 23</a:t>
            </a:r>
            <a:endParaRPr lang="en-US" sz="900" dirty="0"/>
          </a:p>
        </p:txBody>
      </p:sp>
      <p:sp>
        <p:nvSpPr>
          <p:cNvPr id="48" name="Shape 45"/>
          <p:cNvSpPr/>
          <p:nvPr/>
        </p:nvSpPr>
        <p:spPr>
          <a:xfrm>
            <a:off x="5947486" y="5486400"/>
            <a:ext cx="421996" cy="18288"/>
          </a:xfrm>
          <a:prstGeom prst="roundRect">
            <a:avLst>
              <a:gd name="adj" fmla="val 150000"/>
            </a:avLst>
          </a:prstGeom>
          <a:solidFill>
            <a:srgbClr val="2DD4BF"/>
          </a:solidFill>
          <a:ln/>
        </p:spPr>
      </p:sp>
      <p:sp>
        <p:nvSpPr>
          <p:cNvPr id="49" name="Text 46"/>
          <p:cNvSpPr txBox="1"/>
          <p:nvPr/>
        </p:nvSpPr>
        <p:spPr>
          <a:xfrm>
            <a:off x="5764606" y="5248656"/>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0</a:t>
            </a:r>
            <a:endParaRPr lang="en-US" sz="1000" dirty="0"/>
          </a:p>
        </p:txBody>
      </p:sp>
      <p:sp>
        <p:nvSpPr>
          <p:cNvPr id="50" name="Text 47"/>
          <p:cNvSpPr txBox="1"/>
          <p:nvPr/>
        </p:nvSpPr>
        <p:spPr>
          <a:xfrm>
            <a:off x="5718886"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S 29</a:t>
            </a:r>
            <a:endParaRPr lang="en-US" sz="900" dirty="0"/>
          </a:p>
        </p:txBody>
      </p:sp>
      <p:sp>
        <p:nvSpPr>
          <p:cNvPr id="51" name="Shape 48"/>
          <p:cNvSpPr/>
          <p:nvPr/>
        </p:nvSpPr>
        <p:spPr>
          <a:xfrm>
            <a:off x="6596710" y="5486400"/>
            <a:ext cx="421996" cy="18288"/>
          </a:xfrm>
          <a:prstGeom prst="roundRect">
            <a:avLst>
              <a:gd name="adj" fmla="val 150000"/>
            </a:avLst>
          </a:prstGeom>
          <a:solidFill>
            <a:srgbClr val="2DD4BF"/>
          </a:solidFill>
          <a:ln/>
        </p:spPr>
      </p:sp>
      <p:sp>
        <p:nvSpPr>
          <p:cNvPr id="52" name="Text 49"/>
          <p:cNvSpPr txBox="1"/>
          <p:nvPr/>
        </p:nvSpPr>
        <p:spPr>
          <a:xfrm>
            <a:off x="6413830" y="5248656"/>
            <a:ext cx="787756" cy="237744"/>
          </a:xfrm>
          <a:prstGeom prst="rect">
            <a:avLst/>
          </a:prstGeom>
          <a:noFill/>
          <a:ln/>
        </p:spPr>
        <p:txBody>
          <a:bodyPr wrap="square" lIns="0" tIns="0" rIns="0" bIns="0" rtlCol="0" anchor="b"/>
          <a:lstStyle/>
          <a:p>
            <a:pPr algn="ctr" indent="0" marL="0">
              <a:buNone/>
            </a:pPr>
            <a:r>
              <a:rPr lang="en-US" sz="1000" b="1" dirty="0">
                <a:solidFill>
                  <a:srgbClr val="EAF1FB"/>
                </a:solidFill>
                <a:latin typeface="Arial" pitchFamily="34" charset="0"/>
                <a:ea typeface="Arial" pitchFamily="34" charset="-122"/>
                <a:cs typeface="Arial" pitchFamily="34" charset="-120"/>
              </a:rPr>
              <a:t>0</a:t>
            </a:r>
            <a:endParaRPr lang="en-US" sz="1000" dirty="0"/>
          </a:p>
        </p:txBody>
      </p:sp>
      <p:sp>
        <p:nvSpPr>
          <p:cNvPr id="53" name="Text 50"/>
          <p:cNvSpPr txBox="1"/>
          <p:nvPr/>
        </p:nvSpPr>
        <p:spPr>
          <a:xfrm>
            <a:off x="6368110" y="5504688"/>
            <a:ext cx="879196" cy="274320"/>
          </a:xfrm>
          <a:prstGeom prst="rect">
            <a:avLst/>
          </a:prstGeom>
          <a:noFill/>
          <a:ln/>
        </p:spPr>
        <p:txBody>
          <a:bodyPr wrap="square" lIns="0" tIns="0" rIns="0" bIns="0" rtlCol="0" anchor="ctr"/>
          <a:lstStyle/>
          <a:p>
            <a:pPr algn="ctr" indent="0" marL="0">
              <a:buNone/>
            </a:pPr>
            <a:r>
              <a:rPr lang="en-US" sz="900" dirty="0">
                <a:solidFill>
                  <a:srgbClr val="94AACC"/>
                </a:solidFill>
                <a:latin typeface="Arial" pitchFamily="34" charset="0"/>
                <a:ea typeface="Arial" pitchFamily="34" charset="-122"/>
                <a:cs typeface="Arial" pitchFamily="34" charset="-120"/>
              </a:rPr>
              <a:t>D 30</a:t>
            </a:r>
            <a:endParaRPr lang="en-US" sz="900" dirty="0"/>
          </a:p>
        </p:txBody>
      </p:sp>
      <p:sp>
        <p:nvSpPr>
          <p:cNvPr id="54" name="Shape 51"/>
          <p:cNvSpPr/>
          <p:nvPr/>
        </p:nvSpPr>
        <p:spPr>
          <a:xfrm>
            <a:off x="7452360" y="3767328"/>
            <a:ext cx="4224528" cy="2103120"/>
          </a:xfrm>
          <a:prstGeom prst="roundRect">
            <a:avLst>
              <a:gd name="adj" fmla="val 3478"/>
            </a:avLst>
          </a:prstGeom>
          <a:solidFill>
            <a:srgbClr val="0F1930"/>
          </a:solidFill>
          <a:ln w="15875">
            <a:solidFill>
              <a:srgbClr val="F5B342"/>
            </a:solidFill>
            <a:prstDash val="solid"/>
          </a:ln>
        </p:spPr>
      </p:sp>
      <p:sp>
        <p:nvSpPr>
          <p:cNvPr id="55" name="Text 52"/>
          <p:cNvSpPr txBox="1"/>
          <p:nvPr/>
        </p:nvSpPr>
        <p:spPr>
          <a:xfrm>
            <a:off x="7598664" y="3877056"/>
            <a:ext cx="393192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DOS FINES DE SEMANA CONCENTRAN 16 DE 19</a:t>
            </a:r>
            <a:endParaRPr lang="en-US" sz="1150" dirty="0"/>
          </a:p>
        </p:txBody>
      </p:sp>
      <p:sp>
        <p:nvSpPr>
          <p:cNvPr id="56" name="Text 53"/>
          <p:cNvSpPr txBox="1"/>
          <p:nvPr/>
        </p:nvSpPr>
        <p:spPr>
          <a:xfrm>
            <a:off x="7598664" y="4187952"/>
            <a:ext cx="3931920" cy="1591056"/>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8–9 de agosto (9 registros) y 22–23 de agosto (7). Es compatible con eventos de jornada (capacidad, dotación, insumos o ausencia de pacientes) más que con 18 fallas independientes. Sin la causal, el registro no permite decidir: completar por jornada, no por paciente.</a:t>
            </a:r>
            <a:endParaRPr lang="en-US" sz="1000" dirty="0"/>
          </a:p>
        </p:txBody>
      </p:sp>
      <p:sp>
        <p:nvSpPr>
          <p:cNvPr id="57" name="Text 54"/>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No se calcula una tasa oftalmológica: 18 / 251 queda descartada por no compartir fechas de eventos. El fin de semana incluye además 1 urgencia (procedimiento) dentro de los 19 registros.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13  ·  CALENDARIO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Calendario de suspensiones operativas — agosto 2026</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Cada casilla muestra el número de registros del informe operativo · fondo distinto en fin de semana · suma 38</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14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Lunes</a:t>
            </a:r>
            <a:endParaRPr lang="en-US" sz="1100" dirty="0"/>
          </a:p>
        </p:txBody>
      </p:sp>
      <p:sp>
        <p:nvSpPr>
          <p:cNvPr id="11" name="Text 8"/>
          <p:cNvSpPr txBox="1"/>
          <p:nvPr/>
        </p:nvSpPr>
        <p:spPr>
          <a:xfrm>
            <a:off x="2112264"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Martes</a:t>
            </a:r>
            <a:endParaRPr lang="en-US" sz="1100" dirty="0"/>
          </a:p>
        </p:txBody>
      </p:sp>
      <p:sp>
        <p:nvSpPr>
          <p:cNvPr id="12" name="Text 9"/>
          <p:cNvSpPr txBox="1"/>
          <p:nvPr/>
        </p:nvSpPr>
        <p:spPr>
          <a:xfrm>
            <a:off x="3721608"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Miércoles</a:t>
            </a:r>
            <a:endParaRPr lang="en-US" sz="1100" dirty="0"/>
          </a:p>
        </p:txBody>
      </p:sp>
      <p:sp>
        <p:nvSpPr>
          <p:cNvPr id="13" name="Text 10"/>
          <p:cNvSpPr txBox="1"/>
          <p:nvPr/>
        </p:nvSpPr>
        <p:spPr>
          <a:xfrm>
            <a:off x="5330952"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Jueves</a:t>
            </a:r>
            <a:endParaRPr lang="en-US" sz="1100" dirty="0"/>
          </a:p>
        </p:txBody>
      </p:sp>
      <p:sp>
        <p:nvSpPr>
          <p:cNvPr id="14" name="Text 11"/>
          <p:cNvSpPr txBox="1"/>
          <p:nvPr/>
        </p:nvSpPr>
        <p:spPr>
          <a:xfrm>
            <a:off x="6940296"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Viernes</a:t>
            </a:r>
            <a:endParaRPr lang="en-US" sz="1100" dirty="0"/>
          </a:p>
        </p:txBody>
      </p:sp>
      <p:sp>
        <p:nvSpPr>
          <p:cNvPr id="15" name="Text 12"/>
          <p:cNvSpPr txBox="1"/>
          <p:nvPr/>
        </p:nvSpPr>
        <p:spPr>
          <a:xfrm>
            <a:off x="8549640"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Sábado</a:t>
            </a:r>
            <a:endParaRPr lang="en-US" sz="1100" dirty="0"/>
          </a:p>
        </p:txBody>
      </p:sp>
      <p:sp>
        <p:nvSpPr>
          <p:cNvPr id="16" name="Text 13"/>
          <p:cNvSpPr txBox="1"/>
          <p:nvPr/>
        </p:nvSpPr>
        <p:spPr>
          <a:xfrm>
            <a:off x="10158984" y="1719072"/>
            <a:ext cx="1508760" cy="237744"/>
          </a:xfrm>
          <a:prstGeom prst="rect">
            <a:avLst/>
          </a:prstGeom>
          <a:noFill/>
          <a:ln/>
        </p:spPr>
        <p:txBody>
          <a:bodyPr wrap="square" lIns="0" tIns="0" rIns="0" bIns="0" rtlCol="0" anchor="ctr"/>
          <a:lstStyle/>
          <a:p>
            <a:pPr algn="l" indent="0" marL="0">
              <a:buNone/>
            </a:pPr>
            <a:r>
              <a:rPr lang="en-US" sz="1100" b="1" dirty="0">
                <a:solidFill>
                  <a:srgbClr val="BCCDE8"/>
                </a:solidFill>
                <a:latin typeface="Arial" pitchFamily="34" charset="0"/>
                <a:ea typeface="Arial" pitchFamily="34" charset="-122"/>
                <a:cs typeface="Arial" pitchFamily="34" charset="-120"/>
              </a:rPr>
              <a:t>Domingo</a:t>
            </a:r>
            <a:endParaRPr lang="en-US" sz="1100" dirty="0"/>
          </a:p>
        </p:txBody>
      </p:sp>
      <p:sp>
        <p:nvSpPr>
          <p:cNvPr id="17" name="Shape 14"/>
          <p:cNvSpPr/>
          <p:nvPr/>
        </p:nvSpPr>
        <p:spPr>
          <a:xfrm>
            <a:off x="8549640" y="2011680"/>
            <a:ext cx="1508760" cy="457200"/>
          </a:xfrm>
          <a:prstGeom prst="roundRect">
            <a:avLst>
              <a:gd name="adj" fmla="val 10000"/>
            </a:avLst>
          </a:prstGeom>
          <a:solidFill>
            <a:srgbClr val="142A39"/>
          </a:solidFill>
          <a:ln w="9525">
            <a:solidFill>
              <a:srgbClr val="22304A"/>
            </a:solidFill>
            <a:prstDash val="solid"/>
          </a:ln>
        </p:spPr>
      </p:sp>
      <p:sp>
        <p:nvSpPr>
          <p:cNvPr id="18" name="Text 15"/>
          <p:cNvSpPr txBox="1"/>
          <p:nvPr/>
        </p:nvSpPr>
        <p:spPr>
          <a:xfrm>
            <a:off x="8622792" y="2057400"/>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a:t>
            </a:r>
            <a:endParaRPr lang="en-US" sz="1000" dirty="0"/>
          </a:p>
        </p:txBody>
      </p:sp>
      <p:sp>
        <p:nvSpPr>
          <p:cNvPr id="19" name="Text 16"/>
          <p:cNvSpPr txBox="1"/>
          <p:nvPr/>
        </p:nvSpPr>
        <p:spPr>
          <a:xfrm>
            <a:off x="9098280" y="2057400"/>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20" name="Shape 17"/>
          <p:cNvSpPr/>
          <p:nvPr/>
        </p:nvSpPr>
        <p:spPr>
          <a:xfrm>
            <a:off x="10158984" y="2011680"/>
            <a:ext cx="1508760" cy="457200"/>
          </a:xfrm>
          <a:prstGeom prst="roundRect">
            <a:avLst>
              <a:gd name="adj" fmla="val 10000"/>
            </a:avLst>
          </a:prstGeom>
          <a:solidFill>
            <a:srgbClr val="142A39"/>
          </a:solidFill>
          <a:ln w="9525">
            <a:solidFill>
              <a:srgbClr val="22304A"/>
            </a:solidFill>
            <a:prstDash val="solid"/>
          </a:ln>
        </p:spPr>
      </p:sp>
      <p:sp>
        <p:nvSpPr>
          <p:cNvPr id="21" name="Text 18"/>
          <p:cNvSpPr txBox="1"/>
          <p:nvPr/>
        </p:nvSpPr>
        <p:spPr>
          <a:xfrm>
            <a:off x="10232136" y="2057400"/>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a:t>
            </a:r>
            <a:endParaRPr lang="en-US" sz="1000" dirty="0"/>
          </a:p>
        </p:txBody>
      </p:sp>
      <p:sp>
        <p:nvSpPr>
          <p:cNvPr id="22" name="Text 19"/>
          <p:cNvSpPr txBox="1"/>
          <p:nvPr/>
        </p:nvSpPr>
        <p:spPr>
          <a:xfrm>
            <a:off x="10707624" y="2057400"/>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23" name="Shape 20"/>
          <p:cNvSpPr/>
          <p:nvPr/>
        </p:nvSpPr>
        <p:spPr>
          <a:xfrm>
            <a:off x="502920" y="2551176"/>
            <a:ext cx="1508760" cy="457200"/>
          </a:xfrm>
          <a:prstGeom prst="roundRect">
            <a:avLst>
              <a:gd name="adj" fmla="val 10000"/>
            </a:avLst>
          </a:prstGeom>
          <a:solidFill>
            <a:srgbClr val="0F1930"/>
          </a:solidFill>
          <a:ln w="19050">
            <a:solidFill>
              <a:srgbClr val="2DD4BF"/>
            </a:solidFill>
            <a:prstDash val="solid"/>
          </a:ln>
        </p:spPr>
      </p:sp>
      <p:sp>
        <p:nvSpPr>
          <p:cNvPr id="24" name="Text 21"/>
          <p:cNvSpPr txBox="1"/>
          <p:nvPr/>
        </p:nvSpPr>
        <p:spPr>
          <a:xfrm>
            <a:off x="576072"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3</a:t>
            </a:r>
            <a:endParaRPr lang="en-US" sz="1000" dirty="0"/>
          </a:p>
        </p:txBody>
      </p:sp>
      <p:sp>
        <p:nvSpPr>
          <p:cNvPr id="25" name="Text 22"/>
          <p:cNvSpPr txBox="1"/>
          <p:nvPr/>
        </p:nvSpPr>
        <p:spPr>
          <a:xfrm>
            <a:off x="1051560" y="2596896"/>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26" name="Shape 23"/>
          <p:cNvSpPr/>
          <p:nvPr/>
        </p:nvSpPr>
        <p:spPr>
          <a:xfrm>
            <a:off x="2112264" y="2551176"/>
            <a:ext cx="1508760" cy="457200"/>
          </a:xfrm>
          <a:prstGeom prst="roundRect">
            <a:avLst>
              <a:gd name="adj" fmla="val 10000"/>
            </a:avLst>
          </a:prstGeom>
          <a:solidFill>
            <a:srgbClr val="0F1930"/>
          </a:solidFill>
          <a:ln w="9525">
            <a:solidFill>
              <a:srgbClr val="22304A"/>
            </a:solidFill>
            <a:prstDash val="solid"/>
          </a:ln>
        </p:spPr>
      </p:sp>
      <p:sp>
        <p:nvSpPr>
          <p:cNvPr id="27" name="Text 24"/>
          <p:cNvSpPr txBox="1"/>
          <p:nvPr/>
        </p:nvSpPr>
        <p:spPr>
          <a:xfrm>
            <a:off x="2185416"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4</a:t>
            </a:r>
            <a:endParaRPr lang="en-US" sz="1000" dirty="0"/>
          </a:p>
        </p:txBody>
      </p:sp>
      <p:sp>
        <p:nvSpPr>
          <p:cNvPr id="28" name="Text 25"/>
          <p:cNvSpPr txBox="1"/>
          <p:nvPr/>
        </p:nvSpPr>
        <p:spPr>
          <a:xfrm>
            <a:off x="2660904" y="2596896"/>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29" name="Shape 26"/>
          <p:cNvSpPr/>
          <p:nvPr/>
        </p:nvSpPr>
        <p:spPr>
          <a:xfrm>
            <a:off x="3721608" y="2551176"/>
            <a:ext cx="1508760" cy="457200"/>
          </a:xfrm>
          <a:prstGeom prst="roundRect">
            <a:avLst>
              <a:gd name="adj" fmla="val 10000"/>
            </a:avLst>
          </a:prstGeom>
          <a:solidFill>
            <a:srgbClr val="0F1930"/>
          </a:solidFill>
          <a:ln w="9525">
            <a:solidFill>
              <a:srgbClr val="22304A"/>
            </a:solidFill>
            <a:prstDash val="solid"/>
          </a:ln>
        </p:spPr>
      </p:sp>
      <p:sp>
        <p:nvSpPr>
          <p:cNvPr id="30" name="Text 27"/>
          <p:cNvSpPr txBox="1"/>
          <p:nvPr/>
        </p:nvSpPr>
        <p:spPr>
          <a:xfrm>
            <a:off x="3794760"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5</a:t>
            </a:r>
            <a:endParaRPr lang="en-US" sz="1000" dirty="0"/>
          </a:p>
        </p:txBody>
      </p:sp>
      <p:sp>
        <p:nvSpPr>
          <p:cNvPr id="31" name="Text 28"/>
          <p:cNvSpPr txBox="1"/>
          <p:nvPr/>
        </p:nvSpPr>
        <p:spPr>
          <a:xfrm>
            <a:off x="4270248" y="2596896"/>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32" name="Shape 29"/>
          <p:cNvSpPr/>
          <p:nvPr/>
        </p:nvSpPr>
        <p:spPr>
          <a:xfrm>
            <a:off x="5330952" y="2551176"/>
            <a:ext cx="1508760" cy="457200"/>
          </a:xfrm>
          <a:prstGeom prst="roundRect">
            <a:avLst>
              <a:gd name="adj" fmla="val 10000"/>
            </a:avLst>
          </a:prstGeom>
          <a:solidFill>
            <a:srgbClr val="0F1930"/>
          </a:solidFill>
          <a:ln w="9525">
            <a:solidFill>
              <a:srgbClr val="22304A"/>
            </a:solidFill>
            <a:prstDash val="solid"/>
          </a:ln>
        </p:spPr>
      </p:sp>
      <p:sp>
        <p:nvSpPr>
          <p:cNvPr id="33" name="Text 30"/>
          <p:cNvSpPr txBox="1"/>
          <p:nvPr/>
        </p:nvSpPr>
        <p:spPr>
          <a:xfrm>
            <a:off x="5404104"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6</a:t>
            </a:r>
            <a:endParaRPr lang="en-US" sz="1000" dirty="0"/>
          </a:p>
        </p:txBody>
      </p:sp>
      <p:sp>
        <p:nvSpPr>
          <p:cNvPr id="34" name="Text 31"/>
          <p:cNvSpPr txBox="1"/>
          <p:nvPr/>
        </p:nvSpPr>
        <p:spPr>
          <a:xfrm>
            <a:off x="5879592" y="2596896"/>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35" name="Shape 32"/>
          <p:cNvSpPr/>
          <p:nvPr/>
        </p:nvSpPr>
        <p:spPr>
          <a:xfrm>
            <a:off x="6940296" y="2551176"/>
            <a:ext cx="1508760" cy="457200"/>
          </a:xfrm>
          <a:prstGeom prst="roundRect">
            <a:avLst>
              <a:gd name="adj" fmla="val 10000"/>
            </a:avLst>
          </a:prstGeom>
          <a:solidFill>
            <a:srgbClr val="0F1930"/>
          </a:solidFill>
          <a:ln w="9525">
            <a:solidFill>
              <a:srgbClr val="22304A"/>
            </a:solidFill>
            <a:prstDash val="solid"/>
          </a:ln>
        </p:spPr>
      </p:sp>
      <p:sp>
        <p:nvSpPr>
          <p:cNvPr id="36" name="Text 33"/>
          <p:cNvSpPr txBox="1"/>
          <p:nvPr/>
        </p:nvSpPr>
        <p:spPr>
          <a:xfrm>
            <a:off x="7013448"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7</a:t>
            </a:r>
            <a:endParaRPr lang="en-US" sz="1000" dirty="0"/>
          </a:p>
        </p:txBody>
      </p:sp>
      <p:sp>
        <p:nvSpPr>
          <p:cNvPr id="37" name="Text 34"/>
          <p:cNvSpPr txBox="1"/>
          <p:nvPr/>
        </p:nvSpPr>
        <p:spPr>
          <a:xfrm>
            <a:off x="7488936" y="2596896"/>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38" name="Shape 35"/>
          <p:cNvSpPr/>
          <p:nvPr/>
        </p:nvSpPr>
        <p:spPr>
          <a:xfrm>
            <a:off x="8549640" y="2551176"/>
            <a:ext cx="1508760" cy="457200"/>
          </a:xfrm>
          <a:prstGeom prst="roundRect">
            <a:avLst>
              <a:gd name="adj" fmla="val 10000"/>
            </a:avLst>
          </a:prstGeom>
          <a:solidFill>
            <a:srgbClr val="142A39"/>
          </a:solidFill>
          <a:ln w="9525">
            <a:solidFill>
              <a:srgbClr val="22304A"/>
            </a:solidFill>
            <a:prstDash val="solid"/>
          </a:ln>
        </p:spPr>
      </p:sp>
      <p:sp>
        <p:nvSpPr>
          <p:cNvPr id="39" name="Text 36"/>
          <p:cNvSpPr txBox="1"/>
          <p:nvPr/>
        </p:nvSpPr>
        <p:spPr>
          <a:xfrm>
            <a:off x="8622792"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8</a:t>
            </a:r>
            <a:endParaRPr lang="en-US" sz="1000" dirty="0"/>
          </a:p>
        </p:txBody>
      </p:sp>
      <p:sp>
        <p:nvSpPr>
          <p:cNvPr id="40" name="Text 37"/>
          <p:cNvSpPr txBox="1"/>
          <p:nvPr/>
        </p:nvSpPr>
        <p:spPr>
          <a:xfrm>
            <a:off x="9098280" y="2596896"/>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5</a:t>
            </a:r>
            <a:endParaRPr lang="en-US" sz="1500" dirty="0"/>
          </a:p>
        </p:txBody>
      </p:sp>
      <p:sp>
        <p:nvSpPr>
          <p:cNvPr id="41" name="Shape 38"/>
          <p:cNvSpPr/>
          <p:nvPr/>
        </p:nvSpPr>
        <p:spPr>
          <a:xfrm>
            <a:off x="10158984" y="2551176"/>
            <a:ext cx="1508760" cy="457200"/>
          </a:xfrm>
          <a:prstGeom prst="roundRect">
            <a:avLst>
              <a:gd name="adj" fmla="val 10000"/>
            </a:avLst>
          </a:prstGeom>
          <a:solidFill>
            <a:srgbClr val="142A39"/>
          </a:solidFill>
          <a:ln w="9525">
            <a:solidFill>
              <a:srgbClr val="22304A"/>
            </a:solidFill>
            <a:prstDash val="solid"/>
          </a:ln>
        </p:spPr>
      </p:sp>
      <p:sp>
        <p:nvSpPr>
          <p:cNvPr id="42" name="Text 39"/>
          <p:cNvSpPr txBox="1"/>
          <p:nvPr/>
        </p:nvSpPr>
        <p:spPr>
          <a:xfrm>
            <a:off x="10232136" y="2596896"/>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9</a:t>
            </a:r>
            <a:endParaRPr lang="en-US" sz="1000" dirty="0"/>
          </a:p>
        </p:txBody>
      </p:sp>
      <p:sp>
        <p:nvSpPr>
          <p:cNvPr id="43" name="Text 40"/>
          <p:cNvSpPr txBox="1"/>
          <p:nvPr/>
        </p:nvSpPr>
        <p:spPr>
          <a:xfrm>
            <a:off x="10707624" y="2596896"/>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4</a:t>
            </a:r>
            <a:endParaRPr lang="en-US" sz="1500" dirty="0"/>
          </a:p>
        </p:txBody>
      </p:sp>
      <p:sp>
        <p:nvSpPr>
          <p:cNvPr id="44" name="Shape 41"/>
          <p:cNvSpPr/>
          <p:nvPr/>
        </p:nvSpPr>
        <p:spPr>
          <a:xfrm>
            <a:off x="502920" y="3090672"/>
            <a:ext cx="1508760" cy="457200"/>
          </a:xfrm>
          <a:prstGeom prst="roundRect">
            <a:avLst>
              <a:gd name="adj" fmla="val 10000"/>
            </a:avLst>
          </a:prstGeom>
          <a:solidFill>
            <a:srgbClr val="0F1930"/>
          </a:solidFill>
          <a:ln w="9525">
            <a:solidFill>
              <a:srgbClr val="22304A"/>
            </a:solidFill>
            <a:prstDash val="solid"/>
          </a:ln>
        </p:spPr>
      </p:sp>
      <p:sp>
        <p:nvSpPr>
          <p:cNvPr id="45" name="Text 42"/>
          <p:cNvSpPr txBox="1"/>
          <p:nvPr/>
        </p:nvSpPr>
        <p:spPr>
          <a:xfrm>
            <a:off x="576072"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10</a:t>
            </a:r>
            <a:endParaRPr lang="en-US" sz="1000" dirty="0"/>
          </a:p>
        </p:txBody>
      </p:sp>
      <p:sp>
        <p:nvSpPr>
          <p:cNvPr id="46" name="Text 43"/>
          <p:cNvSpPr txBox="1"/>
          <p:nvPr/>
        </p:nvSpPr>
        <p:spPr>
          <a:xfrm>
            <a:off x="1051560" y="3136392"/>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47" name="Shape 44"/>
          <p:cNvSpPr/>
          <p:nvPr/>
        </p:nvSpPr>
        <p:spPr>
          <a:xfrm>
            <a:off x="2112264" y="3090672"/>
            <a:ext cx="1508760" cy="457200"/>
          </a:xfrm>
          <a:prstGeom prst="roundRect">
            <a:avLst>
              <a:gd name="adj" fmla="val 10000"/>
            </a:avLst>
          </a:prstGeom>
          <a:solidFill>
            <a:srgbClr val="0F1930"/>
          </a:solidFill>
          <a:ln w="9525">
            <a:solidFill>
              <a:srgbClr val="22304A"/>
            </a:solidFill>
            <a:prstDash val="solid"/>
          </a:ln>
        </p:spPr>
      </p:sp>
      <p:sp>
        <p:nvSpPr>
          <p:cNvPr id="48" name="Text 45"/>
          <p:cNvSpPr txBox="1"/>
          <p:nvPr/>
        </p:nvSpPr>
        <p:spPr>
          <a:xfrm>
            <a:off x="2185416"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11</a:t>
            </a:r>
            <a:endParaRPr lang="en-US" sz="1000" dirty="0"/>
          </a:p>
        </p:txBody>
      </p:sp>
      <p:sp>
        <p:nvSpPr>
          <p:cNvPr id="49" name="Text 46"/>
          <p:cNvSpPr txBox="1"/>
          <p:nvPr/>
        </p:nvSpPr>
        <p:spPr>
          <a:xfrm>
            <a:off x="2660904" y="3136392"/>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50" name="Shape 47"/>
          <p:cNvSpPr/>
          <p:nvPr/>
        </p:nvSpPr>
        <p:spPr>
          <a:xfrm>
            <a:off x="3721608" y="3090672"/>
            <a:ext cx="1508760" cy="457200"/>
          </a:xfrm>
          <a:prstGeom prst="roundRect">
            <a:avLst>
              <a:gd name="adj" fmla="val 10000"/>
            </a:avLst>
          </a:prstGeom>
          <a:solidFill>
            <a:srgbClr val="0F1930"/>
          </a:solidFill>
          <a:ln w="9525">
            <a:solidFill>
              <a:srgbClr val="22304A"/>
            </a:solidFill>
            <a:prstDash val="solid"/>
          </a:ln>
        </p:spPr>
      </p:sp>
      <p:sp>
        <p:nvSpPr>
          <p:cNvPr id="51" name="Text 48"/>
          <p:cNvSpPr txBox="1"/>
          <p:nvPr/>
        </p:nvSpPr>
        <p:spPr>
          <a:xfrm>
            <a:off x="3794760"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12</a:t>
            </a:r>
            <a:endParaRPr lang="en-US" sz="1000" dirty="0"/>
          </a:p>
        </p:txBody>
      </p:sp>
      <p:sp>
        <p:nvSpPr>
          <p:cNvPr id="52" name="Text 49"/>
          <p:cNvSpPr txBox="1"/>
          <p:nvPr/>
        </p:nvSpPr>
        <p:spPr>
          <a:xfrm>
            <a:off x="4270248" y="3136392"/>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53" name="Shape 50"/>
          <p:cNvSpPr/>
          <p:nvPr/>
        </p:nvSpPr>
        <p:spPr>
          <a:xfrm>
            <a:off x="5330952" y="3090672"/>
            <a:ext cx="1508760" cy="457200"/>
          </a:xfrm>
          <a:prstGeom prst="roundRect">
            <a:avLst>
              <a:gd name="adj" fmla="val 10000"/>
            </a:avLst>
          </a:prstGeom>
          <a:solidFill>
            <a:srgbClr val="0F1930"/>
          </a:solidFill>
          <a:ln w="9525">
            <a:solidFill>
              <a:srgbClr val="22304A"/>
            </a:solidFill>
            <a:prstDash val="solid"/>
          </a:ln>
        </p:spPr>
      </p:sp>
      <p:sp>
        <p:nvSpPr>
          <p:cNvPr id="54" name="Text 51"/>
          <p:cNvSpPr txBox="1"/>
          <p:nvPr/>
        </p:nvSpPr>
        <p:spPr>
          <a:xfrm>
            <a:off x="5404104"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13</a:t>
            </a:r>
            <a:endParaRPr lang="en-US" sz="1000" dirty="0"/>
          </a:p>
        </p:txBody>
      </p:sp>
      <p:sp>
        <p:nvSpPr>
          <p:cNvPr id="55" name="Text 52"/>
          <p:cNvSpPr txBox="1"/>
          <p:nvPr/>
        </p:nvSpPr>
        <p:spPr>
          <a:xfrm>
            <a:off x="5879592" y="3136392"/>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56" name="Shape 53"/>
          <p:cNvSpPr/>
          <p:nvPr/>
        </p:nvSpPr>
        <p:spPr>
          <a:xfrm>
            <a:off x="6940296" y="3090672"/>
            <a:ext cx="1508760" cy="457200"/>
          </a:xfrm>
          <a:prstGeom prst="roundRect">
            <a:avLst>
              <a:gd name="adj" fmla="val 10000"/>
            </a:avLst>
          </a:prstGeom>
          <a:solidFill>
            <a:srgbClr val="0F1930"/>
          </a:solidFill>
          <a:ln w="9525">
            <a:solidFill>
              <a:srgbClr val="22304A"/>
            </a:solidFill>
            <a:prstDash val="solid"/>
          </a:ln>
        </p:spPr>
      </p:sp>
      <p:sp>
        <p:nvSpPr>
          <p:cNvPr id="57" name="Text 54"/>
          <p:cNvSpPr txBox="1"/>
          <p:nvPr/>
        </p:nvSpPr>
        <p:spPr>
          <a:xfrm>
            <a:off x="7013448"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14</a:t>
            </a:r>
            <a:endParaRPr lang="en-US" sz="1000" dirty="0"/>
          </a:p>
        </p:txBody>
      </p:sp>
      <p:sp>
        <p:nvSpPr>
          <p:cNvPr id="58" name="Text 55"/>
          <p:cNvSpPr txBox="1"/>
          <p:nvPr/>
        </p:nvSpPr>
        <p:spPr>
          <a:xfrm>
            <a:off x="7488936" y="3136392"/>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59" name="Shape 56"/>
          <p:cNvSpPr/>
          <p:nvPr/>
        </p:nvSpPr>
        <p:spPr>
          <a:xfrm>
            <a:off x="8549640" y="3090672"/>
            <a:ext cx="1508760" cy="457200"/>
          </a:xfrm>
          <a:prstGeom prst="roundRect">
            <a:avLst>
              <a:gd name="adj" fmla="val 10000"/>
            </a:avLst>
          </a:prstGeom>
          <a:solidFill>
            <a:srgbClr val="142A39"/>
          </a:solidFill>
          <a:ln w="9525">
            <a:solidFill>
              <a:srgbClr val="22304A"/>
            </a:solidFill>
            <a:prstDash val="solid"/>
          </a:ln>
        </p:spPr>
      </p:sp>
      <p:sp>
        <p:nvSpPr>
          <p:cNvPr id="60" name="Text 57"/>
          <p:cNvSpPr txBox="1"/>
          <p:nvPr/>
        </p:nvSpPr>
        <p:spPr>
          <a:xfrm>
            <a:off x="8622792"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15</a:t>
            </a:r>
            <a:endParaRPr lang="en-US" sz="1000" dirty="0"/>
          </a:p>
        </p:txBody>
      </p:sp>
      <p:sp>
        <p:nvSpPr>
          <p:cNvPr id="61" name="Text 58"/>
          <p:cNvSpPr txBox="1"/>
          <p:nvPr/>
        </p:nvSpPr>
        <p:spPr>
          <a:xfrm>
            <a:off x="9098280" y="3136392"/>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62" name="Shape 59"/>
          <p:cNvSpPr/>
          <p:nvPr/>
        </p:nvSpPr>
        <p:spPr>
          <a:xfrm>
            <a:off x="10158984" y="3090672"/>
            <a:ext cx="1508760" cy="457200"/>
          </a:xfrm>
          <a:prstGeom prst="roundRect">
            <a:avLst>
              <a:gd name="adj" fmla="val 10000"/>
            </a:avLst>
          </a:prstGeom>
          <a:solidFill>
            <a:srgbClr val="142A39"/>
          </a:solidFill>
          <a:ln w="9525">
            <a:solidFill>
              <a:srgbClr val="22304A"/>
            </a:solidFill>
            <a:prstDash val="solid"/>
          </a:ln>
        </p:spPr>
      </p:sp>
      <p:sp>
        <p:nvSpPr>
          <p:cNvPr id="63" name="Text 60"/>
          <p:cNvSpPr txBox="1"/>
          <p:nvPr/>
        </p:nvSpPr>
        <p:spPr>
          <a:xfrm>
            <a:off x="10232136" y="3136392"/>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16</a:t>
            </a:r>
            <a:endParaRPr lang="en-US" sz="1000" dirty="0"/>
          </a:p>
        </p:txBody>
      </p:sp>
      <p:sp>
        <p:nvSpPr>
          <p:cNvPr id="64" name="Text 61"/>
          <p:cNvSpPr txBox="1"/>
          <p:nvPr/>
        </p:nvSpPr>
        <p:spPr>
          <a:xfrm>
            <a:off x="10707624" y="3136392"/>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2</a:t>
            </a:r>
            <a:endParaRPr lang="en-US" sz="1500" dirty="0"/>
          </a:p>
        </p:txBody>
      </p:sp>
      <p:sp>
        <p:nvSpPr>
          <p:cNvPr id="65" name="Shape 62"/>
          <p:cNvSpPr/>
          <p:nvPr/>
        </p:nvSpPr>
        <p:spPr>
          <a:xfrm>
            <a:off x="502920" y="3630168"/>
            <a:ext cx="1508760" cy="457200"/>
          </a:xfrm>
          <a:prstGeom prst="roundRect">
            <a:avLst>
              <a:gd name="adj" fmla="val 10000"/>
            </a:avLst>
          </a:prstGeom>
          <a:solidFill>
            <a:srgbClr val="0F1930"/>
          </a:solidFill>
          <a:ln w="19050">
            <a:solidFill>
              <a:srgbClr val="2DD4BF"/>
            </a:solidFill>
            <a:prstDash val="solid"/>
          </a:ln>
        </p:spPr>
      </p:sp>
      <p:sp>
        <p:nvSpPr>
          <p:cNvPr id="66" name="Text 63"/>
          <p:cNvSpPr txBox="1"/>
          <p:nvPr/>
        </p:nvSpPr>
        <p:spPr>
          <a:xfrm>
            <a:off x="576072"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17</a:t>
            </a:r>
            <a:endParaRPr lang="en-US" sz="1000" dirty="0"/>
          </a:p>
        </p:txBody>
      </p:sp>
      <p:sp>
        <p:nvSpPr>
          <p:cNvPr id="67" name="Text 64"/>
          <p:cNvSpPr txBox="1"/>
          <p:nvPr/>
        </p:nvSpPr>
        <p:spPr>
          <a:xfrm>
            <a:off x="1051560" y="3675888"/>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68" name="Shape 65"/>
          <p:cNvSpPr/>
          <p:nvPr/>
        </p:nvSpPr>
        <p:spPr>
          <a:xfrm>
            <a:off x="2112264" y="3630168"/>
            <a:ext cx="1508760" cy="457200"/>
          </a:xfrm>
          <a:prstGeom prst="roundRect">
            <a:avLst>
              <a:gd name="adj" fmla="val 10000"/>
            </a:avLst>
          </a:prstGeom>
          <a:solidFill>
            <a:srgbClr val="0F1930"/>
          </a:solidFill>
          <a:ln w="9525">
            <a:solidFill>
              <a:srgbClr val="22304A"/>
            </a:solidFill>
            <a:prstDash val="solid"/>
          </a:ln>
        </p:spPr>
      </p:sp>
      <p:sp>
        <p:nvSpPr>
          <p:cNvPr id="69" name="Text 66"/>
          <p:cNvSpPr txBox="1"/>
          <p:nvPr/>
        </p:nvSpPr>
        <p:spPr>
          <a:xfrm>
            <a:off x="2185416"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18</a:t>
            </a:r>
            <a:endParaRPr lang="en-US" sz="1000" dirty="0"/>
          </a:p>
        </p:txBody>
      </p:sp>
      <p:sp>
        <p:nvSpPr>
          <p:cNvPr id="70" name="Text 67"/>
          <p:cNvSpPr txBox="1"/>
          <p:nvPr/>
        </p:nvSpPr>
        <p:spPr>
          <a:xfrm>
            <a:off x="2660904" y="3675888"/>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71" name="Shape 68"/>
          <p:cNvSpPr/>
          <p:nvPr/>
        </p:nvSpPr>
        <p:spPr>
          <a:xfrm>
            <a:off x="3721608" y="3630168"/>
            <a:ext cx="1508760" cy="457200"/>
          </a:xfrm>
          <a:prstGeom prst="roundRect">
            <a:avLst>
              <a:gd name="adj" fmla="val 10000"/>
            </a:avLst>
          </a:prstGeom>
          <a:solidFill>
            <a:srgbClr val="0F1930"/>
          </a:solidFill>
          <a:ln w="9525">
            <a:solidFill>
              <a:srgbClr val="22304A"/>
            </a:solidFill>
            <a:prstDash val="solid"/>
          </a:ln>
        </p:spPr>
      </p:sp>
      <p:sp>
        <p:nvSpPr>
          <p:cNvPr id="72" name="Text 69"/>
          <p:cNvSpPr txBox="1"/>
          <p:nvPr/>
        </p:nvSpPr>
        <p:spPr>
          <a:xfrm>
            <a:off x="3794760"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19</a:t>
            </a:r>
            <a:endParaRPr lang="en-US" sz="1000" dirty="0"/>
          </a:p>
        </p:txBody>
      </p:sp>
      <p:sp>
        <p:nvSpPr>
          <p:cNvPr id="73" name="Text 70"/>
          <p:cNvSpPr txBox="1"/>
          <p:nvPr/>
        </p:nvSpPr>
        <p:spPr>
          <a:xfrm>
            <a:off x="4270248" y="3675888"/>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74" name="Shape 71"/>
          <p:cNvSpPr/>
          <p:nvPr/>
        </p:nvSpPr>
        <p:spPr>
          <a:xfrm>
            <a:off x="5330952" y="3630168"/>
            <a:ext cx="1508760" cy="457200"/>
          </a:xfrm>
          <a:prstGeom prst="roundRect">
            <a:avLst>
              <a:gd name="adj" fmla="val 10000"/>
            </a:avLst>
          </a:prstGeom>
          <a:solidFill>
            <a:srgbClr val="0F1930"/>
          </a:solidFill>
          <a:ln w="9525">
            <a:solidFill>
              <a:srgbClr val="22304A"/>
            </a:solidFill>
            <a:prstDash val="solid"/>
          </a:ln>
        </p:spPr>
      </p:sp>
      <p:sp>
        <p:nvSpPr>
          <p:cNvPr id="75" name="Text 72"/>
          <p:cNvSpPr txBox="1"/>
          <p:nvPr/>
        </p:nvSpPr>
        <p:spPr>
          <a:xfrm>
            <a:off x="5404104"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20</a:t>
            </a:r>
            <a:endParaRPr lang="en-US" sz="1000" dirty="0"/>
          </a:p>
        </p:txBody>
      </p:sp>
      <p:sp>
        <p:nvSpPr>
          <p:cNvPr id="76" name="Text 73"/>
          <p:cNvSpPr txBox="1"/>
          <p:nvPr/>
        </p:nvSpPr>
        <p:spPr>
          <a:xfrm>
            <a:off x="5879592" y="3675888"/>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77" name="Shape 74"/>
          <p:cNvSpPr/>
          <p:nvPr/>
        </p:nvSpPr>
        <p:spPr>
          <a:xfrm>
            <a:off x="6940296" y="3630168"/>
            <a:ext cx="1508760" cy="457200"/>
          </a:xfrm>
          <a:prstGeom prst="roundRect">
            <a:avLst>
              <a:gd name="adj" fmla="val 10000"/>
            </a:avLst>
          </a:prstGeom>
          <a:solidFill>
            <a:srgbClr val="0F1930"/>
          </a:solidFill>
          <a:ln w="9525">
            <a:solidFill>
              <a:srgbClr val="22304A"/>
            </a:solidFill>
            <a:prstDash val="solid"/>
          </a:ln>
        </p:spPr>
      </p:sp>
      <p:sp>
        <p:nvSpPr>
          <p:cNvPr id="78" name="Text 75"/>
          <p:cNvSpPr txBox="1"/>
          <p:nvPr/>
        </p:nvSpPr>
        <p:spPr>
          <a:xfrm>
            <a:off x="7013448"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21</a:t>
            </a:r>
            <a:endParaRPr lang="en-US" sz="1000" dirty="0"/>
          </a:p>
        </p:txBody>
      </p:sp>
      <p:sp>
        <p:nvSpPr>
          <p:cNvPr id="79" name="Text 76"/>
          <p:cNvSpPr txBox="1"/>
          <p:nvPr/>
        </p:nvSpPr>
        <p:spPr>
          <a:xfrm>
            <a:off x="7488936" y="3675888"/>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2</a:t>
            </a:r>
            <a:endParaRPr lang="en-US" sz="1500" dirty="0"/>
          </a:p>
        </p:txBody>
      </p:sp>
      <p:sp>
        <p:nvSpPr>
          <p:cNvPr id="80" name="Shape 77"/>
          <p:cNvSpPr/>
          <p:nvPr/>
        </p:nvSpPr>
        <p:spPr>
          <a:xfrm>
            <a:off x="8549640" y="3630168"/>
            <a:ext cx="1508760" cy="457200"/>
          </a:xfrm>
          <a:prstGeom prst="roundRect">
            <a:avLst>
              <a:gd name="adj" fmla="val 10000"/>
            </a:avLst>
          </a:prstGeom>
          <a:solidFill>
            <a:srgbClr val="142A39"/>
          </a:solidFill>
          <a:ln w="9525">
            <a:solidFill>
              <a:srgbClr val="22304A"/>
            </a:solidFill>
            <a:prstDash val="solid"/>
          </a:ln>
        </p:spPr>
      </p:sp>
      <p:sp>
        <p:nvSpPr>
          <p:cNvPr id="81" name="Text 78"/>
          <p:cNvSpPr txBox="1"/>
          <p:nvPr/>
        </p:nvSpPr>
        <p:spPr>
          <a:xfrm>
            <a:off x="8622792"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22</a:t>
            </a:r>
            <a:endParaRPr lang="en-US" sz="1000" dirty="0"/>
          </a:p>
        </p:txBody>
      </p:sp>
      <p:sp>
        <p:nvSpPr>
          <p:cNvPr id="82" name="Text 79"/>
          <p:cNvSpPr txBox="1"/>
          <p:nvPr/>
        </p:nvSpPr>
        <p:spPr>
          <a:xfrm>
            <a:off x="9098280" y="3675888"/>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2</a:t>
            </a:r>
            <a:endParaRPr lang="en-US" sz="1500" dirty="0"/>
          </a:p>
        </p:txBody>
      </p:sp>
      <p:sp>
        <p:nvSpPr>
          <p:cNvPr id="83" name="Shape 80"/>
          <p:cNvSpPr/>
          <p:nvPr/>
        </p:nvSpPr>
        <p:spPr>
          <a:xfrm>
            <a:off x="10158984" y="3630168"/>
            <a:ext cx="1508760" cy="457200"/>
          </a:xfrm>
          <a:prstGeom prst="roundRect">
            <a:avLst>
              <a:gd name="adj" fmla="val 10000"/>
            </a:avLst>
          </a:prstGeom>
          <a:solidFill>
            <a:srgbClr val="142A39"/>
          </a:solidFill>
          <a:ln w="9525">
            <a:solidFill>
              <a:srgbClr val="22304A"/>
            </a:solidFill>
            <a:prstDash val="solid"/>
          </a:ln>
        </p:spPr>
      </p:sp>
      <p:sp>
        <p:nvSpPr>
          <p:cNvPr id="84" name="Text 81"/>
          <p:cNvSpPr txBox="1"/>
          <p:nvPr/>
        </p:nvSpPr>
        <p:spPr>
          <a:xfrm>
            <a:off x="10232136" y="3675888"/>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23</a:t>
            </a:r>
            <a:endParaRPr lang="en-US" sz="1000" dirty="0"/>
          </a:p>
        </p:txBody>
      </p:sp>
      <p:sp>
        <p:nvSpPr>
          <p:cNvPr id="85" name="Text 82"/>
          <p:cNvSpPr txBox="1"/>
          <p:nvPr/>
        </p:nvSpPr>
        <p:spPr>
          <a:xfrm>
            <a:off x="10707624" y="3675888"/>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5</a:t>
            </a:r>
            <a:endParaRPr lang="en-US" sz="1500" dirty="0"/>
          </a:p>
        </p:txBody>
      </p:sp>
      <p:sp>
        <p:nvSpPr>
          <p:cNvPr id="86" name="Shape 83"/>
          <p:cNvSpPr/>
          <p:nvPr/>
        </p:nvSpPr>
        <p:spPr>
          <a:xfrm>
            <a:off x="502920" y="4169664"/>
            <a:ext cx="1508760" cy="457200"/>
          </a:xfrm>
          <a:prstGeom prst="roundRect">
            <a:avLst>
              <a:gd name="adj" fmla="val 10000"/>
            </a:avLst>
          </a:prstGeom>
          <a:solidFill>
            <a:srgbClr val="0F1930"/>
          </a:solidFill>
          <a:ln w="9525">
            <a:solidFill>
              <a:srgbClr val="22304A"/>
            </a:solidFill>
            <a:prstDash val="solid"/>
          </a:ln>
        </p:spPr>
      </p:sp>
      <p:sp>
        <p:nvSpPr>
          <p:cNvPr id="87" name="Text 84"/>
          <p:cNvSpPr txBox="1"/>
          <p:nvPr/>
        </p:nvSpPr>
        <p:spPr>
          <a:xfrm>
            <a:off x="576072"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24</a:t>
            </a:r>
            <a:endParaRPr lang="en-US" sz="1000" dirty="0"/>
          </a:p>
        </p:txBody>
      </p:sp>
      <p:sp>
        <p:nvSpPr>
          <p:cNvPr id="88" name="Text 85"/>
          <p:cNvSpPr txBox="1"/>
          <p:nvPr/>
        </p:nvSpPr>
        <p:spPr>
          <a:xfrm>
            <a:off x="1051560" y="4215384"/>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3</a:t>
            </a:r>
            <a:endParaRPr lang="en-US" sz="1500" dirty="0"/>
          </a:p>
        </p:txBody>
      </p:sp>
      <p:sp>
        <p:nvSpPr>
          <p:cNvPr id="89" name="Shape 86"/>
          <p:cNvSpPr/>
          <p:nvPr/>
        </p:nvSpPr>
        <p:spPr>
          <a:xfrm>
            <a:off x="2112264" y="4169664"/>
            <a:ext cx="1508760" cy="457200"/>
          </a:xfrm>
          <a:prstGeom prst="roundRect">
            <a:avLst>
              <a:gd name="adj" fmla="val 10000"/>
            </a:avLst>
          </a:prstGeom>
          <a:solidFill>
            <a:srgbClr val="0F1930"/>
          </a:solidFill>
          <a:ln w="9525">
            <a:solidFill>
              <a:srgbClr val="22304A"/>
            </a:solidFill>
            <a:prstDash val="solid"/>
          </a:ln>
        </p:spPr>
      </p:sp>
      <p:sp>
        <p:nvSpPr>
          <p:cNvPr id="90" name="Text 87"/>
          <p:cNvSpPr txBox="1"/>
          <p:nvPr/>
        </p:nvSpPr>
        <p:spPr>
          <a:xfrm>
            <a:off x="2185416"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25</a:t>
            </a:r>
            <a:endParaRPr lang="en-US" sz="1000" dirty="0"/>
          </a:p>
        </p:txBody>
      </p:sp>
      <p:sp>
        <p:nvSpPr>
          <p:cNvPr id="91" name="Text 88"/>
          <p:cNvSpPr txBox="1"/>
          <p:nvPr/>
        </p:nvSpPr>
        <p:spPr>
          <a:xfrm>
            <a:off x="2660904" y="4215384"/>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92" name="Shape 89"/>
          <p:cNvSpPr/>
          <p:nvPr/>
        </p:nvSpPr>
        <p:spPr>
          <a:xfrm>
            <a:off x="3721608" y="4169664"/>
            <a:ext cx="1508760" cy="457200"/>
          </a:xfrm>
          <a:prstGeom prst="roundRect">
            <a:avLst>
              <a:gd name="adj" fmla="val 10000"/>
            </a:avLst>
          </a:prstGeom>
          <a:solidFill>
            <a:srgbClr val="0F1930"/>
          </a:solidFill>
          <a:ln w="9525">
            <a:solidFill>
              <a:srgbClr val="22304A"/>
            </a:solidFill>
            <a:prstDash val="solid"/>
          </a:ln>
        </p:spPr>
      </p:sp>
      <p:sp>
        <p:nvSpPr>
          <p:cNvPr id="93" name="Text 90"/>
          <p:cNvSpPr txBox="1"/>
          <p:nvPr/>
        </p:nvSpPr>
        <p:spPr>
          <a:xfrm>
            <a:off x="3794760"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26</a:t>
            </a:r>
            <a:endParaRPr lang="en-US" sz="1000" dirty="0"/>
          </a:p>
        </p:txBody>
      </p:sp>
      <p:sp>
        <p:nvSpPr>
          <p:cNvPr id="94" name="Text 91"/>
          <p:cNvSpPr txBox="1"/>
          <p:nvPr/>
        </p:nvSpPr>
        <p:spPr>
          <a:xfrm>
            <a:off x="4270248" y="4215384"/>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2</a:t>
            </a:r>
            <a:endParaRPr lang="en-US" sz="1500" dirty="0"/>
          </a:p>
        </p:txBody>
      </p:sp>
      <p:sp>
        <p:nvSpPr>
          <p:cNvPr id="95" name="Shape 92"/>
          <p:cNvSpPr/>
          <p:nvPr/>
        </p:nvSpPr>
        <p:spPr>
          <a:xfrm>
            <a:off x="5330952" y="4169664"/>
            <a:ext cx="1508760" cy="457200"/>
          </a:xfrm>
          <a:prstGeom prst="roundRect">
            <a:avLst>
              <a:gd name="adj" fmla="val 10000"/>
            </a:avLst>
          </a:prstGeom>
          <a:solidFill>
            <a:srgbClr val="0F1930"/>
          </a:solidFill>
          <a:ln w="9525">
            <a:solidFill>
              <a:srgbClr val="22304A"/>
            </a:solidFill>
            <a:prstDash val="solid"/>
          </a:ln>
        </p:spPr>
      </p:sp>
      <p:sp>
        <p:nvSpPr>
          <p:cNvPr id="96" name="Text 93"/>
          <p:cNvSpPr txBox="1"/>
          <p:nvPr/>
        </p:nvSpPr>
        <p:spPr>
          <a:xfrm>
            <a:off x="5404104"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27</a:t>
            </a:r>
            <a:endParaRPr lang="en-US" sz="1000" dirty="0"/>
          </a:p>
        </p:txBody>
      </p:sp>
      <p:sp>
        <p:nvSpPr>
          <p:cNvPr id="97" name="Text 94"/>
          <p:cNvSpPr txBox="1"/>
          <p:nvPr/>
        </p:nvSpPr>
        <p:spPr>
          <a:xfrm>
            <a:off x="5879592" y="4215384"/>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98" name="Shape 95"/>
          <p:cNvSpPr/>
          <p:nvPr/>
        </p:nvSpPr>
        <p:spPr>
          <a:xfrm>
            <a:off x="6940296" y="4169664"/>
            <a:ext cx="1508760" cy="457200"/>
          </a:xfrm>
          <a:prstGeom prst="roundRect">
            <a:avLst>
              <a:gd name="adj" fmla="val 10000"/>
            </a:avLst>
          </a:prstGeom>
          <a:solidFill>
            <a:srgbClr val="0F1930"/>
          </a:solidFill>
          <a:ln w="9525">
            <a:solidFill>
              <a:srgbClr val="22304A"/>
            </a:solidFill>
            <a:prstDash val="solid"/>
          </a:ln>
        </p:spPr>
      </p:sp>
      <p:sp>
        <p:nvSpPr>
          <p:cNvPr id="99" name="Text 96"/>
          <p:cNvSpPr txBox="1"/>
          <p:nvPr/>
        </p:nvSpPr>
        <p:spPr>
          <a:xfrm>
            <a:off x="7013448"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28</a:t>
            </a:r>
            <a:endParaRPr lang="en-US" sz="1000" dirty="0"/>
          </a:p>
        </p:txBody>
      </p:sp>
      <p:sp>
        <p:nvSpPr>
          <p:cNvPr id="100" name="Text 97"/>
          <p:cNvSpPr txBox="1"/>
          <p:nvPr/>
        </p:nvSpPr>
        <p:spPr>
          <a:xfrm>
            <a:off x="7488936" y="4215384"/>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3</a:t>
            </a:r>
            <a:endParaRPr lang="en-US" sz="1500" dirty="0"/>
          </a:p>
        </p:txBody>
      </p:sp>
      <p:sp>
        <p:nvSpPr>
          <p:cNvPr id="101" name="Shape 98"/>
          <p:cNvSpPr/>
          <p:nvPr/>
        </p:nvSpPr>
        <p:spPr>
          <a:xfrm>
            <a:off x="8549640" y="4169664"/>
            <a:ext cx="1508760" cy="457200"/>
          </a:xfrm>
          <a:prstGeom prst="roundRect">
            <a:avLst>
              <a:gd name="adj" fmla="val 10000"/>
            </a:avLst>
          </a:prstGeom>
          <a:solidFill>
            <a:srgbClr val="142A39"/>
          </a:solidFill>
          <a:ln w="9525">
            <a:solidFill>
              <a:srgbClr val="22304A"/>
            </a:solidFill>
            <a:prstDash val="solid"/>
          </a:ln>
        </p:spPr>
      </p:sp>
      <p:sp>
        <p:nvSpPr>
          <p:cNvPr id="102" name="Text 99"/>
          <p:cNvSpPr txBox="1"/>
          <p:nvPr/>
        </p:nvSpPr>
        <p:spPr>
          <a:xfrm>
            <a:off x="8622792"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29</a:t>
            </a:r>
            <a:endParaRPr lang="en-US" sz="1000" dirty="0"/>
          </a:p>
        </p:txBody>
      </p:sp>
      <p:sp>
        <p:nvSpPr>
          <p:cNvPr id="103" name="Text 100"/>
          <p:cNvSpPr txBox="1"/>
          <p:nvPr/>
        </p:nvSpPr>
        <p:spPr>
          <a:xfrm>
            <a:off x="9098280" y="4215384"/>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104" name="Shape 101"/>
          <p:cNvSpPr/>
          <p:nvPr/>
        </p:nvSpPr>
        <p:spPr>
          <a:xfrm>
            <a:off x="10158984" y="4169664"/>
            <a:ext cx="1508760" cy="457200"/>
          </a:xfrm>
          <a:prstGeom prst="roundRect">
            <a:avLst>
              <a:gd name="adj" fmla="val 10000"/>
            </a:avLst>
          </a:prstGeom>
          <a:solidFill>
            <a:srgbClr val="142A39"/>
          </a:solidFill>
          <a:ln w="9525">
            <a:solidFill>
              <a:srgbClr val="22304A"/>
            </a:solidFill>
            <a:prstDash val="solid"/>
          </a:ln>
        </p:spPr>
      </p:sp>
      <p:sp>
        <p:nvSpPr>
          <p:cNvPr id="105" name="Text 102"/>
          <p:cNvSpPr txBox="1"/>
          <p:nvPr/>
        </p:nvSpPr>
        <p:spPr>
          <a:xfrm>
            <a:off x="10232136" y="4215384"/>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30</a:t>
            </a:r>
            <a:endParaRPr lang="en-US" sz="1000" dirty="0"/>
          </a:p>
        </p:txBody>
      </p:sp>
      <p:sp>
        <p:nvSpPr>
          <p:cNvPr id="106" name="Text 103"/>
          <p:cNvSpPr txBox="1"/>
          <p:nvPr/>
        </p:nvSpPr>
        <p:spPr>
          <a:xfrm>
            <a:off x="10707624" y="4215384"/>
            <a:ext cx="868680" cy="365760"/>
          </a:xfrm>
          <a:prstGeom prst="rect">
            <a:avLst/>
          </a:prstGeom>
          <a:noFill/>
          <a:ln/>
        </p:spPr>
        <p:txBody>
          <a:bodyPr wrap="square" lIns="0" tIns="0" rIns="0" bIns="0" rtlCol="0" anchor="ctr"/>
          <a:lstStyle/>
          <a:p>
            <a:pPr algn="r" indent="0" marL="0">
              <a:buNone/>
            </a:pPr>
            <a:r>
              <a:rPr lang="en-US" sz="1500" b="1" dirty="0">
                <a:solidFill>
                  <a:srgbClr val="94AACC"/>
                </a:solidFill>
                <a:latin typeface="Arial" pitchFamily="34" charset="0"/>
                <a:ea typeface="Arial" pitchFamily="34" charset="-122"/>
                <a:cs typeface="Arial" pitchFamily="34" charset="-120"/>
              </a:rPr>
              <a:t>0</a:t>
            </a:r>
            <a:endParaRPr lang="en-US" sz="1500" dirty="0"/>
          </a:p>
        </p:txBody>
      </p:sp>
      <p:sp>
        <p:nvSpPr>
          <p:cNvPr id="107" name="Shape 104"/>
          <p:cNvSpPr/>
          <p:nvPr/>
        </p:nvSpPr>
        <p:spPr>
          <a:xfrm>
            <a:off x="502920" y="4709160"/>
            <a:ext cx="1508760" cy="457200"/>
          </a:xfrm>
          <a:prstGeom prst="roundRect">
            <a:avLst>
              <a:gd name="adj" fmla="val 10000"/>
            </a:avLst>
          </a:prstGeom>
          <a:solidFill>
            <a:srgbClr val="0F1930"/>
          </a:solidFill>
          <a:ln w="9525">
            <a:solidFill>
              <a:srgbClr val="22304A"/>
            </a:solidFill>
            <a:prstDash val="solid"/>
          </a:ln>
        </p:spPr>
      </p:sp>
      <p:sp>
        <p:nvSpPr>
          <p:cNvPr id="108" name="Text 105"/>
          <p:cNvSpPr txBox="1"/>
          <p:nvPr/>
        </p:nvSpPr>
        <p:spPr>
          <a:xfrm>
            <a:off x="576072" y="4754880"/>
            <a:ext cx="457200" cy="365760"/>
          </a:xfrm>
          <a:prstGeom prst="rect">
            <a:avLst/>
          </a:prstGeom>
          <a:noFill/>
          <a:ln/>
        </p:spPr>
        <p:txBody>
          <a:bodyPr wrap="square" lIns="0" tIns="0" rIns="0" bIns="0" rtlCol="0" anchor="ctr"/>
          <a:lstStyle/>
          <a:p>
            <a:pPr algn="l" indent="0" marL="0">
              <a:buNone/>
            </a:pPr>
            <a:r>
              <a:rPr lang="en-US" sz="1000" dirty="0">
                <a:solidFill>
                  <a:srgbClr val="94AACC"/>
                </a:solidFill>
                <a:latin typeface="Arial" pitchFamily="34" charset="0"/>
                <a:ea typeface="Arial" pitchFamily="34" charset="-122"/>
                <a:cs typeface="Arial" pitchFamily="34" charset="-120"/>
              </a:rPr>
              <a:t>31</a:t>
            </a:r>
            <a:endParaRPr lang="en-US" sz="1000" dirty="0"/>
          </a:p>
        </p:txBody>
      </p:sp>
      <p:sp>
        <p:nvSpPr>
          <p:cNvPr id="109" name="Text 106"/>
          <p:cNvSpPr txBox="1"/>
          <p:nvPr/>
        </p:nvSpPr>
        <p:spPr>
          <a:xfrm>
            <a:off x="1051560" y="4754880"/>
            <a:ext cx="868680" cy="365760"/>
          </a:xfrm>
          <a:prstGeom prst="rect">
            <a:avLst/>
          </a:prstGeom>
          <a:noFill/>
          <a:ln/>
        </p:spPr>
        <p:txBody>
          <a:bodyPr wrap="square" lIns="0" tIns="0" rIns="0" bIns="0" rtlCol="0" anchor="ctr"/>
          <a:lstStyle/>
          <a:p>
            <a:pPr algn="r" indent="0" marL="0">
              <a:buNone/>
            </a:pPr>
            <a:r>
              <a:rPr lang="en-US" sz="1500" b="1" dirty="0">
                <a:solidFill>
                  <a:srgbClr val="5EEAD4"/>
                </a:solidFill>
                <a:latin typeface="Arial" pitchFamily="34" charset="0"/>
                <a:ea typeface="Arial" pitchFamily="34" charset="-122"/>
                <a:cs typeface="Arial" pitchFamily="34" charset="-120"/>
              </a:rPr>
              <a:t>1</a:t>
            </a:r>
            <a:endParaRPr lang="en-US" sz="1500" dirty="0"/>
          </a:p>
        </p:txBody>
      </p:sp>
      <p:sp>
        <p:nvSpPr>
          <p:cNvPr id="110" name="Shape 107"/>
          <p:cNvSpPr/>
          <p:nvPr/>
        </p:nvSpPr>
        <p:spPr>
          <a:xfrm>
            <a:off x="502920" y="4754880"/>
            <a:ext cx="1508760" cy="402336"/>
          </a:xfrm>
          <a:prstGeom prst="roundRect">
            <a:avLst>
              <a:gd name="adj" fmla="val 11364"/>
            </a:avLst>
          </a:prstGeom>
          <a:solidFill>
            <a:srgbClr val="111E34"/>
          </a:solidFill>
          <a:ln w="19050">
            <a:solidFill>
              <a:srgbClr val="F26B6B"/>
            </a:solidFill>
            <a:prstDash val="solid"/>
          </a:ln>
        </p:spPr>
      </p:sp>
      <p:sp>
        <p:nvSpPr>
          <p:cNvPr id="111" name="Text 108"/>
          <p:cNvSpPr txBox="1"/>
          <p:nvPr/>
        </p:nvSpPr>
        <p:spPr>
          <a:xfrm>
            <a:off x="576072"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12" name="Text 109"/>
          <p:cNvSpPr txBox="1"/>
          <p:nvPr/>
        </p:nvSpPr>
        <p:spPr>
          <a:xfrm>
            <a:off x="1051560" y="4754880"/>
            <a:ext cx="868680" cy="402336"/>
          </a:xfrm>
          <a:prstGeom prst="rect">
            <a:avLst/>
          </a:prstGeom>
          <a:noFill/>
          <a:ln/>
        </p:spPr>
        <p:txBody>
          <a:bodyPr wrap="square" lIns="0" tIns="0" rIns="0" bIns="0" rtlCol="0" anchor="ctr"/>
          <a:lstStyle/>
          <a:p>
            <a:pPr algn="r" indent="0" marL="0">
              <a:buNone/>
            </a:pPr>
            <a:r>
              <a:rPr lang="en-US" sz="1400" b="1" dirty="0">
                <a:solidFill>
                  <a:srgbClr val="F26B6B"/>
                </a:solidFill>
                <a:latin typeface="Arial" pitchFamily="34" charset="0"/>
                <a:ea typeface="Arial" pitchFamily="34" charset="-122"/>
                <a:cs typeface="Arial" pitchFamily="34" charset="-120"/>
              </a:rPr>
              <a:t>6</a:t>
            </a:r>
            <a:endParaRPr lang="en-US" sz="1400" dirty="0"/>
          </a:p>
        </p:txBody>
      </p:sp>
      <p:sp>
        <p:nvSpPr>
          <p:cNvPr id="113" name="Shape 110"/>
          <p:cNvSpPr/>
          <p:nvPr/>
        </p:nvSpPr>
        <p:spPr>
          <a:xfrm>
            <a:off x="2112264" y="4754880"/>
            <a:ext cx="1508760" cy="402336"/>
          </a:xfrm>
          <a:prstGeom prst="roundRect">
            <a:avLst>
              <a:gd name="adj" fmla="val 11364"/>
            </a:avLst>
          </a:prstGeom>
          <a:solidFill>
            <a:srgbClr val="111E34"/>
          </a:solidFill>
          <a:ln w="9525">
            <a:solidFill>
              <a:srgbClr val="22304A"/>
            </a:solidFill>
            <a:prstDash val="solid"/>
          </a:ln>
        </p:spPr>
      </p:sp>
      <p:sp>
        <p:nvSpPr>
          <p:cNvPr id="114" name="Text 111"/>
          <p:cNvSpPr txBox="1"/>
          <p:nvPr/>
        </p:nvSpPr>
        <p:spPr>
          <a:xfrm>
            <a:off x="2185416"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15" name="Text 112"/>
          <p:cNvSpPr txBox="1"/>
          <p:nvPr/>
        </p:nvSpPr>
        <p:spPr>
          <a:xfrm>
            <a:off x="2660904"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2</a:t>
            </a:r>
            <a:endParaRPr lang="en-US" sz="1400" dirty="0"/>
          </a:p>
        </p:txBody>
      </p:sp>
      <p:sp>
        <p:nvSpPr>
          <p:cNvPr id="116" name="Shape 113"/>
          <p:cNvSpPr/>
          <p:nvPr/>
        </p:nvSpPr>
        <p:spPr>
          <a:xfrm>
            <a:off x="3721608" y="4754880"/>
            <a:ext cx="1508760" cy="402336"/>
          </a:xfrm>
          <a:prstGeom prst="roundRect">
            <a:avLst>
              <a:gd name="adj" fmla="val 11364"/>
            </a:avLst>
          </a:prstGeom>
          <a:solidFill>
            <a:srgbClr val="111E34"/>
          </a:solidFill>
          <a:ln w="9525">
            <a:solidFill>
              <a:srgbClr val="22304A"/>
            </a:solidFill>
            <a:prstDash val="solid"/>
          </a:ln>
        </p:spPr>
      </p:sp>
      <p:sp>
        <p:nvSpPr>
          <p:cNvPr id="117" name="Text 114"/>
          <p:cNvSpPr txBox="1"/>
          <p:nvPr/>
        </p:nvSpPr>
        <p:spPr>
          <a:xfrm>
            <a:off x="3794760"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18" name="Text 115"/>
          <p:cNvSpPr txBox="1"/>
          <p:nvPr/>
        </p:nvSpPr>
        <p:spPr>
          <a:xfrm>
            <a:off x="4270248"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2</a:t>
            </a:r>
            <a:endParaRPr lang="en-US" sz="1400" dirty="0"/>
          </a:p>
        </p:txBody>
      </p:sp>
      <p:sp>
        <p:nvSpPr>
          <p:cNvPr id="119" name="Shape 116"/>
          <p:cNvSpPr/>
          <p:nvPr/>
        </p:nvSpPr>
        <p:spPr>
          <a:xfrm>
            <a:off x="5330952" y="4754880"/>
            <a:ext cx="1508760" cy="402336"/>
          </a:xfrm>
          <a:prstGeom prst="roundRect">
            <a:avLst>
              <a:gd name="adj" fmla="val 11364"/>
            </a:avLst>
          </a:prstGeom>
          <a:solidFill>
            <a:srgbClr val="111E34"/>
          </a:solidFill>
          <a:ln w="9525">
            <a:solidFill>
              <a:srgbClr val="22304A"/>
            </a:solidFill>
            <a:prstDash val="solid"/>
          </a:ln>
        </p:spPr>
      </p:sp>
      <p:sp>
        <p:nvSpPr>
          <p:cNvPr id="120" name="Text 117"/>
          <p:cNvSpPr txBox="1"/>
          <p:nvPr/>
        </p:nvSpPr>
        <p:spPr>
          <a:xfrm>
            <a:off x="5404104"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21" name="Text 118"/>
          <p:cNvSpPr txBox="1"/>
          <p:nvPr/>
        </p:nvSpPr>
        <p:spPr>
          <a:xfrm>
            <a:off x="5879592"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3</a:t>
            </a:r>
            <a:endParaRPr lang="en-US" sz="1400" dirty="0"/>
          </a:p>
        </p:txBody>
      </p:sp>
      <p:sp>
        <p:nvSpPr>
          <p:cNvPr id="122" name="Shape 119"/>
          <p:cNvSpPr/>
          <p:nvPr/>
        </p:nvSpPr>
        <p:spPr>
          <a:xfrm>
            <a:off x="6940296" y="4754880"/>
            <a:ext cx="1508760" cy="402336"/>
          </a:xfrm>
          <a:prstGeom prst="roundRect">
            <a:avLst>
              <a:gd name="adj" fmla="val 11364"/>
            </a:avLst>
          </a:prstGeom>
          <a:solidFill>
            <a:srgbClr val="111E34"/>
          </a:solidFill>
          <a:ln w="9525">
            <a:solidFill>
              <a:srgbClr val="22304A"/>
            </a:solidFill>
            <a:prstDash val="solid"/>
          </a:ln>
        </p:spPr>
      </p:sp>
      <p:sp>
        <p:nvSpPr>
          <p:cNvPr id="123" name="Text 120"/>
          <p:cNvSpPr txBox="1"/>
          <p:nvPr/>
        </p:nvSpPr>
        <p:spPr>
          <a:xfrm>
            <a:off x="7013448"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24" name="Text 121"/>
          <p:cNvSpPr txBox="1"/>
          <p:nvPr/>
        </p:nvSpPr>
        <p:spPr>
          <a:xfrm>
            <a:off x="7488936"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6</a:t>
            </a:r>
            <a:endParaRPr lang="en-US" sz="1400" dirty="0"/>
          </a:p>
        </p:txBody>
      </p:sp>
      <p:sp>
        <p:nvSpPr>
          <p:cNvPr id="125" name="Shape 122"/>
          <p:cNvSpPr/>
          <p:nvPr/>
        </p:nvSpPr>
        <p:spPr>
          <a:xfrm>
            <a:off x="8549640" y="4754880"/>
            <a:ext cx="1508760" cy="402336"/>
          </a:xfrm>
          <a:prstGeom prst="roundRect">
            <a:avLst>
              <a:gd name="adj" fmla="val 11364"/>
            </a:avLst>
          </a:prstGeom>
          <a:solidFill>
            <a:srgbClr val="111E34"/>
          </a:solidFill>
          <a:ln w="9525">
            <a:solidFill>
              <a:srgbClr val="22304A"/>
            </a:solidFill>
            <a:prstDash val="solid"/>
          </a:ln>
        </p:spPr>
      </p:sp>
      <p:sp>
        <p:nvSpPr>
          <p:cNvPr id="126" name="Text 123"/>
          <p:cNvSpPr txBox="1"/>
          <p:nvPr/>
        </p:nvSpPr>
        <p:spPr>
          <a:xfrm>
            <a:off x="8622792"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27" name="Text 124"/>
          <p:cNvSpPr txBox="1"/>
          <p:nvPr/>
        </p:nvSpPr>
        <p:spPr>
          <a:xfrm>
            <a:off x="9098280"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8</a:t>
            </a:r>
            <a:endParaRPr lang="en-US" sz="1400" dirty="0"/>
          </a:p>
        </p:txBody>
      </p:sp>
      <p:sp>
        <p:nvSpPr>
          <p:cNvPr id="128" name="Shape 125"/>
          <p:cNvSpPr/>
          <p:nvPr/>
        </p:nvSpPr>
        <p:spPr>
          <a:xfrm>
            <a:off x="10158984" y="4754880"/>
            <a:ext cx="1508760" cy="402336"/>
          </a:xfrm>
          <a:prstGeom prst="roundRect">
            <a:avLst>
              <a:gd name="adj" fmla="val 11364"/>
            </a:avLst>
          </a:prstGeom>
          <a:solidFill>
            <a:srgbClr val="111E34"/>
          </a:solidFill>
          <a:ln w="9525">
            <a:solidFill>
              <a:srgbClr val="22304A"/>
            </a:solidFill>
            <a:prstDash val="solid"/>
          </a:ln>
        </p:spPr>
      </p:sp>
      <p:sp>
        <p:nvSpPr>
          <p:cNvPr id="129" name="Text 126"/>
          <p:cNvSpPr txBox="1"/>
          <p:nvPr/>
        </p:nvSpPr>
        <p:spPr>
          <a:xfrm>
            <a:off x="10232136" y="4754880"/>
            <a:ext cx="548640" cy="402336"/>
          </a:xfrm>
          <a:prstGeom prst="rect">
            <a:avLst/>
          </a:prstGeom>
          <a:noFill/>
          <a:ln/>
        </p:spPr>
        <p:txBody>
          <a:bodyPr wrap="square" lIns="0" tIns="0" rIns="0" bIns="0" rtlCol="0" anchor="ctr"/>
          <a:lstStyle/>
          <a:p>
            <a:pPr algn="l" indent="0" marL="0">
              <a:buNone/>
            </a:pPr>
            <a:r>
              <a:rPr lang="en-US" sz="850" dirty="0">
                <a:solidFill>
                  <a:srgbClr val="94AACC"/>
                </a:solidFill>
                <a:latin typeface="Arial" pitchFamily="34" charset="0"/>
                <a:ea typeface="Arial" pitchFamily="34" charset="-122"/>
                <a:cs typeface="Arial" pitchFamily="34" charset="-120"/>
              </a:rPr>
              <a:t>total</a:t>
            </a:r>
            <a:endParaRPr lang="en-US" sz="850" dirty="0"/>
          </a:p>
        </p:txBody>
      </p:sp>
      <p:sp>
        <p:nvSpPr>
          <p:cNvPr id="130" name="Text 127"/>
          <p:cNvSpPr txBox="1"/>
          <p:nvPr/>
        </p:nvSpPr>
        <p:spPr>
          <a:xfrm>
            <a:off x="10707624" y="4754880"/>
            <a:ext cx="868680" cy="402336"/>
          </a:xfrm>
          <a:prstGeom prst="rect">
            <a:avLst/>
          </a:prstGeom>
          <a:noFill/>
          <a:ln/>
        </p:spPr>
        <p:txBody>
          <a:bodyPr wrap="square" lIns="0" tIns="0" rIns="0" bIns="0" rtlCol="0" anchor="ctr"/>
          <a:lstStyle/>
          <a:p>
            <a:pPr algn="r" indent="0" marL="0">
              <a:buNone/>
            </a:pPr>
            <a:r>
              <a:rPr lang="en-US" sz="1400" b="1" dirty="0">
                <a:solidFill>
                  <a:srgbClr val="EAF1FB"/>
                </a:solidFill>
                <a:latin typeface="Arial" pitchFamily="34" charset="0"/>
                <a:ea typeface="Arial" pitchFamily="34" charset="-122"/>
                <a:cs typeface="Arial" pitchFamily="34" charset="-120"/>
              </a:rPr>
              <a:t>11</a:t>
            </a:r>
            <a:endParaRPr lang="en-US" sz="1400" dirty="0"/>
          </a:p>
        </p:txBody>
      </p:sp>
      <p:sp>
        <p:nvSpPr>
          <p:cNvPr id="131" name="Text 128"/>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Borde verde-agua: 3 y 17 de agosto, días con las dos suspensiones del monitoreo normal de CME (ambas lunes). Lunes a viernes: 19 registros en 13 de 21 días; fin de semana: 19 registros (sábado 8, domingo 11), circuito oftalmológico.</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14  ·  DÍA DE LA SEMANA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El lunes sigue siendo el día crítico de la tabla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Registros operativos por día de la semana · lunes y viernes concentran 12 de los 19 registros L–V · los dos eventos MINSAL cayeron en lunes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15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6035040" cy="4160520"/>
          </a:xfrm>
          <a:prstGeom prst="roundRect">
            <a:avLst>
              <a:gd name="adj" fmla="val 1758"/>
            </a:avLst>
          </a:prstGeom>
          <a:solidFill>
            <a:srgbClr val="0F1930"/>
          </a:solidFill>
          <a:ln w="9525">
            <a:solidFill>
              <a:srgbClr val="22304A"/>
            </a:solidFill>
            <a:prstDash val="solid"/>
          </a:ln>
        </p:spPr>
      </p:sp>
      <p:sp>
        <p:nvSpPr>
          <p:cNvPr id="11" name="Text 8"/>
          <p:cNvSpPr txBox="1"/>
          <p:nvPr/>
        </p:nvSpPr>
        <p:spPr>
          <a:xfrm>
            <a:off x="685800" y="1801368"/>
            <a:ext cx="566928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REGISTROS OPERATIVOS POR DÍA DE LA SEMANA  ·  AGOSTO 2026</a:t>
            </a:r>
            <a:endParaRPr lang="en-US" sz="850" dirty="0"/>
          </a:p>
        </p:txBody>
      </p:sp>
      <p:sp>
        <p:nvSpPr>
          <p:cNvPr id="12" name="Shape 9"/>
          <p:cNvSpPr/>
          <p:nvPr/>
        </p:nvSpPr>
        <p:spPr>
          <a:xfrm>
            <a:off x="870966" y="3774809"/>
            <a:ext cx="517942" cy="1665871"/>
          </a:xfrm>
          <a:prstGeom prst="roundRect">
            <a:avLst>
              <a:gd name="adj" fmla="val 5296"/>
            </a:avLst>
          </a:prstGeom>
          <a:solidFill>
            <a:srgbClr val="F26B6B"/>
          </a:solidFill>
          <a:ln/>
        </p:spPr>
      </p:sp>
      <p:sp>
        <p:nvSpPr>
          <p:cNvPr id="13" name="Text 10"/>
          <p:cNvSpPr txBox="1"/>
          <p:nvPr/>
        </p:nvSpPr>
        <p:spPr>
          <a:xfrm>
            <a:off x="688086" y="3537065"/>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6</a:t>
            </a:r>
            <a:endParaRPr lang="en-US" sz="1150" dirty="0"/>
          </a:p>
        </p:txBody>
      </p:sp>
      <p:sp>
        <p:nvSpPr>
          <p:cNvPr id="14" name="Text 11"/>
          <p:cNvSpPr txBox="1"/>
          <p:nvPr/>
        </p:nvSpPr>
        <p:spPr>
          <a:xfrm>
            <a:off x="642366"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Lun</a:t>
            </a:r>
            <a:endParaRPr lang="en-US" sz="1050" dirty="0"/>
          </a:p>
        </p:txBody>
      </p:sp>
      <p:sp>
        <p:nvSpPr>
          <p:cNvPr id="15" name="Shape 12"/>
          <p:cNvSpPr/>
          <p:nvPr/>
        </p:nvSpPr>
        <p:spPr>
          <a:xfrm>
            <a:off x="1667800" y="4885390"/>
            <a:ext cx="517942" cy="555290"/>
          </a:xfrm>
          <a:prstGeom prst="roundRect">
            <a:avLst>
              <a:gd name="adj" fmla="val 5296"/>
            </a:avLst>
          </a:prstGeom>
          <a:solidFill>
            <a:srgbClr val="2DD4BF"/>
          </a:solidFill>
          <a:ln/>
        </p:spPr>
      </p:sp>
      <p:sp>
        <p:nvSpPr>
          <p:cNvPr id="16" name="Text 13"/>
          <p:cNvSpPr txBox="1"/>
          <p:nvPr/>
        </p:nvSpPr>
        <p:spPr>
          <a:xfrm>
            <a:off x="1484920" y="4647646"/>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2</a:t>
            </a:r>
            <a:endParaRPr lang="en-US" sz="1150" dirty="0"/>
          </a:p>
        </p:txBody>
      </p:sp>
      <p:sp>
        <p:nvSpPr>
          <p:cNvPr id="17" name="Text 14"/>
          <p:cNvSpPr txBox="1"/>
          <p:nvPr/>
        </p:nvSpPr>
        <p:spPr>
          <a:xfrm>
            <a:off x="1439200"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Mar</a:t>
            </a:r>
            <a:endParaRPr lang="en-US" sz="1050" dirty="0"/>
          </a:p>
        </p:txBody>
      </p:sp>
      <p:sp>
        <p:nvSpPr>
          <p:cNvPr id="18" name="Shape 15"/>
          <p:cNvSpPr/>
          <p:nvPr/>
        </p:nvSpPr>
        <p:spPr>
          <a:xfrm>
            <a:off x="2464635" y="4885390"/>
            <a:ext cx="517942" cy="555290"/>
          </a:xfrm>
          <a:prstGeom prst="roundRect">
            <a:avLst>
              <a:gd name="adj" fmla="val 5296"/>
            </a:avLst>
          </a:prstGeom>
          <a:solidFill>
            <a:srgbClr val="2DD4BF"/>
          </a:solidFill>
          <a:ln/>
        </p:spPr>
      </p:sp>
      <p:sp>
        <p:nvSpPr>
          <p:cNvPr id="19" name="Text 16"/>
          <p:cNvSpPr txBox="1"/>
          <p:nvPr/>
        </p:nvSpPr>
        <p:spPr>
          <a:xfrm>
            <a:off x="2281755" y="4647646"/>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2</a:t>
            </a:r>
            <a:endParaRPr lang="en-US" sz="1150" dirty="0"/>
          </a:p>
        </p:txBody>
      </p:sp>
      <p:sp>
        <p:nvSpPr>
          <p:cNvPr id="20" name="Text 17"/>
          <p:cNvSpPr txBox="1"/>
          <p:nvPr/>
        </p:nvSpPr>
        <p:spPr>
          <a:xfrm>
            <a:off x="2236035"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Mié</a:t>
            </a:r>
            <a:endParaRPr lang="en-US" sz="1050" dirty="0"/>
          </a:p>
        </p:txBody>
      </p:sp>
      <p:sp>
        <p:nvSpPr>
          <p:cNvPr id="21" name="Shape 18"/>
          <p:cNvSpPr/>
          <p:nvPr/>
        </p:nvSpPr>
        <p:spPr>
          <a:xfrm>
            <a:off x="3261469" y="4607745"/>
            <a:ext cx="517942" cy="832935"/>
          </a:xfrm>
          <a:prstGeom prst="roundRect">
            <a:avLst>
              <a:gd name="adj" fmla="val 5296"/>
            </a:avLst>
          </a:prstGeom>
          <a:solidFill>
            <a:srgbClr val="2DD4BF"/>
          </a:solidFill>
          <a:ln/>
        </p:spPr>
      </p:sp>
      <p:sp>
        <p:nvSpPr>
          <p:cNvPr id="22" name="Text 19"/>
          <p:cNvSpPr txBox="1"/>
          <p:nvPr/>
        </p:nvSpPr>
        <p:spPr>
          <a:xfrm>
            <a:off x="3078589" y="4370001"/>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3</a:t>
            </a:r>
            <a:endParaRPr lang="en-US" sz="1150" dirty="0"/>
          </a:p>
        </p:txBody>
      </p:sp>
      <p:sp>
        <p:nvSpPr>
          <p:cNvPr id="23" name="Text 20"/>
          <p:cNvSpPr txBox="1"/>
          <p:nvPr/>
        </p:nvSpPr>
        <p:spPr>
          <a:xfrm>
            <a:off x="3032869"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Jue</a:t>
            </a:r>
            <a:endParaRPr lang="en-US" sz="1050" dirty="0"/>
          </a:p>
        </p:txBody>
      </p:sp>
      <p:sp>
        <p:nvSpPr>
          <p:cNvPr id="24" name="Shape 21"/>
          <p:cNvSpPr/>
          <p:nvPr/>
        </p:nvSpPr>
        <p:spPr>
          <a:xfrm>
            <a:off x="4058303" y="3774809"/>
            <a:ext cx="517942" cy="1665871"/>
          </a:xfrm>
          <a:prstGeom prst="roundRect">
            <a:avLst>
              <a:gd name="adj" fmla="val 5296"/>
            </a:avLst>
          </a:prstGeom>
          <a:solidFill>
            <a:srgbClr val="2DD4BF"/>
          </a:solidFill>
          <a:ln/>
        </p:spPr>
      </p:sp>
      <p:sp>
        <p:nvSpPr>
          <p:cNvPr id="25" name="Text 22"/>
          <p:cNvSpPr txBox="1"/>
          <p:nvPr/>
        </p:nvSpPr>
        <p:spPr>
          <a:xfrm>
            <a:off x="3875423" y="3537065"/>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6</a:t>
            </a:r>
            <a:endParaRPr lang="en-US" sz="1150" dirty="0"/>
          </a:p>
        </p:txBody>
      </p:sp>
      <p:sp>
        <p:nvSpPr>
          <p:cNvPr id="26" name="Text 23"/>
          <p:cNvSpPr txBox="1"/>
          <p:nvPr/>
        </p:nvSpPr>
        <p:spPr>
          <a:xfrm>
            <a:off x="3829703"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Vie</a:t>
            </a:r>
            <a:endParaRPr lang="en-US" sz="1050" dirty="0"/>
          </a:p>
        </p:txBody>
      </p:sp>
      <p:sp>
        <p:nvSpPr>
          <p:cNvPr id="27" name="Shape 24"/>
          <p:cNvSpPr/>
          <p:nvPr/>
        </p:nvSpPr>
        <p:spPr>
          <a:xfrm>
            <a:off x="4855137" y="3219519"/>
            <a:ext cx="517942" cy="2221161"/>
          </a:xfrm>
          <a:prstGeom prst="roundRect">
            <a:avLst>
              <a:gd name="adj" fmla="val 5296"/>
            </a:avLst>
          </a:prstGeom>
          <a:solidFill>
            <a:srgbClr val="5B7DB1"/>
          </a:solidFill>
          <a:ln/>
        </p:spPr>
      </p:sp>
      <p:sp>
        <p:nvSpPr>
          <p:cNvPr id="28" name="Text 25"/>
          <p:cNvSpPr txBox="1"/>
          <p:nvPr/>
        </p:nvSpPr>
        <p:spPr>
          <a:xfrm>
            <a:off x="4672257" y="2981775"/>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8</a:t>
            </a:r>
            <a:endParaRPr lang="en-US" sz="1150" dirty="0"/>
          </a:p>
        </p:txBody>
      </p:sp>
      <p:sp>
        <p:nvSpPr>
          <p:cNvPr id="29" name="Text 26"/>
          <p:cNvSpPr txBox="1"/>
          <p:nvPr/>
        </p:nvSpPr>
        <p:spPr>
          <a:xfrm>
            <a:off x="4626537"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Sáb</a:t>
            </a:r>
            <a:endParaRPr lang="en-US" sz="1050" dirty="0"/>
          </a:p>
        </p:txBody>
      </p:sp>
      <p:sp>
        <p:nvSpPr>
          <p:cNvPr id="30" name="Shape 27"/>
          <p:cNvSpPr/>
          <p:nvPr/>
        </p:nvSpPr>
        <p:spPr>
          <a:xfrm>
            <a:off x="5651972" y="2386584"/>
            <a:ext cx="517942" cy="3054096"/>
          </a:xfrm>
          <a:prstGeom prst="roundRect">
            <a:avLst>
              <a:gd name="adj" fmla="val 5296"/>
            </a:avLst>
          </a:prstGeom>
          <a:solidFill>
            <a:srgbClr val="5B7DB1"/>
          </a:solidFill>
          <a:ln/>
        </p:spPr>
      </p:sp>
      <p:sp>
        <p:nvSpPr>
          <p:cNvPr id="31" name="Text 28"/>
          <p:cNvSpPr txBox="1"/>
          <p:nvPr/>
        </p:nvSpPr>
        <p:spPr>
          <a:xfrm>
            <a:off x="5469092" y="2148840"/>
            <a:ext cx="883702"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11</a:t>
            </a:r>
            <a:endParaRPr lang="en-US" sz="1150" dirty="0"/>
          </a:p>
        </p:txBody>
      </p:sp>
      <p:sp>
        <p:nvSpPr>
          <p:cNvPr id="32" name="Text 29"/>
          <p:cNvSpPr txBox="1"/>
          <p:nvPr/>
        </p:nvSpPr>
        <p:spPr>
          <a:xfrm>
            <a:off x="5423372" y="5440680"/>
            <a:ext cx="975142"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Dom</a:t>
            </a:r>
            <a:endParaRPr lang="en-US" sz="1050" dirty="0"/>
          </a:p>
        </p:txBody>
      </p:sp>
      <p:sp>
        <p:nvSpPr>
          <p:cNvPr id="33" name="Shape 30"/>
          <p:cNvSpPr/>
          <p:nvPr/>
        </p:nvSpPr>
        <p:spPr>
          <a:xfrm>
            <a:off x="6720840" y="1691640"/>
            <a:ext cx="4956048" cy="960120"/>
          </a:xfrm>
          <a:prstGeom prst="roundRect">
            <a:avLst>
              <a:gd name="adj" fmla="val 7619"/>
            </a:avLst>
          </a:prstGeom>
          <a:solidFill>
            <a:srgbClr val="0F1930"/>
          </a:solidFill>
          <a:ln w="15875">
            <a:solidFill>
              <a:srgbClr val="F26B6B"/>
            </a:solidFill>
            <a:prstDash val="solid"/>
          </a:ln>
        </p:spPr>
      </p:sp>
      <p:sp>
        <p:nvSpPr>
          <p:cNvPr id="34" name="Text 31"/>
          <p:cNvSpPr txBox="1"/>
          <p:nvPr/>
        </p:nvSpPr>
        <p:spPr>
          <a:xfrm>
            <a:off x="6876288" y="1801368"/>
            <a:ext cx="4645152" cy="411480"/>
          </a:xfrm>
          <a:prstGeom prst="rect">
            <a:avLst/>
          </a:prstGeom>
          <a:noFill/>
          <a:ln/>
        </p:spPr>
        <p:txBody>
          <a:bodyPr wrap="square" lIns="0" tIns="0" rIns="0" bIns="0" rtlCol="0" anchor="ctr"/>
          <a:lstStyle/>
          <a:p>
            <a:pPr algn="l" indent="0" marL="0">
              <a:buNone/>
            </a:pPr>
            <a:r>
              <a:rPr lang="en-US" sz="2400" b="1" dirty="0">
                <a:solidFill>
                  <a:srgbClr val="F26B6B"/>
                </a:solidFill>
                <a:latin typeface="Arial" pitchFamily="34" charset="0"/>
                <a:ea typeface="Arial" pitchFamily="34" charset="-122"/>
                <a:cs typeface="Arial" pitchFamily="34" charset="-120"/>
              </a:rPr>
              <a:t>6 / 19</a:t>
            </a:r>
            <a:endParaRPr lang="en-US" sz="2400" dirty="0"/>
          </a:p>
        </p:txBody>
      </p:sp>
      <p:sp>
        <p:nvSpPr>
          <p:cNvPr id="35" name="Text 32"/>
          <p:cNvSpPr txBox="1"/>
          <p:nvPr/>
        </p:nvSpPr>
        <p:spPr>
          <a:xfrm>
            <a:off x="6876288" y="2231136"/>
            <a:ext cx="46451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REGISTROS L–V EN LUNES (31,6 %)</a:t>
            </a:r>
            <a:endParaRPr lang="en-US" sz="850" dirty="0"/>
          </a:p>
        </p:txBody>
      </p:sp>
      <p:sp>
        <p:nvSpPr>
          <p:cNvPr id="36" name="Text 33"/>
          <p:cNvSpPr txBox="1"/>
          <p:nvPr/>
        </p:nvSpPr>
        <p:spPr>
          <a:xfrm>
            <a:off x="6876288" y="2468880"/>
            <a:ext cx="464515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viernes 6 · jueves 3 · martes y miércoles 2 cada uno</a:t>
            </a:r>
            <a:endParaRPr lang="en-US" sz="1000" dirty="0"/>
          </a:p>
        </p:txBody>
      </p:sp>
      <p:sp>
        <p:nvSpPr>
          <p:cNvPr id="37" name="Shape 34"/>
          <p:cNvSpPr/>
          <p:nvPr/>
        </p:nvSpPr>
        <p:spPr>
          <a:xfrm>
            <a:off x="6720840" y="2761488"/>
            <a:ext cx="4956048" cy="960120"/>
          </a:xfrm>
          <a:prstGeom prst="roundRect">
            <a:avLst>
              <a:gd name="adj" fmla="val 7619"/>
            </a:avLst>
          </a:prstGeom>
          <a:solidFill>
            <a:srgbClr val="0F1930"/>
          </a:solidFill>
          <a:ln w="9525">
            <a:solidFill>
              <a:srgbClr val="22304A"/>
            </a:solidFill>
            <a:prstDash val="solid"/>
          </a:ln>
        </p:spPr>
      </p:sp>
      <p:sp>
        <p:nvSpPr>
          <p:cNvPr id="38" name="Text 35"/>
          <p:cNvSpPr txBox="1"/>
          <p:nvPr/>
        </p:nvSpPr>
        <p:spPr>
          <a:xfrm>
            <a:off x="6876288" y="2871216"/>
            <a:ext cx="464515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2 / 2</a:t>
            </a:r>
            <a:endParaRPr lang="en-US" sz="2400" dirty="0"/>
          </a:p>
        </p:txBody>
      </p:sp>
      <p:sp>
        <p:nvSpPr>
          <p:cNvPr id="39" name="Text 36"/>
          <p:cNvSpPr txBox="1"/>
          <p:nvPr/>
        </p:nvSpPr>
        <p:spPr>
          <a:xfrm>
            <a:off x="6876288" y="3300984"/>
            <a:ext cx="46451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EVENTOS MINSAL EN LUNES</a:t>
            </a:r>
            <a:endParaRPr lang="en-US" sz="850" dirty="0"/>
          </a:p>
        </p:txBody>
      </p:sp>
      <p:sp>
        <p:nvSpPr>
          <p:cNvPr id="40" name="Text 37"/>
          <p:cNvSpPr txBox="1"/>
          <p:nvPr/>
        </p:nvSpPr>
        <p:spPr>
          <a:xfrm>
            <a:off x="6876288" y="3538728"/>
            <a:ext cx="464515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3 y 17 de agosto · Traumatología · probabilidad 1 en 25 si el día fuera azar (p = 0,04)</a:t>
            </a:r>
            <a:endParaRPr lang="en-US" sz="1000" dirty="0"/>
          </a:p>
        </p:txBody>
      </p:sp>
      <p:sp>
        <p:nvSpPr>
          <p:cNvPr id="41" name="Shape 38"/>
          <p:cNvSpPr/>
          <p:nvPr/>
        </p:nvSpPr>
        <p:spPr>
          <a:xfrm>
            <a:off x="6720840" y="3831336"/>
            <a:ext cx="4956048" cy="960120"/>
          </a:xfrm>
          <a:prstGeom prst="roundRect">
            <a:avLst>
              <a:gd name="adj" fmla="val 7619"/>
            </a:avLst>
          </a:prstGeom>
          <a:solidFill>
            <a:srgbClr val="0F1930"/>
          </a:solidFill>
          <a:ln w="15875">
            <a:solidFill>
              <a:srgbClr val="F5B342"/>
            </a:solidFill>
            <a:prstDash val="solid"/>
          </a:ln>
        </p:spPr>
      </p:sp>
      <p:sp>
        <p:nvSpPr>
          <p:cNvPr id="42" name="Text 39"/>
          <p:cNvSpPr txBox="1"/>
          <p:nvPr/>
        </p:nvSpPr>
        <p:spPr>
          <a:xfrm>
            <a:off x="6876288" y="3941064"/>
            <a:ext cx="4645152" cy="411480"/>
          </a:xfrm>
          <a:prstGeom prst="rect">
            <a:avLst/>
          </a:prstGeom>
          <a:noFill/>
          <a:ln/>
        </p:spPr>
        <p:txBody>
          <a:bodyPr wrap="square" lIns="0" tIns="0" rIns="0" bIns="0" rtlCol="0" anchor="ctr"/>
          <a:lstStyle/>
          <a:p>
            <a:pPr algn="l" indent="0" marL="0">
              <a:buNone/>
            </a:pPr>
            <a:r>
              <a:rPr lang="en-US" sz="2400" b="1" dirty="0">
                <a:solidFill>
                  <a:srgbClr val="F5B342"/>
                </a:solidFill>
                <a:latin typeface="Arial" pitchFamily="34" charset="0"/>
                <a:ea typeface="Arial" pitchFamily="34" charset="-122"/>
                <a:cs typeface="Arial" pitchFamily="34" charset="-120"/>
              </a:rPr>
              <a:t>3 tablas</a:t>
            </a:r>
            <a:endParaRPr lang="en-US" sz="2400" dirty="0"/>
          </a:p>
        </p:txBody>
      </p:sp>
      <p:sp>
        <p:nvSpPr>
          <p:cNvPr id="43" name="Text 40"/>
          <p:cNvSpPr txBox="1"/>
          <p:nvPr/>
        </p:nvSpPr>
        <p:spPr>
          <a:xfrm>
            <a:off x="6876288" y="4370832"/>
            <a:ext cx="46451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LUNES SIN TABLA EN PABELLÓN 2</a:t>
            </a:r>
            <a:endParaRPr lang="en-US" sz="850" dirty="0"/>
          </a:p>
        </p:txBody>
      </p:sp>
      <p:sp>
        <p:nvSpPr>
          <p:cNvPr id="44" name="Text 41"/>
          <p:cNvSpPr txBox="1"/>
          <p:nvPr/>
        </p:nvSpPr>
        <p:spPr>
          <a:xfrm>
            <a:off x="6876288" y="4608576"/>
            <a:ext cx="464515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10, 17 y 24 de agosto por falta de enfermera del área (correo del 23-ago) · tablas, no pacientes</a:t>
            </a:r>
            <a:endParaRPr lang="en-US" sz="1000" dirty="0"/>
          </a:p>
        </p:txBody>
      </p:sp>
      <p:sp>
        <p:nvSpPr>
          <p:cNvPr id="45" name="Shape 42"/>
          <p:cNvSpPr/>
          <p:nvPr/>
        </p:nvSpPr>
        <p:spPr>
          <a:xfrm>
            <a:off x="6720840" y="4901184"/>
            <a:ext cx="4956048" cy="950976"/>
          </a:xfrm>
          <a:prstGeom prst="roundRect">
            <a:avLst>
              <a:gd name="adj" fmla="val 7692"/>
            </a:avLst>
          </a:prstGeom>
          <a:solidFill>
            <a:srgbClr val="0F1930"/>
          </a:solidFill>
          <a:ln w="9525">
            <a:solidFill>
              <a:srgbClr val="22304A"/>
            </a:solidFill>
            <a:prstDash val="solid"/>
          </a:ln>
        </p:spPr>
      </p:sp>
      <p:sp>
        <p:nvSpPr>
          <p:cNvPr id="46" name="Text 43"/>
          <p:cNvSpPr txBox="1"/>
          <p:nvPr/>
        </p:nvSpPr>
        <p:spPr>
          <a:xfrm>
            <a:off x="6876288" y="5010912"/>
            <a:ext cx="464515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11,09 %</a:t>
            </a:r>
            <a:endParaRPr lang="en-US" sz="2400" dirty="0"/>
          </a:p>
        </p:txBody>
      </p:sp>
      <p:sp>
        <p:nvSpPr>
          <p:cNvPr id="47" name="Text 44"/>
          <p:cNvSpPr txBox="1"/>
          <p:nvPr/>
        </p:nvSpPr>
        <p:spPr>
          <a:xfrm>
            <a:off x="6876288" y="5440680"/>
            <a:ext cx="46451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LUNES · HISTÓRICO ENE-25 → ABR-26 (SPC)</a:t>
            </a:r>
            <a:endParaRPr lang="en-US" sz="850" dirty="0"/>
          </a:p>
        </p:txBody>
      </p:sp>
      <p:sp>
        <p:nvSpPr>
          <p:cNvPr id="48" name="Text 45"/>
          <p:cNvSpPr txBox="1"/>
          <p:nvPr/>
        </p:nvSpPr>
        <p:spPr>
          <a:xfrm>
            <a:off x="6876288" y="5678424"/>
            <a:ext cx="4645152" cy="137160"/>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Z = 2,09, significativo al 5 % · agosto solo no lo demuestra (6 de 19, p = 0,16) · "blindar el lunes" sigue vigente</a:t>
            </a:r>
            <a:endParaRPr lang="en-US" sz="1000" dirty="0"/>
          </a:p>
        </p:txBody>
      </p:sp>
      <p:sp>
        <p:nvSpPr>
          <p:cNvPr id="49" name="Text 46"/>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Fin de semana (sábado 8, domingo 11): circuito oftalmológico condicional, sin causal en 17 de 18. Los correos aportan contexto y pueden coincidir con registros: no se suman.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15  ·  EVITABILIDAD</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100" b="1" dirty="0">
                <a:solidFill>
                  <a:srgbClr val="EAF1FB"/>
                </a:solidFill>
                <a:latin typeface="Arial" pitchFamily="34" charset="0"/>
                <a:ea typeface="Arial" pitchFamily="34" charset="-122"/>
                <a:cs typeface="Arial" pitchFamily="34" charset="-120"/>
              </a:rPr>
              <a:t>Evitabilidad: la mitad de lo clasificable, y 18 registros sin clasificar</a:t>
            </a:r>
            <a:endParaRPr lang="en-US" sz="21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Clasificación del analista sobre la causal registrada (regla de julio) · 20 eventos con causal · 18 sin causal</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16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475488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2011680" y="3063240"/>
            <a:ext cx="1737360" cy="640080"/>
          </a:xfrm>
          <a:prstGeom prst="rect">
            <a:avLst/>
          </a:prstGeom>
          <a:noFill/>
          <a:ln/>
        </p:spPr>
        <p:txBody>
          <a:bodyPr wrap="square" lIns="0" tIns="0" rIns="0" bIns="0" rtlCol="0" anchor="ctr"/>
          <a:lstStyle/>
          <a:p>
            <a:pPr algn="ctr" indent="0" marL="0">
              <a:buNone/>
            </a:pPr>
            <a:r>
              <a:rPr lang="en-US" sz="2200" b="1" dirty="0">
                <a:solidFill>
                  <a:srgbClr val="EAF1FB"/>
                </a:solidFill>
                <a:latin typeface="Arial" pitchFamily="34" charset="0"/>
                <a:ea typeface="Arial" pitchFamily="34" charset="-122"/>
                <a:cs typeface="Arial" pitchFamily="34" charset="-120"/>
              </a:rPr>
              <a:t>38</a:t>
            </a:r>
            <a:pPr algn="ctr" indent="0" marL="0">
              <a:buNone/>
            </a:pPr>
            <a:endParaRPr lang="en-US" sz="1200" dirty="0"/>
          </a:p>
          <a:p>
            <a:pPr algn="ctr" indent="0" marL="0">
              <a:buNone/>
            </a:pPr>
            <a:r>
              <a:rPr lang="en-US" sz="900" dirty="0">
                <a:solidFill>
                  <a:srgbClr val="94AACC"/>
                </a:solidFill>
                <a:latin typeface="Arial" pitchFamily="34" charset="0"/>
                <a:ea typeface="Arial" pitchFamily="34" charset="-122"/>
                <a:cs typeface="Arial" pitchFamily="34" charset="-120"/>
              </a:rPr>
              <a:t>eventos</a:t>
            </a:r>
            <a:endParaRPr lang="en-US" sz="1200" dirty="0"/>
          </a:p>
        </p:txBody>
      </p:sp>
      <p:sp>
        <p:nvSpPr>
          <p:cNvPr id="13" name="Shape 9"/>
          <p:cNvSpPr/>
          <p:nvPr/>
        </p:nvSpPr>
        <p:spPr>
          <a:xfrm>
            <a:off x="685800" y="5129784"/>
            <a:ext cx="109728" cy="109728"/>
          </a:xfrm>
          <a:prstGeom prst="ellipse">
            <a:avLst/>
          </a:prstGeom>
          <a:solidFill>
            <a:srgbClr val="F26B6B"/>
          </a:solidFill>
          <a:ln/>
        </p:spPr>
      </p:sp>
      <p:sp>
        <p:nvSpPr>
          <p:cNvPr id="14" name="Text 10"/>
          <p:cNvSpPr txBox="1"/>
          <p:nvPr/>
        </p:nvSpPr>
        <p:spPr>
          <a:xfrm>
            <a:off x="841248" y="5074920"/>
            <a:ext cx="96012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Evitable (10)</a:t>
            </a:r>
            <a:endParaRPr lang="en-US" sz="850" dirty="0"/>
          </a:p>
        </p:txBody>
      </p:sp>
      <p:sp>
        <p:nvSpPr>
          <p:cNvPr id="15" name="Shape 11"/>
          <p:cNvSpPr/>
          <p:nvPr/>
        </p:nvSpPr>
        <p:spPr>
          <a:xfrm>
            <a:off x="1929384" y="5129784"/>
            <a:ext cx="109728" cy="109728"/>
          </a:xfrm>
          <a:prstGeom prst="ellipse">
            <a:avLst/>
          </a:prstGeom>
          <a:solidFill>
            <a:srgbClr val="F5B342"/>
          </a:solidFill>
          <a:ln/>
        </p:spPr>
      </p:sp>
      <p:sp>
        <p:nvSpPr>
          <p:cNvPr id="16" name="Text 12"/>
          <p:cNvSpPr txBox="1"/>
          <p:nvPr/>
        </p:nvSpPr>
        <p:spPr>
          <a:xfrm>
            <a:off x="2084832" y="5074920"/>
            <a:ext cx="96012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Potencialmente evitable (5)</a:t>
            </a:r>
            <a:endParaRPr lang="en-US" sz="850" dirty="0"/>
          </a:p>
        </p:txBody>
      </p:sp>
      <p:sp>
        <p:nvSpPr>
          <p:cNvPr id="17" name="Shape 13"/>
          <p:cNvSpPr/>
          <p:nvPr/>
        </p:nvSpPr>
        <p:spPr>
          <a:xfrm>
            <a:off x="3172968" y="5129784"/>
            <a:ext cx="109728" cy="109728"/>
          </a:xfrm>
          <a:prstGeom prst="ellipse">
            <a:avLst/>
          </a:prstGeom>
          <a:solidFill>
            <a:srgbClr val="34D399"/>
          </a:solidFill>
          <a:ln/>
        </p:spPr>
      </p:sp>
      <p:sp>
        <p:nvSpPr>
          <p:cNvPr id="18" name="Text 14"/>
          <p:cNvSpPr txBox="1"/>
          <p:nvPr/>
        </p:nvSpPr>
        <p:spPr>
          <a:xfrm>
            <a:off x="3328416" y="5074920"/>
            <a:ext cx="96012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No evitable (5)</a:t>
            </a:r>
            <a:endParaRPr lang="en-US" sz="850" dirty="0"/>
          </a:p>
        </p:txBody>
      </p:sp>
      <p:sp>
        <p:nvSpPr>
          <p:cNvPr id="19" name="Shape 15"/>
          <p:cNvSpPr/>
          <p:nvPr/>
        </p:nvSpPr>
        <p:spPr>
          <a:xfrm>
            <a:off x="4416552" y="5129784"/>
            <a:ext cx="109728" cy="109728"/>
          </a:xfrm>
          <a:prstGeom prst="ellipse">
            <a:avLst/>
          </a:prstGeom>
          <a:solidFill>
            <a:srgbClr val="5B6B85"/>
          </a:solidFill>
          <a:ln/>
        </p:spPr>
      </p:sp>
      <p:sp>
        <p:nvSpPr>
          <p:cNvPr id="20" name="Text 16"/>
          <p:cNvSpPr txBox="1"/>
          <p:nvPr/>
        </p:nvSpPr>
        <p:spPr>
          <a:xfrm>
            <a:off x="4572000" y="5074920"/>
            <a:ext cx="960120" cy="219456"/>
          </a:xfrm>
          <a:prstGeom prst="rect">
            <a:avLst/>
          </a:prstGeom>
          <a:noFill/>
          <a:ln/>
        </p:spPr>
        <p:txBody>
          <a:bodyPr wrap="square" lIns="0" tIns="0" rIns="0" bIns="0" rtlCol="0" anchor="ctr"/>
          <a:lstStyle/>
          <a:p>
            <a:pPr algn="l" indent="0" marL="0">
              <a:buNone/>
            </a:pPr>
            <a:r>
              <a:rPr lang="en-US" sz="850" dirty="0">
                <a:solidFill>
                  <a:srgbClr val="BCCDE8"/>
                </a:solidFill>
                <a:latin typeface="Arial" pitchFamily="34" charset="0"/>
                <a:ea typeface="Arial" pitchFamily="34" charset="-122"/>
                <a:cs typeface="Arial" pitchFamily="34" charset="-120"/>
              </a:rPr>
              <a:t>Sin causal registrada (18)</a:t>
            </a:r>
            <a:endParaRPr lang="en-US" sz="850" dirty="0"/>
          </a:p>
        </p:txBody>
      </p:sp>
      <p:sp>
        <p:nvSpPr>
          <p:cNvPr id="21" name="Text 17"/>
          <p:cNvSpPr txBox="1"/>
          <p:nvPr/>
        </p:nvSpPr>
        <p:spPr>
          <a:xfrm>
            <a:off x="685800" y="5440680"/>
            <a:ext cx="4389120" cy="274320"/>
          </a:xfrm>
          <a:prstGeom prst="rect">
            <a:avLst/>
          </a:prstGeom>
          <a:noFill/>
          <a:ln/>
        </p:spPr>
        <p:txBody>
          <a:bodyPr wrap="square" lIns="0" tIns="0" rIns="0" bIns="0" rtlCol="0" anchor="t"/>
          <a:lstStyle/>
          <a:p>
            <a:pPr algn="l" indent="0" marL="0">
              <a:buNone/>
            </a:pPr>
            <a:r>
              <a:rPr lang="en-US" sz="1000" b="1" dirty="0">
                <a:solidFill>
                  <a:srgbClr val="C6D6EE"/>
                </a:solidFill>
                <a:latin typeface="Arial" pitchFamily="34" charset="0"/>
                <a:ea typeface="Arial" pitchFamily="34" charset="-122"/>
                <a:cs typeface="Arial" pitchFamily="34" charset="-120"/>
              </a:rPr>
              <a:t>15 de 20 clasificables con potencial de prevención (75 %)</a:t>
            </a:r>
            <a:endParaRPr lang="en-US" sz="1000" dirty="0"/>
          </a:p>
        </p:txBody>
      </p:sp>
      <p:sp>
        <p:nvSpPr>
          <p:cNvPr id="22" name="Shape 18"/>
          <p:cNvSpPr/>
          <p:nvPr/>
        </p:nvSpPr>
        <p:spPr>
          <a:xfrm>
            <a:off x="5440680" y="1691640"/>
            <a:ext cx="2005584" cy="1005840"/>
          </a:xfrm>
          <a:prstGeom prst="roundRect">
            <a:avLst>
              <a:gd name="adj" fmla="val 7273"/>
            </a:avLst>
          </a:prstGeom>
          <a:solidFill>
            <a:srgbClr val="0F1930"/>
          </a:solidFill>
          <a:ln w="15875">
            <a:solidFill>
              <a:srgbClr val="F26B6B"/>
            </a:solidFill>
            <a:prstDash val="solid"/>
          </a:ln>
        </p:spPr>
      </p:sp>
      <p:sp>
        <p:nvSpPr>
          <p:cNvPr id="23" name="Text 19"/>
          <p:cNvSpPr txBox="1"/>
          <p:nvPr/>
        </p:nvSpPr>
        <p:spPr>
          <a:xfrm>
            <a:off x="5577840" y="1764792"/>
            <a:ext cx="1731264" cy="329184"/>
          </a:xfrm>
          <a:prstGeom prst="rect">
            <a:avLst/>
          </a:prstGeom>
          <a:noFill/>
          <a:ln/>
        </p:spPr>
        <p:txBody>
          <a:bodyPr wrap="square" lIns="0" tIns="0" rIns="0" bIns="0" rtlCol="0" anchor="ctr"/>
          <a:lstStyle/>
          <a:p>
            <a:pPr algn="l" indent="0" marL="0">
              <a:buNone/>
            </a:pPr>
            <a:r>
              <a:rPr lang="en-US" sz="2200" b="1" dirty="0">
                <a:solidFill>
                  <a:srgbClr val="F26B6B"/>
                </a:solidFill>
                <a:latin typeface="Arial" pitchFamily="34" charset="0"/>
                <a:ea typeface="Arial" pitchFamily="34" charset="-122"/>
                <a:cs typeface="Arial" pitchFamily="34" charset="-120"/>
              </a:rPr>
              <a:t>50 %</a:t>
            </a:r>
            <a:endParaRPr lang="en-US" sz="2200" dirty="0"/>
          </a:p>
        </p:txBody>
      </p:sp>
      <p:sp>
        <p:nvSpPr>
          <p:cNvPr id="24" name="Text 20"/>
          <p:cNvSpPr txBox="1"/>
          <p:nvPr/>
        </p:nvSpPr>
        <p:spPr>
          <a:xfrm>
            <a:off x="5577840" y="2075688"/>
            <a:ext cx="1731264" cy="182880"/>
          </a:xfrm>
          <a:prstGeom prst="rect">
            <a:avLst/>
          </a:prstGeom>
          <a:noFill/>
          <a:ln/>
        </p:spPr>
        <p:txBody>
          <a:bodyPr wrap="square" lIns="0" tIns="0" rIns="0" bIns="0" rtlCol="0" anchor="ctr"/>
          <a:lstStyle/>
          <a:p>
            <a:pPr algn="l" indent="0" marL="0">
              <a:buNone/>
            </a:pPr>
            <a:r>
              <a:rPr lang="en-US" sz="650" b="1" spc="60" kern="0" dirty="0">
                <a:solidFill>
                  <a:srgbClr val="BCCDE8"/>
                </a:solidFill>
                <a:latin typeface="Arial" pitchFamily="34" charset="0"/>
                <a:ea typeface="Arial" pitchFamily="34" charset="-122"/>
                <a:cs typeface="Arial" pitchFamily="34" charset="-120"/>
              </a:rPr>
              <a:t>EVITABLE · CLASIFICABLES</a:t>
            </a:r>
            <a:endParaRPr lang="en-US" sz="650" dirty="0"/>
          </a:p>
        </p:txBody>
      </p:sp>
      <p:sp>
        <p:nvSpPr>
          <p:cNvPr id="25" name="Text 21"/>
          <p:cNvSpPr txBox="1"/>
          <p:nvPr/>
        </p:nvSpPr>
        <p:spPr>
          <a:xfrm>
            <a:off x="5577840" y="2240280"/>
            <a:ext cx="1731264" cy="4389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10 de 20 · julio: 34 % (10 de 29)</a:t>
            </a:r>
            <a:endParaRPr lang="en-US" sz="850" dirty="0"/>
          </a:p>
        </p:txBody>
      </p:sp>
      <p:sp>
        <p:nvSpPr>
          <p:cNvPr id="26" name="Shape 22"/>
          <p:cNvSpPr/>
          <p:nvPr/>
        </p:nvSpPr>
        <p:spPr>
          <a:xfrm>
            <a:off x="7555992" y="1691640"/>
            <a:ext cx="2005584" cy="1005840"/>
          </a:xfrm>
          <a:prstGeom prst="roundRect">
            <a:avLst>
              <a:gd name="adj" fmla="val 7273"/>
            </a:avLst>
          </a:prstGeom>
          <a:solidFill>
            <a:srgbClr val="0F1930"/>
          </a:solidFill>
          <a:ln w="9525">
            <a:solidFill>
              <a:srgbClr val="22304A"/>
            </a:solidFill>
            <a:prstDash val="solid"/>
          </a:ln>
        </p:spPr>
      </p:sp>
      <p:sp>
        <p:nvSpPr>
          <p:cNvPr id="27" name="Text 23"/>
          <p:cNvSpPr txBox="1"/>
          <p:nvPr/>
        </p:nvSpPr>
        <p:spPr>
          <a:xfrm>
            <a:off x="7693152" y="1764792"/>
            <a:ext cx="1731264" cy="329184"/>
          </a:xfrm>
          <a:prstGeom prst="rect">
            <a:avLst/>
          </a:prstGeom>
          <a:noFill/>
          <a:ln/>
        </p:spPr>
        <p:txBody>
          <a:bodyPr wrap="square" lIns="0" tIns="0" rIns="0" bIns="0" rtlCol="0" anchor="ctr"/>
          <a:lstStyle/>
          <a:p>
            <a:pPr algn="l" indent="0" marL="0">
              <a:buNone/>
            </a:pPr>
            <a:r>
              <a:rPr lang="en-US" sz="2200" b="1" dirty="0">
                <a:solidFill>
                  <a:srgbClr val="F5B342"/>
                </a:solidFill>
                <a:latin typeface="Arial" pitchFamily="34" charset="0"/>
                <a:ea typeface="Arial" pitchFamily="34" charset="-122"/>
                <a:cs typeface="Arial" pitchFamily="34" charset="-120"/>
              </a:rPr>
              <a:t>75 %</a:t>
            </a:r>
            <a:endParaRPr lang="en-US" sz="2200" dirty="0"/>
          </a:p>
        </p:txBody>
      </p:sp>
      <p:sp>
        <p:nvSpPr>
          <p:cNvPr id="28" name="Text 24"/>
          <p:cNvSpPr txBox="1"/>
          <p:nvPr/>
        </p:nvSpPr>
        <p:spPr>
          <a:xfrm>
            <a:off x="7693152" y="2075688"/>
            <a:ext cx="1731264" cy="182880"/>
          </a:xfrm>
          <a:prstGeom prst="rect">
            <a:avLst/>
          </a:prstGeom>
          <a:noFill/>
          <a:ln/>
        </p:spPr>
        <p:txBody>
          <a:bodyPr wrap="square" lIns="0" tIns="0" rIns="0" bIns="0" rtlCol="0" anchor="ctr"/>
          <a:lstStyle/>
          <a:p>
            <a:pPr algn="l" indent="0" marL="0">
              <a:buNone/>
            </a:pPr>
            <a:r>
              <a:rPr lang="en-US" sz="650" b="1" spc="60" kern="0" dirty="0">
                <a:solidFill>
                  <a:srgbClr val="BCCDE8"/>
                </a:solidFill>
                <a:latin typeface="Arial" pitchFamily="34" charset="0"/>
                <a:ea typeface="Arial" pitchFamily="34" charset="-122"/>
                <a:cs typeface="Arial" pitchFamily="34" charset="-120"/>
              </a:rPr>
              <a:t>PREVENIBLE (EVIT. + POT.)</a:t>
            </a:r>
            <a:endParaRPr lang="en-US" sz="650" dirty="0"/>
          </a:p>
        </p:txBody>
      </p:sp>
      <p:sp>
        <p:nvSpPr>
          <p:cNvPr id="29" name="Text 25"/>
          <p:cNvSpPr txBox="1"/>
          <p:nvPr/>
        </p:nvSpPr>
        <p:spPr>
          <a:xfrm>
            <a:off x="7693152" y="2240280"/>
            <a:ext cx="1731264" cy="4389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15 de 20 · julio: 62 % (18 de 29)</a:t>
            </a:r>
            <a:endParaRPr lang="en-US" sz="850" dirty="0"/>
          </a:p>
        </p:txBody>
      </p:sp>
      <p:sp>
        <p:nvSpPr>
          <p:cNvPr id="30" name="Shape 26"/>
          <p:cNvSpPr/>
          <p:nvPr/>
        </p:nvSpPr>
        <p:spPr>
          <a:xfrm>
            <a:off x="9671304" y="1691640"/>
            <a:ext cx="2005584" cy="1005840"/>
          </a:xfrm>
          <a:prstGeom prst="roundRect">
            <a:avLst>
              <a:gd name="adj" fmla="val 7273"/>
            </a:avLst>
          </a:prstGeom>
          <a:solidFill>
            <a:srgbClr val="0F1930"/>
          </a:solidFill>
          <a:ln w="9525">
            <a:solidFill>
              <a:srgbClr val="22304A"/>
            </a:solidFill>
            <a:prstDash val="solid"/>
          </a:ln>
        </p:spPr>
      </p:sp>
      <p:sp>
        <p:nvSpPr>
          <p:cNvPr id="31" name="Text 27"/>
          <p:cNvSpPr txBox="1"/>
          <p:nvPr/>
        </p:nvSpPr>
        <p:spPr>
          <a:xfrm>
            <a:off x="9808464" y="1764792"/>
            <a:ext cx="1731264" cy="329184"/>
          </a:xfrm>
          <a:prstGeom prst="rect">
            <a:avLst/>
          </a:prstGeom>
          <a:noFill/>
          <a:ln/>
        </p:spPr>
        <p:txBody>
          <a:bodyPr wrap="square" lIns="0" tIns="0" rIns="0" bIns="0" rtlCol="0" anchor="ctr"/>
          <a:lstStyle/>
          <a:p>
            <a:pPr algn="l" indent="0" marL="0">
              <a:buNone/>
            </a:pPr>
            <a:r>
              <a:rPr lang="en-US" sz="2200" b="1" dirty="0">
                <a:solidFill>
                  <a:srgbClr val="5B6B85"/>
                </a:solidFill>
                <a:latin typeface="Arial" pitchFamily="34" charset="0"/>
                <a:ea typeface="Arial" pitchFamily="34" charset="-122"/>
                <a:cs typeface="Arial" pitchFamily="34" charset="-120"/>
              </a:rPr>
              <a:t>47 %</a:t>
            </a:r>
            <a:endParaRPr lang="en-US" sz="2200" dirty="0"/>
          </a:p>
        </p:txBody>
      </p:sp>
      <p:sp>
        <p:nvSpPr>
          <p:cNvPr id="32" name="Text 28"/>
          <p:cNvSpPr txBox="1"/>
          <p:nvPr/>
        </p:nvSpPr>
        <p:spPr>
          <a:xfrm>
            <a:off x="9808464" y="2075688"/>
            <a:ext cx="1731264"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SIN CAUSAL</a:t>
            </a:r>
            <a:endParaRPr lang="en-US" sz="750" dirty="0"/>
          </a:p>
        </p:txBody>
      </p:sp>
      <p:sp>
        <p:nvSpPr>
          <p:cNvPr id="33" name="Text 29"/>
          <p:cNvSpPr txBox="1"/>
          <p:nvPr/>
        </p:nvSpPr>
        <p:spPr>
          <a:xfrm>
            <a:off x="9808464" y="2240280"/>
            <a:ext cx="1731264" cy="43891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18 de 38 · el hallazgo principal</a:t>
            </a:r>
            <a:endParaRPr lang="en-US" sz="850" dirty="0"/>
          </a:p>
        </p:txBody>
      </p:sp>
      <p:sp>
        <p:nvSpPr>
          <p:cNvPr id="34" name="Shape 30"/>
          <p:cNvSpPr/>
          <p:nvPr/>
        </p:nvSpPr>
        <p:spPr>
          <a:xfrm>
            <a:off x="5440680" y="2834640"/>
            <a:ext cx="6236208" cy="1417320"/>
          </a:xfrm>
          <a:prstGeom prst="roundRect">
            <a:avLst>
              <a:gd name="adj" fmla="val 5161"/>
            </a:avLst>
          </a:prstGeom>
          <a:solidFill>
            <a:srgbClr val="0F1930"/>
          </a:solidFill>
          <a:ln w="15875">
            <a:solidFill>
              <a:srgbClr val="F26B6B"/>
            </a:solidFill>
            <a:prstDash val="solid"/>
          </a:ln>
        </p:spPr>
      </p:sp>
      <p:sp>
        <p:nvSpPr>
          <p:cNvPr id="35" name="Text 31"/>
          <p:cNvSpPr txBox="1"/>
          <p:nvPr/>
        </p:nvSpPr>
        <p:spPr>
          <a:xfrm>
            <a:off x="5586984" y="2944368"/>
            <a:ext cx="5943600" cy="274320"/>
          </a:xfrm>
          <a:prstGeom prst="rect">
            <a:avLst/>
          </a:prstGeom>
          <a:noFill/>
          <a:ln/>
        </p:spPr>
        <p:txBody>
          <a:bodyPr wrap="square" lIns="0" tIns="0" rIns="0" bIns="0" rtlCol="0" anchor="ctr"/>
          <a:lstStyle/>
          <a:p>
            <a:pPr algn="l" indent="0" marL="0">
              <a:buNone/>
            </a:pPr>
            <a:r>
              <a:rPr lang="en-US" sz="1150" b="1" dirty="0">
                <a:solidFill>
                  <a:srgbClr val="F26B6B"/>
                </a:solidFill>
                <a:latin typeface="Arial" pitchFamily="34" charset="0"/>
                <a:ea typeface="Arial" pitchFamily="34" charset="-122"/>
                <a:cs typeface="Arial" pitchFamily="34" charset="-120"/>
              </a:rPr>
              <a:t>◆  LO EVITABLE ES DE PROGRAMACIÓN</a:t>
            </a:r>
            <a:endParaRPr lang="en-US" sz="1150" dirty="0"/>
          </a:p>
        </p:txBody>
      </p:sp>
      <p:sp>
        <p:nvSpPr>
          <p:cNvPr id="36" name="Text 32"/>
          <p:cNvSpPr txBox="1"/>
          <p:nvPr/>
        </p:nvSpPr>
        <p:spPr>
          <a:xfrm>
            <a:off x="5586984" y="3255264"/>
            <a:ext cx="5943600" cy="905256"/>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Error de programación (7), ayuno / exámenes (2) e instrumental (1): los diez evitables se resuelven antes del día de la cirugía, en la tabla y en la preparación. Ninguno depende de capacidad instalada.</a:t>
            </a:r>
            <a:endParaRPr lang="en-US" sz="1050" dirty="0"/>
          </a:p>
        </p:txBody>
      </p:sp>
      <p:sp>
        <p:nvSpPr>
          <p:cNvPr id="37" name="Shape 33"/>
          <p:cNvSpPr/>
          <p:nvPr/>
        </p:nvSpPr>
        <p:spPr>
          <a:xfrm>
            <a:off x="5440680" y="4389120"/>
            <a:ext cx="6236208" cy="1463040"/>
          </a:xfrm>
          <a:prstGeom prst="roundRect">
            <a:avLst>
              <a:gd name="adj" fmla="val 5000"/>
            </a:avLst>
          </a:prstGeom>
          <a:solidFill>
            <a:srgbClr val="0F1930"/>
          </a:solidFill>
          <a:ln w="15875">
            <a:solidFill>
              <a:srgbClr val="F5B342"/>
            </a:solidFill>
            <a:prstDash val="solid"/>
          </a:ln>
        </p:spPr>
      </p:sp>
      <p:sp>
        <p:nvSpPr>
          <p:cNvPr id="38" name="Text 34"/>
          <p:cNvSpPr txBox="1"/>
          <p:nvPr/>
        </p:nvSpPr>
        <p:spPr>
          <a:xfrm>
            <a:off x="5586984" y="4498848"/>
            <a:ext cx="594360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EL DATO FALTANTE PESA MÁS QUE LO NO EVITABLE</a:t>
            </a:r>
            <a:endParaRPr lang="en-US" sz="1150" dirty="0"/>
          </a:p>
        </p:txBody>
      </p:sp>
      <p:sp>
        <p:nvSpPr>
          <p:cNvPr id="39" name="Text 35"/>
          <p:cNvSpPr txBox="1"/>
          <p:nvPr/>
        </p:nvSpPr>
        <p:spPr>
          <a:xfrm>
            <a:off x="5586984" y="4809744"/>
            <a:ext cx="5943600" cy="950976"/>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Con 18 registros sin causal (17 de Oftalmología), la evitabilidad real del mes puede estar entre 26 % (10 / 38) y 74 % (28 / 38). Completar la causal por jornada es la acción con mayor rendimiento de septiembre.</a:t>
            </a:r>
            <a:endParaRPr lang="en-US" sz="1050" dirty="0"/>
          </a:p>
        </p:txBody>
      </p:sp>
      <p:sp>
        <p:nvSpPr>
          <p:cNvPr id="40" name="Text 36"/>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Regla del analista: evitable = error de programación, ayuno / exámenes, instrumental · potencialmente evitable = no presentación, infraestructura, falta de cirujano · no evitable = urgencia, enfermedad aguda, descompensación. Validación clínica y operacional pendiente.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16  ·  EVENTOS RAÍZ Y ALERTAS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Seis focos explican la mayor parte del registro de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Agrupar registros por falla de origen evita sobreestimar la inestabilidad · los correos aportan contexto; no se suman a los registros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17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468112" cy="1298448"/>
          </a:xfrm>
          <a:prstGeom prst="roundRect">
            <a:avLst>
              <a:gd name="adj" fmla="val 5634"/>
            </a:avLst>
          </a:prstGeom>
          <a:solidFill>
            <a:srgbClr val="0F1930"/>
          </a:solidFill>
          <a:ln w="13970">
            <a:solidFill>
              <a:srgbClr val="5B6B85"/>
            </a:solidFill>
            <a:prstDash val="solid"/>
          </a:ln>
        </p:spPr>
      </p:sp>
      <p:sp>
        <p:nvSpPr>
          <p:cNvPr id="11" name="Text 8"/>
          <p:cNvSpPr txBox="1"/>
          <p:nvPr/>
        </p:nvSpPr>
        <p:spPr>
          <a:xfrm>
            <a:off x="649224" y="178308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JORNADAS OFTALMOLÓGICAS · 8–9 Y 22–23 AGO · 16 REGISTROS</a:t>
            </a:r>
            <a:endParaRPr lang="en-US" sz="1000" dirty="0"/>
          </a:p>
        </p:txBody>
      </p:sp>
      <p:sp>
        <p:nvSpPr>
          <p:cNvPr id="12" name="Text 9"/>
          <p:cNvSpPr txBox="1"/>
          <p:nvPr/>
        </p:nvSpPr>
        <p:spPr>
          <a:xfrm>
            <a:off x="649224" y="202996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16 de los 19 registros de fin de semana caen en dos fines de semana; 17 de 18 sin causal. Probables 2–3 eventos de jornada, no 18 fallas independientes.</a:t>
            </a:r>
            <a:endParaRPr lang="en-US" sz="950" dirty="0"/>
          </a:p>
        </p:txBody>
      </p:sp>
      <p:sp>
        <p:nvSpPr>
          <p:cNvPr id="13" name="Text 10"/>
          <p:cNvSpPr txBox="1"/>
          <p:nvPr/>
        </p:nvSpPr>
        <p:spPr>
          <a:xfrm>
            <a:off x="649224" y="2715768"/>
            <a:ext cx="5175504" cy="219456"/>
          </a:xfrm>
          <a:prstGeom prst="rect">
            <a:avLst/>
          </a:prstGeom>
          <a:noFill/>
          <a:ln/>
        </p:spPr>
        <p:txBody>
          <a:bodyPr wrap="square" lIns="0" tIns="0" rIns="0" bIns="0" rtlCol="0" anchor="ctr"/>
          <a:lstStyle/>
          <a:p>
            <a:pPr algn="l" indent="0" marL="0">
              <a:buNone/>
            </a:pPr>
            <a:r>
              <a:rPr lang="en-US" sz="900" b="1" dirty="0">
                <a:solidFill>
                  <a:srgbClr val="5B6B85"/>
                </a:solidFill>
                <a:latin typeface="Arial" pitchFamily="34" charset="0"/>
                <a:ea typeface="Arial" pitchFamily="34" charset="-122"/>
                <a:cs typeface="Arial" pitchFamily="34" charset="-120"/>
              </a:rPr>
              <a:t>Sin clasificar — completar causal por jornada</a:t>
            </a:r>
            <a:endParaRPr lang="en-US" sz="900" dirty="0"/>
          </a:p>
        </p:txBody>
      </p:sp>
      <p:sp>
        <p:nvSpPr>
          <p:cNvPr id="14" name="Shape 11"/>
          <p:cNvSpPr/>
          <p:nvPr/>
        </p:nvSpPr>
        <p:spPr>
          <a:xfrm>
            <a:off x="6208776" y="1691640"/>
            <a:ext cx="5468112" cy="1298448"/>
          </a:xfrm>
          <a:prstGeom prst="roundRect">
            <a:avLst>
              <a:gd name="adj" fmla="val 5634"/>
            </a:avLst>
          </a:prstGeom>
          <a:solidFill>
            <a:srgbClr val="0F1930"/>
          </a:solidFill>
          <a:ln w="13970">
            <a:solidFill>
              <a:srgbClr val="F26B6B"/>
            </a:solidFill>
            <a:prstDash val="solid"/>
          </a:ln>
        </p:spPr>
      </p:sp>
      <p:sp>
        <p:nvSpPr>
          <p:cNvPr id="15" name="Text 12"/>
          <p:cNvSpPr txBox="1"/>
          <p:nvPr/>
        </p:nvSpPr>
        <p:spPr>
          <a:xfrm>
            <a:off x="6355080" y="178308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ERROR DE PROGRAMACIÓN · 7 REGISTROS</a:t>
            </a:r>
            <a:endParaRPr lang="en-US" sz="1000" dirty="0"/>
          </a:p>
        </p:txBody>
      </p:sp>
      <p:sp>
        <p:nvSpPr>
          <p:cNvPr id="16" name="Text 13"/>
          <p:cNvSpPr txBox="1"/>
          <p:nvPr/>
        </p:nvSpPr>
        <p:spPr>
          <a:xfrm>
            <a:off x="6355080" y="202996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Causa #1 por segundo mes (5 → 7). Incluye 3 cirugías mayores directas (20, 28 y 31 de agosto) que no figuran como suspendidas en el monitoreo.</a:t>
            </a:r>
            <a:endParaRPr lang="en-US" sz="950" dirty="0"/>
          </a:p>
        </p:txBody>
      </p:sp>
      <p:sp>
        <p:nvSpPr>
          <p:cNvPr id="17" name="Text 14"/>
          <p:cNvSpPr txBox="1"/>
          <p:nvPr/>
        </p:nvSpPr>
        <p:spPr>
          <a:xfrm>
            <a:off x="6355080" y="2715768"/>
            <a:ext cx="5175504" cy="219456"/>
          </a:xfrm>
          <a:prstGeom prst="rect">
            <a:avLst/>
          </a:prstGeom>
          <a:noFill/>
          <a:ln/>
        </p:spPr>
        <p:txBody>
          <a:bodyPr wrap="square" lIns="0" tIns="0" rIns="0" bIns="0" rtlCol="0" anchor="ctr"/>
          <a:lstStyle/>
          <a:p>
            <a:pPr algn="l" indent="0" marL="0">
              <a:buNone/>
            </a:pPr>
            <a:r>
              <a:rPr lang="en-US" sz="900" b="1" dirty="0">
                <a:solidFill>
                  <a:srgbClr val="F26B6B"/>
                </a:solidFill>
                <a:latin typeface="Arial" pitchFamily="34" charset="0"/>
                <a:ea typeface="Arial" pitchFamily="34" charset="-122"/>
                <a:cs typeface="Arial" pitchFamily="34" charset="-120"/>
              </a:rPr>
              <a:t>Evitable — auditoría ficha por ficha (UPPQ vs unidad quirúrgica)</a:t>
            </a:r>
            <a:endParaRPr lang="en-US" sz="900" dirty="0"/>
          </a:p>
        </p:txBody>
      </p:sp>
      <p:sp>
        <p:nvSpPr>
          <p:cNvPr id="18" name="Shape 15"/>
          <p:cNvSpPr/>
          <p:nvPr/>
        </p:nvSpPr>
        <p:spPr>
          <a:xfrm>
            <a:off x="502920" y="3108960"/>
            <a:ext cx="5468112" cy="1298448"/>
          </a:xfrm>
          <a:prstGeom prst="roundRect">
            <a:avLst>
              <a:gd name="adj" fmla="val 5634"/>
            </a:avLst>
          </a:prstGeom>
          <a:solidFill>
            <a:srgbClr val="0F1930"/>
          </a:solidFill>
          <a:ln w="13970">
            <a:solidFill>
              <a:srgbClr val="F5B342"/>
            </a:solidFill>
            <a:prstDash val="solid"/>
          </a:ln>
        </p:spPr>
      </p:sp>
      <p:sp>
        <p:nvSpPr>
          <p:cNvPr id="19" name="Text 16"/>
          <p:cNvSpPr txBox="1"/>
          <p:nvPr/>
        </p:nvSpPr>
        <p:spPr>
          <a:xfrm>
            <a:off x="649224" y="320040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PABELLÓN 2 · LUNES 10, 17 Y 24 · 3 TABLAS</a:t>
            </a:r>
            <a:endParaRPr lang="en-US" sz="1000" dirty="0"/>
          </a:p>
        </p:txBody>
      </p:sp>
      <p:sp>
        <p:nvSpPr>
          <p:cNvPr id="20" name="Text 17"/>
          <p:cNvSpPr txBox="1"/>
          <p:nvPr/>
        </p:nvSpPr>
        <p:spPr>
          <a:xfrm>
            <a:off x="649224" y="344728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Cancelación de la tabla del lunes por falta de enfermera del área, tercer lunes consecutivo (correo del 23-ago). Tablas, no pacientes: no equivale a un registro ni permite calcular horas sin agenda.</a:t>
            </a:r>
            <a:endParaRPr lang="en-US" sz="950" dirty="0"/>
          </a:p>
        </p:txBody>
      </p:sp>
      <p:sp>
        <p:nvSpPr>
          <p:cNvPr id="21" name="Text 18"/>
          <p:cNvSpPr txBox="1"/>
          <p:nvPr/>
        </p:nvSpPr>
        <p:spPr>
          <a:xfrm>
            <a:off x="649224" y="4133088"/>
            <a:ext cx="5175504" cy="219456"/>
          </a:xfrm>
          <a:prstGeom prst="rect">
            <a:avLst/>
          </a:prstGeom>
          <a:noFill/>
          <a:ln/>
        </p:spPr>
        <p:txBody>
          <a:bodyPr wrap="square" lIns="0" tIns="0" rIns="0" bIns="0" rtlCol="0" anchor="ctr"/>
          <a:lstStyle/>
          <a:p>
            <a:pPr algn="l" indent="0" marL="0">
              <a:buNone/>
            </a:pPr>
            <a:r>
              <a:rPr lang="en-US" sz="900" b="1" dirty="0">
                <a:solidFill>
                  <a:srgbClr val="F5B342"/>
                </a:solidFill>
                <a:latin typeface="Arial" pitchFamily="34" charset="0"/>
                <a:ea typeface="Arial" pitchFamily="34" charset="-122"/>
                <a:cs typeface="Arial" pitchFamily="34" charset="-120"/>
              </a:rPr>
              <a:t>Cobertura de personal — dotación del lunes</a:t>
            </a:r>
            <a:endParaRPr lang="en-US" sz="900" dirty="0"/>
          </a:p>
        </p:txBody>
      </p:sp>
      <p:sp>
        <p:nvSpPr>
          <p:cNvPr id="22" name="Shape 19"/>
          <p:cNvSpPr/>
          <p:nvPr/>
        </p:nvSpPr>
        <p:spPr>
          <a:xfrm>
            <a:off x="6208776" y="3108960"/>
            <a:ext cx="5468112" cy="1298448"/>
          </a:xfrm>
          <a:prstGeom prst="roundRect">
            <a:avLst>
              <a:gd name="adj" fmla="val 5634"/>
            </a:avLst>
          </a:prstGeom>
          <a:solidFill>
            <a:srgbClr val="0F1930"/>
          </a:solidFill>
          <a:ln w="13970">
            <a:solidFill>
              <a:srgbClr val="F26B6B"/>
            </a:solidFill>
            <a:prstDash val="solid"/>
          </a:ln>
        </p:spPr>
      </p:sp>
      <p:sp>
        <p:nvSpPr>
          <p:cNvPr id="23" name="Text 20"/>
          <p:cNvSpPr txBox="1"/>
          <p:nvPr/>
        </p:nvSpPr>
        <p:spPr>
          <a:xfrm>
            <a:off x="6355080" y="320040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EQUIPOS E INSTRUMENTAL · 3-AGO Y 31-AGO</a:t>
            </a:r>
            <a:endParaRPr lang="en-US" sz="1000" dirty="0"/>
          </a:p>
        </p:txBody>
      </p:sp>
      <p:sp>
        <p:nvSpPr>
          <p:cNvPr id="24" name="Text 21"/>
          <p:cNvSpPr txBox="1"/>
          <p:nvPr/>
        </p:nvSpPr>
        <p:spPr>
          <a:xfrm>
            <a:off x="6355080" y="344728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Instrumental incompleto suspende una mayor directa de Traumatología (evento MINSAL). El 31-ago se comunica la restricción del equipo de histeroscopía (RTU bipolar dañado): sin histeroscopias quirúrgicas hasta nuevo aviso.</a:t>
            </a:r>
            <a:endParaRPr lang="en-US" sz="950" dirty="0"/>
          </a:p>
        </p:txBody>
      </p:sp>
      <p:sp>
        <p:nvSpPr>
          <p:cNvPr id="25" name="Text 22"/>
          <p:cNvSpPr txBox="1"/>
          <p:nvPr/>
        </p:nvSpPr>
        <p:spPr>
          <a:xfrm>
            <a:off x="6355080" y="4133088"/>
            <a:ext cx="5175504" cy="219456"/>
          </a:xfrm>
          <a:prstGeom prst="rect">
            <a:avLst/>
          </a:prstGeom>
          <a:noFill/>
          <a:ln/>
        </p:spPr>
        <p:txBody>
          <a:bodyPr wrap="square" lIns="0" tIns="0" rIns="0" bIns="0" rtlCol="0" anchor="ctr"/>
          <a:lstStyle/>
          <a:p>
            <a:pPr algn="l" indent="0" marL="0">
              <a:buNone/>
            </a:pPr>
            <a:r>
              <a:rPr lang="en-US" sz="900" b="1" dirty="0">
                <a:solidFill>
                  <a:srgbClr val="F26B6B"/>
                </a:solidFill>
                <a:latin typeface="Arial" pitchFamily="34" charset="0"/>
                <a:ea typeface="Arial" pitchFamily="34" charset="-122"/>
                <a:cs typeface="Arial" pitchFamily="34" charset="-120"/>
              </a:rPr>
              <a:t>Evitable — checklist de insumos del día −1</a:t>
            </a:r>
            <a:endParaRPr lang="en-US" sz="900" dirty="0"/>
          </a:p>
        </p:txBody>
      </p:sp>
      <p:sp>
        <p:nvSpPr>
          <p:cNvPr id="26" name="Shape 23"/>
          <p:cNvSpPr/>
          <p:nvPr/>
        </p:nvSpPr>
        <p:spPr>
          <a:xfrm>
            <a:off x="502920" y="4526280"/>
            <a:ext cx="5468112" cy="1298448"/>
          </a:xfrm>
          <a:prstGeom prst="roundRect">
            <a:avLst>
              <a:gd name="adj" fmla="val 5634"/>
            </a:avLst>
          </a:prstGeom>
          <a:solidFill>
            <a:srgbClr val="0F1930"/>
          </a:solidFill>
          <a:ln w="13970">
            <a:solidFill>
              <a:srgbClr val="F5B342"/>
            </a:solidFill>
            <a:prstDash val="solid"/>
          </a:ln>
        </p:spPr>
      </p:sp>
      <p:sp>
        <p:nvSpPr>
          <p:cNvPr id="27" name="Text 24"/>
          <p:cNvSpPr txBox="1"/>
          <p:nvPr/>
        </p:nvSpPr>
        <p:spPr>
          <a:xfrm>
            <a:off x="649224" y="461772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GINECOLOGÍA EN EXTENSIÓN · JUEVES 20 Y 27</a:t>
            </a:r>
            <a:endParaRPr lang="en-US" sz="1000" dirty="0"/>
          </a:p>
        </p:txBody>
      </p:sp>
      <p:sp>
        <p:nvSpPr>
          <p:cNvPr id="28" name="Text 25"/>
          <p:cNvSpPr txBox="1"/>
          <p:nvPr/>
        </p:nvSpPr>
        <p:spPr>
          <a:xfrm>
            <a:off x="649224" y="486460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Segunda cirugía suspendida dos jueves consecutivos: dos ocupaciones estimadas de 90 min consumen 180 min antes de pausas, con transiciones &gt; 30 min. Acuerdo del 31-ago: programar 1 EQ + 1 rectoscopia por extensión.</a:t>
            </a:r>
            <a:endParaRPr lang="en-US" sz="950" dirty="0"/>
          </a:p>
        </p:txBody>
      </p:sp>
      <p:sp>
        <p:nvSpPr>
          <p:cNvPr id="29" name="Text 26"/>
          <p:cNvSpPr txBox="1"/>
          <p:nvPr/>
        </p:nvSpPr>
        <p:spPr>
          <a:xfrm>
            <a:off x="649224" y="5550408"/>
            <a:ext cx="5175504" cy="219456"/>
          </a:xfrm>
          <a:prstGeom prst="rect">
            <a:avLst/>
          </a:prstGeom>
          <a:noFill/>
          <a:ln/>
        </p:spPr>
        <p:txBody>
          <a:bodyPr wrap="square" lIns="0" tIns="0" rIns="0" bIns="0" rtlCol="0" anchor="ctr"/>
          <a:lstStyle/>
          <a:p>
            <a:pPr algn="l" indent="0" marL="0">
              <a:buNone/>
            </a:pPr>
            <a:r>
              <a:rPr lang="en-US" sz="900" b="1" dirty="0">
                <a:solidFill>
                  <a:srgbClr val="F5B342"/>
                </a:solidFill>
                <a:latin typeface="Arial" pitchFamily="34" charset="0"/>
                <a:ea typeface="Arial" pitchFamily="34" charset="-122"/>
                <a:cs typeface="Arial" pitchFamily="34" charset="-120"/>
              </a:rPr>
              <a:t>Programación con tiempos de ocupación reales</a:t>
            </a:r>
            <a:endParaRPr lang="en-US" sz="900" dirty="0"/>
          </a:p>
        </p:txBody>
      </p:sp>
      <p:sp>
        <p:nvSpPr>
          <p:cNvPr id="30" name="Shape 27"/>
          <p:cNvSpPr/>
          <p:nvPr/>
        </p:nvSpPr>
        <p:spPr>
          <a:xfrm>
            <a:off x="6208776" y="4526280"/>
            <a:ext cx="5468112" cy="1298448"/>
          </a:xfrm>
          <a:prstGeom prst="roundRect">
            <a:avLst>
              <a:gd name="adj" fmla="val 5634"/>
            </a:avLst>
          </a:prstGeom>
          <a:solidFill>
            <a:srgbClr val="0F1930"/>
          </a:solidFill>
          <a:ln w="13970">
            <a:solidFill>
              <a:srgbClr val="F5B342"/>
            </a:solidFill>
            <a:prstDash val="solid"/>
          </a:ln>
        </p:spPr>
      </p:sp>
      <p:sp>
        <p:nvSpPr>
          <p:cNvPr id="31" name="Text 28"/>
          <p:cNvSpPr txBox="1"/>
          <p:nvPr/>
        </p:nvSpPr>
        <p:spPr>
          <a:xfrm>
            <a:off x="6355080" y="4617720"/>
            <a:ext cx="5175504" cy="237744"/>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INFRAESTRUCTURA · PABELLÓN 1 · LLUVIAS</a:t>
            </a:r>
            <a:endParaRPr lang="en-US" sz="1000" dirty="0"/>
          </a:p>
        </p:txBody>
      </p:sp>
      <p:sp>
        <p:nvSpPr>
          <p:cNvPr id="32" name="Text 29"/>
          <p:cNvSpPr txBox="1"/>
          <p:nvPr/>
        </p:nvSpPr>
        <p:spPr>
          <a:xfrm>
            <a:off x="6355080" y="4864608"/>
            <a:ext cx="5175504" cy="65836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Infiltración por colapso de canaleta estructural (correo del 11-ago); desenergización preventiva de iluminación y obras en cubierta desde el 12-ago (7 días hábiles), sin interrupción asistencial prevista. Un registro por infraestructura en el mes.</a:t>
            </a:r>
            <a:endParaRPr lang="en-US" sz="950" dirty="0"/>
          </a:p>
        </p:txBody>
      </p:sp>
      <p:sp>
        <p:nvSpPr>
          <p:cNvPr id="33" name="Text 30"/>
          <p:cNvSpPr txBox="1"/>
          <p:nvPr/>
        </p:nvSpPr>
        <p:spPr>
          <a:xfrm>
            <a:off x="6355080" y="5550408"/>
            <a:ext cx="5175504" cy="219456"/>
          </a:xfrm>
          <a:prstGeom prst="rect">
            <a:avLst/>
          </a:prstGeom>
          <a:noFill/>
          <a:ln/>
        </p:spPr>
        <p:txBody>
          <a:bodyPr wrap="square" lIns="0" tIns="0" rIns="0" bIns="0" rtlCol="0" anchor="ctr"/>
          <a:lstStyle/>
          <a:p>
            <a:pPr algn="l" indent="0" marL="0">
              <a:buNone/>
            </a:pPr>
            <a:r>
              <a:rPr lang="en-US" sz="900" b="1" dirty="0">
                <a:solidFill>
                  <a:srgbClr val="F5B342"/>
                </a:solidFill>
                <a:latin typeface="Arial" pitchFamily="34" charset="0"/>
                <a:ea typeface="Arial" pitchFamily="34" charset="-122"/>
                <a:cs typeface="Arial" pitchFamily="34" charset="-120"/>
              </a:rPr>
              <a:t>Potencialmente evitable — mantenimiento preventivo</a:t>
            </a:r>
            <a:endParaRPr lang="en-US" sz="900" dirty="0"/>
          </a:p>
        </p:txBody>
      </p:sp>
      <p:sp>
        <p:nvSpPr>
          <p:cNvPr id="34" name="Text 31"/>
          <p:cNvSpPr txBox="1"/>
          <p:nvPr/>
        </p:nvSpPr>
        <p:spPr>
          <a:xfrm>
            <a:off x="502920" y="598932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Acción pendiente desde julio: incorporar el campo "evento raíz" en el registro. Con ese campo, agosto se leería como ~12 fallas de origen, no 38 registros; hoy es una hipótesis que la causal faltante no permite confirmar.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17  ·  ALGORITMOS · PATRONES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100" b="1" dirty="0">
                <a:solidFill>
                  <a:srgbClr val="EAF1FB"/>
                </a:solidFill>
                <a:latin typeface="Arial" pitchFamily="34" charset="0"/>
                <a:ea typeface="Arial" pitchFamily="34" charset="-122"/>
                <a:cs typeface="Arial" pitchFamily="34" charset="-120"/>
              </a:rPr>
              <a:t>Tres patrones puestos a prueba: lunes, jornadas y qué explica la suspensión</a:t>
            </a:r>
            <a:endParaRPr lang="en-US" sz="21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Pruebas simples sobre los datos del mes y del histórico · lo que confirman, lo que no, y qué hacer con cada uno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18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3611880" cy="4160520"/>
          </a:xfrm>
          <a:prstGeom prst="roundRect">
            <a:avLst>
              <a:gd name="adj" fmla="val 2025"/>
            </a:avLst>
          </a:prstGeom>
          <a:solidFill>
            <a:srgbClr val="0F1930"/>
          </a:solidFill>
          <a:ln w="15875">
            <a:solidFill>
              <a:srgbClr val="F5B342"/>
            </a:solidFill>
            <a:prstDash val="solid"/>
          </a:ln>
        </p:spPr>
      </p:sp>
      <p:sp>
        <p:nvSpPr>
          <p:cNvPr id="11" name="Text 8"/>
          <p:cNvSpPr txBox="1"/>
          <p:nvPr/>
        </p:nvSpPr>
        <p:spPr>
          <a:xfrm>
            <a:off x="685800" y="1828800"/>
            <a:ext cx="3246120" cy="237744"/>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EL LUNES</a:t>
            </a:r>
            <a:endParaRPr lang="en-US" sz="900" dirty="0"/>
          </a:p>
        </p:txBody>
      </p:sp>
      <p:sp>
        <p:nvSpPr>
          <p:cNvPr id="12" name="Text 9"/>
          <p:cNvSpPr txBox="1"/>
          <p:nvPr/>
        </p:nvSpPr>
        <p:spPr>
          <a:xfrm>
            <a:off x="685800" y="2103120"/>
            <a:ext cx="3246120" cy="640080"/>
          </a:xfrm>
          <a:prstGeom prst="rect">
            <a:avLst/>
          </a:prstGeom>
          <a:noFill/>
          <a:ln/>
        </p:spPr>
        <p:txBody>
          <a:bodyPr wrap="square" lIns="0" tIns="0" rIns="0" bIns="0" rtlCol="0" anchor="ctr"/>
          <a:lstStyle/>
          <a:p>
            <a:pPr algn="l" indent="0" marL="0">
              <a:buNone/>
            </a:pPr>
            <a:r>
              <a:rPr lang="en-US" sz="3000" b="1" dirty="0">
                <a:solidFill>
                  <a:srgbClr val="F5B342"/>
                </a:solidFill>
                <a:latin typeface="Arial" pitchFamily="34" charset="0"/>
                <a:ea typeface="Arial" pitchFamily="34" charset="-122"/>
                <a:cs typeface="Arial" pitchFamily="34" charset="-120"/>
              </a:rPr>
              <a:t>p = 0,16</a:t>
            </a:r>
            <a:endParaRPr lang="en-US" sz="3000" dirty="0"/>
          </a:p>
        </p:txBody>
      </p:sp>
      <p:sp>
        <p:nvSpPr>
          <p:cNvPr id="13" name="Text 10"/>
          <p:cNvSpPr txBox="1"/>
          <p:nvPr/>
        </p:nvSpPr>
        <p:spPr>
          <a:xfrm>
            <a:off x="685800" y="2834640"/>
            <a:ext cx="3246120" cy="1554480"/>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Agosto solo no lo demuestra: 6 de 19 registros L–V en lunes tiene probabilidad 0,16 si el día fuera azar. Que los 2 eventos MINSAL cayeran en lunes: 1 en 25 (p = 0,04).</a:t>
            </a:r>
            <a:endParaRPr lang="en-US" sz="1050" dirty="0"/>
          </a:p>
        </p:txBody>
      </p:sp>
      <p:sp>
        <p:nvSpPr>
          <p:cNvPr id="14" name="Shape 11"/>
          <p:cNvSpPr/>
          <p:nvPr/>
        </p:nvSpPr>
        <p:spPr>
          <a:xfrm>
            <a:off x="685800" y="4434840"/>
            <a:ext cx="3246120" cy="0"/>
          </a:xfrm>
          <a:prstGeom prst="line">
            <a:avLst/>
          </a:prstGeom>
          <a:noFill/>
          <a:ln w="9525">
            <a:solidFill>
              <a:srgbClr val="22304A"/>
            </a:solidFill>
            <a:prstDash val="solid"/>
          </a:ln>
        </p:spPr>
      </p:sp>
      <p:sp>
        <p:nvSpPr>
          <p:cNvPr id="15" name="Text 12"/>
          <p:cNvSpPr txBox="1"/>
          <p:nvPr/>
        </p:nvSpPr>
        <p:spPr>
          <a:xfrm>
            <a:off x="685800" y="4507992"/>
            <a:ext cx="3246120" cy="219456"/>
          </a:xfrm>
          <a:prstGeom prst="rect">
            <a:avLst/>
          </a:prstGeom>
          <a:noFill/>
          <a:ln/>
        </p:spPr>
        <p:txBody>
          <a:bodyPr wrap="square" lIns="0" tIns="0" rIns="0" bIns="0" rtlCol="0" anchor="ctr"/>
          <a:lstStyle/>
          <a:p>
            <a:pPr algn="l" indent="0" marL="0">
              <a:buNone/>
            </a:pPr>
            <a:r>
              <a:rPr lang="en-US" sz="850" b="1" spc="120" kern="0" dirty="0">
                <a:solidFill>
                  <a:srgbClr val="F5B342"/>
                </a:solidFill>
                <a:latin typeface="Arial" pitchFamily="34" charset="0"/>
                <a:ea typeface="Arial" pitchFamily="34" charset="-122"/>
                <a:cs typeface="Arial" pitchFamily="34" charset="-120"/>
              </a:rPr>
              <a:t>◆  QUÉ HACER</a:t>
            </a:r>
            <a:endParaRPr lang="en-US" sz="850" dirty="0"/>
          </a:p>
        </p:txBody>
      </p:sp>
      <p:sp>
        <p:nvSpPr>
          <p:cNvPr id="16" name="Text 13"/>
          <p:cNvSpPr txBox="1"/>
          <p:nvPr/>
        </p:nvSpPr>
        <p:spPr>
          <a:xfrm>
            <a:off x="685800" y="4745736"/>
            <a:ext cx="3246120" cy="1051560"/>
          </a:xfrm>
          <a:prstGeom prst="rect">
            <a:avLst/>
          </a:prstGeom>
          <a:noFill/>
          <a:ln/>
        </p:spPr>
        <p:txBody>
          <a:bodyPr wrap="square" lIns="0" tIns="0" rIns="0" bIns="0" rtlCol="0" anchor="t"/>
          <a:lstStyle/>
          <a:p>
            <a:pPr algn="l" indent="0" marL="0">
              <a:buNone/>
            </a:pPr>
            <a:r>
              <a:rPr lang="en-US" sz="1050" dirty="0">
                <a:solidFill>
                  <a:srgbClr val="EAF1FB"/>
                </a:solidFill>
                <a:latin typeface="Arial" pitchFamily="34" charset="0"/>
                <a:ea typeface="Arial" pitchFamily="34" charset="-122"/>
                <a:cs typeface="Arial" pitchFamily="34" charset="-120"/>
              </a:rPr>
              <a:t>Lo confirma el histórico: lunes 11,09 % de suspensión hábil ene-25–abr-26 (Z = 2,09). Mantener la medida "blindar el lunes".</a:t>
            </a:r>
            <a:endParaRPr lang="en-US" sz="1050" dirty="0"/>
          </a:p>
        </p:txBody>
      </p:sp>
      <p:sp>
        <p:nvSpPr>
          <p:cNvPr id="17" name="Shape 14"/>
          <p:cNvSpPr/>
          <p:nvPr/>
        </p:nvSpPr>
        <p:spPr>
          <a:xfrm>
            <a:off x="4283964" y="1691640"/>
            <a:ext cx="3611880" cy="4160520"/>
          </a:xfrm>
          <a:prstGeom prst="roundRect">
            <a:avLst>
              <a:gd name="adj" fmla="val 2025"/>
            </a:avLst>
          </a:prstGeom>
          <a:solidFill>
            <a:srgbClr val="0F1930"/>
          </a:solidFill>
          <a:ln w="15875">
            <a:solidFill>
              <a:srgbClr val="F26B6B"/>
            </a:solidFill>
            <a:prstDash val="solid"/>
          </a:ln>
        </p:spPr>
      </p:sp>
      <p:sp>
        <p:nvSpPr>
          <p:cNvPr id="18" name="Text 15"/>
          <p:cNvSpPr txBox="1"/>
          <p:nvPr/>
        </p:nvSpPr>
        <p:spPr>
          <a:xfrm>
            <a:off x="4466844" y="1828800"/>
            <a:ext cx="3246120" cy="237744"/>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LAS JORNADAS DE FIN DE SEMANA</a:t>
            </a:r>
            <a:endParaRPr lang="en-US" sz="900" dirty="0"/>
          </a:p>
        </p:txBody>
      </p:sp>
      <p:sp>
        <p:nvSpPr>
          <p:cNvPr id="19" name="Text 16"/>
          <p:cNvSpPr txBox="1"/>
          <p:nvPr/>
        </p:nvSpPr>
        <p:spPr>
          <a:xfrm>
            <a:off x="4466844" y="2103120"/>
            <a:ext cx="3246120" cy="640080"/>
          </a:xfrm>
          <a:prstGeom prst="rect">
            <a:avLst/>
          </a:prstGeom>
          <a:noFill/>
          <a:ln/>
        </p:spPr>
        <p:txBody>
          <a:bodyPr wrap="square" lIns="0" tIns="0" rIns="0" bIns="0" rtlCol="0" anchor="ctr"/>
          <a:lstStyle/>
          <a:p>
            <a:pPr algn="l" indent="0" marL="0">
              <a:buNone/>
            </a:pPr>
            <a:r>
              <a:rPr lang="en-US" sz="3000" b="1" dirty="0">
                <a:solidFill>
                  <a:srgbClr val="F26B6B"/>
                </a:solidFill>
                <a:latin typeface="Arial" pitchFamily="34" charset="0"/>
                <a:ea typeface="Arial" pitchFamily="34" charset="-122"/>
                <a:cs typeface="Arial" pitchFamily="34" charset="-120"/>
              </a:rPr>
              <a:t>p &lt; 0,001</a:t>
            </a:r>
            <a:endParaRPr lang="en-US" sz="3000" dirty="0"/>
          </a:p>
        </p:txBody>
      </p:sp>
      <p:sp>
        <p:nvSpPr>
          <p:cNvPr id="20" name="Text 17"/>
          <p:cNvSpPr txBox="1"/>
          <p:nvPr/>
        </p:nvSpPr>
        <p:spPr>
          <a:xfrm>
            <a:off x="4466844" y="2834640"/>
            <a:ext cx="3246120" cy="1554480"/>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16 de 19 registros en dos fines de semana. Con reparto al azar entre los cinco fines de semana, eso ocurre en menos de 1 de cada 1.000 simulaciones (Monte Carlo, 200.000 repeticiones).</a:t>
            </a:r>
            <a:endParaRPr lang="en-US" sz="1050" dirty="0"/>
          </a:p>
        </p:txBody>
      </p:sp>
      <p:sp>
        <p:nvSpPr>
          <p:cNvPr id="21" name="Shape 18"/>
          <p:cNvSpPr/>
          <p:nvPr/>
        </p:nvSpPr>
        <p:spPr>
          <a:xfrm>
            <a:off x="4466844" y="4434840"/>
            <a:ext cx="3246120" cy="0"/>
          </a:xfrm>
          <a:prstGeom prst="line">
            <a:avLst/>
          </a:prstGeom>
          <a:noFill/>
          <a:ln w="9525">
            <a:solidFill>
              <a:srgbClr val="22304A"/>
            </a:solidFill>
            <a:prstDash val="solid"/>
          </a:ln>
        </p:spPr>
      </p:sp>
      <p:sp>
        <p:nvSpPr>
          <p:cNvPr id="22" name="Text 19"/>
          <p:cNvSpPr txBox="1"/>
          <p:nvPr/>
        </p:nvSpPr>
        <p:spPr>
          <a:xfrm>
            <a:off x="4466844" y="4507992"/>
            <a:ext cx="3246120" cy="219456"/>
          </a:xfrm>
          <a:prstGeom prst="rect">
            <a:avLst/>
          </a:prstGeom>
          <a:noFill/>
          <a:ln/>
        </p:spPr>
        <p:txBody>
          <a:bodyPr wrap="square" lIns="0" tIns="0" rIns="0" bIns="0" rtlCol="0" anchor="ctr"/>
          <a:lstStyle/>
          <a:p>
            <a:pPr algn="l" indent="0" marL="0">
              <a:buNone/>
            </a:pPr>
            <a:r>
              <a:rPr lang="en-US" sz="850" b="1" spc="120" kern="0" dirty="0">
                <a:solidFill>
                  <a:srgbClr val="F26B6B"/>
                </a:solidFill>
                <a:latin typeface="Arial" pitchFamily="34" charset="0"/>
                <a:ea typeface="Arial" pitchFamily="34" charset="-122"/>
                <a:cs typeface="Arial" pitchFamily="34" charset="-120"/>
              </a:rPr>
              <a:t>◆  QUÉ HACER</a:t>
            </a:r>
            <a:endParaRPr lang="en-US" sz="850" dirty="0"/>
          </a:p>
        </p:txBody>
      </p:sp>
      <p:sp>
        <p:nvSpPr>
          <p:cNvPr id="23" name="Text 20"/>
          <p:cNvSpPr txBox="1"/>
          <p:nvPr/>
        </p:nvSpPr>
        <p:spPr>
          <a:xfrm>
            <a:off x="4466844" y="4745736"/>
            <a:ext cx="3246120" cy="1051560"/>
          </a:xfrm>
          <a:prstGeom prst="rect">
            <a:avLst/>
          </a:prstGeom>
          <a:noFill/>
          <a:ln/>
        </p:spPr>
        <p:txBody>
          <a:bodyPr wrap="square" lIns="0" tIns="0" rIns="0" bIns="0" rtlCol="0" anchor="t"/>
          <a:lstStyle/>
          <a:p>
            <a:pPr algn="l" indent="0" marL="0">
              <a:buNone/>
            </a:pPr>
            <a:r>
              <a:rPr lang="en-US" sz="1050" dirty="0">
                <a:solidFill>
                  <a:srgbClr val="EAF1FB"/>
                </a:solidFill>
                <a:latin typeface="Arial" pitchFamily="34" charset="0"/>
                <a:ea typeface="Arial" pitchFamily="34" charset="-122"/>
                <a:cs typeface="Arial" pitchFamily="34" charset="-120"/>
              </a:rPr>
              <a:t>No son 18 fallas independientes: son 2–3 eventos de jornada. Registrar la causal por jornada, no por paciente.</a:t>
            </a:r>
            <a:endParaRPr lang="en-US" sz="1050" dirty="0"/>
          </a:p>
        </p:txBody>
      </p:sp>
      <p:sp>
        <p:nvSpPr>
          <p:cNvPr id="24" name="Shape 21"/>
          <p:cNvSpPr/>
          <p:nvPr/>
        </p:nvSpPr>
        <p:spPr>
          <a:xfrm>
            <a:off x="8065008" y="1691640"/>
            <a:ext cx="3611880" cy="4160520"/>
          </a:xfrm>
          <a:prstGeom prst="roundRect">
            <a:avLst>
              <a:gd name="adj" fmla="val 2025"/>
            </a:avLst>
          </a:prstGeom>
          <a:solidFill>
            <a:srgbClr val="0F1930"/>
          </a:solidFill>
          <a:ln w="15875">
            <a:solidFill>
              <a:srgbClr val="2DD4BF"/>
            </a:solidFill>
            <a:prstDash val="solid"/>
          </a:ln>
        </p:spPr>
      </p:sp>
      <p:sp>
        <p:nvSpPr>
          <p:cNvPr id="25" name="Text 22"/>
          <p:cNvSpPr txBox="1"/>
          <p:nvPr/>
        </p:nvSpPr>
        <p:spPr>
          <a:xfrm>
            <a:off x="8247888" y="1828800"/>
            <a:ext cx="3246120" cy="237744"/>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QUÉ EXPLICA LA SUSPENSIÓN</a:t>
            </a:r>
            <a:endParaRPr lang="en-US" sz="900" dirty="0"/>
          </a:p>
        </p:txBody>
      </p:sp>
      <p:sp>
        <p:nvSpPr>
          <p:cNvPr id="26" name="Text 23"/>
          <p:cNvSpPr txBox="1"/>
          <p:nvPr/>
        </p:nvSpPr>
        <p:spPr>
          <a:xfrm>
            <a:off x="8247888" y="2103120"/>
            <a:ext cx="3246120" cy="640080"/>
          </a:xfrm>
          <a:prstGeom prst="rect">
            <a:avLst/>
          </a:prstGeom>
          <a:noFill/>
          <a:ln/>
        </p:spPr>
        <p:txBody>
          <a:bodyPr wrap="square" lIns="0" tIns="0" rIns="0" bIns="0" rtlCol="0" anchor="ctr"/>
          <a:lstStyle/>
          <a:p>
            <a:pPr algn="l" indent="0" marL="0">
              <a:buNone/>
            </a:pPr>
            <a:r>
              <a:rPr lang="en-US" sz="3000" b="1" dirty="0">
                <a:solidFill>
                  <a:srgbClr val="5EEAD4"/>
                </a:solidFill>
                <a:latin typeface="Arial" pitchFamily="34" charset="0"/>
                <a:ea typeface="Arial" pitchFamily="34" charset="-122"/>
                <a:cs typeface="Arial" pitchFamily="34" charset="-120"/>
              </a:rPr>
              <a:t>42 · 26 · 15 %</a:t>
            </a:r>
            <a:endParaRPr lang="en-US" sz="3000" dirty="0"/>
          </a:p>
        </p:txBody>
      </p:sp>
      <p:sp>
        <p:nvSpPr>
          <p:cNvPr id="27" name="Text 24"/>
          <p:cNvSpPr txBox="1"/>
          <p:nvPr/>
        </p:nvSpPr>
        <p:spPr>
          <a:xfrm>
            <a:off x="8247888" y="2834640"/>
            <a:ext cx="3246120" cy="1554480"/>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Bosque aleatorio del informe de agosto: el mes del año (42 %), el régimen 2026 (26 %) y el volumen del día (15 %) pesan más que el día de la semana (11 %). Correlación volumen–suspensión 0,33.</a:t>
            </a:r>
            <a:endParaRPr lang="en-US" sz="1050" dirty="0"/>
          </a:p>
        </p:txBody>
      </p:sp>
      <p:sp>
        <p:nvSpPr>
          <p:cNvPr id="28" name="Shape 25"/>
          <p:cNvSpPr/>
          <p:nvPr/>
        </p:nvSpPr>
        <p:spPr>
          <a:xfrm>
            <a:off x="8247888" y="4434840"/>
            <a:ext cx="3246120" cy="0"/>
          </a:xfrm>
          <a:prstGeom prst="line">
            <a:avLst/>
          </a:prstGeom>
          <a:noFill/>
          <a:ln w="9525">
            <a:solidFill>
              <a:srgbClr val="22304A"/>
            </a:solidFill>
            <a:prstDash val="solid"/>
          </a:ln>
        </p:spPr>
      </p:sp>
      <p:sp>
        <p:nvSpPr>
          <p:cNvPr id="29" name="Text 26"/>
          <p:cNvSpPr txBox="1"/>
          <p:nvPr/>
        </p:nvSpPr>
        <p:spPr>
          <a:xfrm>
            <a:off x="8247888" y="4507992"/>
            <a:ext cx="3246120" cy="219456"/>
          </a:xfrm>
          <a:prstGeom prst="rect">
            <a:avLst/>
          </a:prstGeom>
          <a:noFill/>
          <a:ln/>
        </p:spPr>
        <p:txBody>
          <a:bodyPr wrap="square" lIns="0" tIns="0" rIns="0" bIns="0" rtlCol="0" anchor="ctr"/>
          <a:lstStyle/>
          <a:p>
            <a:pPr algn="l" indent="0" marL="0">
              <a:buNone/>
            </a:pPr>
            <a:r>
              <a:rPr lang="en-US" sz="850" b="1" spc="120" kern="0" dirty="0">
                <a:solidFill>
                  <a:srgbClr val="2DD4BF"/>
                </a:solidFill>
                <a:latin typeface="Arial" pitchFamily="34" charset="0"/>
                <a:ea typeface="Arial" pitchFamily="34" charset="-122"/>
                <a:cs typeface="Arial" pitchFamily="34" charset="-120"/>
              </a:rPr>
              <a:t>◆  QUÉ HACER</a:t>
            </a:r>
            <a:endParaRPr lang="en-US" sz="850" dirty="0"/>
          </a:p>
        </p:txBody>
      </p:sp>
      <p:sp>
        <p:nvSpPr>
          <p:cNvPr id="30" name="Text 27"/>
          <p:cNvSpPr txBox="1"/>
          <p:nvPr/>
        </p:nvSpPr>
        <p:spPr>
          <a:xfrm>
            <a:off x="8247888" y="4745736"/>
            <a:ext cx="3246120" cy="1051560"/>
          </a:xfrm>
          <a:prstGeom prst="rect">
            <a:avLst/>
          </a:prstGeom>
          <a:noFill/>
          <a:ln/>
        </p:spPr>
        <p:txBody>
          <a:bodyPr wrap="square" lIns="0" tIns="0" rIns="0" bIns="0" rtlCol="0" anchor="t"/>
          <a:lstStyle/>
          <a:p>
            <a:pPr algn="l" indent="0" marL="0">
              <a:buNone/>
            </a:pPr>
            <a:r>
              <a:rPr lang="en-US" sz="1050" dirty="0">
                <a:solidFill>
                  <a:srgbClr val="EAF1FB"/>
                </a:solidFill>
                <a:latin typeface="Arial" pitchFamily="34" charset="0"/>
                <a:ea typeface="Arial" pitchFamily="34" charset="-122"/>
                <a:cs typeface="Arial" pitchFamily="34" charset="-120"/>
              </a:rPr>
              <a:t>No se predice el día exacto; se gestiona el sistema. Duplicar volumen no duplica suspensiones: base para escalar a HPMM.</a:t>
            </a:r>
            <a:endParaRPr lang="en-US" sz="1050" dirty="0"/>
          </a:p>
        </p:txBody>
      </p:sp>
      <p:sp>
        <p:nvSpPr>
          <p:cNvPr id="31" name="Text 28"/>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Prueba binomial y simulación con reparto uniforme; el bosque aleatorio proviene del informe de agosto (400 árboles, datos hasta julio). Las pruebas describen patrones; la decisión sigue siendo del comité.</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18  ·  GESTIÓN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Medidas y hechos de gestión del mes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Cronología de agosto y primeros días de septiembre · contexto para contrastar con las mediciones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19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5468112" cy="914400"/>
          </a:xfrm>
          <a:prstGeom prst="roundRect">
            <a:avLst>
              <a:gd name="adj" fmla="val 8000"/>
            </a:avLst>
          </a:prstGeom>
          <a:solidFill>
            <a:srgbClr val="0F1930"/>
          </a:solidFill>
          <a:ln w="9525">
            <a:solidFill>
              <a:srgbClr val="22304A"/>
            </a:solidFill>
            <a:prstDash val="solid"/>
          </a:ln>
        </p:spPr>
      </p:sp>
      <p:sp>
        <p:nvSpPr>
          <p:cNvPr id="11" name="Shape 8"/>
          <p:cNvSpPr/>
          <p:nvPr/>
        </p:nvSpPr>
        <p:spPr>
          <a:xfrm>
            <a:off x="630936" y="1819656"/>
            <a:ext cx="868680" cy="274320"/>
          </a:xfrm>
          <a:prstGeom prst="roundRect">
            <a:avLst>
              <a:gd name="adj" fmla="val 50000"/>
            </a:avLst>
          </a:prstGeom>
          <a:solidFill>
            <a:srgbClr val="142A39"/>
          </a:solidFill>
          <a:ln w="9525">
            <a:solidFill>
              <a:srgbClr val="2DD4BF"/>
            </a:solidFill>
            <a:prstDash val="solid"/>
          </a:ln>
        </p:spPr>
      </p:sp>
      <p:sp>
        <p:nvSpPr>
          <p:cNvPr id="12" name="Text 9"/>
          <p:cNvSpPr txBox="1"/>
          <p:nvPr/>
        </p:nvSpPr>
        <p:spPr>
          <a:xfrm>
            <a:off x="630936" y="181965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11 ago</a:t>
            </a:r>
            <a:endParaRPr lang="en-US" sz="900" dirty="0"/>
          </a:p>
        </p:txBody>
      </p:sp>
      <p:sp>
        <p:nvSpPr>
          <p:cNvPr id="13" name="Text 10"/>
          <p:cNvSpPr txBox="1"/>
          <p:nvPr/>
        </p:nvSpPr>
        <p:spPr>
          <a:xfrm>
            <a:off x="1600200" y="181965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INFRAESTRUCTURA</a:t>
            </a:r>
            <a:endParaRPr lang="en-US" sz="900" dirty="0"/>
          </a:p>
        </p:txBody>
      </p:sp>
      <p:sp>
        <p:nvSpPr>
          <p:cNvPr id="14" name="Text 11"/>
          <p:cNvSpPr txBox="1"/>
          <p:nvPr/>
        </p:nvSpPr>
        <p:spPr>
          <a:xfrm>
            <a:off x="630936" y="213055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Diagnóstico de infiltración en cubierta de Pabellón 1; obras desde el 12-ago (7 días hábiles) sin interrupción asistencial prevista.</a:t>
            </a:r>
            <a:endParaRPr lang="en-US" sz="950" dirty="0"/>
          </a:p>
        </p:txBody>
      </p:sp>
      <p:sp>
        <p:nvSpPr>
          <p:cNvPr id="15" name="Shape 12"/>
          <p:cNvSpPr/>
          <p:nvPr/>
        </p:nvSpPr>
        <p:spPr>
          <a:xfrm>
            <a:off x="6208776" y="1691640"/>
            <a:ext cx="5468112" cy="914400"/>
          </a:xfrm>
          <a:prstGeom prst="roundRect">
            <a:avLst>
              <a:gd name="adj" fmla="val 8000"/>
            </a:avLst>
          </a:prstGeom>
          <a:solidFill>
            <a:srgbClr val="0F1930"/>
          </a:solidFill>
          <a:ln w="9525">
            <a:solidFill>
              <a:srgbClr val="22304A"/>
            </a:solidFill>
            <a:prstDash val="solid"/>
          </a:ln>
        </p:spPr>
      </p:sp>
      <p:sp>
        <p:nvSpPr>
          <p:cNvPr id="16" name="Shape 13"/>
          <p:cNvSpPr/>
          <p:nvPr/>
        </p:nvSpPr>
        <p:spPr>
          <a:xfrm>
            <a:off x="6336792" y="1819656"/>
            <a:ext cx="868680" cy="274320"/>
          </a:xfrm>
          <a:prstGeom prst="roundRect">
            <a:avLst>
              <a:gd name="adj" fmla="val 50000"/>
            </a:avLst>
          </a:prstGeom>
          <a:solidFill>
            <a:srgbClr val="142A39"/>
          </a:solidFill>
          <a:ln w="9525">
            <a:solidFill>
              <a:srgbClr val="2DD4BF"/>
            </a:solidFill>
            <a:prstDash val="solid"/>
          </a:ln>
        </p:spPr>
      </p:sp>
      <p:sp>
        <p:nvSpPr>
          <p:cNvPr id="17" name="Text 14"/>
          <p:cNvSpPr txBox="1"/>
          <p:nvPr/>
        </p:nvSpPr>
        <p:spPr>
          <a:xfrm>
            <a:off x="6336792" y="181965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23 ago</a:t>
            </a:r>
            <a:endParaRPr lang="en-US" sz="900" dirty="0"/>
          </a:p>
        </p:txBody>
      </p:sp>
      <p:sp>
        <p:nvSpPr>
          <p:cNvPr id="18" name="Text 15"/>
          <p:cNvSpPr txBox="1"/>
          <p:nvPr/>
        </p:nvSpPr>
        <p:spPr>
          <a:xfrm>
            <a:off x="7306056" y="181965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DOTACIÓN</a:t>
            </a:r>
            <a:endParaRPr lang="en-US" sz="900" dirty="0"/>
          </a:p>
        </p:txBody>
      </p:sp>
      <p:sp>
        <p:nvSpPr>
          <p:cNvPr id="19" name="Text 16"/>
          <p:cNvSpPr txBox="1"/>
          <p:nvPr/>
        </p:nvSpPr>
        <p:spPr>
          <a:xfrm>
            <a:off x="6336792" y="213055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Cancelación de la tabla del lunes 24 en Pabellón 2 por falta de enfermera del área: tercer lunes consecutivo.</a:t>
            </a:r>
            <a:endParaRPr lang="en-US" sz="950" dirty="0"/>
          </a:p>
        </p:txBody>
      </p:sp>
      <p:sp>
        <p:nvSpPr>
          <p:cNvPr id="20" name="Shape 17"/>
          <p:cNvSpPr/>
          <p:nvPr/>
        </p:nvSpPr>
        <p:spPr>
          <a:xfrm>
            <a:off x="502920" y="2697480"/>
            <a:ext cx="5468112" cy="914400"/>
          </a:xfrm>
          <a:prstGeom prst="roundRect">
            <a:avLst>
              <a:gd name="adj" fmla="val 8000"/>
            </a:avLst>
          </a:prstGeom>
          <a:solidFill>
            <a:srgbClr val="0F1930"/>
          </a:solidFill>
          <a:ln w="9525">
            <a:solidFill>
              <a:srgbClr val="22304A"/>
            </a:solidFill>
            <a:prstDash val="solid"/>
          </a:ln>
        </p:spPr>
      </p:sp>
      <p:sp>
        <p:nvSpPr>
          <p:cNvPr id="21" name="Shape 18"/>
          <p:cNvSpPr/>
          <p:nvPr/>
        </p:nvSpPr>
        <p:spPr>
          <a:xfrm>
            <a:off x="630936" y="2825496"/>
            <a:ext cx="868680" cy="274320"/>
          </a:xfrm>
          <a:prstGeom prst="roundRect">
            <a:avLst>
              <a:gd name="adj" fmla="val 50000"/>
            </a:avLst>
          </a:prstGeom>
          <a:solidFill>
            <a:srgbClr val="142A39"/>
          </a:solidFill>
          <a:ln w="9525">
            <a:solidFill>
              <a:srgbClr val="2DD4BF"/>
            </a:solidFill>
            <a:prstDash val="solid"/>
          </a:ln>
        </p:spPr>
      </p:sp>
      <p:sp>
        <p:nvSpPr>
          <p:cNvPr id="22" name="Text 19"/>
          <p:cNvSpPr txBox="1"/>
          <p:nvPr/>
        </p:nvSpPr>
        <p:spPr>
          <a:xfrm>
            <a:off x="630936" y="282549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24 ago</a:t>
            </a:r>
            <a:endParaRPr lang="en-US" sz="900" dirty="0"/>
          </a:p>
        </p:txBody>
      </p:sp>
      <p:sp>
        <p:nvSpPr>
          <p:cNvPr id="23" name="Text 20"/>
          <p:cNvSpPr txBox="1"/>
          <p:nvPr/>
        </p:nvSpPr>
        <p:spPr>
          <a:xfrm>
            <a:off x="1600200" y="282549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CAMAS</a:t>
            </a:r>
            <a:endParaRPr lang="en-US" sz="900" dirty="0"/>
          </a:p>
        </p:txBody>
      </p:sp>
      <p:sp>
        <p:nvSpPr>
          <p:cNvPr id="24" name="Text 21"/>
          <p:cNvSpPr txBox="1"/>
          <p:nvPr/>
        </p:nvSpPr>
        <p:spPr>
          <a:xfrm>
            <a:off x="630936" y="313639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Solicitud a SDM y SDGC: uso de camillas de CMA y Corta Estadía como salas mixtas ante la falta de camas, con criterio institucional y no caso a caso.</a:t>
            </a:r>
            <a:endParaRPr lang="en-US" sz="950" dirty="0"/>
          </a:p>
        </p:txBody>
      </p:sp>
      <p:sp>
        <p:nvSpPr>
          <p:cNvPr id="25" name="Shape 22"/>
          <p:cNvSpPr/>
          <p:nvPr/>
        </p:nvSpPr>
        <p:spPr>
          <a:xfrm>
            <a:off x="6208776" y="2697480"/>
            <a:ext cx="5468112" cy="914400"/>
          </a:xfrm>
          <a:prstGeom prst="roundRect">
            <a:avLst>
              <a:gd name="adj" fmla="val 8000"/>
            </a:avLst>
          </a:prstGeom>
          <a:solidFill>
            <a:srgbClr val="0F1930"/>
          </a:solidFill>
          <a:ln w="9525">
            <a:solidFill>
              <a:srgbClr val="22304A"/>
            </a:solidFill>
            <a:prstDash val="solid"/>
          </a:ln>
        </p:spPr>
      </p:sp>
      <p:sp>
        <p:nvSpPr>
          <p:cNvPr id="26" name="Shape 23"/>
          <p:cNvSpPr/>
          <p:nvPr/>
        </p:nvSpPr>
        <p:spPr>
          <a:xfrm>
            <a:off x="6336792" y="2825496"/>
            <a:ext cx="868680" cy="274320"/>
          </a:xfrm>
          <a:prstGeom prst="roundRect">
            <a:avLst>
              <a:gd name="adj" fmla="val 50000"/>
            </a:avLst>
          </a:prstGeom>
          <a:solidFill>
            <a:srgbClr val="142A39"/>
          </a:solidFill>
          <a:ln w="9525">
            <a:solidFill>
              <a:srgbClr val="2DD4BF"/>
            </a:solidFill>
            <a:prstDash val="solid"/>
          </a:ln>
        </p:spPr>
      </p:sp>
      <p:sp>
        <p:nvSpPr>
          <p:cNvPr id="27" name="Text 24"/>
          <p:cNvSpPr txBox="1"/>
          <p:nvPr/>
        </p:nvSpPr>
        <p:spPr>
          <a:xfrm>
            <a:off x="6336792" y="282549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24 ago</a:t>
            </a:r>
            <a:endParaRPr lang="en-US" sz="900" dirty="0"/>
          </a:p>
        </p:txBody>
      </p:sp>
      <p:sp>
        <p:nvSpPr>
          <p:cNvPr id="28" name="Text 25"/>
          <p:cNvSpPr txBox="1"/>
          <p:nvPr/>
        </p:nvSpPr>
        <p:spPr>
          <a:xfrm>
            <a:off x="7306056" y="282549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LÍNEA BASE 2025</a:t>
            </a:r>
            <a:endParaRPr lang="en-US" sz="900" dirty="0"/>
          </a:p>
        </p:txBody>
      </p:sp>
      <p:sp>
        <p:nvSpPr>
          <p:cNvPr id="29" name="Text 26"/>
          <p:cNvSpPr txBox="1"/>
          <p:nvPr/>
        </p:nvSpPr>
        <p:spPr>
          <a:xfrm>
            <a:off x="6336792" y="313639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Cifras 2025 con la misma metodología (base REM, hábil): 200 suspensiones / 2.872 programadas = 6,96 % (informado 6,9 %); mismo numerador que el monitoreo (9,38 %) con distinto denominador, en revisión con Estadística.</a:t>
            </a:r>
            <a:endParaRPr lang="en-US" sz="950" dirty="0"/>
          </a:p>
        </p:txBody>
      </p:sp>
      <p:sp>
        <p:nvSpPr>
          <p:cNvPr id="30" name="Shape 27"/>
          <p:cNvSpPr/>
          <p:nvPr/>
        </p:nvSpPr>
        <p:spPr>
          <a:xfrm>
            <a:off x="502920" y="3703320"/>
            <a:ext cx="5468112" cy="914400"/>
          </a:xfrm>
          <a:prstGeom prst="roundRect">
            <a:avLst>
              <a:gd name="adj" fmla="val 8000"/>
            </a:avLst>
          </a:prstGeom>
          <a:solidFill>
            <a:srgbClr val="0F1930"/>
          </a:solidFill>
          <a:ln w="9525">
            <a:solidFill>
              <a:srgbClr val="22304A"/>
            </a:solidFill>
            <a:prstDash val="solid"/>
          </a:ln>
        </p:spPr>
      </p:sp>
      <p:sp>
        <p:nvSpPr>
          <p:cNvPr id="31" name="Shape 28"/>
          <p:cNvSpPr/>
          <p:nvPr/>
        </p:nvSpPr>
        <p:spPr>
          <a:xfrm>
            <a:off x="630936" y="3831336"/>
            <a:ext cx="868680" cy="274320"/>
          </a:xfrm>
          <a:prstGeom prst="roundRect">
            <a:avLst>
              <a:gd name="adj" fmla="val 50000"/>
            </a:avLst>
          </a:prstGeom>
          <a:solidFill>
            <a:srgbClr val="142A39"/>
          </a:solidFill>
          <a:ln w="9525">
            <a:solidFill>
              <a:srgbClr val="2DD4BF"/>
            </a:solidFill>
            <a:prstDash val="solid"/>
          </a:ln>
        </p:spPr>
      </p:sp>
      <p:sp>
        <p:nvSpPr>
          <p:cNvPr id="32" name="Text 29"/>
          <p:cNvSpPr txBox="1"/>
          <p:nvPr/>
        </p:nvSpPr>
        <p:spPr>
          <a:xfrm>
            <a:off x="630936" y="383133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28–31 ago</a:t>
            </a:r>
            <a:endParaRPr lang="en-US" sz="900" dirty="0"/>
          </a:p>
        </p:txBody>
      </p:sp>
      <p:sp>
        <p:nvSpPr>
          <p:cNvPr id="33" name="Text 30"/>
          <p:cNvSpPr txBox="1"/>
          <p:nvPr/>
        </p:nvSpPr>
        <p:spPr>
          <a:xfrm>
            <a:off x="1600200" y="383133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EXTENSIÓN HORARIA</a:t>
            </a:r>
            <a:endParaRPr lang="en-US" sz="900" dirty="0"/>
          </a:p>
        </p:txBody>
      </p:sp>
      <p:sp>
        <p:nvSpPr>
          <p:cNvPr id="34" name="Text 31"/>
          <p:cNvSpPr txBox="1"/>
          <p:nvPr/>
        </p:nvSpPr>
        <p:spPr>
          <a:xfrm>
            <a:off x="630936" y="414223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Ginecología: 2.º caso suspendido dos jueves seguidos; acuerdo de 1 EQ + 1 rectoscopia por extensión. Restricción de histeroscopía por daño del RTU bipolar.</a:t>
            </a:r>
            <a:endParaRPr lang="en-US" sz="950" dirty="0"/>
          </a:p>
        </p:txBody>
      </p:sp>
      <p:sp>
        <p:nvSpPr>
          <p:cNvPr id="35" name="Shape 32"/>
          <p:cNvSpPr/>
          <p:nvPr/>
        </p:nvSpPr>
        <p:spPr>
          <a:xfrm>
            <a:off x="6208776" y="3703320"/>
            <a:ext cx="5468112" cy="914400"/>
          </a:xfrm>
          <a:prstGeom prst="roundRect">
            <a:avLst>
              <a:gd name="adj" fmla="val 8000"/>
            </a:avLst>
          </a:prstGeom>
          <a:solidFill>
            <a:srgbClr val="0F1930"/>
          </a:solidFill>
          <a:ln w="9525">
            <a:solidFill>
              <a:srgbClr val="22304A"/>
            </a:solidFill>
            <a:prstDash val="solid"/>
          </a:ln>
        </p:spPr>
      </p:sp>
      <p:sp>
        <p:nvSpPr>
          <p:cNvPr id="36" name="Shape 33"/>
          <p:cNvSpPr/>
          <p:nvPr/>
        </p:nvSpPr>
        <p:spPr>
          <a:xfrm>
            <a:off x="6336792" y="3831336"/>
            <a:ext cx="868680" cy="274320"/>
          </a:xfrm>
          <a:prstGeom prst="roundRect">
            <a:avLst>
              <a:gd name="adj" fmla="val 50000"/>
            </a:avLst>
          </a:prstGeom>
          <a:solidFill>
            <a:srgbClr val="142A39"/>
          </a:solidFill>
          <a:ln w="9525">
            <a:solidFill>
              <a:srgbClr val="2DD4BF"/>
            </a:solidFill>
            <a:prstDash val="solid"/>
          </a:ln>
        </p:spPr>
      </p:sp>
      <p:sp>
        <p:nvSpPr>
          <p:cNvPr id="37" name="Text 34"/>
          <p:cNvSpPr txBox="1"/>
          <p:nvPr/>
        </p:nvSpPr>
        <p:spPr>
          <a:xfrm>
            <a:off x="6336792" y="383133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31 ago</a:t>
            </a:r>
            <a:endParaRPr lang="en-US" sz="900" dirty="0"/>
          </a:p>
        </p:txBody>
      </p:sp>
      <p:sp>
        <p:nvSpPr>
          <p:cNvPr id="38" name="Text 35"/>
          <p:cNvSpPr txBox="1"/>
          <p:nvPr/>
        </p:nvSpPr>
        <p:spPr>
          <a:xfrm>
            <a:off x="7306056" y="383133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MEDIDA UPPQ</a:t>
            </a:r>
            <a:endParaRPr lang="en-US" sz="900" dirty="0"/>
          </a:p>
        </p:txBody>
      </p:sp>
      <p:sp>
        <p:nvSpPr>
          <p:cNvPr id="39" name="Text 36"/>
          <p:cNvSpPr txBox="1"/>
          <p:nvPr/>
        </p:nvSpPr>
        <p:spPr>
          <a:xfrm>
            <a:off x="6336792" y="414223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No se incorporan a la tabla pacientes sin consentimiento informado completo y firmado; verificación por el equipo tratante antes de solicitar programación. Aprobada por la SDM el 2-sep.</a:t>
            </a:r>
            <a:endParaRPr lang="en-US" sz="950" dirty="0"/>
          </a:p>
        </p:txBody>
      </p:sp>
      <p:sp>
        <p:nvSpPr>
          <p:cNvPr id="40" name="Shape 37"/>
          <p:cNvSpPr/>
          <p:nvPr/>
        </p:nvSpPr>
        <p:spPr>
          <a:xfrm>
            <a:off x="502920" y="4709160"/>
            <a:ext cx="5468112" cy="914400"/>
          </a:xfrm>
          <a:prstGeom prst="roundRect">
            <a:avLst>
              <a:gd name="adj" fmla="val 8000"/>
            </a:avLst>
          </a:prstGeom>
          <a:solidFill>
            <a:srgbClr val="0F1930"/>
          </a:solidFill>
          <a:ln w="9525">
            <a:solidFill>
              <a:srgbClr val="22304A"/>
            </a:solidFill>
            <a:prstDash val="solid"/>
          </a:ln>
        </p:spPr>
      </p:sp>
      <p:sp>
        <p:nvSpPr>
          <p:cNvPr id="41" name="Shape 38"/>
          <p:cNvSpPr/>
          <p:nvPr/>
        </p:nvSpPr>
        <p:spPr>
          <a:xfrm>
            <a:off x="630936" y="4837176"/>
            <a:ext cx="868680" cy="274320"/>
          </a:xfrm>
          <a:prstGeom prst="roundRect">
            <a:avLst>
              <a:gd name="adj" fmla="val 50000"/>
            </a:avLst>
          </a:prstGeom>
          <a:solidFill>
            <a:srgbClr val="142A39"/>
          </a:solidFill>
          <a:ln w="9525">
            <a:solidFill>
              <a:srgbClr val="2DD4BF"/>
            </a:solidFill>
            <a:prstDash val="solid"/>
          </a:ln>
        </p:spPr>
      </p:sp>
      <p:sp>
        <p:nvSpPr>
          <p:cNvPr id="42" name="Text 39"/>
          <p:cNvSpPr txBox="1"/>
          <p:nvPr/>
        </p:nvSpPr>
        <p:spPr>
          <a:xfrm>
            <a:off x="630936" y="483717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2 sep</a:t>
            </a:r>
            <a:endParaRPr lang="en-US" sz="900" dirty="0"/>
          </a:p>
        </p:txBody>
      </p:sp>
      <p:sp>
        <p:nvSpPr>
          <p:cNvPr id="43" name="Text 40"/>
          <p:cNvSpPr txBox="1"/>
          <p:nvPr/>
        </p:nvSpPr>
        <p:spPr>
          <a:xfrm>
            <a:off x="1600200" y="483717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DATOS</a:t>
            </a:r>
            <a:endParaRPr lang="en-US" sz="900" dirty="0"/>
          </a:p>
        </p:txBody>
      </p:sp>
      <p:sp>
        <p:nvSpPr>
          <p:cNvPr id="44" name="Text 41"/>
          <p:cNvSpPr txBox="1"/>
          <p:nvPr/>
        </p:nvSpPr>
        <p:spPr>
          <a:xfrm>
            <a:off x="630936" y="514807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Informe de suspensiones de agosto recibido: por usuario, por especialidad, cirugías y quirófanos por rango de fecha, REM 21 y dashboard.</a:t>
            </a:r>
            <a:endParaRPr lang="en-US" sz="950" dirty="0"/>
          </a:p>
        </p:txBody>
      </p:sp>
      <p:sp>
        <p:nvSpPr>
          <p:cNvPr id="45" name="Shape 42"/>
          <p:cNvSpPr/>
          <p:nvPr/>
        </p:nvSpPr>
        <p:spPr>
          <a:xfrm>
            <a:off x="6208776" y="4709160"/>
            <a:ext cx="5468112" cy="914400"/>
          </a:xfrm>
          <a:prstGeom prst="roundRect">
            <a:avLst>
              <a:gd name="adj" fmla="val 8000"/>
            </a:avLst>
          </a:prstGeom>
          <a:solidFill>
            <a:srgbClr val="0F1930"/>
          </a:solidFill>
          <a:ln w="9525">
            <a:solidFill>
              <a:srgbClr val="22304A"/>
            </a:solidFill>
            <a:prstDash val="solid"/>
          </a:ln>
        </p:spPr>
      </p:sp>
      <p:sp>
        <p:nvSpPr>
          <p:cNvPr id="46" name="Shape 43"/>
          <p:cNvSpPr/>
          <p:nvPr/>
        </p:nvSpPr>
        <p:spPr>
          <a:xfrm>
            <a:off x="6336792" y="4837176"/>
            <a:ext cx="868680" cy="274320"/>
          </a:xfrm>
          <a:prstGeom prst="roundRect">
            <a:avLst>
              <a:gd name="adj" fmla="val 50000"/>
            </a:avLst>
          </a:prstGeom>
          <a:solidFill>
            <a:srgbClr val="142A39"/>
          </a:solidFill>
          <a:ln w="9525">
            <a:solidFill>
              <a:srgbClr val="2DD4BF"/>
            </a:solidFill>
            <a:prstDash val="solid"/>
          </a:ln>
        </p:spPr>
      </p:sp>
      <p:sp>
        <p:nvSpPr>
          <p:cNvPr id="47" name="Text 44"/>
          <p:cNvSpPr txBox="1"/>
          <p:nvPr/>
        </p:nvSpPr>
        <p:spPr>
          <a:xfrm>
            <a:off x="6336792" y="4837176"/>
            <a:ext cx="868680" cy="274320"/>
          </a:xfrm>
          <a:prstGeom prst="rect">
            <a:avLst/>
          </a:prstGeom>
          <a:noFill/>
          <a:ln/>
        </p:spPr>
        <p:txBody>
          <a:bodyPr wrap="square" lIns="0" tIns="0" rIns="0" bIns="0" rtlCol="0" anchor="ctr"/>
          <a:lstStyle/>
          <a:p>
            <a:pPr algn="ctr" indent="0" marL="0">
              <a:buNone/>
            </a:pPr>
            <a:r>
              <a:rPr lang="en-US" sz="900" b="1" dirty="0">
                <a:solidFill>
                  <a:srgbClr val="5EEAD4"/>
                </a:solidFill>
                <a:latin typeface="Arial" pitchFamily="34" charset="0"/>
                <a:ea typeface="Arial" pitchFamily="34" charset="-122"/>
                <a:cs typeface="Arial" pitchFamily="34" charset="-120"/>
              </a:rPr>
              <a:t>4 sep</a:t>
            </a:r>
            <a:endParaRPr lang="en-US" sz="900" dirty="0"/>
          </a:p>
        </p:txBody>
      </p:sp>
      <p:sp>
        <p:nvSpPr>
          <p:cNvPr id="48" name="Text 45"/>
          <p:cNvSpPr txBox="1"/>
          <p:nvPr/>
        </p:nvSpPr>
        <p:spPr>
          <a:xfrm>
            <a:off x="7306056" y="4837176"/>
            <a:ext cx="4233672" cy="274320"/>
          </a:xfrm>
          <a:prstGeom prst="rect">
            <a:avLst/>
          </a:prstGeom>
          <a:noFill/>
          <a:ln/>
        </p:spPr>
        <p:txBody>
          <a:bodyPr wrap="square" lIns="0" tIns="0" rIns="0" bIns="0" rtlCol="0" anchor="ctr"/>
          <a:lstStyle/>
          <a:p>
            <a:pPr algn="l" indent="0" marL="0">
              <a:buNone/>
            </a:pPr>
            <a:r>
              <a:rPr lang="en-US" sz="900" b="1" spc="150" kern="0" dirty="0">
                <a:solidFill>
                  <a:srgbClr val="BCCDE8"/>
                </a:solidFill>
                <a:latin typeface="Arial" pitchFamily="34" charset="0"/>
                <a:ea typeface="Arial" pitchFamily="34" charset="-122"/>
                <a:cs typeface="Arial" pitchFamily="34" charset="-120"/>
              </a:rPr>
              <a:t>REUNIÓN</a:t>
            </a:r>
            <a:endParaRPr lang="en-US" sz="900" dirty="0"/>
          </a:p>
        </p:txBody>
      </p:sp>
      <p:sp>
        <p:nvSpPr>
          <p:cNvPr id="49" name="Text 46"/>
          <p:cNvSpPr txBox="1"/>
          <p:nvPr/>
        </p:nvSpPr>
        <p:spPr>
          <a:xfrm>
            <a:off x="6336792" y="5148072"/>
            <a:ext cx="5212080" cy="438912"/>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Evaluación de procesos de la Unidad Prequirúrgica y de las suspensiones evitables por incumplimiento de ayuno en pacientes programados.</a:t>
            </a:r>
            <a:endParaRPr lang="en-US" sz="950" dirty="0"/>
          </a:p>
        </p:txBody>
      </p:sp>
      <p:sp>
        <p:nvSpPr>
          <p:cNvPr id="50" name="Text 47"/>
          <p:cNvSpPr txBox="1"/>
          <p:nvPr/>
        </p:nvSpPr>
        <p:spPr>
          <a:xfrm>
            <a:off x="502920" y="580644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Los correos aportan contexto. Una tabla cancelada no equivale a un paciente ni permite calcular horas sin agenda; los relatos pueden coincidir con registros del informe operativo y no se suman.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19  ·  PROGRAMACIÓN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Programación y realización conservan sus categorías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Cirugía mayor electiva L–V · monitoreo homogéneo · julio y agosto de 2026</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20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3017520"/>
                <a:gridCol w="1371600"/>
                <a:gridCol w="1371600"/>
                <a:gridCol w="1371600"/>
                <a:gridCol w="4041648"/>
              </a:tblGrid>
              <a:tr h="402336">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Categoría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Julio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Diferencia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BCCDE8"/>
                          </a:solidFill>
                          <a:latin typeface="Arial" pitchFamily="34" charset="0"/>
                          <a:ea typeface="Arial" pitchFamily="34" charset="-122"/>
                          <a:cs typeface="Arial" pitchFamily="34" charset="-120"/>
                        </a:rPr>
                        <a:t>Lectura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Programadas normales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155</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152</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Dos días L–V menos (23 → 21)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Programadas condicionales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18</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−9</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Menor uso del circuito condicional</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Suspendidas (normales)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0,65 % → 1,32 %</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Realizadas normales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195</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177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−18</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Superan a las programadas en ambos meses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Realizadas condicionales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17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17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Realizadas agregadas</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50" dirty="0">
                          <a:solidFill>
                            <a:srgbClr val="EAF1FB"/>
                          </a:solidFill>
                          <a:latin typeface="Arial" pitchFamily="34" charset="0"/>
                          <a:ea typeface="Arial" pitchFamily="34" charset="-122"/>
                          <a:cs typeface="Arial" pitchFamily="34" charset="-120"/>
                        </a:rPr>
                        <a:t>Casos sumados a la tabla del día</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50" b="1" dirty="0">
                          <a:solidFill>
                            <a:srgbClr val="EAF1FB"/>
                          </a:solidFill>
                          <a:latin typeface="Arial" pitchFamily="34" charset="0"/>
                          <a:ea typeface="Arial" pitchFamily="34" charset="-122"/>
                          <a:cs typeface="Arial" pitchFamily="34" charset="-120"/>
                        </a:rPr>
                        <a:t>Total CME realizadas L–V</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EAF1FB"/>
                          </a:solidFill>
                          <a:latin typeface="Arial" pitchFamily="34" charset="0"/>
                          <a:ea typeface="Arial" pitchFamily="34" charset="-122"/>
                          <a:cs typeface="Arial" pitchFamily="34" charset="-120"/>
                        </a:rPr>
                        <a:t>214</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5EEAD4"/>
                          </a:solidFill>
                          <a:latin typeface="Arial" pitchFamily="34" charset="0"/>
                          <a:ea typeface="Arial" pitchFamily="34" charset="-122"/>
                          <a:cs typeface="Arial" pitchFamily="34" charset="-120"/>
                        </a:rPr>
                        <a:t>201</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EAF1FB"/>
                          </a:solidFill>
                          <a:latin typeface="Arial" pitchFamily="34" charset="0"/>
                          <a:ea typeface="Arial" pitchFamily="34" charset="-122"/>
                          <a:cs typeface="Arial" pitchFamily="34" charset="-120"/>
                        </a:rPr>
                        <a:t>−13</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50" b="1" dirty="0">
                          <a:solidFill>
                            <a:srgbClr val="EAF1FB"/>
                          </a:solidFill>
                          <a:latin typeface="Arial" pitchFamily="34" charset="0"/>
                          <a:ea typeface="Arial" pitchFamily="34" charset="-122"/>
                          <a:cs typeface="Arial" pitchFamily="34" charset="-120"/>
                        </a:rPr>
                        <a:t>−6,1 % en volumen · +2,9 % por día</a:t>
                      </a:r>
                      <a:endParaRPr lang="en-US" sz="11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Shape 7"/>
          <p:cNvSpPr/>
          <p:nvPr/>
        </p:nvSpPr>
        <p:spPr>
          <a:xfrm>
            <a:off x="502920" y="5074920"/>
            <a:ext cx="11173968" cy="777240"/>
          </a:xfrm>
          <a:prstGeom prst="roundRect">
            <a:avLst>
              <a:gd name="adj" fmla="val 9412"/>
            </a:avLst>
          </a:prstGeom>
          <a:solidFill>
            <a:srgbClr val="0F1930"/>
          </a:solidFill>
          <a:ln w="15875">
            <a:solidFill>
              <a:srgbClr val="2DD4BF"/>
            </a:solidFill>
            <a:prstDash val="solid"/>
          </a:ln>
        </p:spPr>
      </p:sp>
      <p:sp>
        <p:nvSpPr>
          <p:cNvPr id="12" name="Text 8"/>
          <p:cNvSpPr txBox="1"/>
          <p:nvPr/>
        </p:nvSpPr>
        <p:spPr>
          <a:xfrm>
            <a:off x="649224" y="5184648"/>
            <a:ext cx="10881360" cy="576072"/>
          </a:xfrm>
          <a:prstGeom prst="rect">
            <a:avLst/>
          </a:prstGeom>
          <a:noFill/>
          <a:ln/>
        </p:spPr>
        <p:txBody>
          <a:bodyPr wrap="square" lIns="0" tIns="0" rIns="0" bIns="0" rtlCol="0" anchor="t"/>
          <a:lstStyle/>
          <a:p>
            <a:pPr algn="l" indent="0" marL="0">
              <a:buNone/>
            </a:pPr>
            <a:r>
              <a:rPr lang="en-US" sz="1050" b="1" dirty="0">
                <a:solidFill>
                  <a:srgbClr val="EAF1FB"/>
                </a:solidFill>
                <a:latin typeface="Arial" pitchFamily="34" charset="0"/>
                <a:ea typeface="Arial" pitchFamily="34" charset="-122"/>
                <a:cs typeface="Arial" pitchFamily="34" charset="-120"/>
              </a:rPr>
              <a:t>Las columnas son agregados declarados: </a:t>
            </a:r>
            <a:pPr algn="l" indent="0" marL="0">
              <a:buNone/>
            </a:pPr>
            <a:r>
              <a:rPr lang="en-US" sz="1050" dirty="0">
                <a:solidFill>
                  <a:srgbClr val="C6D6EE"/>
                </a:solidFill>
                <a:latin typeface="Arial" pitchFamily="34" charset="0"/>
                <a:ea typeface="Arial" pitchFamily="34" charset="-122"/>
                <a:cs typeface="Arial" pitchFamily="34" charset="-120"/>
              </a:rPr>
              <a:t>no reconstruyen una cohorte individual ni una tasa de cumplimiento de tabla. Realizadas normales (177) sobre programadas normales (152) refleja agregados y reprogramaciones dentro del mes, no un 116 % de cumplimiento.</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20  ·  PRODUCCIÓN DEL MES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La actividad declarada crece +46 % en un mes; los encuentros, no</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Monitoreo (total calendario) frente a encuentros depurados del nuevo sistema · dos fuentes con funciones distintas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21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ACTIVIDAD DECLARADA · MONITOREO · TODO EL MES · CON AGOSTO 2025</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5440680" cy="914400"/>
        </p:xfrm>
        <a:graphic>
          <a:graphicData uri="http://schemas.openxmlformats.org/drawingml/2006/table">
            <a:tbl>
              <a:tblPr/>
              <a:tblGrid>
                <a:gridCol w="2148840"/>
                <a:gridCol w="777240"/>
                <a:gridCol w="868680"/>
                <a:gridCol w="777240"/>
                <a:gridCol w="868680"/>
              </a:tblGrid>
              <a:tr h="402336">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Actividad declarada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Julio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Agosto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Dif.</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Ago 2025</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Cirugía mayor electiva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411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+103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419</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Cirugía mayor de urgencia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160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145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148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Cirugía menor</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53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61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Procedimientos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324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620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+296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76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Total de actividad declarada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845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1.237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+392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677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2" name="Text 8"/>
          <p:cNvSpPr txBox="1"/>
          <p:nvPr/>
        </p:nvSpPr>
        <p:spPr>
          <a:xfrm>
            <a:off x="6236208"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AGOSTO · MONITOREO VS ENCUENTROS DEPURADOS</a:t>
            </a:r>
            <a:endParaRPr lang="en-US" sz="85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36208" y="1975104"/>
          <a:ext cx="5440680" cy="914400"/>
        </p:xfrm>
        <a:graphic>
          <a:graphicData uri="http://schemas.openxmlformats.org/drawingml/2006/table">
            <a:tbl>
              <a:tblPr/>
              <a:tblGrid>
                <a:gridCol w="2697480"/>
                <a:gridCol w="1371600"/>
                <a:gridCol w="1371600"/>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Categoría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Monitoreo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Encuentros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Mayor electiva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411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405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Mayor de urgencia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145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140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Menor</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61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Procedimientos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620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63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Total declarado / encuentros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1.237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640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4" name="Shape 9"/>
          <p:cNvSpPr/>
          <p:nvPr/>
        </p:nvSpPr>
        <p:spPr>
          <a:xfrm>
            <a:off x="502920" y="4572000"/>
            <a:ext cx="5440680" cy="1325880"/>
          </a:xfrm>
          <a:prstGeom prst="roundRect">
            <a:avLst>
              <a:gd name="adj" fmla="val 5517"/>
            </a:avLst>
          </a:prstGeom>
          <a:solidFill>
            <a:srgbClr val="0F1930"/>
          </a:solidFill>
          <a:ln w="15875">
            <a:solidFill>
              <a:srgbClr val="F5B342"/>
            </a:solidFill>
            <a:prstDash val="solid"/>
          </a:ln>
        </p:spPr>
      </p:sp>
      <p:sp>
        <p:nvSpPr>
          <p:cNvPr id="15" name="Text 10"/>
          <p:cNvSpPr txBox="1"/>
          <p:nvPr/>
        </p:nvSpPr>
        <p:spPr>
          <a:xfrm>
            <a:off x="649224" y="4681728"/>
            <a:ext cx="5148072"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EL SALTO ES DE PROCEDIMIENTOS DECLARADOS (+296)</a:t>
            </a:r>
            <a:endParaRPr lang="en-US" sz="1150" dirty="0"/>
          </a:p>
        </p:txBody>
      </p:sp>
      <p:sp>
        <p:nvSpPr>
          <p:cNvPr id="16" name="Text 11"/>
          <p:cNvSpPr txBox="1"/>
          <p:nvPr/>
        </p:nvSpPr>
        <p:spPr>
          <a:xfrm>
            <a:off x="649224" y="4992624"/>
            <a:ext cx="5148072" cy="813816"/>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Frente a agosto 2025: CME −1,9 % (419 → 411), urgencia −2,0 % (148 → 145), cirugía menor +79 % (34 → 61). Los procedimientos (76 → 620) se registran en el nuevo sistema desde julio: no son comparables. 1.237 actividades no equivalen a 1.237 cirugías ni a pacientes únicos.</a:t>
            </a:r>
            <a:endParaRPr lang="en-US" sz="950" dirty="0"/>
          </a:p>
        </p:txBody>
      </p:sp>
      <p:sp>
        <p:nvSpPr>
          <p:cNvPr id="17" name="Shape 12"/>
          <p:cNvSpPr/>
          <p:nvPr/>
        </p:nvSpPr>
        <p:spPr>
          <a:xfrm>
            <a:off x="6236208" y="4572000"/>
            <a:ext cx="5440680" cy="1325880"/>
          </a:xfrm>
          <a:prstGeom prst="roundRect">
            <a:avLst>
              <a:gd name="adj" fmla="val 5517"/>
            </a:avLst>
          </a:prstGeom>
          <a:solidFill>
            <a:srgbClr val="0F1930"/>
          </a:solidFill>
          <a:ln w="15875">
            <a:solidFill>
              <a:srgbClr val="2DD4BF"/>
            </a:solidFill>
            <a:prstDash val="solid"/>
          </a:ln>
        </p:spPr>
      </p:sp>
      <p:sp>
        <p:nvSpPr>
          <p:cNvPr id="18" name="Text 13"/>
          <p:cNvSpPr txBox="1"/>
          <p:nvPr/>
        </p:nvSpPr>
        <p:spPr>
          <a:xfrm>
            <a:off x="6382512" y="4681728"/>
            <a:ext cx="5148072"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CADA FUENTE CUMPLE UNA FUNCIÓN</a:t>
            </a:r>
            <a:endParaRPr lang="en-US" sz="1150" dirty="0"/>
          </a:p>
        </p:txBody>
      </p:sp>
      <p:sp>
        <p:nvSpPr>
          <p:cNvPr id="19" name="Text 14"/>
          <p:cNvSpPr txBox="1"/>
          <p:nvPr/>
        </p:nvSpPr>
        <p:spPr>
          <a:xfrm>
            <a:off x="6382512" y="4992624"/>
            <a:ext cx="5148072" cy="813816"/>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Monitoreo para la serie histórica homogénea (producción y suspensión). Encuentros del nuevo sistema para especialidad, pabellón, hitos de inicio, ocupación y recambio.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21  ·  PRODUCCIÓN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Producción quirúrgica — CME realizada por mes en 2026</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Cirugía mayor electiva realizada · barras apiladas: lunes a viernes + fin de semana (oftalmología) · agosto: 411 CME</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22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7452360" cy="397764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8275320" y="1691640"/>
            <a:ext cx="3401568" cy="960120"/>
          </a:xfrm>
          <a:prstGeom prst="roundRect">
            <a:avLst>
              <a:gd name="adj" fmla="val 7619"/>
            </a:avLst>
          </a:prstGeom>
          <a:solidFill>
            <a:srgbClr val="0F1930"/>
          </a:solidFill>
          <a:ln w="9525">
            <a:solidFill>
              <a:srgbClr val="22304A"/>
            </a:solidFill>
            <a:prstDash val="solid"/>
          </a:ln>
        </p:spPr>
      </p:sp>
      <p:sp>
        <p:nvSpPr>
          <p:cNvPr id="13" name="Text 9"/>
          <p:cNvSpPr txBox="1"/>
          <p:nvPr/>
        </p:nvSpPr>
        <p:spPr>
          <a:xfrm>
            <a:off x="8430768" y="1801368"/>
            <a:ext cx="309067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201</a:t>
            </a:r>
            <a:endParaRPr lang="en-US" sz="2400" dirty="0"/>
          </a:p>
        </p:txBody>
      </p:sp>
      <p:sp>
        <p:nvSpPr>
          <p:cNvPr id="14" name="Text 10"/>
          <p:cNvSpPr txBox="1"/>
          <p:nvPr/>
        </p:nvSpPr>
        <p:spPr>
          <a:xfrm>
            <a:off x="8430768" y="223113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L–V · AGOSTO</a:t>
            </a:r>
            <a:endParaRPr lang="en-US" sz="850" dirty="0"/>
          </a:p>
        </p:txBody>
      </p:sp>
      <p:sp>
        <p:nvSpPr>
          <p:cNvPr id="15" name="Text 11"/>
          <p:cNvSpPr txBox="1"/>
          <p:nvPr/>
        </p:nvSpPr>
        <p:spPr>
          <a:xfrm>
            <a:off x="8430768" y="246888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9,57 por día L–V · 21 días</a:t>
            </a:r>
            <a:endParaRPr lang="en-US" sz="1000" dirty="0"/>
          </a:p>
        </p:txBody>
      </p:sp>
      <p:sp>
        <p:nvSpPr>
          <p:cNvPr id="16" name="Shape 12"/>
          <p:cNvSpPr/>
          <p:nvPr/>
        </p:nvSpPr>
        <p:spPr>
          <a:xfrm>
            <a:off x="8275320" y="2743200"/>
            <a:ext cx="3401568" cy="960120"/>
          </a:xfrm>
          <a:prstGeom prst="roundRect">
            <a:avLst>
              <a:gd name="adj" fmla="val 7619"/>
            </a:avLst>
          </a:prstGeom>
          <a:solidFill>
            <a:srgbClr val="0F1930"/>
          </a:solidFill>
          <a:ln w="15875">
            <a:solidFill>
              <a:srgbClr val="34D399"/>
            </a:solidFill>
            <a:prstDash val="solid"/>
          </a:ln>
        </p:spPr>
      </p:sp>
      <p:sp>
        <p:nvSpPr>
          <p:cNvPr id="17" name="Text 13"/>
          <p:cNvSpPr txBox="1"/>
          <p:nvPr/>
        </p:nvSpPr>
        <p:spPr>
          <a:xfrm>
            <a:off x="8430768" y="2852928"/>
            <a:ext cx="3090672" cy="411480"/>
          </a:xfrm>
          <a:prstGeom prst="rect">
            <a:avLst/>
          </a:prstGeom>
          <a:noFill/>
          <a:ln/>
        </p:spPr>
        <p:txBody>
          <a:bodyPr wrap="square" lIns="0" tIns="0" rIns="0" bIns="0" rtlCol="0" anchor="ctr"/>
          <a:lstStyle/>
          <a:p>
            <a:pPr algn="l" indent="0" marL="0">
              <a:buNone/>
            </a:pPr>
            <a:r>
              <a:rPr lang="en-US" sz="2400" b="1" dirty="0">
                <a:solidFill>
                  <a:srgbClr val="34D399"/>
                </a:solidFill>
                <a:latin typeface="Arial" pitchFamily="34" charset="0"/>
                <a:ea typeface="Arial" pitchFamily="34" charset="-122"/>
                <a:cs typeface="Arial" pitchFamily="34" charset="-120"/>
              </a:rPr>
              <a:t>1.880</a:t>
            </a:r>
            <a:endParaRPr lang="en-US" sz="2400" dirty="0"/>
          </a:p>
        </p:txBody>
      </p:sp>
      <p:sp>
        <p:nvSpPr>
          <p:cNvPr id="18" name="Text 14"/>
          <p:cNvSpPr txBox="1"/>
          <p:nvPr/>
        </p:nvSpPr>
        <p:spPr>
          <a:xfrm>
            <a:off x="8430768" y="328269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L–V · ENE–AGO 2026</a:t>
            </a:r>
            <a:endParaRPr lang="en-US" sz="850" dirty="0"/>
          </a:p>
        </p:txBody>
      </p:sp>
      <p:sp>
        <p:nvSpPr>
          <p:cNvPr id="19" name="Text 15"/>
          <p:cNvSpPr txBox="1"/>
          <p:nvPr/>
        </p:nvSpPr>
        <p:spPr>
          <a:xfrm>
            <a:off x="8430768" y="352044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+13,5 % vs 2025 (1.657) · 173 días L–V en ambos</a:t>
            </a:r>
            <a:endParaRPr lang="en-US" sz="1000" dirty="0"/>
          </a:p>
        </p:txBody>
      </p:sp>
      <p:sp>
        <p:nvSpPr>
          <p:cNvPr id="20" name="Shape 16"/>
          <p:cNvSpPr/>
          <p:nvPr/>
        </p:nvSpPr>
        <p:spPr>
          <a:xfrm>
            <a:off x="8275320" y="3794760"/>
            <a:ext cx="3401568" cy="960120"/>
          </a:xfrm>
          <a:prstGeom prst="roundRect">
            <a:avLst>
              <a:gd name="adj" fmla="val 7619"/>
            </a:avLst>
          </a:prstGeom>
          <a:solidFill>
            <a:srgbClr val="0F1930"/>
          </a:solidFill>
          <a:ln w="9525">
            <a:solidFill>
              <a:srgbClr val="22304A"/>
            </a:solidFill>
            <a:prstDash val="solid"/>
          </a:ln>
        </p:spPr>
      </p:sp>
      <p:sp>
        <p:nvSpPr>
          <p:cNvPr id="21" name="Text 17"/>
          <p:cNvSpPr txBox="1"/>
          <p:nvPr/>
        </p:nvSpPr>
        <p:spPr>
          <a:xfrm>
            <a:off x="8430768" y="3904488"/>
            <a:ext cx="309067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210</a:t>
            </a:r>
            <a:endParaRPr lang="en-US" sz="2400" dirty="0"/>
          </a:p>
        </p:txBody>
      </p:sp>
      <p:sp>
        <p:nvSpPr>
          <p:cNvPr id="22" name="Text 18"/>
          <p:cNvSpPr txBox="1"/>
          <p:nvPr/>
        </p:nvSpPr>
        <p:spPr>
          <a:xfrm>
            <a:off x="8430768" y="433425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FIN DE SEMANA · AGOSTO</a:t>
            </a:r>
            <a:endParaRPr lang="en-US" sz="850" dirty="0"/>
          </a:p>
        </p:txBody>
      </p:sp>
      <p:sp>
        <p:nvSpPr>
          <p:cNvPr id="23" name="Text 19"/>
          <p:cNvSpPr txBox="1"/>
          <p:nvPr/>
        </p:nvSpPr>
        <p:spPr>
          <a:xfrm>
            <a:off x="8430768" y="457200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+116 vs julio (94) · diez días de fin de semana</a:t>
            </a:r>
            <a:endParaRPr lang="en-US" sz="1000" dirty="0"/>
          </a:p>
        </p:txBody>
      </p:sp>
      <p:sp>
        <p:nvSpPr>
          <p:cNvPr id="24" name="Shape 20"/>
          <p:cNvSpPr/>
          <p:nvPr/>
        </p:nvSpPr>
        <p:spPr>
          <a:xfrm>
            <a:off x="8275320" y="4846320"/>
            <a:ext cx="3401568" cy="1005840"/>
          </a:xfrm>
          <a:prstGeom prst="roundRect">
            <a:avLst>
              <a:gd name="adj" fmla="val 7273"/>
            </a:avLst>
          </a:prstGeom>
          <a:solidFill>
            <a:srgbClr val="0F1930"/>
          </a:solidFill>
          <a:ln w="9525">
            <a:solidFill>
              <a:srgbClr val="22304A"/>
            </a:solidFill>
            <a:prstDash val="solid"/>
          </a:ln>
        </p:spPr>
      </p:sp>
      <p:sp>
        <p:nvSpPr>
          <p:cNvPr id="25" name="Text 21"/>
          <p:cNvSpPr txBox="1"/>
          <p:nvPr/>
        </p:nvSpPr>
        <p:spPr>
          <a:xfrm>
            <a:off x="8430768" y="4956048"/>
            <a:ext cx="3090672" cy="411480"/>
          </a:xfrm>
          <a:prstGeom prst="rect">
            <a:avLst/>
          </a:prstGeom>
          <a:noFill/>
          <a:ln/>
        </p:spPr>
        <p:txBody>
          <a:bodyPr wrap="square" lIns="0" tIns="0" rIns="0" bIns="0" rtlCol="0" anchor="ctr"/>
          <a:lstStyle/>
          <a:p>
            <a:pPr algn="l" indent="0" marL="0">
              <a:buNone/>
            </a:pPr>
            <a:r>
              <a:rPr lang="en-US" sz="2400" b="1" dirty="0">
                <a:solidFill>
                  <a:srgbClr val="F5B342"/>
                </a:solidFill>
                <a:latin typeface="Arial" pitchFamily="34" charset="0"/>
                <a:ea typeface="Arial" pitchFamily="34" charset="-122"/>
                <a:cs typeface="Arial" pitchFamily="34" charset="-120"/>
              </a:rPr>
              <a:t>−8,7 %</a:t>
            </a:r>
            <a:endParaRPr lang="en-US" sz="2400" dirty="0"/>
          </a:p>
        </p:txBody>
      </p:sp>
      <p:sp>
        <p:nvSpPr>
          <p:cNvPr id="26" name="Text 22"/>
          <p:cNvSpPr txBox="1"/>
          <p:nvPr/>
        </p:nvSpPr>
        <p:spPr>
          <a:xfrm>
            <a:off x="8430768" y="538581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FIN DE SEMANA · ENE–AGO</a:t>
            </a:r>
            <a:endParaRPr lang="en-US" sz="850" dirty="0"/>
          </a:p>
        </p:txBody>
      </p:sp>
      <p:sp>
        <p:nvSpPr>
          <p:cNvPr id="27" name="Text 23"/>
          <p:cNvSpPr txBox="1"/>
          <p:nvPr/>
        </p:nvSpPr>
        <p:spPr>
          <a:xfrm>
            <a:off x="8430768" y="5623560"/>
            <a:ext cx="3090672" cy="19202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1.650 → 1.506 · el crecimiento del año es del horario hábil</a:t>
            </a:r>
            <a:endParaRPr lang="en-US" sz="1000" dirty="0"/>
          </a:p>
        </p:txBody>
      </p:sp>
      <p:sp>
        <p:nvSpPr>
          <p:cNvPr id="28" name="Text 24"/>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Serie homogénea del monitoreo; julio actualizado a 308 (214 L–V) respecto del PPT de julio (285, con 191 L–V estimadas). La distribución no prueba por sí sola un aumento de capacidad instalada.</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22  ·  PRODUCCIÓN · MISMA FECHA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CME realizada mes a mes: 2026 frente a 2025</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Cirugía mayor electiva realizada, todas las fechas (monitoreo) · enero a agosto · el acumulado y el horario hábil dicen más que el mes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23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7452360" cy="397764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8275320" y="1691640"/>
            <a:ext cx="3401568" cy="960120"/>
          </a:xfrm>
          <a:prstGeom prst="roundRect">
            <a:avLst>
              <a:gd name="adj" fmla="val 7619"/>
            </a:avLst>
          </a:prstGeom>
          <a:solidFill>
            <a:srgbClr val="0F1930"/>
          </a:solidFill>
          <a:ln w="9525">
            <a:solidFill>
              <a:srgbClr val="22304A"/>
            </a:solidFill>
            <a:prstDash val="solid"/>
          </a:ln>
        </p:spPr>
      </p:sp>
      <p:sp>
        <p:nvSpPr>
          <p:cNvPr id="13" name="Text 9"/>
          <p:cNvSpPr txBox="1"/>
          <p:nvPr/>
        </p:nvSpPr>
        <p:spPr>
          <a:xfrm>
            <a:off x="8430768" y="1801368"/>
            <a:ext cx="309067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+2,4 %</a:t>
            </a:r>
            <a:endParaRPr lang="en-US" sz="2400" dirty="0"/>
          </a:p>
        </p:txBody>
      </p:sp>
      <p:sp>
        <p:nvSpPr>
          <p:cNvPr id="14" name="Text 10"/>
          <p:cNvSpPr txBox="1"/>
          <p:nvPr/>
        </p:nvSpPr>
        <p:spPr>
          <a:xfrm>
            <a:off x="8430768" y="223113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TODAS LAS FECHAS · ENE–AGO</a:t>
            </a:r>
            <a:endParaRPr lang="en-US" sz="850" dirty="0"/>
          </a:p>
        </p:txBody>
      </p:sp>
      <p:sp>
        <p:nvSpPr>
          <p:cNvPr id="15" name="Text 11"/>
          <p:cNvSpPr txBox="1"/>
          <p:nvPr/>
        </p:nvSpPr>
        <p:spPr>
          <a:xfrm>
            <a:off x="8430768" y="246888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3.307 → 3.386</a:t>
            </a:r>
            <a:endParaRPr lang="en-US" sz="1000" dirty="0"/>
          </a:p>
        </p:txBody>
      </p:sp>
      <p:sp>
        <p:nvSpPr>
          <p:cNvPr id="16" name="Shape 12"/>
          <p:cNvSpPr/>
          <p:nvPr/>
        </p:nvSpPr>
        <p:spPr>
          <a:xfrm>
            <a:off x="8275320" y="2743200"/>
            <a:ext cx="3401568" cy="960120"/>
          </a:xfrm>
          <a:prstGeom prst="roundRect">
            <a:avLst>
              <a:gd name="adj" fmla="val 7619"/>
            </a:avLst>
          </a:prstGeom>
          <a:solidFill>
            <a:srgbClr val="0F1930"/>
          </a:solidFill>
          <a:ln w="15875">
            <a:solidFill>
              <a:srgbClr val="34D399"/>
            </a:solidFill>
            <a:prstDash val="solid"/>
          </a:ln>
        </p:spPr>
      </p:sp>
      <p:sp>
        <p:nvSpPr>
          <p:cNvPr id="17" name="Text 13"/>
          <p:cNvSpPr txBox="1"/>
          <p:nvPr/>
        </p:nvSpPr>
        <p:spPr>
          <a:xfrm>
            <a:off x="8430768" y="2852928"/>
            <a:ext cx="3090672" cy="411480"/>
          </a:xfrm>
          <a:prstGeom prst="rect">
            <a:avLst/>
          </a:prstGeom>
          <a:noFill/>
          <a:ln/>
        </p:spPr>
        <p:txBody>
          <a:bodyPr wrap="square" lIns="0" tIns="0" rIns="0" bIns="0" rtlCol="0" anchor="ctr"/>
          <a:lstStyle/>
          <a:p>
            <a:pPr algn="l" indent="0" marL="0">
              <a:buNone/>
            </a:pPr>
            <a:r>
              <a:rPr lang="en-US" sz="2400" b="1" dirty="0">
                <a:solidFill>
                  <a:srgbClr val="34D399"/>
                </a:solidFill>
                <a:latin typeface="Arial" pitchFamily="34" charset="0"/>
                <a:ea typeface="Arial" pitchFamily="34" charset="-122"/>
                <a:cs typeface="Arial" pitchFamily="34" charset="-120"/>
              </a:rPr>
              <a:t>+13,5 %</a:t>
            </a:r>
            <a:endParaRPr lang="en-US" sz="2400" dirty="0"/>
          </a:p>
        </p:txBody>
      </p:sp>
      <p:sp>
        <p:nvSpPr>
          <p:cNvPr id="18" name="Text 14"/>
          <p:cNvSpPr txBox="1"/>
          <p:nvPr/>
        </p:nvSpPr>
        <p:spPr>
          <a:xfrm>
            <a:off x="8430768" y="328269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LUNES A VIERNES · ENE–AGO</a:t>
            </a:r>
            <a:endParaRPr lang="en-US" sz="850" dirty="0"/>
          </a:p>
        </p:txBody>
      </p:sp>
      <p:sp>
        <p:nvSpPr>
          <p:cNvPr id="19" name="Text 15"/>
          <p:cNvSpPr txBox="1"/>
          <p:nvPr/>
        </p:nvSpPr>
        <p:spPr>
          <a:xfrm>
            <a:off x="8430768" y="352044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1.657 → 1.880 · mismos 173 días</a:t>
            </a:r>
            <a:endParaRPr lang="en-US" sz="1000" dirty="0"/>
          </a:p>
        </p:txBody>
      </p:sp>
      <p:sp>
        <p:nvSpPr>
          <p:cNvPr id="20" name="Shape 16"/>
          <p:cNvSpPr/>
          <p:nvPr/>
        </p:nvSpPr>
        <p:spPr>
          <a:xfrm>
            <a:off x="8275320" y="3794760"/>
            <a:ext cx="3401568" cy="960120"/>
          </a:xfrm>
          <a:prstGeom prst="roundRect">
            <a:avLst>
              <a:gd name="adj" fmla="val 7619"/>
            </a:avLst>
          </a:prstGeom>
          <a:solidFill>
            <a:srgbClr val="0F1930"/>
          </a:solidFill>
          <a:ln w="9525">
            <a:solidFill>
              <a:srgbClr val="22304A"/>
            </a:solidFill>
            <a:prstDash val="solid"/>
          </a:ln>
        </p:spPr>
      </p:sp>
      <p:sp>
        <p:nvSpPr>
          <p:cNvPr id="21" name="Text 17"/>
          <p:cNvSpPr txBox="1"/>
          <p:nvPr/>
        </p:nvSpPr>
        <p:spPr>
          <a:xfrm>
            <a:off x="8430768" y="3904488"/>
            <a:ext cx="3090672" cy="411480"/>
          </a:xfrm>
          <a:prstGeom prst="rect">
            <a:avLst/>
          </a:prstGeom>
          <a:noFill/>
          <a:ln/>
        </p:spPr>
        <p:txBody>
          <a:bodyPr wrap="square" lIns="0" tIns="0" rIns="0" bIns="0" rtlCol="0" anchor="ctr"/>
          <a:lstStyle/>
          <a:p>
            <a:pPr algn="l" indent="0" marL="0">
              <a:buNone/>
            </a:pPr>
            <a:r>
              <a:rPr lang="en-US" sz="2400" b="1" dirty="0">
                <a:solidFill>
                  <a:srgbClr val="F5B342"/>
                </a:solidFill>
                <a:latin typeface="Arial" pitchFamily="34" charset="0"/>
                <a:ea typeface="Arial" pitchFamily="34" charset="-122"/>
                <a:cs typeface="Arial" pitchFamily="34" charset="-120"/>
              </a:rPr>
              <a:t>−8,7 %</a:t>
            </a:r>
            <a:endParaRPr lang="en-US" sz="2400" dirty="0"/>
          </a:p>
        </p:txBody>
      </p:sp>
      <p:sp>
        <p:nvSpPr>
          <p:cNvPr id="22" name="Text 18"/>
          <p:cNvSpPr txBox="1"/>
          <p:nvPr/>
        </p:nvSpPr>
        <p:spPr>
          <a:xfrm>
            <a:off x="8430768" y="433425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FIN DE SEMANA · ENE–AGO</a:t>
            </a:r>
            <a:endParaRPr lang="en-US" sz="850" dirty="0"/>
          </a:p>
        </p:txBody>
      </p:sp>
      <p:sp>
        <p:nvSpPr>
          <p:cNvPr id="23" name="Text 19"/>
          <p:cNvSpPr txBox="1"/>
          <p:nvPr/>
        </p:nvSpPr>
        <p:spPr>
          <a:xfrm>
            <a:off x="8430768" y="4572000"/>
            <a:ext cx="3090672" cy="14630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1.650 → 1.506 · oftalmología</a:t>
            </a:r>
            <a:endParaRPr lang="en-US" sz="1000" dirty="0"/>
          </a:p>
        </p:txBody>
      </p:sp>
      <p:sp>
        <p:nvSpPr>
          <p:cNvPr id="24" name="Shape 20"/>
          <p:cNvSpPr/>
          <p:nvPr/>
        </p:nvSpPr>
        <p:spPr>
          <a:xfrm>
            <a:off x="8275320" y="4846320"/>
            <a:ext cx="3401568" cy="1005840"/>
          </a:xfrm>
          <a:prstGeom prst="roundRect">
            <a:avLst>
              <a:gd name="adj" fmla="val 7273"/>
            </a:avLst>
          </a:prstGeom>
          <a:solidFill>
            <a:srgbClr val="0F1930"/>
          </a:solidFill>
          <a:ln w="15875">
            <a:solidFill>
              <a:srgbClr val="F26B6B"/>
            </a:solidFill>
            <a:prstDash val="solid"/>
          </a:ln>
        </p:spPr>
      </p:sp>
      <p:sp>
        <p:nvSpPr>
          <p:cNvPr id="25" name="Text 21"/>
          <p:cNvSpPr txBox="1"/>
          <p:nvPr/>
        </p:nvSpPr>
        <p:spPr>
          <a:xfrm>
            <a:off x="8430768" y="4956048"/>
            <a:ext cx="3090672" cy="411480"/>
          </a:xfrm>
          <a:prstGeom prst="rect">
            <a:avLst/>
          </a:prstGeom>
          <a:noFill/>
          <a:ln/>
        </p:spPr>
        <p:txBody>
          <a:bodyPr wrap="square" lIns="0" tIns="0" rIns="0" bIns="0" rtlCol="0" anchor="ctr"/>
          <a:lstStyle/>
          <a:p>
            <a:pPr algn="l" indent="0" marL="0">
              <a:buNone/>
            </a:pPr>
            <a:r>
              <a:rPr lang="en-US" sz="2400" b="1" dirty="0">
                <a:solidFill>
                  <a:srgbClr val="F26B6B"/>
                </a:solidFill>
                <a:latin typeface="Arial" pitchFamily="34" charset="0"/>
                <a:ea typeface="Arial" pitchFamily="34" charset="-122"/>
                <a:cs typeface="Arial" pitchFamily="34" charset="-120"/>
              </a:rPr>
              <a:t>−87 · −8</a:t>
            </a:r>
            <a:endParaRPr lang="en-US" sz="2400" dirty="0"/>
          </a:p>
        </p:txBody>
      </p:sp>
      <p:sp>
        <p:nvSpPr>
          <p:cNvPr id="26" name="Text 22"/>
          <p:cNvSpPr txBox="1"/>
          <p:nvPr/>
        </p:nvSpPr>
        <p:spPr>
          <a:xfrm>
            <a:off x="8430768" y="538581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JULIO Y AGOSTO VS 2025</a:t>
            </a:r>
            <a:endParaRPr lang="en-US" sz="850" dirty="0"/>
          </a:p>
        </p:txBody>
      </p:sp>
      <p:sp>
        <p:nvSpPr>
          <p:cNvPr id="27" name="Text 23"/>
          <p:cNvSpPr txBox="1"/>
          <p:nvPr/>
        </p:nvSpPr>
        <p:spPr>
          <a:xfrm>
            <a:off x="8430768" y="5623560"/>
            <a:ext cx="3090672" cy="19202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395 → 308 y 419 → 411 · un pabellón menos</a:t>
            </a:r>
            <a:endParaRPr lang="en-US" sz="1000" dirty="0"/>
          </a:p>
        </p:txBody>
      </p:sp>
      <p:sp>
        <p:nvSpPr>
          <p:cNvPr id="28" name="Text 24"/>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Serie homogénea del monitoreo; julio 2026 actualizado a 308. El fin de semana depende de las jornadas oftalmológicas programadas, no de la capacidad L–V.</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23  ·  PRODUCCIÓN VS 2025</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Producción quirúrgica comparada — enero a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Variación por indicador · ene–ago 2026 vs mismo período 2025 · monitoreo, todas las fechas salvo donde se indica L–V</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24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6400800" cy="4160520"/>
          </a:xfrm>
          <a:prstGeom prst="roundRect">
            <a:avLst>
              <a:gd name="adj" fmla="val 1758"/>
            </a:avLst>
          </a:prstGeom>
          <a:solidFill>
            <a:srgbClr val="0F1930"/>
          </a:solidFill>
          <a:ln w="9525">
            <a:solidFill>
              <a:srgbClr val="22304A"/>
            </a:solidFill>
            <a:prstDash val="solid"/>
          </a:ln>
        </p:spPr>
      </p:sp>
      <p:sp>
        <p:nvSpPr>
          <p:cNvPr id="11" name="Shape 8"/>
          <p:cNvSpPr/>
          <p:nvPr/>
        </p:nvSpPr>
        <p:spPr>
          <a:xfrm>
            <a:off x="4534163" y="1783080"/>
            <a:ext cx="0" cy="3410712"/>
          </a:xfrm>
          <a:prstGeom prst="line">
            <a:avLst/>
          </a:prstGeom>
          <a:noFill/>
          <a:ln w="12700">
            <a:solidFill>
              <a:srgbClr val="2C3A4E"/>
            </a:solidFill>
            <a:prstDash val="solid"/>
          </a:ln>
        </p:spPr>
      </p:sp>
      <p:sp>
        <p:nvSpPr>
          <p:cNvPr id="12" name="Text 9"/>
          <p:cNvSpPr txBox="1"/>
          <p:nvPr/>
        </p:nvSpPr>
        <p:spPr>
          <a:xfrm>
            <a:off x="640080" y="1874520"/>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Procedimientos*</a:t>
            </a:r>
            <a:endParaRPr lang="en-US" sz="1000" dirty="0"/>
          </a:p>
        </p:txBody>
      </p:sp>
      <p:sp>
        <p:nvSpPr>
          <p:cNvPr id="13" name="Shape 10"/>
          <p:cNvSpPr/>
          <p:nvPr/>
        </p:nvSpPr>
        <p:spPr>
          <a:xfrm>
            <a:off x="4534163" y="1901952"/>
            <a:ext cx="2049517" cy="274320"/>
          </a:xfrm>
          <a:prstGeom prst="roundRect">
            <a:avLst>
              <a:gd name="adj" fmla="val 10000"/>
            </a:avLst>
          </a:prstGeom>
          <a:solidFill>
            <a:srgbClr val="5B6B85"/>
          </a:solidFill>
          <a:ln/>
        </p:spPr>
      </p:sp>
      <p:sp>
        <p:nvSpPr>
          <p:cNvPr id="14" name="Text 11"/>
          <p:cNvSpPr txBox="1"/>
          <p:nvPr/>
        </p:nvSpPr>
        <p:spPr>
          <a:xfrm>
            <a:off x="5669280" y="1874520"/>
            <a:ext cx="841248" cy="329184"/>
          </a:xfrm>
          <a:prstGeom prst="rect">
            <a:avLst/>
          </a:prstGeom>
          <a:noFill/>
          <a:ln/>
        </p:spPr>
        <p:txBody>
          <a:bodyPr wrap="square" lIns="0" tIns="0" rIns="0" bIns="0" rtlCol="0" anchor="ctr"/>
          <a:lstStyle/>
          <a:p>
            <a:pPr algn="r" indent="0" marL="0">
              <a:buNone/>
            </a:pPr>
            <a:r>
              <a:rPr lang="en-US" sz="1050" b="1" dirty="0">
                <a:solidFill>
                  <a:srgbClr val="0B1220"/>
                </a:solidFill>
                <a:latin typeface="Arial" pitchFamily="34" charset="0"/>
                <a:ea typeface="Arial" pitchFamily="34" charset="-122"/>
                <a:cs typeface="Arial" pitchFamily="34" charset="-120"/>
              </a:rPr>
              <a:t>+166,4 %</a:t>
            </a:r>
            <a:endParaRPr lang="en-US" sz="1050" dirty="0"/>
          </a:p>
        </p:txBody>
      </p:sp>
      <p:sp>
        <p:nvSpPr>
          <p:cNvPr id="15" name="Text 12"/>
          <p:cNvSpPr txBox="1"/>
          <p:nvPr/>
        </p:nvSpPr>
        <p:spPr>
          <a:xfrm>
            <a:off x="640080" y="2295144"/>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Total actividad declarada</a:t>
            </a:r>
            <a:endParaRPr lang="en-US" sz="1000" dirty="0"/>
          </a:p>
        </p:txBody>
      </p:sp>
      <p:sp>
        <p:nvSpPr>
          <p:cNvPr id="16" name="Shape 13"/>
          <p:cNvSpPr/>
          <p:nvPr/>
        </p:nvSpPr>
        <p:spPr>
          <a:xfrm>
            <a:off x="4534163" y="2322576"/>
            <a:ext cx="611439" cy="274320"/>
          </a:xfrm>
          <a:prstGeom prst="roundRect">
            <a:avLst>
              <a:gd name="adj" fmla="val 10000"/>
            </a:avLst>
          </a:prstGeom>
          <a:solidFill>
            <a:srgbClr val="2DD4BF"/>
          </a:solidFill>
          <a:ln/>
        </p:spPr>
      </p:sp>
      <p:sp>
        <p:nvSpPr>
          <p:cNvPr id="17" name="Text 14"/>
          <p:cNvSpPr txBox="1"/>
          <p:nvPr/>
        </p:nvSpPr>
        <p:spPr>
          <a:xfrm>
            <a:off x="5218754" y="2295144"/>
            <a:ext cx="1097280" cy="329184"/>
          </a:xfrm>
          <a:prstGeom prst="rect">
            <a:avLst/>
          </a:prstGeom>
          <a:noFill/>
          <a:ln/>
        </p:spPr>
        <p:txBody>
          <a:bodyPr wrap="square" lIns="0" tIns="0" rIns="0" bIns="0" rtlCol="0" anchor="ctr"/>
          <a:lstStyle/>
          <a:p>
            <a:pPr algn="l" indent="0" marL="0">
              <a:buNone/>
            </a:pPr>
            <a:r>
              <a:rPr lang="en-US" sz="1050" b="1" dirty="0">
                <a:solidFill>
                  <a:srgbClr val="EAF1FB"/>
                </a:solidFill>
                <a:latin typeface="Arial" pitchFamily="34" charset="0"/>
                <a:ea typeface="Arial" pitchFamily="34" charset="-122"/>
                <a:cs typeface="Arial" pitchFamily="34" charset="-120"/>
              </a:rPr>
              <a:t>+17,9 %</a:t>
            </a:r>
            <a:endParaRPr lang="en-US" sz="1050" dirty="0"/>
          </a:p>
        </p:txBody>
      </p:sp>
      <p:sp>
        <p:nvSpPr>
          <p:cNvPr id="18" name="Text 15"/>
          <p:cNvSpPr txBox="1"/>
          <p:nvPr/>
        </p:nvSpPr>
        <p:spPr>
          <a:xfrm>
            <a:off x="640080" y="2715768"/>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Urgencia mayor</a:t>
            </a:r>
            <a:endParaRPr lang="en-US" sz="1000" dirty="0"/>
          </a:p>
        </p:txBody>
      </p:sp>
      <p:sp>
        <p:nvSpPr>
          <p:cNvPr id="19" name="Shape 16"/>
          <p:cNvSpPr/>
          <p:nvPr/>
        </p:nvSpPr>
        <p:spPr>
          <a:xfrm>
            <a:off x="4534163" y="2743200"/>
            <a:ext cx="481637" cy="274320"/>
          </a:xfrm>
          <a:prstGeom prst="roundRect">
            <a:avLst>
              <a:gd name="adj" fmla="val 10000"/>
            </a:avLst>
          </a:prstGeom>
          <a:solidFill>
            <a:srgbClr val="2DD4BF"/>
          </a:solidFill>
          <a:ln/>
        </p:spPr>
      </p:sp>
      <p:sp>
        <p:nvSpPr>
          <p:cNvPr id="20" name="Text 17"/>
          <p:cNvSpPr txBox="1"/>
          <p:nvPr/>
        </p:nvSpPr>
        <p:spPr>
          <a:xfrm>
            <a:off x="5088951" y="2715768"/>
            <a:ext cx="1097280" cy="329184"/>
          </a:xfrm>
          <a:prstGeom prst="rect">
            <a:avLst/>
          </a:prstGeom>
          <a:noFill/>
          <a:ln/>
        </p:spPr>
        <p:txBody>
          <a:bodyPr wrap="square" lIns="0" tIns="0" rIns="0" bIns="0" rtlCol="0" anchor="ctr"/>
          <a:lstStyle/>
          <a:p>
            <a:pPr algn="l" indent="0" marL="0">
              <a:buNone/>
            </a:pPr>
            <a:r>
              <a:rPr lang="en-US" sz="1050" b="1" dirty="0">
                <a:solidFill>
                  <a:srgbClr val="EAF1FB"/>
                </a:solidFill>
                <a:latin typeface="Arial" pitchFamily="34" charset="0"/>
                <a:ea typeface="Arial" pitchFamily="34" charset="-122"/>
                <a:cs typeface="Arial" pitchFamily="34" charset="-120"/>
              </a:rPr>
              <a:t>+14,1 %</a:t>
            </a:r>
            <a:endParaRPr lang="en-US" sz="1050" dirty="0"/>
          </a:p>
        </p:txBody>
      </p:sp>
      <p:sp>
        <p:nvSpPr>
          <p:cNvPr id="21" name="Text 18"/>
          <p:cNvSpPr txBox="1"/>
          <p:nvPr/>
        </p:nvSpPr>
        <p:spPr>
          <a:xfrm>
            <a:off x="640080" y="3136392"/>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CME realizada L–V</a:t>
            </a:r>
            <a:endParaRPr lang="en-US" sz="1000" dirty="0"/>
          </a:p>
        </p:txBody>
      </p:sp>
      <p:sp>
        <p:nvSpPr>
          <p:cNvPr id="22" name="Shape 19"/>
          <p:cNvSpPr/>
          <p:nvPr/>
        </p:nvSpPr>
        <p:spPr>
          <a:xfrm>
            <a:off x="4534163" y="3163824"/>
            <a:ext cx="461141" cy="274320"/>
          </a:xfrm>
          <a:prstGeom prst="roundRect">
            <a:avLst>
              <a:gd name="adj" fmla="val 10000"/>
            </a:avLst>
          </a:prstGeom>
          <a:solidFill>
            <a:srgbClr val="34D399"/>
          </a:solidFill>
          <a:ln/>
        </p:spPr>
      </p:sp>
      <p:sp>
        <p:nvSpPr>
          <p:cNvPr id="23" name="Text 20"/>
          <p:cNvSpPr txBox="1"/>
          <p:nvPr/>
        </p:nvSpPr>
        <p:spPr>
          <a:xfrm>
            <a:off x="5068456" y="3136392"/>
            <a:ext cx="1097280" cy="329184"/>
          </a:xfrm>
          <a:prstGeom prst="rect">
            <a:avLst/>
          </a:prstGeom>
          <a:noFill/>
          <a:ln/>
        </p:spPr>
        <p:txBody>
          <a:bodyPr wrap="square" lIns="0" tIns="0" rIns="0" bIns="0" rtlCol="0" anchor="ctr"/>
          <a:lstStyle/>
          <a:p>
            <a:pPr algn="l" indent="0" marL="0">
              <a:buNone/>
            </a:pPr>
            <a:r>
              <a:rPr lang="en-US" sz="1050" b="1" dirty="0">
                <a:solidFill>
                  <a:srgbClr val="EAF1FB"/>
                </a:solidFill>
                <a:latin typeface="Arial" pitchFamily="34" charset="0"/>
                <a:ea typeface="Arial" pitchFamily="34" charset="-122"/>
                <a:cs typeface="Arial" pitchFamily="34" charset="-120"/>
              </a:rPr>
              <a:t>+13,5 %</a:t>
            </a:r>
            <a:endParaRPr lang="en-US" sz="1050" dirty="0"/>
          </a:p>
        </p:txBody>
      </p:sp>
      <p:sp>
        <p:nvSpPr>
          <p:cNvPr id="24" name="Text 21"/>
          <p:cNvSpPr txBox="1"/>
          <p:nvPr/>
        </p:nvSpPr>
        <p:spPr>
          <a:xfrm>
            <a:off x="640080" y="3557016"/>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CME realizada (todas las fechas)</a:t>
            </a:r>
            <a:endParaRPr lang="en-US" sz="1000" dirty="0"/>
          </a:p>
        </p:txBody>
      </p:sp>
      <p:sp>
        <p:nvSpPr>
          <p:cNvPr id="25" name="Shape 22"/>
          <p:cNvSpPr/>
          <p:nvPr/>
        </p:nvSpPr>
        <p:spPr>
          <a:xfrm>
            <a:off x="4534163" y="3584448"/>
            <a:ext cx="81981" cy="274320"/>
          </a:xfrm>
          <a:prstGeom prst="roundRect">
            <a:avLst>
              <a:gd name="adj" fmla="val 33461"/>
            </a:avLst>
          </a:prstGeom>
          <a:solidFill>
            <a:srgbClr val="2DD4BF"/>
          </a:solidFill>
          <a:ln/>
        </p:spPr>
      </p:sp>
      <p:sp>
        <p:nvSpPr>
          <p:cNvPr id="26" name="Text 23"/>
          <p:cNvSpPr txBox="1"/>
          <p:nvPr/>
        </p:nvSpPr>
        <p:spPr>
          <a:xfrm>
            <a:off x="4689295" y="3557016"/>
            <a:ext cx="1097280" cy="329184"/>
          </a:xfrm>
          <a:prstGeom prst="rect">
            <a:avLst/>
          </a:prstGeom>
          <a:noFill/>
          <a:ln/>
        </p:spPr>
        <p:txBody>
          <a:bodyPr wrap="square" lIns="0" tIns="0" rIns="0" bIns="0" rtlCol="0" anchor="ctr"/>
          <a:lstStyle/>
          <a:p>
            <a:pPr algn="l" indent="0" marL="0">
              <a:buNone/>
            </a:pPr>
            <a:r>
              <a:rPr lang="en-US" sz="1050" b="1" dirty="0">
                <a:solidFill>
                  <a:srgbClr val="EAF1FB"/>
                </a:solidFill>
                <a:latin typeface="Arial" pitchFamily="34" charset="0"/>
                <a:ea typeface="Arial" pitchFamily="34" charset="-122"/>
                <a:cs typeface="Arial" pitchFamily="34" charset="-120"/>
              </a:rPr>
              <a:t>+2,4 %</a:t>
            </a:r>
            <a:endParaRPr lang="en-US" sz="1050" dirty="0"/>
          </a:p>
        </p:txBody>
      </p:sp>
      <p:sp>
        <p:nvSpPr>
          <p:cNvPr id="27" name="Text 24"/>
          <p:cNvSpPr txBox="1"/>
          <p:nvPr/>
        </p:nvSpPr>
        <p:spPr>
          <a:xfrm>
            <a:off x="640080" y="3977640"/>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CME fin de semana</a:t>
            </a:r>
            <a:endParaRPr lang="en-US" sz="1000" dirty="0"/>
          </a:p>
        </p:txBody>
      </p:sp>
      <p:sp>
        <p:nvSpPr>
          <p:cNvPr id="28" name="Shape 25"/>
          <p:cNvSpPr/>
          <p:nvPr/>
        </p:nvSpPr>
        <p:spPr>
          <a:xfrm>
            <a:off x="4236983" y="4005072"/>
            <a:ext cx="297180" cy="274320"/>
          </a:xfrm>
          <a:prstGeom prst="roundRect">
            <a:avLst>
              <a:gd name="adj" fmla="val 10000"/>
            </a:avLst>
          </a:prstGeom>
          <a:solidFill>
            <a:srgbClr val="F26B6B"/>
          </a:solidFill>
          <a:ln/>
        </p:spPr>
      </p:sp>
      <p:sp>
        <p:nvSpPr>
          <p:cNvPr id="29" name="Text 26"/>
          <p:cNvSpPr txBox="1"/>
          <p:nvPr/>
        </p:nvSpPr>
        <p:spPr>
          <a:xfrm>
            <a:off x="3276863" y="3977640"/>
            <a:ext cx="886968" cy="329184"/>
          </a:xfrm>
          <a:prstGeom prst="rect">
            <a:avLst/>
          </a:prstGeom>
          <a:noFill/>
          <a:ln/>
        </p:spPr>
        <p:txBody>
          <a:bodyPr wrap="square" lIns="0" tIns="0" rIns="0" bIns="0" rtlCol="0" anchor="ctr"/>
          <a:lstStyle/>
          <a:p>
            <a:pPr algn="r" indent="0" marL="0">
              <a:buNone/>
            </a:pPr>
            <a:r>
              <a:rPr lang="en-US" sz="1050" b="1" dirty="0">
                <a:solidFill>
                  <a:srgbClr val="EAF1FB"/>
                </a:solidFill>
                <a:latin typeface="Arial" pitchFamily="34" charset="0"/>
                <a:ea typeface="Arial" pitchFamily="34" charset="-122"/>
                <a:cs typeface="Arial" pitchFamily="34" charset="-120"/>
              </a:rPr>
              <a:t>−8,7 %</a:t>
            </a:r>
            <a:endParaRPr lang="en-US" sz="1050" dirty="0"/>
          </a:p>
        </p:txBody>
      </p:sp>
      <p:sp>
        <p:nvSpPr>
          <p:cNvPr id="30" name="Text 27"/>
          <p:cNvSpPr txBox="1"/>
          <p:nvPr/>
        </p:nvSpPr>
        <p:spPr>
          <a:xfrm>
            <a:off x="640080" y="4398264"/>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Cirugía menor</a:t>
            </a:r>
            <a:endParaRPr lang="en-US" sz="1000" dirty="0"/>
          </a:p>
        </p:txBody>
      </p:sp>
      <p:sp>
        <p:nvSpPr>
          <p:cNvPr id="31" name="Shape 28"/>
          <p:cNvSpPr/>
          <p:nvPr/>
        </p:nvSpPr>
        <p:spPr>
          <a:xfrm>
            <a:off x="3581137" y="4425696"/>
            <a:ext cx="953026" cy="274320"/>
          </a:xfrm>
          <a:prstGeom prst="roundRect">
            <a:avLst>
              <a:gd name="adj" fmla="val 10000"/>
            </a:avLst>
          </a:prstGeom>
          <a:solidFill>
            <a:srgbClr val="F26B6B"/>
          </a:solidFill>
          <a:ln/>
        </p:spPr>
      </p:sp>
      <p:sp>
        <p:nvSpPr>
          <p:cNvPr id="32" name="Text 29"/>
          <p:cNvSpPr txBox="1"/>
          <p:nvPr/>
        </p:nvSpPr>
        <p:spPr>
          <a:xfrm>
            <a:off x="3654289" y="4398264"/>
            <a:ext cx="914400" cy="329184"/>
          </a:xfrm>
          <a:prstGeom prst="rect">
            <a:avLst/>
          </a:prstGeom>
          <a:noFill/>
          <a:ln/>
        </p:spPr>
        <p:txBody>
          <a:bodyPr wrap="square" lIns="0" tIns="0" rIns="0" bIns="0" rtlCol="0" anchor="ctr"/>
          <a:lstStyle/>
          <a:p>
            <a:pPr algn="l" indent="0" marL="0">
              <a:buNone/>
            </a:pPr>
            <a:r>
              <a:rPr lang="en-US" sz="1050" b="1" dirty="0">
                <a:solidFill>
                  <a:srgbClr val="0B1220"/>
                </a:solidFill>
                <a:latin typeface="Arial" pitchFamily="34" charset="0"/>
                <a:ea typeface="Arial" pitchFamily="34" charset="-122"/>
                <a:cs typeface="Arial" pitchFamily="34" charset="-120"/>
              </a:rPr>
              <a:t>−27,9 %</a:t>
            </a:r>
            <a:endParaRPr lang="en-US" sz="1050" dirty="0"/>
          </a:p>
        </p:txBody>
      </p:sp>
      <p:sp>
        <p:nvSpPr>
          <p:cNvPr id="33" name="Text 30"/>
          <p:cNvSpPr txBox="1"/>
          <p:nvPr/>
        </p:nvSpPr>
        <p:spPr>
          <a:xfrm>
            <a:off x="640080" y="4818888"/>
            <a:ext cx="2267712" cy="329184"/>
          </a:xfrm>
          <a:prstGeom prst="rect">
            <a:avLst/>
          </a:prstGeom>
          <a:noFill/>
          <a:ln/>
        </p:spPr>
        <p:txBody>
          <a:bodyPr wrap="square" lIns="0" tIns="0" rIns="0" bIns="0" rtlCol="0" anchor="ctr"/>
          <a:lstStyle/>
          <a:p>
            <a:pPr algn="r" indent="0" marL="0">
              <a:buNone/>
            </a:pPr>
            <a:r>
              <a:rPr lang="en-US" sz="1000" dirty="0">
                <a:solidFill>
                  <a:srgbClr val="BCCDE8"/>
                </a:solidFill>
                <a:latin typeface="Arial" pitchFamily="34" charset="0"/>
                <a:ea typeface="Arial" pitchFamily="34" charset="-122"/>
                <a:cs typeface="Arial" pitchFamily="34" charset="-120"/>
              </a:rPr>
              <a:t>Suspensiones hábiles</a:t>
            </a:r>
            <a:endParaRPr lang="en-US" sz="1000" dirty="0"/>
          </a:p>
        </p:txBody>
      </p:sp>
      <p:sp>
        <p:nvSpPr>
          <p:cNvPr id="34" name="Shape 31"/>
          <p:cNvSpPr/>
          <p:nvPr/>
        </p:nvSpPr>
        <p:spPr>
          <a:xfrm>
            <a:off x="3017520" y="4846320"/>
            <a:ext cx="1516643" cy="274320"/>
          </a:xfrm>
          <a:prstGeom prst="roundRect">
            <a:avLst>
              <a:gd name="adj" fmla="val 10000"/>
            </a:avLst>
          </a:prstGeom>
          <a:solidFill>
            <a:srgbClr val="34D399"/>
          </a:solidFill>
          <a:ln/>
        </p:spPr>
      </p:sp>
      <p:sp>
        <p:nvSpPr>
          <p:cNvPr id="35" name="Text 32"/>
          <p:cNvSpPr txBox="1"/>
          <p:nvPr/>
        </p:nvSpPr>
        <p:spPr>
          <a:xfrm>
            <a:off x="3090672" y="4818888"/>
            <a:ext cx="914400" cy="329184"/>
          </a:xfrm>
          <a:prstGeom prst="rect">
            <a:avLst/>
          </a:prstGeom>
          <a:noFill/>
          <a:ln/>
        </p:spPr>
        <p:txBody>
          <a:bodyPr wrap="square" lIns="0" tIns="0" rIns="0" bIns="0" rtlCol="0" anchor="ctr"/>
          <a:lstStyle/>
          <a:p>
            <a:pPr algn="l" indent="0" marL="0">
              <a:buNone/>
            </a:pPr>
            <a:r>
              <a:rPr lang="en-US" sz="1050" b="1" dirty="0">
                <a:solidFill>
                  <a:srgbClr val="0B1220"/>
                </a:solidFill>
                <a:latin typeface="Arial" pitchFamily="34" charset="0"/>
                <a:ea typeface="Arial" pitchFamily="34" charset="-122"/>
                <a:cs typeface="Arial" pitchFamily="34" charset="-120"/>
              </a:rPr>
              <a:t>−44,4 %</a:t>
            </a:r>
            <a:endParaRPr lang="en-US" sz="1050" dirty="0"/>
          </a:p>
        </p:txBody>
      </p:sp>
      <p:sp>
        <p:nvSpPr>
          <p:cNvPr id="36" name="Text 33"/>
          <p:cNvSpPr txBox="1"/>
          <p:nvPr/>
        </p:nvSpPr>
        <p:spPr>
          <a:xfrm>
            <a:off x="2743200" y="5212080"/>
            <a:ext cx="548640" cy="182880"/>
          </a:xfrm>
          <a:prstGeom prst="rect">
            <a:avLst/>
          </a:prstGeom>
          <a:noFill/>
          <a:ln/>
        </p:spPr>
        <p:txBody>
          <a:bodyPr wrap="square" lIns="0" tIns="0" rIns="0" bIns="0" rtlCol="0" anchor="t"/>
          <a:lstStyle/>
          <a:p>
            <a:pPr algn="ctr" indent="0" marL="0">
              <a:buNone/>
            </a:pPr>
            <a:r>
              <a:rPr lang="en-US" sz="800" dirty="0">
                <a:solidFill>
                  <a:srgbClr val="94AACC"/>
                </a:solidFill>
                <a:latin typeface="Arial" pitchFamily="34" charset="0"/>
                <a:ea typeface="Arial" pitchFamily="34" charset="-122"/>
                <a:cs typeface="Arial" pitchFamily="34" charset="-120"/>
              </a:rPr>
              <a:t>−50 %</a:t>
            </a:r>
            <a:endParaRPr lang="en-US" sz="800" dirty="0"/>
          </a:p>
        </p:txBody>
      </p:sp>
      <p:sp>
        <p:nvSpPr>
          <p:cNvPr id="37" name="Text 34"/>
          <p:cNvSpPr txBox="1"/>
          <p:nvPr/>
        </p:nvSpPr>
        <p:spPr>
          <a:xfrm>
            <a:off x="4259843" y="5212080"/>
            <a:ext cx="548640" cy="182880"/>
          </a:xfrm>
          <a:prstGeom prst="rect">
            <a:avLst/>
          </a:prstGeom>
          <a:noFill/>
          <a:ln/>
        </p:spPr>
        <p:txBody>
          <a:bodyPr wrap="square" lIns="0" tIns="0" rIns="0" bIns="0" rtlCol="0" anchor="t"/>
          <a:lstStyle/>
          <a:p>
            <a:pPr algn="ctr" indent="0" marL="0">
              <a:buNone/>
            </a:pPr>
            <a:r>
              <a:rPr lang="en-US" sz="800" dirty="0">
                <a:solidFill>
                  <a:srgbClr val="94AACC"/>
                </a:solidFill>
                <a:latin typeface="Arial" pitchFamily="34" charset="0"/>
                <a:ea typeface="Arial" pitchFamily="34" charset="-122"/>
                <a:cs typeface="Arial" pitchFamily="34" charset="-120"/>
              </a:rPr>
              <a:t>0</a:t>
            </a:r>
            <a:endParaRPr lang="en-US" sz="800" dirty="0"/>
          </a:p>
        </p:txBody>
      </p:sp>
      <p:sp>
        <p:nvSpPr>
          <p:cNvPr id="38" name="Text 35"/>
          <p:cNvSpPr txBox="1"/>
          <p:nvPr/>
        </p:nvSpPr>
        <p:spPr>
          <a:xfrm>
            <a:off x="5967774" y="5212080"/>
            <a:ext cx="548640" cy="182880"/>
          </a:xfrm>
          <a:prstGeom prst="rect">
            <a:avLst/>
          </a:prstGeom>
          <a:noFill/>
          <a:ln/>
        </p:spPr>
        <p:txBody>
          <a:bodyPr wrap="square" lIns="0" tIns="0" rIns="0" bIns="0" rtlCol="0" anchor="t"/>
          <a:lstStyle/>
          <a:p>
            <a:pPr algn="ctr" indent="0" marL="0">
              <a:buNone/>
            </a:pPr>
            <a:r>
              <a:rPr lang="en-US" sz="800" dirty="0">
                <a:solidFill>
                  <a:srgbClr val="94AACC"/>
                </a:solidFill>
                <a:latin typeface="Arial" pitchFamily="34" charset="0"/>
                <a:ea typeface="Arial" pitchFamily="34" charset="-122"/>
                <a:cs typeface="Arial" pitchFamily="34" charset="-120"/>
              </a:rPr>
              <a:t>+50 %</a:t>
            </a:r>
            <a:endParaRPr lang="en-US" sz="800" dirty="0"/>
          </a:p>
        </p:txBody>
      </p:sp>
      <p:sp>
        <p:nvSpPr>
          <p:cNvPr id="39" name="Shape 36"/>
          <p:cNvSpPr/>
          <p:nvPr/>
        </p:nvSpPr>
        <p:spPr>
          <a:xfrm>
            <a:off x="685800" y="5586984"/>
            <a:ext cx="109728" cy="109728"/>
          </a:xfrm>
          <a:prstGeom prst="ellipse">
            <a:avLst/>
          </a:prstGeom>
          <a:solidFill>
            <a:srgbClr val="34D399"/>
          </a:solidFill>
          <a:ln/>
        </p:spPr>
      </p:sp>
      <p:sp>
        <p:nvSpPr>
          <p:cNvPr id="40" name="Text 37"/>
          <p:cNvSpPr txBox="1"/>
          <p:nvPr/>
        </p:nvSpPr>
        <p:spPr>
          <a:xfrm>
            <a:off x="841248" y="5532120"/>
            <a:ext cx="518648"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Mejora</a:t>
            </a:r>
            <a:endParaRPr lang="en-US" sz="900" dirty="0"/>
          </a:p>
        </p:txBody>
      </p:sp>
      <p:sp>
        <p:nvSpPr>
          <p:cNvPr id="41" name="Shape 38"/>
          <p:cNvSpPr/>
          <p:nvPr/>
        </p:nvSpPr>
        <p:spPr>
          <a:xfrm>
            <a:off x="1588496" y="5586984"/>
            <a:ext cx="109728" cy="109728"/>
          </a:xfrm>
          <a:prstGeom prst="ellipse">
            <a:avLst/>
          </a:prstGeom>
          <a:solidFill>
            <a:srgbClr val="2DD4BF"/>
          </a:solidFill>
          <a:ln/>
        </p:spPr>
      </p:sp>
      <p:sp>
        <p:nvSpPr>
          <p:cNvPr id="42" name="Text 39"/>
          <p:cNvSpPr txBox="1"/>
          <p:nvPr/>
        </p:nvSpPr>
        <p:spPr>
          <a:xfrm>
            <a:off x="1743944" y="5532120"/>
            <a:ext cx="574609"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Aumenta</a:t>
            </a:r>
            <a:endParaRPr lang="en-US" sz="900" dirty="0"/>
          </a:p>
        </p:txBody>
      </p:sp>
      <p:sp>
        <p:nvSpPr>
          <p:cNvPr id="43" name="Shape 40"/>
          <p:cNvSpPr/>
          <p:nvPr/>
        </p:nvSpPr>
        <p:spPr>
          <a:xfrm>
            <a:off x="2547153" y="5586984"/>
            <a:ext cx="109728" cy="109728"/>
          </a:xfrm>
          <a:prstGeom prst="ellipse">
            <a:avLst/>
          </a:prstGeom>
          <a:solidFill>
            <a:srgbClr val="F26B6B"/>
          </a:solidFill>
          <a:ln/>
        </p:spPr>
      </p:sp>
      <p:sp>
        <p:nvSpPr>
          <p:cNvPr id="44" name="Text 41"/>
          <p:cNvSpPr txBox="1"/>
          <p:nvPr/>
        </p:nvSpPr>
        <p:spPr>
          <a:xfrm>
            <a:off x="2702601" y="5532120"/>
            <a:ext cx="350764"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Cae</a:t>
            </a:r>
            <a:endParaRPr lang="en-US" sz="900" dirty="0"/>
          </a:p>
        </p:txBody>
      </p:sp>
      <p:sp>
        <p:nvSpPr>
          <p:cNvPr id="45" name="Shape 42"/>
          <p:cNvSpPr/>
          <p:nvPr/>
        </p:nvSpPr>
        <p:spPr>
          <a:xfrm>
            <a:off x="3281964" y="5586984"/>
            <a:ext cx="109728" cy="109728"/>
          </a:xfrm>
          <a:prstGeom prst="ellipse">
            <a:avLst/>
          </a:prstGeom>
          <a:solidFill>
            <a:srgbClr val="5B6B85"/>
          </a:solidFill>
          <a:ln/>
        </p:spPr>
      </p:sp>
      <p:sp>
        <p:nvSpPr>
          <p:cNvPr id="46" name="Text 43"/>
          <p:cNvSpPr txBox="1"/>
          <p:nvPr/>
        </p:nvSpPr>
        <p:spPr>
          <a:xfrm>
            <a:off x="3437412" y="5532120"/>
            <a:ext cx="910377" cy="219456"/>
          </a:xfrm>
          <a:prstGeom prst="rect">
            <a:avLst/>
          </a:prstGeom>
          <a:noFill/>
          <a:ln/>
        </p:spPr>
        <p:txBody>
          <a:bodyPr wrap="square" lIns="0" tIns="0" rIns="0" bIns="0" rtlCol="0" anchor="ctr"/>
          <a:lstStyle/>
          <a:p>
            <a:pPr algn="l" indent="0" marL="0">
              <a:buNone/>
            </a:pPr>
            <a:r>
              <a:rPr lang="en-US" sz="900" dirty="0">
                <a:solidFill>
                  <a:srgbClr val="BCCDE8"/>
                </a:solidFill>
                <a:latin typeface="Arial" pitchFamily="34" charset="0"/>
                <a:ea typeface="Arial" pitchFamily="34" charset="-122"/>
                <a:cs typeface="Arial" pitchFamily="34" charset="-120"/>
              </a:rPr>
              <a:t>No comparable</a:t>
            </a:r>
            <a:endParaRPr lang="en-US" sz="900" dirty="0"/>
          </a:p>
        </p:txBody>
      </p:sp>
      <p:sp>
        <p:nvSpPr>
          <p:cNvPr id="47" name="Shape 44"/>
          <p:cNvSpPr/>
          <p:nvPr/>
        </p:nvSpPr>
        <p:spPr>
          <a:xfrm>
            <a:off x="7040880" y="1691640"/>
            <a:ext cx="4636008" cy="987552"/>
          </a:xfrm>
          <a:prstGeom prst="roundRect">
            <a:avLst>
              <a:gd name="adj" fmla="val 7407"/>
            </a:avLst>
          </a:prstGeom>
          <a:solidFill>
            <a:srgbClr val="0F1930"/>
          </a:solidFill>
          <a:ln w="15875">
            <a:solidFill>
              <a:srgbClr val="34D399"/>
            </a:solidFill>
            <a:prstDash val="solid"/>
          </a:ln>
        </p:spPr>
      </p:sp>
      <p:sp>
        <p:nvSpPr>
          <p:cNvPr id="48" name="Text 45"/>
          <p:cNvSpPr txBox="1"/>
          <p:nvPr/>
        </p:nvSpPr>
        <p:spPr>
          <a:xfrm>
            <a:off x="7187184" y="1801368"/>
            <a:ext cx="4343400" cy="274320"/>
          </a:xfrm>
          <a:prstGeom prst="rect">
            <a:avLst/>
          </a:prstGeom>
          <a:noFill/>
          <a:ln/>
        </p:spPr>
        <p:txBody>
          <a:bodyPr wrap="square" lIns="0" tIns="0" rIns="0" bIns="0" rtlCol="0" anchor="ctr"/>
          <a:lstStyle/>
          <a:p>
            <a:pPr algn="l" indent="0" marL="0">
              <a:buNone/>
            </a:pPr>
            <a:r>
              <a:rPr lang="en-US" sz="1150" b="1" dirty="0">
                <a:solidFill>
                  <a:srgbClr val="34D399"/>
                </a:solidFill>
                <a:latin typeface="Arial" pitchFamily="34" charset="0"/>
                <a:ea typeface="Arial" pitchFamily="34" charset="-122"/>
                <a:cs typeface="Arial" pitchFamily="34" charset="-120"/>
              </a:rPr>
              <a:t>+13,5 %  CME EN DÍAS HÁBILES</a:t>
            </a:r>
            <a:endParaRPr lang="en-US" sz="1150" dirty="0"/>
          </a:p>
        </p:txBody>
      </p:sp>
      <p:sp>
        <p:nvSpPr>
          <p:cNvPr id="49" name="Text 46"/>
          <p:cNvSpPr txBox="1"/>
          <p:nvPr/>
        </p:nvSpPr>
        <p:spPr>
          <a:xfrm>
            <a:off x="7187184" y="2112264"/>
            <a:ext cx="434340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1.657 → 1.880 con los mismos 173 días L–V: de 9,6 a 10,9 CME por día hábil. El crecimiento real es de la actividad núcleo; la oftalmología de fin de semana cae −8,7 %.</a:t>
            </a:r>
            <a:endParaRPr lang="en-US" sz="950" dirty="0"/>
          </a:p>
        </p:txBody>
      </p:sp>
      <p:sp>
        <p:nvSpPr>
          <p:cNvPr id="50" name="Shape 47"/>
          <p:cNvSpPr/>
          <p:nvPr/>
        </p:nvSpPr>
        <p:spPr>
          <a:xfrm>
            <a:off x="7040880" y="2770632"/>
            <a:ext cx="4636008" cy="987552"/>
          </a:xfrm>
          <a:prstGeom prst="roundRect">
            <a:avLst>
              <a:gd name="adj" fmla="val 7407"/>
            </a:avLst>
          </a:prstGeom>
          <a:solidFill>
            <a:srgbClr val="0F1930"/>
          </a:solidFill>
          <a:ln w="15875">
            <a:solidFill>
              <a:srgbClr val="34D399"/>
            </a:solidFill>
            <a:prstDash val="solid"/>
          </a:ln>
        </p:spPr>
      </p:sp>
      <p:sp>
        <p:nvSpPr>
          <p:cNvPr id="51" name="Text 48"/>
          <p:cNvSpPr txBox="1"/>
          <p:nvPr/>
        </p:nvSpPr>
        <p:spPr>
          <a:xfrm>
            <a:off x="7187184" y="2880360"/>
            <a:ext cx="4343400" cy="274320"/>
          </a:xfrm>
          <a:prstGeom prst="rect">
            <a:avLst/>
          </a:prstGeom>
          <a:noFill/>
          <a:ln/>
        </p:spPr>
        <p:txBody>
          <a:bodyPr wrap="square" lIns="0" tIns="0" rIns="0" bIns="0" rtlCol="0" anchor="ctr"/>
          <a:lstStyle/>
          <a:p>
            <a:pPr algn="l" indent="0" marL="0">
              <a:buNone/>
            </a:pPr>
            <a:r>
              <a:rPr lang="en-US" sz="1150" b="1" dirty="0">
                <a:solidFill>
                  <a:srgbClr val="34D399"/>
                </a:solidFill>
                <a:latin typeface="Arial" pitchFamily="34" charset="0"/>
                <a:ea typeface="Arial" pitchFamily="34" charset="-122"/>
                <a:cs typeface="Arial" pitchFamily="34" charset="-120"/>
              </a:rPr>
              <a:t>−44 %  SUSPENSIONES HÁBILES</a:t>
            </a:r>
            <a:endParaRPr lang="en-US" sz="1150" dirty="0"/>
          </a:p>
        </p:txBody>
      </p:sp>
      <p:sp>
        <p:nvSpPr>
          <p:cNvPr id="52" name="Text 49"/>
          <p:cNvSpPr txBox="1"/>
          <p:nvPr/>
        </p:nvSpPr>
        <p:spPr>
          <a:xfrm>
            <a:off x="7187184" y="3191256"/>
            <a:ext cx="434340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133 → 74 con +8,6 % de programadas normales (1.353 → 1.469): se programa más y se suspende menos. Tasa 9,83 % → 5,04 %.</a:t>
            </a:r>
            <a:endParaRPr lang="en-US" sz="950" dirty="0"/>
          </a:p>
        </p:txBody>
      </p:sp>
      <p:sp>
        <p:nvSpPr>
          <p:cNvPr id="53" name="Shape 50"/>
          <p:cNvSpPr/>
          <p:nvPr/>
        </p:nvSpPr>
        <p:spPr>
          <a:xfrm>
            <a:off x="7040880" y="3849624"/>
            <a:ext cx="4636008" cy="987552"/>
          </a:xfrm>
          <a:prstGeom prst="roundRect">
            <a:avLst>
              <a:gd name="adj" fmla="val 7407"/>
            </a:avLst>
          </a:prstGeom>
          <a:solidFill>
            <a:srgbClr val="0F1930"/>
          </a:solidFill>
          <a:ln w="15875">
            <a:solidFill>
              <a:srgbClr val="F5B342"/>
            </a:solidFill>
            <a:prstDash val="solid"/>
          </a:ln>
        </p:spPr>
      </p:sp>
      <p:sp>
        <p:nvSpPr>
          <p:cNvPr id="54" name="Text 51"/>
          <p:cNvSpPr txBox="1"/>
          <p:nvPr/>
        </p:nvSpPr>
        <p:spPr>
          <a:xfrm>
            <a:off x="7187184" y="3959352"/>
            <a:ext cx="434340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+14,1 %  URGENCIA MAYOR</a:t>
            </a:r>
            <a:endParaRPr lang="en-US" sz="1150" dirty="0"/>
          </a:p>
        </p:txBody>
      </p:sp>
      <p:sp>
        <p:nvSpPr>
          <p:cNvPr id="55" name="Text 52"/>
          <p:cNvSpPr txBox="1"/>
          <p:nvPr/>
        </p:nvSpPr>
        <p:spPr>
          <a:xfrm>
            <a:off x="7187184" y="4270248"/>
            <a:ext cx="4343400" cy="475488"/>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1.164 → 1.328: presión creciente sobre el pabellón electivo. Refuerza proteger la tabla electiva y el pabellón de urgencia separado en el HPMM.</a:t>
            </a:r>
            <a:endParaRPr lang="en-US" sz="950" dirty="0"/>
          </a:p>
        </p:txBody>
      </p:sp>
      <p:sp>
        <p:nvSpPr>
          <p:cNvPr id="56" name="Shape 53"/>
          <p:cNvSpPr/>
          <p:nvPr/>
        </p:nvSpPr>
        <p:spPr>
          <a:xfrm>
            <a:off x="7040880" y="4928616"/>
            <a:ext cx="4636008" cy="923544"/>
          </a:xfrm>
          <a:prstGeom prst="roundRect">
            <a:avLst>
              <a:gd name="adj" fmla="val 7921"/>
            </a:avLst>
          </a:prstGeom>
          <a:solidFill>
            <a:srgbClr val="0F1930"/>
          </a:solidFill>
          <a:ln w="15875">
            <a:solidFill>
              <a:srgbClr val="5B6B85"/>
            </a:solidFill>
            <a:prstDash val="solid"/>
          </a:ln>
        </p:spPr>
      </p:sp>
      <p:sp>
        <p:nvSpPr>
          <p:cNvPr id="57" name="Text 54"/>
          <p:cNvSpPr txBox="1"/>
          <p:nvPr/>
        </p:nvSpPr>
        <p:spPr>
          <a:xfrm>
            <a:off x="7187184" y="5038344"/>
            <a:ext cx="4343400" cy="274320"/>
          </a:xfrm>
          <a:prstGeom prst="rect">
            <a:avLst/>
          </a:prstGeom>
          <a:noFill/>
          <a:ln/>
        </p:spPr>
        <p:txBody>
          <a:bodyPr wrap="square" lIns="0" tIns="0" rIns="0" bIns="0" rtlCol="0" anchor="ctr"/>
          <a:lstStyle/>
          <a:p>
            <a:pPr algn="l" indent="0" marL="0">
              <a:buNone/>
            </a:pPr>
            <a:r>
              <a:rPr lang="en-US" sz="1150" b="1" dirty="0">
                <a:solidFill>
                  <a:srgbClr val="BCCDE8"/>
                </a:solidFill>
                <a:latin typeface="Arial" pitchFamily="34" charset="0"/>
                <a:ea typeface="Arial" pitchFamily="34" charset="-122"/>
                <a:cs typeface="Arial" pitchFamily="34" charset="-120"/>
              </a:rPr>
              <a:t>* PROCEDIMIENTOS +166 %: NO COMPARABLE</a:t>
            </a:r>
            <a:endParaRPr lang="en-US" sz="1150" dirty="0"/>
          </a:p>
        </p:txBody>
      </p:sp>
      <p:sp>
        <p:nvSpPr>
          <p:cNvPr id="58" name="Text 55"/>
          <p:cNvSpPr txBox="1"/>
          <p:nvPr/>
        </p:nvSpPr>
        <p:spPr>
          <a:xfrm>
            <a:off x="7187184" y="5349240"/>
            <a:ext cx="4343400" cy="411480"/>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515 → 1.372. Desde julio el nuevo sistema registra procedimientos de anestesiología (285 en julio, 620 en agosto). No es producción quirúrgica nueva.</a:t>
            </a:r>
            <a:endParaRPr lang="en-US" sz="950" dirty="0"/>
          </a:p>
        </p:txBody>
      </p:sp>
      <p:sp>
        <p:nvSpPr>
          <p:cNvPr id="59" name="Text 56"/>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Ene–ago 2026 = ene–jun del informe de agosto + julio y agosto de la serie actualizada. Cx menor: 459 → 331. CME todas las fechas: 3.307 → 3.386. Total actividad: 5.445 → 6.417.</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24  ·  COMPARACIÓN INTERANUAL</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 comparación interanual distingue mes y acumulado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Cirugía mayor electiva y suspensión hábil · misma fórmula L–V · agosto y enero–agosto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25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834640"/>
                <a:gridCol w="1325880"/>
                <a:gridCol w="1325880"/>
                <a:gridCol w="1234440"/>
                <a:gridCol w="1463040"/>
                <a:gridCol w="1463040"/>
                <a:gridCol w="1527048"/>
              </a:tblGrid>
              <a:tr h="384048">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Indicador</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2025</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2026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Variación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Ene–ago 2025</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Ene–ago 2026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Variación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Programadas normales L–V</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190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152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−20,0 %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1.353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1.469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+8,6 %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Suspendidas L–V</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−91,3 %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74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−44,4 %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Tasa de suspensión hábil</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12,11 %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1,32 %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−10,8 pp</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9,83 %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5,04 %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−4,8 pp</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CME realizadas L–V</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231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201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−13,0 %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1.657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1.880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+13,5 %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CME por día L–V</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11,00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9,57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−13,0 %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9,58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10,87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+13,5 %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CME fin de semana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188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210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+11,7 %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1.650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1.506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−8,7 %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CME todas las fechas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419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411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−1,9 %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3.307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3.386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+2,4 %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Días lunes a viernes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173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173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502920" y="5257800"/>
            <a:ext cx="3639312" cy="822960"/>
          </a:xfrm>
          <a:prstGeom prst="roundRect">
            <a:avLst>
              <a:gd name="adj" fmla="val 8889"/>
            </a:avLst>
          </a:prstGeom>
          <a:solidFill>
            <a:srgbClr val="0F1930"/>
          </a:solidFill>
          <a:ln w="9525">
            <a:solidFill>
              <a:srgbClr val="22304A"/>
            </a:solidFill>
            <a:prstDash val="solid"/>
          </a:ln>
        </p:spPr>
      </p:sp>
      <p:sp>
        <p:nvSpPr>
          <p:cNvPr id="12" name="Text 8"/>
          <p:cNvSpPr txBox="1"/>
          <p:nvPr/>
        </p:nvSpPr>
        <p:spPr>
          <a:xfrm>
            <a:off x="640080" y="5330952"/>
            <a:ext cx="3364992"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−13,0 %</a:t>
            </a:r>
            <a:endParaRPr lang="en-US" sz="1800" dirty="0"/>
          </a:p>
        </p:txBody>
      </p:sp>
      <p:sp>
        <p:nvSpPr>
          <p:cNvPr id="13" name="Text 9"/>
          <p:cNvSpPr txBox="1"/>
          <p:nvPr/>
        </p:nvSpPr>
        <p:spPr>
          <a:xfrm>
            <a:off x="640080" y="564184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CME L–V · AGOSTO VS AGOSTO 2025</a:t>
            </a:r>
            <a:endParaRPr lang="en-US" sz="750" dirty="0"/>
          </a:p>
        </p:txBody>
      </p:sp>
      <p:sp>
        <p:nvSpPr>
          <p:cNvPr id="14" name="Text 10"/>
          <p:cNvSpPr txBox="1"/>
          <p:nvPr/>
        </p:nvSpPr>
        <p:spPr>
          <a:xfrm>
            <a:off x="640080" y="5806440"/>
            <a:ext cx="3364992" cy="25603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231 → 201 con los mismos 21 días · dos lunes sin tabla en Pabellón 2 y fin de semana en alza</a:t>
            </a:r>
            <a:endParaRPr lang="en-US" sz="850" dirty="0"/>
          </a:p>
        </p:txBody>
      </p:sp>
      <p:sp>
        <p:nvSpPr>
          <p:cNvPr id="15" name="Shape 11"/>
          <p:cNvSpPr/>
          <p:nvPr/>
        </p:nvSpPr>
        <p:spPr>
          <a:xfrm>
            <a:off x="4270248" y="5257800"/>
            <a:ext cx="3639312" cy="822960"/>
          </a:xfrm>
          <a:prstGeom prst="roundRect">
            <a:avLst>
              <a:gd name="adj" fmla="val 8889"/>
            </a:avLst>
          </a:prstGeom>
          <a:solidFill>
            <a:srgbClr val="0F1930"/>
          </a:solidFill>
          <a:ln w="15875">
            <a:solidFill>
              <a:srgbClr val="34D399"/>
            </a:solidFill>
            <a:prstDash val="solid"/>
          </a:ln>
        </p:spPr>
      </p:sp>
      <p:sp>
        <p:nvSpPr>
          <p:cNvPr id="16" name="Text 12"/>
          <p:cNvSpPr txBox="1"/>
          <p:nvPr/>
        </p:nvSpPr>
        <p:spPr>
          <a:xfrm>
            <a:off x="4407408" y="5330952"/>
            <a:ext cx="3364992"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+13,5 %</a:t>
            </a:r>
            <a:endParaRPr lang="en-US" sz="1800" dirty="0"/>
          </a:p>
        </p:txBody>
      </p:sp>
      <p:sp>
        <p:nvSpPr>
          <p:cNvPr id="17" name="Text 13"/>
          <p:cNvSpPr txBox="1"/>
          <p:nvPr/>
        </p:nvSpPr>
        <p:spPr>
          <a:xfrm>
            <a:off x="4407408" y="564184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CME L–V · ACUMULADO ENE–AGO</a:t>
            </a:r>
            <a:endParaRPr lang="en-US" sz="750" dirty="0"/>
          </a:p>
        </p:txBody>
      </p:sp>
      <p:sp>
        <p:nvSpPr>
          <p:cNvPr id="18" name="Text 14"/>
          <p:cNvSpPr txBox="1"/>
          <p:nvPr/>
        </p:nvSpPr>
        <p:spPr>
          <a:xfrm>
            <a:off x="4407408" y="5806440"/>
            <a:ext cx="3364992" cy="25603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1.657 → 1.880 · 173 días L–V en ambos años</a:t>
            </a:r>
            <a:endParaRPr lang="en-US" sz="850" dirty="0"/>
          </a:p>
        </p:txBody>
      </p:sp>
      <p:sp>
        <p:nvSpPr>
          <p:cNvPr id="19" name="Shape 15"/>
          <p:cNvSpPr/>
          <p:nvPr/>
        </p:nvSpPr>
        <p:spPr>
          <a:xfrm>
            <a:off x="8037576" y="5257800"/>
            <a:ext cx="3639312" cy="822960"/>
          </a:xfrm>
          <a:prstGeom prst="roundRect">
            <a:avLst>
              <a:gd name="adj" fmla="val 8889"/>
            </a:avLst>
          </a:prstGeom>
          <a:solidFill>
            <a:srgbClr val="0F1930"/>
          </a:solidFill>
          <a:ln w="15875">
            <a:solidFill>
              <a:srgbClr val="34D399"/>
            </a:solidFill>
            <a:prstDash val="solid"/>
          </a:ln>
        </p:spPr>
      </p:sp>
      <p:sp>
        <p:nvSpPr>
          <p:cNvPr id="20" name="Text 16"/>
          <p:cNvSpPr txBox="1"/>
          <p:nvPr/>
        </p:nvSpPr>
        <p:spPr>
          <a:xfrm>
            <a:off x="8174736" y="5330952"/>
            <a:ext cx="3364992"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−44 %</a:t>
            </a:r>
            <a:endParaRPr lang="en-US" sz="1800" dirty="0"/>
          </a:p>
        </p:txBody>
      </p:sp>
      <p:sp>
        <p:nvSpPr>
          <p:cNvPr id="21" name="Text 17"/>
          <p:cNvSpPr txBox="1"/>
          <p:nvPr/>
        </p:nvSpPr>
        <p:spPr>
          <a:xfrm>
            <a:off x="8174736" y="564184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SUSPENSIONES · ACUMULADO</a:t>
            </a:r>
            <a:endParaRPr lang="en-US" sz="750" dirty="0"/>
          </a:p>
        </p:txBody>
      </p:sp>
      <p:sp>
        <p:nvSpPr>
          <p:cNvPr id="22" name="Text 18"/>
          <p:cNvSpPr txBox="1"/>
          <p:nvPr/>
        </p:nvSpPr>
        <p:spPr>
          <a:xfrm>
            <a:off x="8174736" y="5806440"/>
            <a:ext cx="3364992" cy="25603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133 → 74 · Fisher p &lt; 0,001 · con +8,6 % de programadas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25  ·  CAPACIDAD · UN PABELLÓN MENOS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100" b="1" dirty="0">
                <a:solidFill>
                  <a:srgbClr val="EAF1FB"/>
                </a:solidFill>
                <a:latin typeface="Arial" pitchFamily="34" charset="0"/>
                <a:ea typeface="Arial" pitchFamily="34" charset="-122"/>
                <a:cs typeface="Arial" pitchFamily="34" charset="-120"/>
              </a:rPr>
              <a:t>La caída de julio–agosto es de pabellón-días, no de rendimiento por pabellón</a:t>
            </a:r>
            <a:endParaRPr lang="en-US" sz="21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Agosto: Pabellón 2 operó 9 de 21 días L–V · la producción por pabellón-día disponible se mantiene · estimación con la productividad observada</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26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6766560" cy="914400"/>
        </p:xfrm>
        <a:graphic>
          <a:graphicData uri="http://schemas.openxmlformats.org/drawingml/2006/table">
            <a:tbl>
              <a:tblPr/>
              <a:tblGrid>
                <a:gridCol w="2377440"/>
                <a:gridCol w="1005840"/>
                <a:gridCol w="1005840"/>
                <a:gridCol w="1005840"/>
                <a:gridCol w="1371600"/>
              </a:tblGrid>
              <a:tr h="384048">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Agosto 2026 · L–V</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Pabellón 2</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Pabellón 3</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Pabellón 4</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Total</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Días con actividad electiva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51 pabellón-días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Días posibles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63 pabellón-días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Encuentros L–V (todos)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98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80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214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Encuentros electivos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202 · 3,96 por pabellón-día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CME L–V (monitoreo)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201 · 3,94 por pabellón-día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Shape 7"/>
          <p:cNvSpPr/>
          <p:nvPr/>
        </p:nvSpPr>
        <p:spPr>
          <a:xfrm>
            <a:off x="7452360" y="1719072"/>
            <a:ext cx="4224528" cy="1188720"/>
          </a:xfrm>
          <a:prstGeom prst="roundRect">
            <a:avLst>
              <a:gd name="adj" fmla="val 6154"/>
            </a:avLst>
          </a:prstGeom>
          <a:solidFill>
            <a:srgbClr val="0F1930"/>
          </a:solidFill>
          <a:ln w="15875">
            <a:solidFill>
              <a:srgbClr val="F26B6B"/>
            </a:solidFill>
            <a:prstDash val="solid"/>
          </a:ln>
        </p:spPr>
      </p:sp>
      <p:sp>
        <p:nvSpPr>
          <p:cNvPr id="12" name="Text 8"/>
          <p:cNvSpPr txBox="1"/>
          <p:nvPr/>
        </p:nvSpPr>
        <p:spPr>
          <a:xfrm>
            <a:off x="7607808" y="1828800"/>
            <a:ext cx="3913632" cy="445770"/>
          </a:xfrm>
          <a:prstGeom prst="rect">
            <a:avLst/>
          </a:prstGeom>
          <a:noFill/>
          <a:ln/>
        </p:spPr>
        <p:txBody>
          <a:bodyPr wrap="square" lIns="0" tIns="0" rIns="0" bIns="0" rtlCol="0" anchor="ctr"/>
          <a:lstStyle/>
          <a:p>
            <a:pPr algn="l" indent="0" marL="0">
              <a:buNone/>
            </a:pPr>
            <a:r>
              <a:rPr lang="en-US" sz="2600" b="1" dirty="0">
                <a:solidFill>
                  <a:srgbClr val="F26B6B"/>
                </a:solidFill>
                <a:latin typeface="Arial" pitchFamily="34" charset="0"/>
                <a:ea typeface="Arial" pitchFamily="34" charset="-122"/>
                <a:cs typeface="Arial" pitchFamily="34" charset="-120"/>
              </a:rPr>
              <a:t>12 días</a:t>
            </a:r>
            <a:endParaRPr lang="en-US" sz="2600" dirty="0"/>
          </a:p>
        </p:txBody>
      </p:sp>
      <p:sp>
        <p:nvSpPr>
          <p:cNvPr id="13" name="Text 9"/>
          <p:cNvSpPr txBox="1"/>
          <p:nvPr/>
        </p:nvSpPr>
        <p:spPr>
          <a:xfrm>
            <a:off x="7607808" y="2292858"/>
            <a:ext cx="391363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SIN PABELLÓN 2 EN AGOSTO (L–V)</a:t>
            </a:r>
            <a:endParaRPr lang="en-US" sz="850" dirty="0"/>
          </a:p>
        </p:txBody>
      </p:sp>
      <p:sp>
        <p:nvSpPr>
          <p:cNvPr id="14" name="Text 10"/>
          <p:cNvSpPr txBox="1"/>
          <p:nvPr/>
        </p:nvSpPr>
        <p:spPr>
          <a:xfrm>
            <a:off x="7607808" y="2530602"/>
            <a:ext cx="3913632" cy="34061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19 % de los pabellón-días posibles · tres lunes por dotación y obras en cubierta</a:t>
            </a:r>
            <a:endParaRPr lang="en-US" sz="1000" dirty="0"/>
          </a:p>
        </p:txBody>
      </p:sp>
      <p:sp>
        <p:nvSpPr>
          <p:cNvPr id="15" name="Shape 11"/>
          <p:cNvSpPr/>
          <p:nvPr/>
        </p:nvSpPr>
        <p:spPr>
          <a:xfrm>
            <a:off x="7452360" y="3017520"/>
            <a:ext cx="4224528" cy="1188720"/>
          </a:xfrm>
          <a:prstGeom prst="roundRect">
            <a:avLst>
              <a:gd name="adj" fmla="val 6154"/>
            </a:avLst>
          </a:prstGeom>
          <a:solidFill>
            <a:srgbClr val="0F1930"/>
          </a:solidFill>
          <a:ln w="9525">
            <a:solidFill>
              <a:srgbClr val="22304A"/>
            </a:solidFill>
            <a:prstDash val="solid"/>
          </a:ln>
        </p:spPr>
      </p:sp>
      <p:sp>
        <p:nvSpPr>
          <p:cNvPr id="16" name="Text 12"/>
          <p:cNvSpPr txBox="1"/>
          <p:nvPr/>
        </p:nvSpPr>
        <p:spPr>
          <a:xfrm>
            <a:off x="7607808" y="3127248"/>
            <a:ext cx="3913632" cy="445770"/>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 +48</a:t>
            </a:r>
            <a:endParaRPr lang="en-US" sz="2600" dirty="0"/>
          </a:p>
        </p:txBody>
      </p:sp>
      <p:sp>
        <p:nvSpPr>
          <p:cNvPr id="17" name="Text 13"/>
          <p:cNvSpPr txBox="1"/>
          <p:nvPr/>
        </p:nvSpPr>
        <p:spPr>
          <a:xfrm>
            <a:off x="7607808" y="3591306"/>
            <a:ext cx="391363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ELECTIVOS L–V CON P2 COMPLETO</a:t>
            </a:r>
            <a:endParaRPr lang="en-US" sz="850" dirty="0"/>
          </a:p>
        </p:txBody>
      </p:sp>
      <p:sp>
        <p:nvSpPr>
          <p:cNvPr id="18" name="Text 14"/>
          <p:cNvSpPr txBox="1"/>
          <p:nvPr/>
        </p:nvSpPr>
        <p:spPr>
          <a:xfrm>
            <a:off x="7607808" y="3829050"/>
            <a:ext cx="3913632" cy="34061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202 → ≈ 250 a la productividad observada por pabellón-día</a:t>
            </a:r>
            <a:endParaRPr lang="en-US" sz="1000" dirty="0"/>
          </a:p>
        </p:txBody>
      </p:sp>
      <p:sp>
        <p:nvSpPr>
          <p:cNvPr id="19" name="Shape 15"/>
          <p:cNvSpPr/>
          <p:nvPr/>
        </p:nvSpPr>
        <p:spPr>
          <a:xfrm>
            <a:off x="7452360" y="4315968"/>
            <a:ext cx="4224528" cy="1188720"/>
          </a:xfrm>
          <a:prstGeom prst="roundRect">
            <a:avLst>
              <a:gd name="adj" fmla="val 6154"/>
            </a:avLst>
          </a:prstGeom>
          <a:solidFill>
            <a:srgbClr val="0F1930"/>
          </a:solidFill>
          <a:ln w="15875">
            <a:solidFill>
              <a:srgbClr val="34D399"/>
            </a:solidFill>
            <a:prstDash val="solid"/>
          </a:ln>
        </p:spPr>
      </p:sp>
      <p:sp>
        <p:nvSpPr>
          <p:cNvPr id="20" name="Text 16"/>
          <p:cNvSpPr txBox="1"/>
          <p:nvPr/>
        </p:nvSpPr>
        <p:spPr>
          <a:xfrm>
            <a:off x="7607808" y="4425696"/>
            <a:ext cx="3913632" cy="445770"/>
          </a:xfrm>
          <a:prstGeom prst="rect">
            <a:avLst/>
          </a:prstGeom>
          <a:noFill/>
          <a:ln/>
        </p:spPr>
        <p:txBody>
          <a:bodyPr wrap="square" lIns="0" tIns="0" rIns="0" bIns="0" rtlCol="0" anchor="ctr"/>
          <a:lstStyle/>
          <a:p>
            <a:pPr algn="l" indent="0" marL="0">
              <a:buNone/>
            </a:pPr>
            <a:r>
              <a:rPr lang="en-US" sz="2600" b="1" dirty="0">
                <a:solidFill>
                  <a:srgbClr val="34D399"/>
                </a:solidFill>
                <a:latin typeface="Arial" pitchFamily="34" charset="0"/>
                <a:ea typeface="Arial" pitchFamily="34" charset="-122"/>
                <a:cs typeface="Arial" pitchFamily="34" charset="-120"/>
              </a:rPr>
              <a:t>11,81 / día</a:t>
            </a:r>
            <a:endParaRPr lang="en-US" sz="2600" dirty="0"/>
          </a:p>
        </p:txBody>
      </p:sp>
      <p:sp>
        <p:nvSpPr>
          <p:cNvPr id="21" name="Text 17"/>
          <p:cNvSpPr txBox="1"/>
          <p:nvPr/>
        </p:nvSpPr>
        <p:spPr>
          <a:xfrm>
            <a:off x="7607808" y="4889754"/>
            <a:ext cx="391363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L–V POR DÍA · ESCENARIO P2 COMPLETO</a:t>
            </a:r>
            <a:endParaRPr lang="en-US" sz="850" dirty="0"/>
          </a:p>
        </p:txBody>
      </p:sp>
      <p:sp>
        <p:nvSpPr>
          <p:cNvPr id="22" name="Text 18"/>
          <p:cNvSpPr txBox="1"/>
          <p:nvPr/>
        </p:nvSpPr>
        <p:spPr>
          <a:xfrm>
            <a:off x="7607808" y="5127498"/>
            <a:ext cx="3913632" cy="34061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observado 9,57 · julio 9,30 · media 2026 10,87 · agosto 2025 11,00</a:t>
            </a:r>
            <a:endParaRPr lang="en-US" sz="1000" dirty="0"/>
          </a:p>
        </p:txBody>
      </p:sp>
      <p:sp>
        <p:nvSpPr>
          <p:cNvPr id="23" name="Shape 19"/>
          <p:cNvSpPr/>
          <p:nvPr/>
        </p:nvSpPr>
        <p:spPr>
          <a:xfrm>
            <a:off x="502920" y="4160520"/>
            <a:ext cx="6766560" cy="960120"/>
          </a:xfrm>
          <a:prstGeom prst="roundRect">
            <a:avLst>
              <a:gd name="adj" fmla="val 7619"/>
            </a:avLst>
          </a:prstGeom>
          <a:solidFill>
            <a:srgbClr val="0F1930"/>
          </a:solidFill>
          <a:ln w="15875">
            <a:solidFill>
              <a:srgbClr val="2DD4BF"/>
            </a:solidFill>
            <a:prstDash val="solid"/>
          </a:ln>
        </p:spPr>
      </p:sp>
      <p:sp>
        <p:nvSpPr>
          <p:cNvPr id="24" name="Text 20"/>
          <p:cNvSpPr txBox="1"/>
          <p:nvPr/>
        </p:nvSpPr>
        <p:spPr>
          <a:xfrm>
            <a:off x="649224" y="4270248"/>
            <a:ext cx="6473952"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LECTURA</a:t>
            </a:r>
            <a:endParaRPr lang="en-US" sz="1150" dirty="0"/>
          </a:p>
        </p:txBody>
      </p:sp>
      <p:sp>
        <p:nvSpPr>
          <p:cNvPr id="25" name="Text 21"/>
          <p:cNvSpPr txBox="1"/>
          <p:nvPr/>
        </p:nvSpPr>
        <p:spPr>
          <a:xfrm>
            <a:off x="649224" y="4581144"/>
            <a:ext cx="6473952" cy="448056"/>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Con un pabellón menos casi uno de cada cinco días, agosto produjo lo mismo por pabellón-día que el resto del año. La baja frente a agosto 2025 (231 → 201 CME L–V) cabe en los 12 pabellón-días perdidos; no hay evidencia de menor rendimiento del equipo.</a:t>
            </a:r>
            <a:endParaRPr lang="en-US" sz="1050" dirty="0"/>
          </a:p>
        </p:txBody>
      </p:sp>
      <p:sp>
        <p:nvSpPr>
          <p:cNvPr id="26" name="Shape 22"/>
          <p:cNvSpPr/>
          <p:nvPr/>
        </p:nvSpPr>
        <p:spPr>
          <a:xfrm>
            <a:off x="502920" y="5212080"/>
            <a:ext cx="6766560" cy="658368"/>
          </a:xfrm>
          <a:prstGeom prst="roundRect">
            <a:avLst>
              <a:gd name="adj" fmla="val 11111"/>
            </a:avLst>
          </a:prstGeom>
          <a:solidFill>
            <a:srgbClr val="0F1930"/>
          </a:solidFill>
          <a:ln w="15875">
            <a:solidFill>
              <a:srgbClr val="F5B342"/>
            </a:solidFill>
            <a:prstDash val="solid"/>
          </a:ln>
        </p:spPr>
      </p:sp>
      <p:sp>
        <p:nvSpPr>
          <p:cNvPr id="27" name="Text 23"/>
          <p:cNvSpPr txBox="1"/>
          <p:nvPr/>
        </p:nvSpPr>
        <p:spPr>
          <a:xfrm>
            <a:off x="649224" y="5321808"/>
            <a:ext cx="6473952" cy="457200"/>
          </a:xfrm>
          <a:prstGeom prst="rect">
            <a:avLst/>
          </a:prstGeom>
          <a:noFill/>
          <a:ln/>
        </p:spPr>
        <p:txBody>
          <a:bodyPr wrap="square" lIns="0" tIns="0" rIns="0" bIns="0" rtlCol="0" anchor="t"/>
          <a:lstStyle/>
          <a:p>
            <a:pPr algn="l" indent="0" marL="0">
              <a:buNone/>
            </a:pPr>
            <a:r>
              <a:rPr lang="en-US" sz="1000" b="1" dirty="0">
                <a:solidFill>
                  <a:srgbClr val="EAF1FB"/>
                </a:solidFill>
                <a:latin typeface="Arial" pitchFamily="34" charset="0"/>
                <a:ea typeface="Arial" pitchFamily="34" charset="-122"/>
                <a:cs typeface="Arial" pitchFamily="34" charset="-120"/>
              </a:rPr>
              <a:t>Julio: </a:t>
            </a:r>
            <a:pPr algn="l" indent="0" marL="0">
              <a:buNone/>
            </a:pPr>
            <a:r>
              <a:rPr lang="en-US" sz="1000" dirty="0">
                <a:solidFill>
                  <a:srgbClr val="C6D6EE"/>
                </a:solidFill>
                <a:latin typeface="Arial" pitchFamily="34" charset="0"/>
                <a:ea typeface="Arial" pitchFamily="34" charset="-122"/>
                <a:cs typeface="Arial" pitchFamily="34" charset="-120"/>
              </a:rPr>
              <a:t>también se operó parte del mes con un pabellón menos (climatización del 1 al 6 de julio y otras restricciones). Falta confirmar el número de días sin pabellón para estimar julio con la misma regla.</a:t>
            </a:r>
            <a:endParaRPr lang="en-US" sz="1000" dirty="0"/>
          </a:p>
        </p:txBody>
      </p:sp>
      <p:sp>
        <p:nvSpPr>
          <p:cNvPr id="28" name="Text 24"/>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Supuesto: productividad por pabellón-día constante; no ajusta por mezcla de casos ni horario. "Días con actividad" viene del export de encuentros: la ausencia de registros no acredita cierre formal.</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26  ·  PRODUCTIVIDAD HÁBIL</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 productividad por día L–V aumenta levemente en agosto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CME realizadas por día de calendario L–V · enero a agosto de 2026 · denominador: todos los días L–V, incluidos días sin CME</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27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sp>
        <p:nvSpPr>
          <p:cNvPr id="11" name="Shape 8"/>
          <p:cNvSpPr/>
          <p:nvPr/>
        </p:nvSpPr>
        <p:spPr>
          <a:xfrm>
            <a:off x="845820" y="2674204"/>
            <a:ext cx="594360" cy="2766476"/>
          </a:xfrm>
          <a:prstGeom prst="roundRect">
            <a:avLst>
              <a:gd name="adj" fmla="val 4615"/>
            </a:avLst>
          </a:prstGeom>
          <a:solidFill>
            <a:srgbClr val="2DD4BF"/>
          </a:solidFill>
          <a:ln/>
        </p:spPr>
      </p:sp>
      <p:sp>
        <p:nvSpPr>
          <p:cNvPr id="12" name="Text 9"/>
          <p:cNvSpPr txBox="1"/>
          <p:nvPr/>
        </p:nvSpPr>
        <p:spPr>
          <a:xfrm>
            <a:off x="662940" y="2436460"/>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11,6</a:t>
            </a:r>
            <a:endParaRPr lang="en-US" sz="1150" dirty="0"/>
          </a:p>
        </p:txBody>
      </p:sp>
      <p:sp>
        <p:nvSpPr>
          <p:cNvPr id="13" name="Text 10"/>
          <p:cNvSpPr txBox="1"/>
          <p:nvPr/>
        </p:nvSpPr>
        <p:spPr>
          <a:xfrm>
            <a:off x="6172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Ene</a:t>
            </a:r>
            <a:endParaRPr lang="en-US" sz="1050" dirty="0"/>
          </a:p>
        </p:txBody>
      </p:sp>
      <p:sp>
        <p:nvSpPr>
          <p:cNvPr id="14" name="Shape 11"/>
          <p:cNvSpPr/>
          <p:nvPr/>
        </p:nvSpPr>
        <p:spPr>
          <a:xfrm>
            <a:off x="1760220" y="2528316"/>
            <a:ext cx="594360" cy="2912364"/>
          </a:xfrm>
          <a:prstGeom prst="roundRect">
            <a:avLst>
              <a:gd name="adj" fmla="val 4615"/>
            </a:avLst>
          </a:prstGeom>
          <a:solidFill>
            <a:srgbClr val="2DD4BF"/>
          </a:solidFill>
          <a:ln/>
        </p:spPr>
      </p:sp>
      <p:sp>
        <p:nvSpPr>
          <p:cNvPr id="15" name="Text 12"/>
          <p:cNvSpPr txBox="1"/>
          <p:nvPr/>
        </p:nvSpPr>
        <p:spPr>
          <a:xfrm>
            <a:off x="1577340" y="2290572"/>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12,3</a:t>
            </a:r>
            <a:endParaRPr lang="en-US" sz="1150" dirty="0"/>
          </a:p>
        </p:txBody>
      </p:sp>
      <p:sp>
        <p:nvSpPr>
          <p:cNvPr id="16" name="Text 13"/>
          <p:cNvSpPr txBox="1"/>
          <p:nvPr/>
        </p:nvSpPr>
        <p:spPr>
          <a:xfrm>
            <a:off x="15316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Feb</a:t>
            </a:r>
            <a:endParaRPr lang="en-US" sz="1050" dirty="0"/>
          </a:p>
        </p:txBody>
      </p:sp>
      <p:sp>
        <p:nvSpPr>
          <p:cNvPr id="17" name="Shape 14"/>
          <p:cNvSpPr/>
          <p:nvPr/>
        </p:nvSpPr>
        <p:spPr>
          <a:xfrm>
            <a:off x="2674620" y="2685011"/>
            <a:ext cx="594360" cy="2755669"/>
          </a:xfrm>
          <a:prstGeom prst="roundRect">
            <a:avLst>
              <a:gd name="adj" fmla="val 4615"/>
            </a:avLst>
          </a:prstGeom>
          <a:solidFill>
            <a:srgbClr val="2DD4BF"/>
          </a:solidFill>
          <a:ln/>
        </p:spPr>
      </p:sp>
      <p:sp>
        <p:nvSpPr>
          <p:cNvPr id="18" name="Text 15"/>
          <p:cNvSpPr txBox="1"/>
          <p:nvPr/>
        </p:nvSpPr>
        <p:spPr>
          <a:xfrm>
            <a:off x="2491740" y="2447267"/>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11,6</a:t>
            </a:r>
            <a:endParaRPr lang="en-US" sz="1150" dirty="0"/>
          </a:p>
        </p:txBody>
      </p:sp>
      <p:sp>
        <p:nvSpPr>
          <p:cNvPr id="19" name="Text 16"/>
          <p:cNvSpPr txBox="1"/>
          <p:nvPr/>
        </p:nvSpPr>
        <p:spPr>
          <a:xfrm>
            <a:off x="24460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Mar</a:t>
            </a:r>
            <a:endParaRPr lang="en-US" sz="1050" dirty="0"/>
          </a:p>
        </p:txBody>
      </p:sp>
      <p:sp>
        <p:nvSpPr>
          <p:cNvPr id="20" name="Shape 17"/>
          <p:cNvSpPr/>
          <p:nvPr/>
        </p:nvSpPr>
        <p:spPr>
          <a:xfrm>
            <a:off x="3589020" y="2350008"/>
            <a:ext cx="594360" cy="3090672"/>
          </a:xfrm>
          <a:prstGeom prst="roundRect">
            <a:avLst>
              <a:gd name="adj" fmla="val 4615"/>
            </a:avLst>
          </a:prstGeom>
          <a:solidFill>
            <a:srgbClr val="2DD4BF"/>
          </a:solidFill>
          <a:ln/>
        </p:spPr>
      </p:sp>
      <p:sp>
        <p:nvSpPr>
          <p:cNvPr id="21" name="Text 18"/>
          <p:cNvSpPr txBox="1"/>
          <p:nvPr/>
        </p:nvSpPr>
        <p:spPr>
          <a:xfrm>
            <a:off x="3406140" y="2112264"/>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13,0</a:t>
            </a:r>
            <a:endParaRPr lang="en-US" sz="1150" dirty="0"/>
          </a:p>
        </p:txBody>
      </p:sp>
      <p:sp>
        <p:nvSpPr>
          <p:cNvPr id="22" name="Text 19"/>
          <p:cNvSpPr txBox="1"/>
          <p:nvPr/>
        </p:nvSpPr>
        <p:spPr>
          <a:xfrm>
            <a:off x="33604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Abr</a:t>
            </a:r>
            <a:endParaRPr lang="en-US" sz="1050" dirty="0"/>
          </a:p>
        </p:txBody>
      </p:sp>
      <p:sp>
        <p:nvSpPr>
          <p:cNvPr id="23" name="Shape 20"/>
          <p:cNvSpPr/>
          <p:nvPr/>
        </p:nvSpPr>
        <p:spPr>
          <a:xfrm>
            <a:off x="4503420" y="3334947"/>
            <a:ext cx="594360" cy="2105733"/>
          </a:xfrm>
          <a:prstGeom prst="roundRect">
            <a:avLst>
              <a:gd name="adj" fmla="val 4615"/>
            </a:avLst>
          </a:prstGeom>
          <a:solidFill>
            <a:srgbClr val="2DD4BF"/>
          </a:solidFill>
          <a:ln/>
        </p:spPr>
      </p:sp>
      <p:sp>
        <p:nvSpPr>
          <p:cNvPr id="24" name="Text 21"/>
          <p:cNvSpPr txBox="1"/>
          <p:nvPr/>
        </p:nvSpPr>
        <p:spPr>
          <a:xfrm>
            <a:off x="4320540" y="3097203"/>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8,9</a:t>
            </a:r>
            <a:endParaRPr lang="en-US" sz="1150" dirty="0"/>
          </a:p>
        </p:txBody>
      </p:sp>
      <p:sp>
        <p:nvSpPr>
          <p:cNvPr id="25" name="Text 22"/>
          <p:cNvSpPr txBox="1"/>
          <p:nvPr/>
        </p:nvSpPr>
        <p:spPr>
          <a:xfrm>
            <a:off x="42748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May</a:t>
            </a:r>
            <a:endParaRPr lang="en-US" sz="1050" dirty="0"/>
          </a:p>
        </p:txBody>
      </p:sp>
      <p:sp>
        <p:nvSpPr>
          <p:cNvPr id="26" name="Shape 23"/>
          <p:cNvSpPr/>
          <p:nvPr/>
        </p:nvSpPr>
        <p:spPr>
          <a:xfrm>
            <a:off x="5417820" y="2879529"/>
            <a:ext cx="594360" cy="2561151"/>
          </a:xfrm>
          <a:prstGeom prst="roundRect">
            <a:avLst>
              <a:gd name="adj" fmla="val 4615"/>
            </a:avLst>
          </a:prstGeom>
          <a:solidFill>
            <a:srgbClr val="2DD4BF"/>
          </a:solidFill>
          <a:ln/>
        </p:spPr>
      </p:sp>
      <p:sp>
        <p:nvSpPr>
          <p:cNvPr id="27" name="Text 24"/>
          <p:cNvSpPr txBox="1"/>
          <p:nvPr/>
        </p:nvSpPr>
        <p:spPr>
          <a:xfrm>
            <a:off x="5234940" y="2641785"/>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10,8</a:t>
            </a:r>
            <a:endParaRPr lang="en-US" sz="1150" dirty="0"/>
          </a:p>
        </p:txBody>
      </p:sp>
      <p:sp>
        <p:nvSpPr>
          <p:cNvPr id="28" name="Text 25"/>
          <p:cNvSpPr txBox="1"/>
          <p:nvPr/>
        </p:nvSpPr>
        <p:spPr>
          <a:xfrm>
            <a:off x="51892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Jun</a:t>
            </a:r>
            <a:endParaRPr lang="en-US" sz="1050" dirty="0"/>
          </a:p>
        </p:txBody>
      </p:sp>
      <p:sp>
        <p:nvSpPr>
          <p:cNvPr id="29" name="Shape 26"/>
          <p:cNvSpPr/>
          <p:nvPr/>
        </p:nvSpPr>
        <p:spPr>
          <a:xfrm>
            <a:off x="6332220" y="3228627"/>
            <a:ext cx="594360" cy="2212053"/>
          </a:xfrm>
          <a:prstGeom prst="roundRect">
            <a:avLst>
              <a:gd name="adj" fmla="val 4615"/>
            </a:avLst>
          </a:prstGeom>
          <a:solidFill>
            <a:srgbClr val="2DD4BF"/>
          </a:solidFill>
          <a:ln/>
        </p:spPr>
      </p:sp>
      <p:sp>
        <p:nvSpPr>
          <p:cNvPr id="30" name="Text 27"/>
          <p:cNvSpPr txBox="1"/>
          <p:nvPr/>
        </p:nvSpPr>
        <p:spPr>
          <a:xfrm>
            <a:off x="6149340" y="2990883"/>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9,3</a:t>
            </a:r>
            <a:endParaRPr lang="en-US" sz="1150" dirty="0"/>
          </a:p>
        </p:txBody>
      </p:sp>
      <p:sp>
        <p:nvSpPr>
          <p:cNvPr id="31" name="Text 28"/>
          <p:cNvSpPr txBox="1"/>
          <p:nvPr/>
        </p:nvSpPr>
        <p:spPr>
          <a:xfrm>
            <a:off x="61036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Jul</a:t>
            </a:r>
            <a:endParaRPr lang="en-US" sz="1050" dirty="0"/>
          </a:p>
        </p:txBody>
      </p:sp>
      <p:sp>
        <p:nvSpPr>
          <p:cNvPr id="32" name="Shape 29"/>
          <p:cNvSpPr/>
          <p:nvPr/>
        </p:nvSpPr>
        <p:spPr>
          <a:xfrm>
            <a:off x="7246620" y="3165130"/>
            <a:ext cx="594360" cy="2275550"/>
          </a:xfrm>
          <a:prstGeom prst="roundRect">
            <a:avLst>
              <a:gd name="adj" fmla="val 4615"/>
            </a:avLst>
          </a:prstGeom>
          <a:solidFill>
            <a:srgbClr val="5EEAD4"/>
          </a:solidFill>
          <a:ln/>
        </p:spPr>
      </p:sp>
      <p:sp>
        <p:nvSpPr>
          <p:cNvPr id="33" name="Text 30"/>
          <p:cNvSpPr txBox="1"/>
          <p:nvPr/>
        </p:nvSpPr>
        <p:spPr>
          <a:xfrm>
            <a:off x="7063740" y="2927386"/>
            <a:ext cx="960120" cy="237744"/>
          </a:xfrm>
          <a:prstGeom prst="rect">
            <a:avLst/>
          </a:prstGeom>
          <a:noFill/>
          <a:ln/>
        </p:spPr>
        <p:txBody>
          <a:bodyPr wrap="square" lIns="0" tIns="0" rIns="0" bIns="0" rtlCol="0" anchor="b"/>
          <a:lstStyle/>
          <a:p>
            <a:pPr algn="ctr" indent="0" marL="0">
              <a:buNone/>
            </a:pPr>
            <a:r>
              <a:rPr lang="en-US" sz="1150" b="1" dirty="0">
                <a:solidFill>
                  <a:srgbClr val="EAF1FB"/>
                </a:solidFill>
                <a:latin typeface="Arial" pitchFamily="34" charset="0"/>
                <a:ea typeface="Arial" pitchFamily="34" charset="-122"/>
                <a:cs typeface="Arial" pitchFamily="34" charset="-120"/>
              </a:rPr>
              <a:t>9,6</a:t>
            </a:r>
            <a:endParaRPr lang="en-US" sz="1150" dirty="0"/>
          </a:p>
        </p:txBody>
      </p:sp>
      <p:sp>
        <p:nvSpPr>
          <p:cNvPr id="34" name="Text 31"/>
          <p:cNvSpPr txBox="1"/>
          <p:nvPr/>
        </p:nvSpPr>
        <p:spPr>
          <a:xfrm>
            <a:off x="7018020" y="5440680"/>
            <a:ext cx="1051560" cy="274320"/>
          </a:xfrm>
          <a:prstGeom prst="rect">
            <a:avLst/>
          </a:prstGeom>
          <a:noFill/>
          <a:ln/>
        </p:spPr>
        <p:txBody>
          <a:bodyPr wrap="square" lIns="0" tIns="0" rIns="0" bIns="0" rtlCol="0" anchor="ctr"/>
          <a:lstStyle/>
          <a:p>
            <a:pPr algn="ctr" indent="0" marL="0">
              <a:buNone/>
            </a:pPr>
            <a:r>
              <a:rPr lang="en-US" sz="1050" dirty="0">
                <a:solidFill>
                  <a:srgbClr val="94AACC"/>
                </a:solidFill>
                <a:latin typeface="Arial" pitchFamily="34" charset="0"/>
                <a:ea typeface="Arial" pitchFamily="34" charset="-122"/>
                <a:cs typeface="Arial" pitchFamily="34" charset="-120"/>
              </a:rPr>
              <a:t>Ago</a:t>
            </a:r>
            <a:endParaRPr lang="en-US" sz="1050" dirty="0"/>
          </a:p>
        </p:txBody>
      </p:sp>
      <p:sp>
        <p:nvSpPr>
          <p:cNvPr id="35" name="Shape 32"/>
          <p:cNvSpPr/>
          <p:nvPr/>
        </p:nvSpPr>
        <p:spPr>
          <a:xfrm>
            <a:off x="685800" y="2856403"/>
            <a:ext cx="7315200" cy="0"/>
          </a:xfrm>
          <a:prstGeom prst="line">
            <a:avLst/>
          </a:prstGeom>
          <a:noFill/>
          <a:ln w="15875">
            <a:solidFill>
              <a:srgbClr val="F5B342"/>
            </a:solidFill>
            <a:prstDash val="dash"/>
          </a:ln>
        </p:spPr>
      </p:sp>
      <p:sp>
        <p:nvSpPr>
          <p:cNvPr id="36" name="Text 33"/>
          <p:cNvSpPr txBox="1"/>
          <p:nvPr/>
        </p:nvSpPr>
        <p:spPr>
          <a:xfrm>
            <a:off x="5760720" y="2618659"/>
            <a:ext cx="2194560" cy="201168"/>
          </a:xfrm>
          <a:prstGeom prst="rect">
            <a:avLst/>
          </a:prstGeom>
          <a:noFill/>
          <a:ln/>
        </p:spPr>
        <p:txBody>
          <a:bodyPr wrap="square" lIns="0" tIns="0" rIns="0" bIns="0" rtlCol="0" anchor="ctr"/>
          <a:lstStyle/>
          <a:p>
            <a:pPr algn="r" indent="0" marL="0">
              <a:buNone/>
            </a:pPr>
            <a:r>
              <a:rPr lang="en-US" sz="850" dirty="0">
                <a:solidFill>
                  <a:srgbClr val="F5B342"/>
                </a:solidFill>
                <a:latin typeface="Arial" pitchFamily="34" charset="0"/>
                <a:ea typeface="Arial" pitchFamily="34" charset="-122"/>
                <a:cs typeface="Arial" pitchFamily="34" charset="-120"/>
              </a:rPr>
              <a:t>media ene–ago 2026: 10,87</a:t>
            </a:r>
            <a:endParaRPr lang="en-US" sz="850" dirty="0"/>
          </a:p>
        </p:txBody>
      </p:sp>
      <p:sp>
        <p:nvSpPr>
          <p:cNvPr id="37" name="Shape 34"/>
          <p:cNvSpPr/>
          <p:nvPr/>
        </p:nvSpPr>
        <p:spPr>
          <a:xfrm>
            <a:off x="8275320" y="1691640"/>
            <a:ext cx="3401568" cy="1298448"/>
          </a:xfrm>
          <a:prstGeom prst="roundRect">
            <a:avLst>
              <a:gd name="adj" fmla="val 5634"/>
            </a:avLst>
          </a:prstGeom>
          <a:solidFill>
            <a:srgbClr val="0F1930"/>
          </a:solidFill>
          <a:ln w="9525">
            <a:solidFill>
              <a:srgbClr val="22304A"/>
            </a:solidFill>
            <a:prstDash val="solid"/>
          </a:ln>
        </p:spPr>
      </p:sp>
      <p:sp>
        <p:nvSpPr>
          <p:cNvPr id="38" name="Text 35"/>
          <p:cNvSpPr txBox="1"/>
          <p:nvPr/>
        </p:nvSpPr>
        <p:spPr>
          <a:xfrm>
            <a:off x="8430768" y="1801368"/>
            <a:ext cx="3090672" cy="445770"/>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9,57</a:t>
            </a:r>
            <a:endParaRPr lang="en-US" sz="2600" dirty="0"/>
          </a:p>
        </p:txBody>
      </p:sp>
      <p:sp>
        <p:nvSpPr>
          <p:cNvPr id="39" name="Text 36"/>
          <p:cNvSpPr txBox="1"/>
          <p:nvPr/>
        </p:nvSpPr>
        <p:spPr>
          <a:xfrm>
            <a:off x="8430768" y="226542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 POR DÍA L–V · AGOSTO</a:t>
            </a:r>
            <a:endParaRPr lang="en-US" sz="850" dirty="0"/>
          </a:p>
        </p:txBody>
      </p:sp>
      <p:sp>
        <p:nvSpPr>
          <p:cNvPr id="40" name="Text 37"/>
          <p:cNvSpPr txBox="1"/>
          <p:nvPr/>
        </p:nvSpPr>
        <p:spPr>
          <a:xfrm>
            <a:off x="8430768" y="2503170"/>
            <a:ext cx="30906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+2,9 % vs julio (9,30) · 201 CME en 21 días</a:t>
            </a:r>
            <a:endParaRPr lang="en-US" sz="1000" dirty="0"/>
          </a:p>
        </p:txBody>
      </p:sp>
      <p:sp>
        <p:nvSpPr>
          <p:cNvPr id="41" name="Shape 38"/>
          <p:cNvSpPr/>
          <p:nvPr/>
        </p:nvSpPr>
        <p:spPr>
          <a:xfrm>
            <a:off x="8275320" y="3099816"/>
            <a:ext cx="3401568" cy="1298448"/>
          </a:xfrm>
          <a:prstGeom prst="roundRect">
            <a:avLst>
              <a:gd name="adj" fmla="val 5634"/>
            </a:avLst>
          </a:prstGeom>
          <a:solidFill>
            <a:srgbClr val="0F1930"/>
          </a:solidFill>
          <a:ln w="15875">
            <a:solidFill>
              <a:srgbClr val="34D399"/>
            </a:solidFill>
            <a:prstDash val="solid"/>
          </a:ln>
        </p:spPr>
      </p:sp>
      <p:sp>
        <p:nvSpPr>
          <p:cNvPr id="42" name="Text 39"/>
          <p:cNvSpPr txBox="1"/>
          <p:nvPr/>
        </p:nvSpPr>
        <p:spPr>
          <a:xfrm>
            <a:off x="8430768" y="3209544"/>
            <a:ext cx="3090672" cy="445770"/>
          </a:xfrm>
          <a:prstGeom prst="rect">
            <a:avLst/>
          </a:prstGeom>
          <a:noFill/>
          <a:ln/>
        </p:spPr>
        <p:txBody>
          <a:bodyPr wrap="square" lIns="0" tIns="0" rIns="0" bIns="0" rtlCol="0" anchor="ctr"/>
          <a:lstStyle/>
          <a:p>
            <a:pPr algn="l" indent="0" marL="0">
              <a:buNone/>
            </a:pPr>
            <a:r>
              <a:rPr lang="en-US" sz="2600" b="1" dirty="0">
                <a:solidFill>
                  <a:srgbClr val="34D399"/>
                </a:solidFill>
                <a:latin typeface="Arial" pitchFamily="34" charset="0"/>
                <a:ea typeface="Arial" pitchFamily="34" charset="-122"/>
                <a:cs typeface="Arial" pitchFamily="34" charset="-120"/>
              </a:rPr>
              <a:t>10,87</a:t>
            </a:r>
            <a:endParaRPr lang="en-US" sz="2600" dirty="0"/>
          </a:p>
        </p:txBody>
      </p:sp>
      <p:sp>
        <p:nvSpPr>
          <p:cNvPr id="43" name="Text 40"/>
          <p:cNvSpPr txBox="1"/>
          <p:nvPr/>
        </p:nvSpPr>
        <p:spPr>
          <a:xfrm>
            <a:off x="8430768" y="3673602"/>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MEDIA ENE–AGO 2026</a:t>
            </a:r>
            <a:endParaRPr lang="en-US" sz="850" dirty="0"/>
          </a:p>
        </p:txBody>
      </p:sp>
      <p:sp>
        <p:nvSpPr>
          <p:cNvPr id="44" name="Text 41"/>
          <p:cNvSpPr txBox="1"/>
          <p:nvPr/>
        </p:nvSpPr>
        <p:spPr>
          <a:xfrm>
            <a:off x="8430768" y="3911346"/>
            <a:ext cx="30906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vs 9,58 en ene–ago 2025 (+13,5 %) · 173 días L–V en ambos</a:t>
            </a:r>
            <a:endParaRPr lang="en-US" sz="1000" dirty="0"/>
          </a:p>
        </p:txBody>
      </p:sp>
      <p:sp>
        <p:nvSpPr>
          <p:cNvPr id="45" name="Shape 42"/>
          <p:cNvSpPr/>
          <p:nvPr/>
        </p:nvSpPr>
        <p:spPr>
          <a:xfrm>
            <a:off x="8275320" y="4507992"/>
            <a:ext cx="3401568" cy="1344168"/>
          </a:xfrm>
          <a:prstGeom prst="roundRect">
            <a:avLst>
              <a:gd name="adj" fmla="val 5442"/>
            </a:avLst>
          </a:prstGeom>
          <a:solidFill>
            <a:srgbClr val="0F1930"/>
          </a:solidFill>
          <a:ln w="9525">
            <a:solidFill>
              <a:srgbClr val="22304A"/>
            </a:solidFill>
            <a:prstDash val="solid"/>
          </a:ln>
        </p:spPr>
      </p:sp>
      <p:sp>
        <p:nvSpPr>
          <p:cNvPr id="46" name="Text 43"/>
          <p:cNvSpPr txBox="1"/>
          <p:nvPr/>
        </p:nvSpPr>
        <p:spPr>
          <a:xfrm>
            <a:off x="8430768" y="4617720"/>
            <a:ext cx="3090672" cy="377190"/>
          </a:xfrm>
          <a:prstGeom prst="rect">
            <a:avLst/>
          </a:prstGeom>
          <a:noFill/>
          <a:ln/>
        </p:spPr>
        <p:txBody>
          <a:bodyPr wrap="square" lIns="0" tIns="0" rIns="0" bIns="0" rtlCol="0" anchor="ctr"/>
          <a:lstStyle/>
          <a:p>
            <a:pPr algn="l" indent="0" marL="0">
              <a:buNone/>
            </a:pPr>
            <a:r>
              <a:rPr lang="en-US" sz="2200" b="1" dirty="0">
                <a:solidFill>
                  <a:srgbClr val="F5B342"/>
                </a:solidFill>
                <a:latin typeface="Arial" pitchFamily="34" charset="0"/>
                <a:ea typeface="Arial" pitchFamily="34" charset="-122"/>
                <a:cs typeface="Arial" pitchFamily="34" charset="-120"/>
              </a:rPr>
              <a:t>3,9 → 11,8</a:t>
            </a:r>
            <a:endParaRPr lang="en-US" sz="2200" dirty="0"/>
          </a:p>
        </p:txBody>
      </p:sp>
      <p:sp>
        <p:nvSpPr>
          <p:cNvPr id="47" name="Text 44"/>
          <p:cNvSpPr txBox="1"/>
          <p:nvPr/>
        </p:nvSpPr>
        <p:spPr>
          <a:xfrm>
            <a:off x="8430768" y="5013198"/>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CME/DÍA · ESCENARIO P2 COMPLETO</a:t>
            </a:r>
            <a:endParaRPr lang="en-US" sz="850" dirty="0"/>
          </a:p>
        </p:txBody>
      </p:sp>
      <p:sp>
        <p:nvSpPr>
          <p:cNvPr id="48" name="Text 45"/>
          <p:cNvSpPr txBox="1"/>
          <p:nvPr/>
        </p:nvSpPr>
        <p:spPr>
          <a:xfrm>
            <a:off x="8430768" y="5250942"/>
            <a:ext cx="3090672" cy="5646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agosto tuvo 51 de 63 pabellón-días L–V (P2 solo 9 días): con P2 completo, ≈ 248 CME = 11,8 por día</a:t>
            </a:r>
            <a:endParaRPr lang="en-US" sz="1000" dirty="0"/>
          </a:p>
        </p:txBody>
      </p:sp>
      <p:sp>
        <p:nvSpPr>
          <p:cNvPr id="49" name="Text 46"/>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Denominador: días L–V del calendario, incluidos días sin CME registradas; no días de pabellón disponible. Julio y agosto se recalcularon con la serie homogénea.</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27  ·  ESPECIALIDADES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Especialidades de la cirugía mayor electiva realizada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Agosto · 405 CME del export de encuentros · clasificación por cruce exacto con el detalle REM832</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28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6949440" cy="4160520"/>
          </a:xfrm>
          <a:prstGeom prst="roundRect">
            <a:avLst>
              <a:gd name="adj" fmla="val 1758"/>
            </a:avLst>
          </a:prstGeom>
          <a:solidFill>
            <a:srgbClr val="0F1930"/>
          </a:solidFill>
          <a:ln w="9525">
            <a:solidFill>
              <a:srgbClr val="22304A"/>
            </a:solidFill>
            <a:prstDash val="solid"/>
          </a:ln>
        </p:spPr>
      </p:sp>
      <p:sp>
        <p:nvSpPr>
          <p:cNvPr id="11" name="Text 8"/>
          <p:cNvSpPr txBox="1"/>
          <p:nvPr/>
        </p:nvSpPr>
        <p:spPr>
          <a:xfrm>
            <a:off x="640080" y="1971838"/>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Oftalmología</a:t>
            </a:r>
            <a:endParaRPr lang="en-US" sz="1100" dirty="0"/>
          </a:p>
        </p:txBody>
      </p:sp>
      <p:sp>
        <p:nvSpPr>
          <p:cNvPr id="12" name="Shape 9"/>
          <p:cNvSpPr/>
          <p:nvPr/>
        </p:nvSpPr>
        <p:spPr>
          <a:xfrm>
            <a:off x="2560320" y="1990126"/>
            <a:ext cx="4297680" cy="310896"/>
          </a:xfrm>
          <a:prstGeom prst="roundRect">
            <a:avLst>
              <a:gd name="adj" fmla="val 11765"/>
            </a:avLst>
          </a:prstGeom>
          <a:solidFill>
            <a:srgbClr val="5B7DB1"/>
          </a:solidFill>
          <a:ln/>
        </p:spPr>
      </p:sp>
      <p:sp>
        <p:nvSpPr>
          <p:cNvPr id="13" name="Text 10"/>
          <p:cNvSpPr txBox="1"/>
          <p:nvPr/>
        </p:nvSpPr>
        <p:spPr>
          <a:xfrm>
            <a:off x="6931152" y="1971838"/>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232</a:t>
            </a:r>
            <a:endParaRPr lang="en-US" sz="1150" dirty="0"/>
          </a:p>
        </p:txBody>
      </p:sp>
      <p:sp>
        <p:nvSpPr>
          <p:cNvPr id="14" name="Text 11"/>
          <p:cNvSpPr txBox="1"/>
          <p:nvPr/>
        </p:nvSpPr>
        <p:spPr>
          <a:xfrm>
            <a:off x="640080" y="2513947"/>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Cirugía General</a:t>
            </a:r>
            <a:endParaRPr lang="en-US" sz="1100" dirty="0"/>
          </a:p>
        </p:txBody>
      </p:sp>
      <p:sp>
        <p:nvSpPr>
          <p:cNvPr id="15" name="Shape 12"/>
          <p:cNvSpPr/>
          <p:nvPr/>
        </p:nvSpPr>
        <p:spPr>
          <a:xfrm>
            <a:off x="2560320" y="2532235"/>
            <a:ext cx="740979" cy="310896"/>
          </a:xfrm>
          <a:prstGeom prst="roundRect">
            <a:avLst>
              <a:gd name="adj" fmla="val 11765"/>
            </a:avLst>
          </a:prstGeom>
          <a:solidFill>
            <a:srgbClr val="2DD4BF"/>
          </a:solidFill>
          <a:ln/>
        </p:spPr>
      </p:sp>
      <p:sp>
        <p:nvSpPr>
          <p:cNvPr id="16" name="Text 13"/>
          <p:cNvSpPr txBox="1"/>
          <p:nvPr/>
        </p:nvSpPr>
        <p:spPr>
          <a:xfrm>
            <a:off x="3374451" y="2513947"/>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40</a:t>
            </a:r>
            <a:endParaRPr lang="en-US" sz="1150" dirty="0"/>
          </a:p>
        </p:txBody>
      </p:sp>
      <p:sp>
        <p:nvSpPr>
          <p:cNvPr id="17" name="Text 14"/>
          <p:cNvSpPr txBox="1"/>
          <p:nvPr/>
        </p:nvSpPr>
        <p:spPr>
          <a:xfrm>
            <a:off x="640080" y="3056055"/>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Ginecología</a:t>
            </a:r>
            <a:endParaRPr lang="en-US" sz="1100" dirty="0"/>
          </a:p>
        </p:txBody>
      </p:sp>
      <p:sp>
        <p:nvSpPr>
          <p:cNvPr id="18" name="Shape 15"/>
          <p:cNvSpPr/>
          <p:nvPr/>
        </p:nvSpPr>
        <p:spPr>
          <a:xfrm>
            <a:off x="2560320" y="3074343"/>
            <a:ext cx="648357" cy="310896"/>
          </a:xfrm>
          <a:prstGeom prst="roundRect">
            <a:avLst>
              <a:gd name="adj" fmla="val 11765"/>
            </a:avLst>
          </a:prstGeom>
          <a:solidFill>
            <a:srgbClr val="2DD4BF"/>
          </a:solidFill>
          <a:ln/>
        </p:spPr>
      </p:sp>
      <p:sp>
        <p:nvSpPr>
          <p:cNvPr id="19" name="Text 16"/>
          <p:cNvSpPr txBox="1"/>
          <p:nvPr/>
        </p:nvSpPr>
        <p:spPr>
          <a:xfrm>
            <a:off x="3281829" y="3056055"/>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35</a:t>
            </a:r>
            <a:endParaRPr lang="en-US" sz="1150" dirty="0"/>
          </a:p>
        </p:txBody>
      </p:sp>
      <p:sp>
        <p:nvSpPr>
          <p:cNvPr id="20" name="Text 17"/>
          <p:cNvSpPr txBox="1"/>
          <p:nvPr/>
        </p:nvSpPr>
        <p:spPr>
          <a:xfrm>
            <a:off x="640080" y="3598164"/>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Urología</a:t>
            </a:r>
            <a:endParaRPr lang="en-US" sz="1100" dirty="0"/>
          </a:p>
        </p:txBody>
      </p:sp>
      <p:sp>
        <p:nvSpPr>
          <p:cNvPr id="21" name="Shape 18"/>
          <p:cNvSpPr/>
          <p:nvPr/>
        </p:nvSpPr>
        <p:spPr>
          <a:xfrm>
            <a:off x="2560320" y="3616452"/>
            <a:ext cx="592783" cy="310896"/>
          </a:xfrm>
          <a:prstGeom prst="roundRect">
            <a:avLst>
              <a:gd name="adj" fmla="val 11765"/>
            </a:avLst>
          </a:prstGeom>
          <a:solidFill>
            <a:srgbClr val="2DD4BF"/>
          </a:solidFill>
          <a:ln/>
        </p:spPr>
      </p:sp>
      <p:sp>
        <p:nvSpPr>
          <p:cNvPr id="22" name="Text 19"/>
          <p:cNvSpPr txBox="1"/>
          <p:nvPr/>
        </p:nvSpPr>
        <p:spPr>
          <a:xfrm>
            <a:off x="3226255" y="3598164"/>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32</a:t>
            </a:r>
            <a:endParaRPr lang="en-US" sz="1150" dirty="0"/>
          </a:p>
        </p:txBody>
      </p:sp>
      <p:sp>
        <p:nvSpPr>
          <p:cNvPr id="23" name="Text 20"/>
          <p:cNvSpPr txBox="1"/>
          <p:nvPr/>
        </p:nvSpPr>
        <p:spPr>
          <a:xfrm>
            <a:off x="640080" y="4140273"/>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Traumatología</a:t>
            </a:r>
            <a:endParaRPr lang="en-US" sz="1100" dirty="0"/>
          </a:p>
        </p:txBody>
      </p:sp>
      <p:sp>
        <p:nvSpPr>
          <p:cNvPr id="24" name="Shape 21"/>
          <p:cNvSpPr/>
          <p:nvPr/>
        </p:nvSpPr>
        <p:spPr>
          <a:xfrm>
            <a:off x="2560320" y="4158561"/>
            <a:ext cx="555734" cy="310896"/>
          </a:xfrm>
          <a:prstGeom prst="roundRect">
            <a:avLst>
              <a:gd name="adj" fmla="val 11765"/>
            </a:avLst>
          </a:prstGeom>
          <a:solidFill>
            <a:srgbClr val="2DD4BF"/>
          </a:solidFill>
          <a:ln/>
        </p:spPr>
      </p:sp>
      <p:sp>
        <p:nvSpPr>
          <p:cNvPr id="25" name="Text 22"/>
          <p:cNvSpPr txBox="1"/>
          <p:nvPr/>
        </p:nvSpPr>
        <p:spPr>
          <a:xfrm>
            <a:off x="3189206" y="4140273"/>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30</a:t>
            </a:r>
            <a:endParaRPr lang="en-US" sz="1150" dirty="0"/>
          </a:p>
        </p:txBody>
      </p:sp>
      <p:sp>
        <p:nvSpPr>
          <p:cNvPr id="26" name="Text 23"/>
          <p:cNvSpPr txBox="1"/>
          <p:nvPr/>
        </p:nvSpPr>
        <p:spPr>
          <a:xfrm>
            <a:off x="640080" y="4682381"/>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Otras especialidades</a:t>
            </a:r>
            <a:endParaRPr lang="en-US" sz="1100" dirty="0"/>
          </a:p>
        </p:txBody>
      </p:sp>
      <p:sp>
        <p:nvSpPr>
          <p:cNvPr id="27" name="Shape 24"/>
          <p:cNvSpPr/>
          <p:nvPr/>
        </p:nvSpPr>
        <p:spPr>
          <a:xfrm>
            <a:off x="2560320" y="4700669"/>
            <a:ext cx="629832" cy="310896"/>
          </a:xfrm>
          <a:prstGeom prst="roundRect">
            <a:avLst>
              <a:gd name="adj" fmla="val 11765"/>
            </a:avLst>
          </a:prstGeom>
          <a:solidFill>
            <a:srgbClr val="2DD4BF"/>
          </a:solidFill>
          <a:ln/>
        </p:spPr>
      </p:sp>
      <p:sp>
        <p:nvSpPr>
          <p:cNvPr id="28" name="Text 25"/>
          <p:cNvSpPr txBox="1"/>
          <p:nvPr/>
        </p:nvSpPr>
        <p:spPr>
          <a:xfrm>
            <a:off x="3263304" y="4682381"/>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34</a:t>
            </a:r>
            <a:endParaRPr lang="en-US" sz="1150" dirty="0"/>
          </a:p>
        </p:txBody>
      </p:sp>
      <p:sp>
        <p:nvSpPr>
          <p:cNvPr id="29" name="Text 26"/>
          <p:cNvSpPr txBox="1"/>
          <p:nvPr/>
        </p:nvSpPr>
        <p:spPr>
          <a:xfrm>
            <a:off x="640080" y="5224490"/>
            <a:ext cx="1810512" cy="347472"/>
          </a:xfrm>
          <a:prstGeom prst="rect">
            <a:avLst/>
          </a:prstGeom>
          <a:noFill/>
          <a:ln/>
        </p:spPr>
        <p:txBody>
          <a:bodyPr wrap="square" lIns="0" tIns="0" rIns="0" bIns="0" rtlCol="0" anchor="ctr"/>
          <a:lstStyle/>
          <a:p>
            <a:pPr algn="r" indent="0" marL="0">
              <a:buNone/>
            </a:pPr>
            <a:r>
              <a:rPr lang="en-US" sz="1100" dirty="0">
                <a:solidFill>
                  <a:srgbClr val="BCCDE8"/>
                </a:solidFill>
                <a:latin typeface="Arial" pitchFamily="34" charset="0"/>
                <a:ea typeface="Arial" pitchFamily="34" charset="-122"/>
                <a:cs typeface="Arial" pitchFamily="34" charset="-120"/>
              </a:rPr>
              <a:t>Por resolver</a:t>
            </a:r>
            <a:endParaRPr lang="en-US" sz="1100" dirty="0"/>
          </a:p>
        </p:txBody>
      </p:sp>
      <p:sp>
        <p:nvSpPr>
          <p:cNvPr id="30" name="Shape 27"/>
          <p:cNvSpPr/>
          <p:nvPr/>
        </p:nvSpPr>
        <p:spPr>
          <a:xfrm>
            <a:off x="2560320" y="5242778"/>
            <a:ext cx="37049" cy="310896"/>
          </a:xfrm>
          <a:prstGeom prst="roundRect">
            <a:avLst>
              <a:gd name="adj" fmla="val 98723"/>
            </a:avLst>
          </a:prstGeom>
          <a:solidFill>
            <a:srgbClr val="5B6B85"/>
          </a:solidFill>
          <a:ln/>
        </p:spPr>
      </p:sp>
      <p:sp>
        <p:nvSpPr>
          <p:cNvPr id="31" name="Text 28"/>
          <p:cNvSpPr txBox="1"/>
          <p:nvPr/>
        </p:nvSpPr>
        <p:spPr>
          <a:xfrm>
            <a:off x="2670521" y="5224490"/>
            <a:ext cx="1005840" cy="347472"/>
          </a:xfrm>
          <a:prstGeom prst="rect">
            <a:avLst/>
          </a:prstGeom>
          <a:noFill/>
          <a:ln/>
        </p:spPr>
        <p:txBody>
          <a:bodyPr wrap="square" lIns="0" tIns="0" rIns="0" bIns="0" rtlCol="0" anchor="ctr"/>
          <a:lstStyle/>
          <a:p>
            <a:pPr algn="l" indent="0" marL="0">
              <a:buNone/>
            </a:pPr>
            <a:r>
              <a:rPr lang="en-US" sz="1150" b="1" dirty="0">
                <a:solidFill>
                  <a:srgbClr val="EAF1FB"/>
                </a:solidFill>
                <a:latin typeface="Arial" pitchFamily="34" charset="0"/>
                <a:ea typeface="Arial" pitchFamily="34" charset="-122"/>
                <a:cs typeface="Arial" pitchFamily="34" charset="-120"/>
              </a:rPr>
              <a:t>2</a:t>
            </a:r>
            <a:endParaRPr lang="en-US" sz="1150" dirty="0"/>
          </a:p>
        </p:txBody>
      </p:sp>
      <p:sp>
        <p:nvSpPr>
          <p:cNvPr id="32" name="Shape 29"/>
          <p:cNvSpPr/>
          <p:nvPr/>
        </p:nvSpPr>
        <p:spPr>
          <a:xfrm>
            <a:off x="7589520" y="1691640"/>
            <a:ext cx="4087368" cy="1298448"/>
          </a:xfrm>
          <a:prstGeom prst="roundRect">
            <a:avLst>
              <a:gd name="adj" fmla="val 5634"/>
            </a:avLst>
          </a:prstGeom>
          <a:solidFill>
            <a:srgbClr val="0F1930"/>
          </a:solidFill>
          <a:ln w="9525">
            <a:solidFill>
              <a:srgbClr val="22304A"/>
            </a:solidFill>
            <a:prstDash val="solid"/>
          </a:ln>
        </p:spPr>
      </p:sp>
      <p:sp>
        <p:nvSpPr>
          <p:cNvPr id="33" name="Text 30"/>
          <p:cNvSpPr txBox="1"/>
          <p:nvPr/>
        </p:nvSpPr>
        <p:spPr>
          <a:xfrm>
            <a:off x="7744968" y="1801368"/>
            <a:ext cx="3776472" cy="445770"/>
          </a:xfrm>
          <a:prstGeom prst="rect">
            <a:avLst/>
          </a:prstGeom>
          <a:noFill/>
          <a:ln/>
        </p:spPr>
        <p:txBody>
          <a:bodyPr wrap="square" lIns="0" tIns="0" rIns="0" bIns="0" rtlCol="0" anchor="ctr"/>
          <a:lstStyle/>
          <a:p>
            <a:pPr algn="l" indent="0" marL="0">
              <a:buNone/>
            </a:pPr>
            <a:r>
              <a:rPr lang="en-US" sz="2600" b="1" dirty="0">
                <a:solidFill>
                  <a:srgbClr val="5EEAD4"/>
                </a:solidFill>
                <a:latin typeface="Arial" pitchFamily="34" charset="0"/>
                <a:ea typeface="Arial" pitchFamily="34" charset="-122"/>
                <a:cs typeface="Arial" pitchFamily="34" charset="-120"/>
              </a:rPr>
              <a:t>403 / 405</a:t>
            </a:r>
            <a:endParaRPr lang="en-US" sz="2600" dirty="0"/>
          </a:p>
        </p:txBody>
      </p:sp>
      <p:sp>
        <p:nvSpPr>
          <p:cNvPr id="34" name="Text 31"/>
          <p:cNvSpPr txBox="1"/>
          <p:nvPr/>
        </p:nvSpPr>
        <p:spPr>
          <a:xfrm>
            <a:off x="7744968" y="2265426"/>
            <a:ext cx="37764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CON ESPECIALIDAD EXPLÍCITA VINCULADA</a:t>
            </a:r>
            <a:endParaRPr lang="en-US" sz="850" dirty="0"/>
          </a:p>
        </p:txBody>
      </p:sp>
      <p:sp>
        <p:nvSpPr>
          <p:cNvPr id="35" name="Text 32"/>
          <p:cNvSpPr txBox="1"/>
          <p:nvPr/>
        </p:nvSpPr>
        <p:spPr>
          <a:xfrm>
            <a:off x="7744968" y="2503170"/>
            <a:ext cx="37764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una sin coincidencia y una discordante permanecen por resolver</a:t>
            </a:r>
            <a:endParaRPr lang="en-US" sz="1000" dirty="0"/>
          </a:p>
        </p:txBody>
      </p:sp>
      <p:sp>
        <p:nvSpPr>
          <p:cNvPr id="36" name="Shape 33"/>
          <p:cNvSpPr/>
          <p:nvPr/>
        </p:nvSpPr>
        <p:spPr>
          <a:xfrm>
            <a:off x="7589520" y="3099816"/>
            <a:ext cx="4087368" cy="1298448"/>
          </a:xfrm>
          <a:prstGeom prst="roundRect">
            <a:avLst>
              <a:gd name="adj" fmla="val 5634"/>
            </a:avLst>
          </a:prstGeom>
          <a:solidFill>
            <a:srgbClr val="0F1930"/>
          </a:solidFill>
          <a:ln w="9525">
            <a:solidFill>
              <a:srgbClr val="22304A"/>
            </a:solidFill>
            <a:prstDash val="solid"/>
          </a:ln>
        </p:spPr>
      </p:sp>
      <p:sp>
        <p:nvSpPr>
          <p:cNvPr id="37" name="Text 34"/>
          <p:cNvSpPr txBox="1"/>
          <p:nvPr/>
        </p:nvSpPr>
        <p:spPr>
          <a:xfrm>
            <a:off x="7744968" y="3209544"/>
            <a:ext cx="3776472" cy="445770"/>
          </a:xfrm>
          <a:prstGeom prst="rect">
            <a:avLst/>
          </a:prstGeom>
          <a:noFill/>
          <a:ln/>
        </p:spPr>
        <p:txBody>
          <a:bodyPr wrap="square" lIns="0" tIns="0" rIns="0" bIns="0" rtlCol="0" anchor="ctr"/>
          <a:lstStyle/>
          <a:p>
            <a:pPr algn="l" indent="0" marL="0">
              <a:buNone/>
            </a:pPr>
            <a:r>
              <a:rPr lang="en-US" sz="2600" b="1" dirty="0">
                <a:solidFill>
                  <a:srgbClr val="7FA3D9"/>
                </a:solidFill>
                <a:latin typeface="Arial" pitchFamily="34" charset="0"/>
                <a:ea typeface="Arial" pitchFamily="34" charset="-122"/>
                <a:cs typeface="Arial" pitchFamily="34" charset="-120"/>
              </a:rPr>
              <a:t>232 · 173</a:t>
            </a:r>
            <a:endParaRPr lang="en-US" sz="2600" dirty="0"/>
          </a:p>
        </p:txBody>
      </p:sp>
      <p:sp>
        <p:nvSpPr>
          <p:cNvPr id="38" name="Text 35"/>
          <p:cNvSpPr txBox="1"/>
          <p:nvPr/>
        </p:nvSpPr>
        <p:spPr>
          <a:xfrm>
            <a:off x="7744968" y="3673602"/>
            <a:ext cx="37764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FIN DE SEMANA · LUNES A VIERNES</a:t>
            </a:r>
            <a:endParaRPr lang="en-US" sz="850" dirty="0"/>
          </a:p>
        </p:txBody>
      </p:sp>
      <p:sp>
        <p:nvSpPr>
          <p:cNvPr id="39" name="Text 36"/>
          <p:cNvSpPr txBox="1"/>
          <p:nvPr/>
        </p:nvSpPr>
        <p:spPr>
          <a:xfrm>
            <a:off x="7744968" y="3911346"/>
            <a:ext cx="3776472" cy="4503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Oftalmología ocupa el fin de semana; 173 CME L–V se reparten en cinco especialidades y otras</a:t>
            </a:r>
            <a:endParaRPr lang="en-US" sz="1000" dirty="0"/>
          </a:p>
        </p:txBody>
      </p:sp>
      <p:sp>
        <p:nvSpPr>
          <p:cNvPr id="40" name="Shape 37"/>
          <p:cNvSpPr/>
          <p:nvPr/>
        </p:nvSpPr>
        <p:spPr>
          <a:xfrm>
            <a:off x="7589520" y="4507992"/>
            <a:ext cx="4087368" cy="1344168"/>
          </a:xfrm>
          <a:prstGeom prst="roundRect">
            <a:avLst>
              <a:gd name="adj" fmla="val 5442"/>
            </a:avLst>
          </a:prstGeom>
          <a:solidFill>
            <a:srgbClr val="0F1930"/>
          </a:solidFill>
          <a:ln w="9525">
            <a:solidFill>
              <a:srgbClr val="22304A"/>
            </a:solidFill>
            <a:prstDash val="solid"/>
          </a:ln>
        </p:spPr>
      </p:sp>
      <p:sp>
        <p:nvSpPr>
          <p:cNvPr id="41" name="Text 38"/>
          <p:cNvSpPr txBox="1"/>
          <p:nvPr/>
        </p:nvSpPr>
        <p:spPr>
          <a:xfrm>
            <a:off x="7744968" y="4617720"/>
            <a:ext cx="3776472" cy="445770"/>
          </a:xfrm>
          <a:prstGeom prst="rect">
            <a:avLst/>
          </a:prstGeom>
          <a:noFill/>
          <a:ln/>
        </p:spPr>
        <p:txBody>
          <a:bodyPr wrap="square" lIns="0" tIns="0" rIns="0" bIns="0" rtlCol="0" anchor="ctr"/>
          <a:lstStyle/>
          <a:p>
            <a:pPr algn="l" indent="0" marL="0">
              <a:buNone/>
            </a:pPr>
            <a:r>
              <a:rPr lang="en-US" sz="2600" b="1" dirty="0">
                <a:solidFill>
                  <a:srgbClr val="F5B342"/>
                </a:solidFill>
                <a:latin typeface="Arial" pitchFamily="34" charset="0"/>
                <a:ea typeface="Arial" pitchFamily="34" charset="-122"/>
                <a:cs typeface="Arial" pitchFamily="34" charset="-120"/>
              </a:rPr>
              <a:t>30</a:t>
            </a:r>
            <a:endParaRPr lang="en-US" sz="2600" dirty="0"/>
          </a:p>
        </p:txBody>
      </p:sp>
      <p:sp>
        <p:nvSpPr>
          <p:cNvPr id="42" name="Text 39"/>
          <p:cNvSpPr txBox="1"/>
          <p:nvPr/>
        </p:nvSpPr>
        <p:spPr>
          <a:xfrm>
            <a:off x="7744968" y="5081778"/>
            <a:ext cx="37764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TRAUMATOLOGÍA</a:t>
            </a:r>
            <a:endParaRPr lang="en-US" sz="850" dirty="0"/>
          </a:p>
        </p:txBody>
      </p:sp>
      <p:sp>
        <p:nvSpPr>
          <p:cNvPr id="43" name="Text 40"/>
          <p:cNvSpPr txBox="1"/>
          <p:nvPr/>
        </p:nvSpPr>
        <p:spPr>
          <a:xfrm>
            <a:off x="7744968" y="5319522"/>
            <a:ext cx="3776472" cy="49606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especialidad de los dos eventos MINSAL del mes (3 y 17 de agosto)</a:t>
            </a:r>
            <a:endParaRPr lang="en-US" sz="1000" dirty="0"/>
          </a:p>
        </p:txBody>
      </p:sp>
      <p:sp>
        <p:nvSpPr>
          <p:cNvPr id="44" name="Text 41"/>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Otras especialidades (34): 23 Otras Especialidades, 5 Maxilofacial, 4 Neurocirugía, 1 Tórax, 1 Odontología. En el export, 74,7 % de los encuentros de agosto no traen especialidad: la clasificación depende del cruce con REM832.</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28  ·  PABELLONES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 actividad por pabellón muestra circuitos distintos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Agosto · 640 encuentros depurados, electivos y urgencias · encuentros por pabellón y calendario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29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1371600"/>
                <a:gridCol w="914400"/>
                <a:gridCol w="1371600"/>
                <a:gridCol w="914400"/>
                <a:gridCol w="1920240"/>
                <a:gridCol w="4681728"/>
              </a:tblGrid>
              <a:tr h="420624">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Pabellón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L–V</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Fin de semana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Días L–V con electivas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Lectura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 · Urgencia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141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188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Circuito de urgencia; excluido del tablero electivo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Actividad en 9 fechas L–V (3–7, 26–28 y 31)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233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331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Concentra el fin de semana oftalmológico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80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85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Electivo L–V todos los días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355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285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640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452 en pabellones 2–4 · 14,6 por día de calendario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Shape 7"/>
          <p:cNvSpPr/>
          <p:nvPr/>
        </p:nvSpPr>
        <p:spPr>
          <a:xfrm>
            <a:off x="502920" y="4434840"/>
            <a:ext cx="3639312" cy="960120"/>
          </a:xfrm>
          <a:prstGeom prst="roundRect">
            <a:avLst>
              <a:gd name="adj" fmla="val 7619"/>
            </a:avLst>
          </a:prstGeom>
          <a:solidFill>
            <a:srgbClr val="0F1930"/>
          </a:solidFill>
          <a:ln w="9525">
            <a:solidFill>
              <a:srgbClr val="22304A"/>
            </a:solidFill>
            <a:prstDash val="solid"/>
          </a:ln>
        </p:spPr>
      </p:sp>
      <p:sp>
        <p:nvSpPr>
          <p:cNvPr id="12" name="Text 8"/>
          <p:cNvSpPr txBox="1"/>
          <p:nvPr/>
        </p:nvSpPr>
        <p:spPr>
          <a:xfrm>
            <a:off x="640080" y="4507992"/>
            <a:ext cx="3364992"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452</a:t>
            </a:r>
            <a:endParaRPr lang="en-US" sz="1800" dirty="0"/>
          </a:p>
        </p:txBody>
      </p:sp>
      <p:sp>
        <p:nvSpPr>
          <p:cNvPr id="13" name="Text 9"/>
          <p:cNvSpPr txBox="1"/>
          <p:nvPr/>
        </p:nvSpPr>
        <p:spPr>
          <a:xfrm>
            <a:off x="640080" y="481888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ENCUENTROS · PABELLONES 2–4</a:t>
            </a:r>
            <a:endParaRPr lang="en-US" sz="750" dirty="0"/>
          </a:p>
        </p:txBody>
      </p:sp>
      <p:sp>
        <p:nvSpPr>
          <p:cNvPr id="14" name="Text 10"/>
          <p:cNvSpPr txBox="1"/>
          <p:nvPr/>
        </p:nvSpPr>
        <p:spPr>
          <a:xfrm>
            <a:off x="640080" y="4983480"/>
            <a:ext cx="3364992"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434 electivos + 18 urgencias · 14,6 por día de calendario en el escritorio SITGEQ</a:t>
            </a:r>
            <a:endParaRPr lang="en-US" sz="850" dirty="0"/>
          </a:p>
        </p:txBody>
      </p:sp>
      <p:sp>
        <p:nvSpPr>
          <p:cNvPr id="15" name="Shape 11"/>
          <p:cNvSpPr/>
          <p:nvPr/>
        </p:nvSpPr>
        <p:spPr>
          <a:xfrm>
            <a:off x="4270248" y="4434840"/>
            <a:ext cx="3639312" cy="960120"/>
          </a:xfrm>
          <a:prstGeom prst="roundRect">
            <a:avLst>
              <a:gd name="adj" fmla="val 7619"/>
            </a:avLst>
          </a:prstGeom>
          <a:solidFill>
            <a:srgbClr val="0F1930"/>
          </a:solidFill>
          <a:ln w="15875">
            <a:solidFill>
              <a:srgbClr val="F5B342"/>
            </a:solidFill>
            <a:prstDash val="solid"/>
          </a:ln>
        </p:spPr>
      </p:sp>
      <p:sp>
        <p:nvSpPr>
          <p:cNvPr id="16" name="Text 12"/>
          <p:cNvSpPr txBox="1"/>
          <p:nvPr/>
        </p:nvSpPr>
        <p:spPr>
          <a:xfrm>
            <a:off x="4407408" y="4507992"/>
            <a:ext cx="3364992"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9 de 21</a:t>
            </a:r>
            <a:endParaRPr lang="en-US" sz="1800" dirty="0"/>
          </a:p>
        </p:txBody>
      </p:sp>
      <p:sp>
        <p:nvSpPr>
          <p:cNvPr id="17" name="Text 13"/>
          <p:cNvSpPr txBox="1"/>
          <p:nvPr/>
        </p:nvSpPr>
        <p:spPr>
          <a:xfrm>
            <a:off x="4407408" y="481888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DÍAS L–V CON ACTIVIDAD · PABELLÓN 2</a:t>
            </a:r>
            <a:endParaRPr lang="en-US" sz="750" dirty="0"/>
          </a:p>
        </p:txBody>
      </p:sp>
      <p:sp>
        <p:nvSpPr>
          <p:cNvPr id="18" name="Text 14"/>
          <p:cNvSpPr txBox="1"/>
          <p:nvPr/>
        </p:nvSpPr>
        <p:spPr>
          <a:xfrm>
            <a:off x="4407408" y="4983480"/>
            <a:ext cx="3364992"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la ausencia de registros no acredita cierre; tres lunes sin tabla por dotación</a:t>
            </a:r>
            <a:endParaRPr lang="en-US" sz="850" dirty="0"/>
          </a:p>
        </p:txBody>
      </p:sp>
      <p:sp>
        <p:nvSpPr>
          <p:cNvPr id="19" name="Shape 15"/>
          <p:cNvSpPr/>
          <p:nvPr/>
        </p:nvSpPr>
        <p:spPr>
          <a:xfrm>
            <a:off x="8037576" y="4434840"/>
            <a:ext cx="3639312" cy="960120"/>
          </a:xfrm>
          <a:prstGeom prst="roundRect">
            <a:avLst>
              <a:gd name="adj" fmla="val 7619"/>
            </a:avLst>
          </a:prstGeom>
          <a:solidFill>
            <a:srgbClr val="0F1930"/>
          </a:solidFill>
          <a:ln w="9525">
            <a:solidFill>
              <a:srgbClr val="22304A"/>
            </a:solidFill>
            <a:prstDash val="solid"/>
          </a:ln>
        </p:spPr>
      </p:sp>
      <p:sp>
        <p:nvSpPr>
          <p:cNvPr id="20" name="Text 16"/>
          <p:cNvSpPr txBox="1"/>
          <p:nvPr/>
        </p:nvSpPr>
        <p:spPr>
          <a:xfrm>
            <a:off x="8174736" y="4507992"/>
            <a:ext cx="3364992"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233</a:t>
            </a:r>
            <a:endParaRPr lang="en-US" sz="1800" dirty="0"/>
          </a:p>
        </p:txBody>
      </p:sp>
      <p:sp>
        <p:nvSpPr>
          <p:cNvPr id="21" name="Text 17"/>
          <p:cNvSpPr txBox="1"/>
          <p:nvPr/>
        </p:nvSpPr>
        <p:spPr>
          <a:xfrm>
            <a:off x="8174736" y="4818888"/>
            <a:ext cx="3364992"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FIN DE SEMANA · PABELLÓN 3</a:t>
            </a:r>
            <a:endParaRPr lang="en-US" sz="750" dirty="0"/>
          </a:p>
        </p:txBody>
      </p:sp>
      <p:sp>
        <p:nvSpPr>
          <p:cNvPr id="22" name="Text 18"/>
          <p:cNvSpPr txBox="1"/>
          <p:nvPr/>
        </p:nvSpPr>
        <p:spPr>
          <a:xfrm>
            <a:off x="8174736" y="4983480"/>
            <a:ext cx="3364992" cy="39319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toda la actividad oftalmológica de fin de semana pasa por un pabellón</a:t>
            </a:r>
            <a:endParaRPr lang="en-US" sz="850" dirty="0"/>
          </a:p>
        </p:txBody>
      </p:sp>
      <p:sp>
        <p:nvSpPr>
          <p:cNvPr id="23" name="Text 19"/>
          <p:cNvSpPr txBox="1"/>
          <p:nvPr/>
        </p:nvSpPr>
        <p:spPr>
          <a:xfrm>
            <a:off x="502920" y="557784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Encuentros realizados de cualquier modalidad. Los 188 de Pabellón 1 no forman parte del universo del tablero de producción (pabellones de tipo electivo 2–4).</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29  ·  TIEMPOS · EL DÍA QUIRÚRGICO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Los tiempos de pabellón, explicados en un solo caso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Medianas de agosto para un caso electivo de lunes a viernes · qué mide cada tramo, cuánto dura y dónde está la oportunidad</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30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691640"/>
            <a:ext cx="82296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UN CASO ELECTIVO TÍPICO DE LUNES A VIERNES · MEDIANAS DE AGOSTO (MINUTOS)</a:t>
            </a:r>
            <a:endParaRPr lang="en-US" sz="850" dirty="0"/>
          </a:p>
        </p:txBody>
      </p:sp>
      <p:sp>
        <p:nvSpPr>
          <p:cNvPr id="11" name="Shape 8"/>
          <p:cNvSpPr/>
          <p:nvPr/>
        </p:nvSpPr>
        <p:spPr>
          <a:xfrm>
            <a:off x="502920" y="1965960"/>
            <a:ext cx="1165979" cy="566928"/>
          </a:xfrm>
          <a:prstGeom prst="rect">
            <a:avLst/>
          </a:prstGeom>
          <a:solidFill>
            <a:srgbClr val="7FA3D9">
              <a:alpha val="75000"/>
            </a:srgbClr>
          </a:solidFill>
          <a:ln w="12700">
            <a:solidFill>
              <a:srgbClr val="0B1220"/>
            </a:solidFill>
            <a:prstDash val="solid"/>
          </a:ln>
        </p:spPr>
      </p:sp>
      <p:sp>
        <p:nvSpPr>
          <p:cNvPr id="12" name="Text 9"/>
          <p:cNvSpPr txBox="1"/>
          <p:nvPr/>
        </p:nvSpPr>
        <p:spPr>
          <a:xfrm>
            <a:off x="502920" y="1965960"/>
            <a:ext cx="1165979" cy="566928"/>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12 min</a:t>
            </a:r>
            <a:endParaRPr lang="en-US" sz="1300" dirty="0"/>
          </a:p>
        </p:txBody>
      </p:sp>
      <p:sp>
        <p:nvSpPr>
          <p:cNvPr id="13" name="Text 10"/>
          <p:cNvSpPr txBox="1"/>
          <p:nvPr/>
        </p:nvSpPr>
        <p:spPr>
          <a:xfrm>
            <a:off x="502920" y="2578608"/>
            <a:ext cx="1165979" cy="384048"/>
          </a:xfrm>
          <a:prstGeom prst="rect">
            <a:avLst/>
          </a:prstGeom>
          <a:noFill/>
          <a:ln/>
        </p:spPr>
        <p:txBody>
          <a:bodyPr wrap="square" lIns="0" tIns="0" rIns="0" bIns="0" rtlCol="0" anchor="t"/>
          <a:lstStyle/>
          <a:p>
            <a:pPr algn="ctr" indent="0" marL="0">
              <a:buNone/>
            </a:pPr>
            <a:r>
              <a:rPr lang="en-US" sz="900" dirty="0">
                <a:solidFill>
                  <a:srgbClr val="BCCDE8"/>
                </a:solidFill>
                <a:latin typeface="Arial" pitchFamily="34" charset="0"/>
                <a:ea typeface="Arial" pitchFamily="34" charset="-122"/>
                <a:cs typeface="Arial" pitchFamily="34" charset="-120"/>
              </a:rPr>
              <a:t>Ingreso → anestesia</a:t>
            </a:r>
            <a:endParaRPr lang="en-US" sz="900" dirty="0"/>
          </a:p>
        </p:txBody>
      </p:sp>
      <p:sp>
        <p:nvSpPr>
          <p:cNvPr id="14" name="Shape 11"/>
          <p:cNvSpPr/>
          <p:nvPr/>
        </p:nvSpPr>
        <p:spPr>
          <a:xfrm>
            <a:off x="1668899" y="1965960"/>
            <a:ext cx="1748969" cy="566928"/>
          </a:xfrm>
          <a:prstGeom prst="rect">
            <a:avLst/>
          </a:prstGeom>
          <a:solidFill>
            <a:srgbClr val="A78BFA">
              <a:alpha val="75000"/>
            </a:srgbClr>
          </a:solidFill>
          <a:ln w="12700">
            <a:solidFill>
              <a:srgbClr val="0B1220"/>
            </a:solidFill>
            <a:prstDash val="solid"/>
          </a:ln>
        </p:spPr>
      </p:sp>
      <p:sp>
        <p:nvSpPr>
          <p:cNvPr id="15" name="Text 12"/>
          <p:cNvSpPr txBox="1"/>
          <p:nvPr/>
        </p:nvSpPr>
        <p:spPr>
          <a:xfrm>
            <a:off x="1668899" y="1965960"/>
            <a:ext cx="1748969" cy="566928"/>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18 min</a:t>
            </a:r>
            <a:endParaRPr lang="en-US" sz="1300" dirty="0"/>
          </a:p>
        </p:txBody>
      </p:sp>
      <p:sp>
        <p:nvSpPr>
          <p:cNvPr id="16" name="Text 13"/>
          <p:cNvSpPr txBox="1"/>
          <p:nvPr/>
        </p:nvSpPr>
        <p:spPr>
          <a:xfrm>
            <a:off x="1668899" y="2578608"/>
            <a:ext cx="1748969" cy="384048"/>
          </a:xfrm>
          <a:prstGeom prst="rect">
            <a:avLst/>
          </a:prstGeom>
          <a:noFill/>
          <a:ln/>
        </p:spPr>
        <p:txBody>
          <a:bodyPr wrap="square" lIns="0" tIns="0" rIns="0" bIns="0" rtlCol="0" anchor="t"/>
          <a:lstStyle/>
          <a:p>
            <a:pPr algn="ctr" indent="0" marL="0">
              <a:buNone/>
            </a:pPr>
            <a:r>
              <a:rPr lang="en-US" sz="900" dirty="0">
                <a:solidFill>
                  <a:srgbClr val="BCCDE8"/>
                </a:solidFill>
                <a:latin typeface="Arial" pitchFamily="34" charset="0"/>
                <a:ea typeface="Arial" pitchFamily="34" charset="-122"/>
                <a:cs typeface="Arial" pitchFamily="34" charset="-120"/>
              </a:rPr>
              <a:t>Anestesia → incisión</a:t>
            </a:r>
            <a:endParaRPr lang="en-US" sz="900" dirty="0"/>
          </a:p>
        </p:txBody>
      </p:sp>
      <p:sp>
        <p:nvSpPr>
          <p:cNvPr id="17" name="Shape 14"/>
          <p:cNvSpPr/>
          <p:nvPr/>
        </p:nvSpPr>
        <p:spPr>
          <a:xfrm>
            <a:off x="3417868" y="1965960"/>
            <a:ext cx="5246907" cy="566928"/>
          </a:xfrm>
          <a:prstGeom prst="rect">
            <a:avLst/>
          </a:prstGeom>
          <a:solidFill>
            <a:srgbClr val="2DD4BF">
              <a:alpha val="75000"/>
            </a:srgbClr>
          </a:solidFill>
          <a:ln w="12700">
            <a:solidFill>
              <a:srgbClr val="0B1220"/>
            </a:solidFill>
            <a:prstDash val="solid"/>
          </a:ln>
        </p:spPr>
      </p:sp>
      <p:sp>
        <p:nvSpPr>
          <p:cNvPr id="18" name="Text 15"/>
          <p:cNvSpPr txBox="1"/>
          <p:nvPr/>
        </p:nvSpPr>
        <p:spPr>
          <a:xfrm>
            <a:off x="3417868" y="1965960"/>
            <a:ext cx="5246907" cy="566928"/>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54 min</a:t>
            </a:r>
            <a:endParaRPr lang="en-US" sz="1300" dirty="0"/>
          </a:p>
        </p:txBody>
      </p:sp>
      <p:sp>
        <p:nvSpPr>
          <p:cNvPr id="19" name="Text 16"/>
          <p:cNvSpPr txBox="1"/>
          <p:nvPr/>
        </p:nvSpPr>
        <p:spPr>
          <a:xfrm>
            <a:off x="3417868" y="2578608"/>
            <a:ext cx="5246907" cy="384048"/>
          </a:xfrm>
          <a:prstGeom prst="rect">
            <a:avLst/>
          </a:prstGeom>
          <a:noFill/>
          <a:ln/>
        </p:spPr>
        <p:txBody>
          <a:bodyPr wrap="square" lIns="0" tIns="0" rIns="0" bIns="0" rtlCol="0" anchor="t"/>
          <a:lstStyle/>
          <a:p>
            <a:pPr algn="ctr" indent="0" marL="0">
              <a:buNone/>
            </a:pPr>
            <a:r>
              <a:rPr lang="en-US" sz="900" dirty="0">
                <a:solidFill>
                  <a:srgbClr val="BCCDE8"/>
                </a:solidFill>
                <a:latin typeface="Arial" pitchFamily="34" charset="0"/>
                <a:ea typeface="Arial" pitchFamily="34" charset="-122"/>
                <a:cs typeface="Arial" pitchFamily="34" charset="-120"/>
              </a:rPr>
              <a:t>Incisión → término (IQ)</a:t>
            </a:r>
            <a:endParaRPr lang="en-US" sz="900" dirty="0"/>
          </a:p>
        </p:txBody>
      </p:sp>
      <p:sp>
        <p:nvSpPr>
          <p:cNvPr id="20" name="Shape 17"/>
          <p:cNvSpPr/>
          <p:nvPr/>
        </p:nvSpPr>
        <p:spPr>
          <a:xfrm>
            <a:off x="8664775" y="1965960"/>
            <a:ext cx="1263144" cy="566928"/>
          </a:xfrm>
          <a:prstGeom prst="rect">
            <a:avLst/>
          </a:prstGeom>
          <a:solidFill>
            <a:srgbClr val="7FA3D9">
              <a:alpha val="75000"/>
            </a:srgbClr>
          </a:solidFill>
          <a:ln w="12700">
            <a:solidFill>
              <a:srgbClr val="0B1220"/>
            </a:solidFill>
            <a:prstDash val="solid"/>
          </a:ln>
        </p:spPr>
      </p:sp>
      <p:sp>
        <p:nvSpPr>
          <p:cNvPr id="21" name="Text 18"/>
          <p:cNvSpPr txBox="1"/>
          <p:nvPr/>
        </p:nvSpPr>
        <p:spPr>
          <a:xfrm>
            <a:off x="8664775" y="1965960"/>
            <a:ext cx="1263144" cy="566928"/>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13 min</a:t>
            </a:r>
            <a:endParaRPr lang="en-US" sz="1300" dirty="0"/>
          </a:p>
        </p:txBody>
      </p:sp>
      <p:sp>
        <p:nvSpPr>
          <p:cNvPr id="22" name="Text 19"/>
          <p:cNvSpPr txBox="1"/>
          <p:nvPr/>
        </p:nvSpPr>
        <p:spPr>
          <a:xfrm>
            <a:off x="8664775" y="2578608"/>
            <a:ext cx="1263144" cy="384048"/>
          </a:xfrm>
          <a:prstGeom prst="rect">
            <a:avLst/>
          </a:prstGeom>
          <a:noFill/>
          <a:ln/>
        </p:spPr>
        <p:txBody>
          <a:bodyPr wrap="square" lIns="0" tIns="0" rIns="0" bIns="0" rtlCol="0" anchor="t"/>
          <a:lstStyle/>
          <a:p>
            <a:pPr algn="ctr" indent="0" marL="0">
              <a:buNone/>
            </a:pPr>
            <a:r>
              <a:rPr lang="en-US" sz="900" dirty="0">
                <a:solidFill>
                  <a:srgbClr val="BCCDE8"/>
                </a:solidFill>
                <a:latin typeface="Arial" pitchFamily="34" charset="0"/>
                <a:ea typeface="Arial" pitchFamily="34" charset="-122"/>
                <a:cs typeface="Arial" pitchFamily="34" charset="-120"/>
              </a:rPr>
              <a:t>Término → salida</a:t>
            </a:r>
            <a:endParaRPr lang="en-US" sz="900" dirty="0"/>
          </a:p>
        </p:txBody>
      </p:sp>
      <p:sp>
        <p:nvSpPr>
          <p:cNvPr id="23" name="Shape 20"/>
          <p:cNvSpPr/>
          <p:nvPr/>
        </p:nvSpPr>
        <p:spPr>
          <a:xfrm>
            <a:off x="9927919" y="1965960"/>
            <a:ext cx="1748969" cy="566928"/>
          </a:xfrm>
          <a:prstGeom prst="rect">
            <a:avLst/>
          </a:prstGeom>
          <a:solidFill>
            <a:srgbClr val="F5B342">
              <a:alpha val="75000"/>
            </a:srgbClr>
          </a:solidFill>
          <a:ln w="12700">
            <a:solidFill>
              <a:srgbClr val="0B1220"/>
            </a:solidFill>
            <a:prstDash val="solid"/>
          </a:ln>
        </p:spPr>
      </p:sp>
      <p:sp>
        <p:nvSpPr>
          <p:cNvPr id="24" name="Text 21"/>
          <p:cNvSpPr txBox="1"/>
          <p:nvPr/>
        </p:nvSpPr>
        <p:spPr>
          <a:xfrm>
            <a:off x="9927919" y="1965960"/>
            <a:ext cx="1748969" cy="566928"/>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18 min</a:t>
            </a:r>
            <a:endParaRPr lang="en-US" sz="1300" dirty="0"/>
          </a:p>
        </p:txBody>
      </p:sp>
      <p:sp>
        <p:nvSpPr>
          <p:cNvPr id="25" name="Text 22"/>
          <p:cNvSpPr txBox="1"/>
          <p:nvPr/>
        </p:nvSpPr>
        <p:spPr>
          <a:xfrm>
            <a:off x="9927919" y="2578608"/>
            <a:ext cx="1748969" cy="384048"/>
          </a:xfrm>
          <a:prstGeom prst="rect">
            <a:avLst/>
          </a:prstGeom>
          <a:noFill/>
          <a:ln/>
        </p:spPr>
        <p:txBody>
          <a:bodyPr wrap="square" lIns="0" tIns="0" rIns="0" bIns="0" rtlCol="0" anchor="t"/>
          <a:lstStyle/>
          <a:p>
            <a:pPr algn="ctr" indent="0" marL="0">
              <a:buNone/>
            </a:pPr>
            <a:r>
              <a:rPr lang="en-US" sz="900" dirty="0">
                <a:solidFill>
                  <a:srgbClr val="BCCDE8"/>
                </a:solidFill>
                <a:latin typeface="Arial" pitchFamily="34" charset="0"/>
                <a:ea typeface="Arial" pitchFamily="34" charset="-122"/>
                <a:cs typeface="Arial" pitchFamily="34" charset="-120"/>
              </a:rPr>
              <a:t>Recambio neto</a:t>
            </a:r>
            <a:endParaRPr lang="en-US" sz="900" dirty="0"/>
          </a:p>
        </p:txBody>
      </p:sp>
      <p:sp>
        <p:nvSpPr>
          <p:cNvPr id="26" name="Shape 23"/>
          <p:cNvSpPr/>
          <p:nvPr/>
        </p:nvSpPr>
        <p:spPr>
          <a:xfrm>
            <a:off x="502920" y="2990088"/>
            <a:ext cx="9424999" cy="0"/>
          </a:xfrm>
          <a:prstGeom prst="line">
            <a:avLst/>
          </a:prstGeom>
          <a:noFill/>
          <a:ln w="15875">
            <a:solidFill>
              <a:srgbClr val="2DD4BF"/>
            </a:solidFill>
            <a:prstDash val="solid"/>
          </a:ln>
        </p:spPr>
      </p:sp>
      <p:sp>
        <p:nvSpPr>
          <p:cNvPr id="27" name="Text 24"/>
          <p:cNvSpPr txBox="1"/>
          <p:nvPr/>
        </p:nvSpPr>
        <p:spPr>
          <a:xfrm>
            <a:off x="502920" y="3026664"/>
            <a:ext cx="11173968" cy="219456"/>
          </a:xfrm>
          <a:prstGeom prst="rect">
            <a:avLst/>
          </a:prstGeom>
          <a:noFill/>
          <a:ln/>
        </p:spPr>
        <p:txBody>
          <a:bodyPr wrap="square" lIns="0" tIns="0" rIns="0" bIns="0" rtlCol="0" anchor="t"/>
          <a:lstStyle/>
          <a:p>
            <a:pPr algn="l" indent="0" marL="0">
              <a:buNone/>
            </a:pPr>
            <a:r>
              <a:rPr lang="en-US" sz="900" dirty="0">
                <a:solidFill>
                  <a:srgbClr val="5EEAD4"/>
                </a:solidFill>
                <a:latin typeface="Arial" pitchFamily="34" charset="0"/>
                <a:ea typeface="Arial" pitchFamily="34" charset="-122"/>
                <a:cs typeface="Arial" pitchFamily="34" charset="-120"/>
              </a:rPr>
              <a:t>ocupación de quirófano (ingreso a salida): mediana 100,5 min · el siguiente paciente entra tras el recambio</a:t>
            </a:r>
            <a:endParaRPr lang="en-US" sz="900" dirty="0"/>
          </a:p>
        </p:txBody>
      </p:sp>
      <p:sp>
        <p:nvSpPr>
          <p:cNvPr id="28" name="Text 25"/>
          <p:cNvSpPr txBox="1"/>
          <p:nvPr/>
        </p:nvSpPr>
        <p:spPr>
          <a:xfrm>
            <a:off x="502920" y="3429000"/>
            <a:ext cx="82296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EL PRIMER CASO DEL DÍA · MEDIANAS DE AGOSTO (n = 51) · REFERENCIAS 08:00 / 09:00</a:t>
            </a:r>
            <a:endParaRPr lang="en-US" sz="850" dirty="0"/>
          </a:p>
        </p:txBody>
      </p:sp>
      <p:sp>
        <p:nvSpPr>
          <p:cNvPr id="29" name="Shape 26"/>
          <p:cNvSpPr/>
          <p:nvPr/>
        </p:nvSpPr>
        <p:spPr>
          <a:xfrm>
            <a:off x="502920" y="4114800"/>
            <a:ext cx="6766560" cy="0"/>
          </a:xfrm>
          <a:prstGeom prst="line">
            <a:avLst/>
          </a:prstGeom>
          <a:noFill/>
          <a:ln w="19050">
            <a:solidFill>
              <a:srgbClr val="2C3A4E"/>
            </a:solidFill>
            <a:prstDash val="solid"/>
          </a:ln>
        </p:spPr>
      </p:sp>
      <p:sp>
        <p:nvSpPr>
          <p:cNvPr id="30" name="Shape 27"/>
          <p:cNvSpPr/>
          <p:nvPr/>
        </p:nvSpPr>
        <p:spPr>
          <a:xfrm>
            <a:off x="1585570" y="3931920"/>
            <a:ext cx="0" cy="365760"/>
          </a:xfrm>
          <a:prstGeom prst="line">
            <a:avLst/>
          </a:prstGeom>
          <a:noFill/>
          <a:ln w="12700">
            <a:solidFill>
              <a:srgbClr val="94AACC"/>
            </a:solidFill>
            <a:prstDash val="dash"/>
          </a:ln>
        </p:spPr>
      </p:sp>
      <p:sp>
        <p:nvSpPr>
          <p:cNvPr id="31" name="Text 28"/>
          <p:cNvSpPr txBox="1"/>
          <p:nvPr/>
        </p:nvSpPr>
        <p:spPr>
          <a:xfrm>
            <a:off x="1311250" y="4306824"/>
            <a:ext cx="548640" cy="182880"/>
          </a:xfrm>
          <a:prstGeom prst="rect">
            <a:avLst/>
          </a:prstGeom>
          <a:noFill/>
          <a:ln/>
        </p:spPr>
        <p:txBody>
          <a:bodyPr wrap="square" lIns="0" tIns="0" rIns="0" bIns="0" rtlCol="0" anchor="t"/>
          <a:lstStyle/>
          <a:p>
            <a:pPr algn="ctr" indent="0" marL="0">
              <a:buNone/>
            </a:pPr>
            <a:r>
              <a:rPr lang="en-US" sz="800" dirty="0">
                <a:solidFill>
                  <a:srgbClr val="94AACC"/>
                </a:solidFill>
                <a:latin typeface="Arial" pitchFamily="34" charset="0"/>
                <a:ea typeface="Arial" pitchFamily="34" charset="-122"/>
                <a:cs typeface="Arial" pitchFamily="34" charset="-120"/>
              </a:rPr>
              <a:t>08:00</a:t>
            </a:r>
            <a:endParaRPr lang="en-US" sz="800" dirty="0"/>
          </a:p>
        </p:txBody>
      </p:sp>
      <p:sp>
        <p:nvSpPr>
          <p:cNvPr id="32" name="Shape 29"/>
          <p:cNvSpPr/>
          <p:nvPr/>
        </p:nvSpPr>
        <p:spPr>
          <a:xfrm>
            <a:off x="4833518" y="3931920"/>
            <a:ext cx="0" cy="365760"/>
          </a:xfrm>
          <a:prstGeom prst="line">
            <a:avLst/>
          </a:prstGeom>
          <a:noFill/>
          <a:ln w="12700">
            <a:solidFill>
              <a:srgbClr val="94AACC"/>
            </a:solidFill>
            <a:prstDash val="dash"/>
          </a:ln>
        </p:spPr>
      </p:sp>
      <p:sp>
        <p:nvSpPr>
          <p:cNvPr id="33" name="Text 30"/>
          <p:cNvSpPr txBox="1"/>
          <p:nvPr/>
        </p:nvSpPr>
        <p:spPr>
          <a:xfrm>
            <a:off x="4559198" y="4306824"/>
            <a:ext cx="548640" cy="182880"/>
          </a:xfrm>
          <a:prstGeom prst="rect">
            <a:avLst/>
          </a:prstGeom>
          <a:noFill/>
          <a:ln/>
        </p:spPr>
        <p:txBody>
          <a:bodyPr wrap="square" lIns="0" tIns="0" rIns="0" bIns="0" rtlCol="0" anchor="t"/>
          <a:lstStyle/>
          <a:p>
            <a:pPr algn="ctr" indent="0" marL="0">
              <a:buNone/>
            </a:pPr>
            <a:r>
              <a:rPr lang="en-US" sz="800" dirty="0">
                <a:solidFill>
                  <a:srgbClr val="94AACC"/>
                </a:solidFill>
                <a:latin typeface="Arial" pitchFamily="34" charset="0"/>
                <a:ea typeface="Arial" pitchFamily="34" charset="-122"/>
                <a:cs typeface="Arial" pitchFamily="34" charset="-120"/>
              </a:rPr>
              <a:t>09:00</a:t>
            </a:r>
            <a:endParaRPr lang="en-US" sz="800" dirty="0"/>
          </a:p>
        </p:txBody>
      </p:sp>
      <p:sp>
        <p:nvSpPr>
          <p:cNvPr id="34" name="Shape 31"/>
          <p:cNvSpPr/>
          <p:nvPr/>
        </p:nvSpPr>
        <p:spPr>
          <a:xfrm>
            <a:off x="1232611" y="4032504"/>
            <a:ext cx="164592" cy="164592"/>
          </a:xfrm>
          <a:prstGeom prst="ellipse">
            <a:avLst/>
          </a:prstGeom>
          <a:solidFill>
            <a:srgbClr val="7FA3D9"/>
          </a:solidFill>
          <a:ln w="12700">
            <a:solidFill>
              <a:srgbClr val="0B1220"/>
            </a:solidFill>
            <a:prstDash val="solid"/>
          </a:ln>
        </p:spPr>
      </p:sp>
      <p:sp>
        <p:nvSpPr>
          <p:cNvPr id="35" name="Text 32"/>
          <p:cNvSpPr txBox="1"/>
          <p:nvPr/>
        </p:nvSpPr>
        <p:spPr>
          <a:xfrm>
            <a:off x="903427" y="3657600"/>
            <a:ext cx="822960" cy="219456"/>
          </a:xfrm>
          <a:prstGeom prst="rect">
            <a:avLst/>
          </a:prstGeom>
          <a:noFill/>
          <a:ln/>
        </p:spPr>
        <p:txBody>
          <a:bodyPr wrap="square" lIns="0" tIns="0" rIns="0" bIns="0" rtlCol="0" anchor="ctr"/>
          <a:lstStyle/>
          <a:p>
            <a:pPr algn="ctr" indent="0" marL="0">
              <a:buNone/>
            </a:pPr>
            <a:r>
              <a:rPr lang="en-US" sz="1100" b="1" dirty="0">
                <a:solidFill>
                  <a:srgbClr val="7FA3D9"/>
                </a:solidFill>
                <a:latin typeface="Arial" pitchFamily="34" charset="0"/>
                <a:ea typeface="Arial" pitchFamily="34" charset="-122"/>
                <a:cs typeface="Arial" pitchFamily="34" charset="-120"/>
              </a:rPr>
              <a:t>07:55</a:t>
            </a:r>
            <a:endParaRPr lang="en-US" sz="1100" dirty="0"/>
          </a:p>
        </p:txBody>
      </p:sp>
      <p:sp>
        <p:nvSpPr>
          <p:cNvPr id="36" name="Text 33"/>
          <p:cNvSpPr txBox="1"/>
          <p:nvPr/>
        </p:nvSpPr>
        <p:spPr>
          <a:xfrm>
            <a:off x="583387" y="3840480"/>
            <a:ext cx="1463040" cy="201168"/>
          </a:xfrm>
          <a:prstGeom prst="rect">
            <a:avLst/>
          </a:prstGeom>
          <a:noFill/>
          <a:ln/>
        </p:spPr>
        <p:txBody>
          <a:bodyPr wrap="square" lIns="0" tIns="0" rIns="0" bIns="0" rtlCol="0" anchor="ctr"/>
          <a:lstStyle/>
          <a:p>
            <a:pPr algn="ctr" indent="0" marL="0">
              <a:buNone/>
            </a:pPr>
            <a:r>
              <a:rPr lang="en-US" sz="850" dirty="0">
                <a:solidFill>
                  <a:srgbClr val="BCCDE8"/>
                </a:solidFill>
                <a:latin typeface="Arial" pitchFamily="34" charset="0"/>
                <a:ea typeface="Arial" pitchFamily="34" charset="-122"/>
                <a:cs typeface="Arial" pitchFamily="34" charset="-120"/>
              </a:rPr>
              <a:t>Ingreso a quirófano</a:t>
            </a:r>
            <a:endParaRPr lang="en-US" sz="850" dirty="0"/>
          </a:p>
        </p:txBody>
      </p:sp>
      <p:sp>
        <p:nvSpPr>
          <p:cNvPr id="37" name="Shape 34"/>
          <p:cNvSpPr/>
          <p:nvPr/>
        </p:nvSpPr>
        <p:spPr>
          <a:xfrm>
            <a:off x="2748321" y="4032504"/>
            <a:ext cx="164592" cy="164592"/>
          </a:xfrm>
          <a:prstGeom prst="ellipse">
            <a:avLst/>
          </a:prstGeom>
          <a:solidFill>
            <a:srgbClr val="A78BFA"/>
          </a:solidFill>
          <a:ln w="12700">
            <a:solidFill>
              <a:srgbClr val="0B1220"/>
            </a:solidFill>
            <a:prstDash val="solid"/>
          </a:ln>
        </p:spPr>
      </p:sp>
      <p:sp>
        <p:nvSpPr>
          <p:cNvPr id="38" name="Text 35"/>
          <p:cNvSpPr txBox="1"/>
          <p:nvPr/>
        </p:nvSpPr>
        <p:spPr>
          <a:xfrm>
            <a:off x="2419137" y="4526280"/>
            <a:ext cx="822960" cy="219456"/>
          </a:xfrm>
          <a:prstGeom prst="rect">
            <a:avLst/>
          </a:prstGeom>
          <a:noFill/>
          <a:ln/>
        </p:spPr>
        <p:txBody>
          <a:bodyPr wrap="square" lIns="0" tIns="0" rIns="0" bIns="0" rtlCol="0" anchor="ctr"/>
          <a:lstStyle/>
          <a:p>
            <a:pPr algn="ctr" indent="0" marL="0">
              <a:buNone/>
            </a:pPr>
            <a:r>
              <a:rPr lang="en-US" sz="1100" b="1" dirty="0">
                <a:solidFill>
                  <a:srgbClr val="A78BFA"/>
                </a:solidFill>
                <a:latin typeface="Arial" pitchFamily="34" charset="0"/>
                <a:ea typeface="Arial" pitchFamily="34" charset="-122"/>
                <a:cs typeface="Arial" pitchFamily="34" charset="-120"/>
              </a:rPr>
              <a:t>08:23</a:t>
            </a:r>
            <a:endParaRPr lang="en-US" sz="1100" dirty="0"/>
          </a:p>
        </p:txBody>
      </p:sp>
      <p:sp>
        <p:nvSpPr>
          <p:cNvPr id="39" name="Text 36"/>
          <p:cNvSpPr txBox="1"/>
          <p:nvPr/>
        </p:nvSpPr>
        <p:spPr>
          <a:xfrm>
            <a:off x="2099097" y="4727448"/>
            <a:ext cx="1463040" cy="201168"/>
          </a:xfrm>
          <a:prstGeom prst="rect">
            <a:avLst/>
          </a:prstGeom>
          <a:noFill/>
          <a:ln/>
        </p:spPr>
        <p:txBody>
          <a:bodyPr wrap="square" lIns="0" tIns="0" rIns="0" bIns="0" rtlCol="0" anchor="ctr"/>
          <a:lstStyle/>
          <a:p>
            <a:pPr algn="ctr" indent="0" marL="0">
              <a:buNone/>
            </a:pPr>
            <a:r>
              <a:rPr lang="en-US" sz="850" dirty="0">
                <a:solidFill>
                  <a:srgbClr val="BCCDE8"/>
                </a:solidFill>
                <a:latin typeface="Arial" pitchFamily="34" charset="0"/>
                <a:ea typeface="Arial" pitchFamily="34" charset="-122"/>
                <a:cs typeface="Arial" pitchFamily="34" charset="-120"/>
              </a:rPr>
              <a:t>Inicio de anestesia</a:t>
            </a:r>
            <a:endParaRPr lang="en-US" sz="850" dirty="0"/>
          </a:p>
        </p:txBody>
      </p:sp>
      <p:sp>
        <p:nvSpPr>
          <p:cNvPr id="40" name="Shape 37"/>
          <p:cNvSpPr/>
          <p:nvPr/>
        </p:nvSpPr>
        <p:spPr>
          <a:xfrm>
            <a:off x="3939235" y="4032504"/>
            <a:ext cx="164592" cy="164592"/>
          </a:xfrm>
          <a:prstGeom prst="ellipse">
            <a:avLst/>
          </a:prstGeom>
          <a:solidFill>
            <a:srgbClr val="2DD4BF"/>
          </a:solidFill>
          <a:ln w="12700">
            <a:solidFill>
              <a:srgbClr val="0B1220"/>
            </a:solidFill>
            <a:prstDash val="solid"/>
          </a:ln>
        </p:spPr>
      </p:sp>
      <p:sp>
        <p:nvSpPr>
          <p:cNvPr id="41" name="Text 38"/>
          <p:cNvSpPr txBox="1"/>
          <p:nvPr/>
        </p:nvSpPr>
        <p:spPr>
          <a:xfrm>
            <a:off x="3610051" y="3657600"/>
            <a:ext cx="822960" cy="219456"/>
          </a:xfrm>
          <a:prstGeom prst="rect">
            <a:avLst/>
          </a:prstGeom>
          <a:noFill/>
          <a:ln/>
        </p:spPr>
        <p:txBody>
          <a:bodyPr wrap="square" lIns="0" tIns="0" rIns="0" bIns="0" rtlCol="0" anchor="ctr"/>
          <a:lstStyle/>
          <a:p>
            <a:pPr algn="ctr" indent="0" marL="0">
              <a:buNone/>
            </a:pPr>
            <a:r>
              <a:rPr lang="en-US" sz="1100" b="1" dirty="0">
                <a:solidFill>
                  <a:srgbClr val="2DD4BF"/>
                </a:solidFill>
                <a:latin typeface="Arial" pitchFamily="34" charset="0"/>
                <a:ea typeface="Arial" pitchFamily="34" charset="-122"/>
                <a:cs typeface="Arial" pitchFamily="34" charset="-120"/>
              </a:rPr>
              <a:t>08:45</a:t>
            </a:r>
            <a:endParaRPr lang="en-US" sz="1100" dirty="0"/>
          </a:p>
        </p:txBody>
      </p:sp>
      <p:sp>
        <p:nvSpPr>
          <p:cNvPr id="42" name="Text 39"/>
          <p:cNvSpPr txBox="1"/>
          <p:nvPr/>
        </p:nvSpPr>
        <p:spPr>
          <a:xfrm>
            <a:off x="3290011" y="3840480"/>
            <a:ext cx="1463040" cy="201168"/>
          </a:xfrm>
          <a:prstGeom prst="rect">
            <a:avLst/>
          </a:prstGeom>
          <a:noFill/>
          <a:ln/>
        </p:spPr>
        <p:txBody>
          <a:bodyPr wrap="square" lIns="0" tIns="0" rIns="0" bIns="0" rtlCol="0" anchor="ctr"/>
          <a:lstStyle/>
          <a:p>
            <a:pPr algn="ctr" indent="0" marL="0">
              <a:buNone/>
            </a:pPr>
            <a:r>
              <a:rPr lang="en-US" sz="850" dirty="0">
                <a:solidFill>
                  <a:srgbClr val="BCCDE8"/>
                </a:solidFill>
                <a:latin typeface="Arial" pitchFamily="34" charset="0"/>
                <a:ea typeface="Arial" pitchFamily="34" charset="-122"/>
                <a:cs typeface="Arial" pitchFamily="34" charset="-120"/>
              </a:rPr>
              <a:t>Incisión</a:t>
            </a:r>
            <a:endParaRPr lang="en-US" sz="850" dirty="0"/>
          </a:p>
        </p:txBody>
      </p:sp>
      <p:sp>
        <p:nvSpPr>
          <p:cNvPr id="43" name="Shape 40"/>
          <p:cNvSpPr/>
          <p:nvPr/>
        </p:nvSpPr>
        <p:spPr>
          <a:xfrm>
            <a:off x="6591727" y="4032504"/>
            <a:ext cx="164592" cy="164592"/>
          </a:xfrm>
          <a:prstGeom prst="ellipse">
            <a:avLst/>
          </a:prstGeom>
          <a:solidFill>
            <a:srgbClr val="F5B342"/>
          </a:solidFill>
          <a:ln w="12700">
            <a:solidFill>
              <a:srgbClr val="0B1220"/>
            </a:solidFill>
            <a:prstDash val="solid"/>
          </a:ln>
        </p:spPr>
      </p:sp>
      <p:sp>
        <p:nvSpPr>
          <p:cNvPr id="44" name="Text 41"/>
          <p:cNvSpPr txBox="1"/>
          <p:nvPr/>
        </p:nvSpPr>
        <p:spPr>
          <a:xfrm>
            <a:off x="6262543" y="4526280"/>
            <a:ext cx="822960" cy="219456"/>
          </a:xfrm>
          <a:prstGeom prst="rect">
            <a:avLst/>
          </a:prstGeom>
          <a:noFill/>
          <a:ln/>
        </p:spPr>
        <p:txBody>
          <a:bodyPr wrap="square" lIns="0" tIns="0" rIns="0" bIns="0" rtlCol="0" anchor="ctr"/>
          <a:lstStyle/>
          <a:p>
            <a:pPr algn="ctr" indent="0" marL="0">
              <a:buNone/>
            </a:pPr>
            <a:r>
              <a:rPr lang="en-US" sz="1100" b="1" dirty="0">
                <a:solidFill>
                  <a:srgbClr val="F5B342"/>
                </a:solidFill>
                <a:latin typeface="Arial" pitchFamily="34" charset="0"/>
                <a:ea typeface="Arial" pitchFamily="34" charset="-122"/>
                <a:cs typeface="Arial" pitchFamily="34" charset="-120"/>
              </a:rPr>
              <a:t>09:34</a:t>
            </a:r>
            <a:endParaRPr lang="en-US" sz="1100" dirty="0"/>
          </a:p>
        </p:txBody>
      </p:sp>
      <p:sp>
        <p:nvSpPr>
          <p:cNvPr id="45" name="Text 42"/>
          <p:cNvSpPr txBox="1"/>
          <p:nvPr/>
        </p:nvSpPr>
        <p:spPr>
          <a:xfrm>
            <a:off x="5942503" y="4727448"/>
            <a:ext cx="1463040" cy="201168"/>
          </a:xfrm>
          <a:prstGeom prst="rect">
            <a:avLst/>
          </a:prstGeom>
          <a:noFill/>
          <a:ln/>
        </p:spPr>
        <p:txBody>
          <a:bodyPr wrap="square" lIns="0" tIns="0" rIns="0" bIns="0" rtlCol="0" anchor="ctr"/>
          <a:lstStyle/>
          <a:p>
            <a:pPr algn="ctr" indent="0" marL="0">
              <a:buNone/>
            </a:pPr>
            <a:r>
              <a:rPr lang="en-US" sz="850" dirty="0">
                <a:solidFill>
                  <a:srgbClr val="BCCDE8"/>
                </a:solidFill>
                <a:latin typeface="Arial" pitchFamily="34" charset="0"/>
                <a:ea typeface="Arial" pitchFamily="34" charset="-122"/>
                <a:cs typeface="Arial" pitchFamily="34" charset="-120"/>
              </a:rPr>
              <a:t>P90 de la incisión</a:t>
            </a:r>
            <a:endParaRPr lang="en-US" sz="850" dirty="0"/>
          </a:p>
        </p:txBody>
      </p:sp>
      <p:sp>
        <p:nvSpPr>
          <p:cNvPr id="46" name="Text 43"/>
          <p:cNvSpPr txBox="1"/>
          <p:nvPr/>
        </p:nvSpPr>
        <p:spPr>
          <a:xfrm>
            <a:off x="502920" y="5001768"/>
            <a:ext cx="6766560" cy="457200"/>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Del ingreso a la incisión: 45 min de mediana (P90 72). 30 de 51 ingresos antes de las 08:00; 32 de 51 incisiones antes de las 09:00 (62,7 %; agosto 2025: 84,5 %).</a:t>
            </a:r>
            <a:endParaRPr lang="en-US" sz="950" dirty="0"/>
          </a:p>
        </p:txBody>
      </p:sp>
      <p:sp>
        <p:nvSpPr>
          <p:cNvPr id="47" name="Shape 44"/>
          <p:cNvSpPr/>
          <p:nvPr/>
        </p:nvSpPr>
        <p:spPr>
          <a:xfrm>
            <a:off x="7452360" y="3429000"/>
            <a:ext cx="4224528" cy="804672"/>
          </a:xfrm>
          <a:prstGeom prst="roundRect">
            <a:avLst>
              <a:gd name="adj" fmla="val 9091"/>
            </a:avLst>
          </a:prstGeom>
          <a:solidFill>
            <a:srgbClr val="0F1930"/>
          </a:solidFill>
          <a:ln w="15875">
            <a:solidFill>
              <a:srgbClr val="F5B342"/>
            </a:solidFill>
            <a:prstDash val="solid"/>
          </a:ln>
        </p:spPr>
      </p:sp>
      <p:sp>
        <p:nvSpPr>
          <p:cNvPr id="48" name="Text 45"/>
          <p:cNvSpPr txBox="1"/>
          <p:nvPr/>
        </p:nvSpPr>
        <p:spPr>
          <a:xfrm>
            <a:off x="7598664" y="3538728"/>
            <a:ext cx="3931920" cy="274320"/>
          </a:xfrm>
          <a:prstGeom prst="rect">
            <a:avLst/>
          </a:prstGeom>
          <a:noFill/>
          <a:ln/>
        </p:spPr>
        <p:txBody>
          <a:bodyPr wrap="square" lIns="0" tIns="0" rIns="0" bIns="0" rtlCol="0" anchor="ctr"/>
          <a:lstStyle/>
          <a:p>
            <a:pPr algn="l" indent="0" marL="0">
              <a:buNone/>
            </a:pPr>
            <a:r>
              <a:rPr lang="en-US" sz="1000" b="1" dirty="0">
                <a:solidFill>
                  <a:srgbClr val="F5B342"/>
                </a:solidFill>
                <a:latin typeface="Arial" pitchFamily="34" charset="0"/>
                <a:ea typeface="Arial" pitchFamily="34" charset="-122"/>
                <a:cs typeface="Arial" pitchFamily="34" charset="-120"/>
              </a:rPr>
              <a:t>RECAMBIO BRUTO Y NETO</a:t>
            </a:r>
            <a:endParaRPr lang="en-US" sz="1000" dirty="0"/>
          </a:p>
        </p:txBody>
      </p:sp>
      <p:sp>
        <p:nvSpPr>
          <p:cNvPr id="49" name="Text 46"/>
          <p:cNvSpPr txBox="1"/>
          <p:nvPr/>
        </p:nvSpPr>
        <p:spPr>
          <a:xfrm>
            <a:off x="7598664" y="3849624"/>
            <a:ext cx="3931920" cy="292608"/>
          </a:xfrm>
          <a:prstGeom prst="rect">
            <a:avLst/>
          </a:prstGeom>
          <a:noFill/>
          <a:ln/>
        </p:spPr>
        <p:txBody>
          <a:bodyPr wrap="square" lIns="0" tIns="0" rIns="0" bIns="0" rtlCol="0" anchor="t"/>
          <a:lstStyle/>
          <a:p>
            <a:pPr algn="l" indent="0" marL="0">
              <a:buNone/>
            </a:pPr>
            <a:r>
              <a:rPr lang="en-US" sz="900" dirty="0">
                <a:solidFill>
                  <a:srgbClr val="C6D6EE"/>
                </a:solidFill>
                <a:latin typeface="Arial" pitchFamily="34" charset="0"/>
                <a:ea typeface="Arial" pitchFamily="34" charset="-122"/>
                <a:cs typeface="Arial" pitchFamily="34" charset="-120"/>
              </a:rPr>
              <a:t>Bruto: de la salida de un paciente al ingreso del siguiente (25 min). Neto: lo mismo descontando lo que cae en el almuerzo 12:30–14:00 (18 min).</a:t>
            </a:r>
            <a:endParaRPr lang="en-US" sz="900" dirty="0"/>
          </a:p>
        </p:txBody>
      </p:sp>
      <p:sp>
        <p:nvSpPr>
          <p:cNvPr id="50" name="Shape 47"/>
          <p:cNvSpPr/>
          <p:nvPr/>
        </p:nvSpPr>
        <p:spPr>
          <a:xfrm>
            <a:off x="7452360" y="4306824"/>
            <a:ext cx="4224528" cy="804672"/>
          </a:xfrm>
          <a:prstGeom prst="roundRect">
            <a:avLst>
              <a:gd name="adj" fmla="val 9091"/>
            </a:avLst>
          </a:prstGeom>
          <a:solidFill>
            <a:srgbClr val="0F1930"/>
          </a:solidFill>
          <a:ln w="15875">
            <a:solidFill>
              <a:srgbClr val="2DD4BF"/>
            </a:solidFill>
            <a:prstDash val="solid"/>
          </a:ln>
        </p:spPr>
      </p:sp>
      <p:sp>
        <p:nvSpPr>
          <p:cNvPr id="51" name="Text 48"/>
          <p:cNvSpPr txBox="1"/>
          <p:nvPr/>
        </p:nvSpPr>
        <p:spPr>
          <a:xfrm>
            <a:off x="7598664" y="4416552"/>
            <a:ext cx="3931920" cy="274320"/>
          </a:xfrm>
          <a:prstGeom prst="rect">
            <a:avLst/>
          </a:prstGeom>
          <a:noFill/>
          <a:ln/>
        </p:spPr>
        <p:txBody>
          <a:bodyPr wrap="square" lIns="0" tIns="0" rIns="0" bIns="0" rtlCol="0" anchor="ctr"/>
          <a:lstStyle/>
          <a:p>
            <a:pPr algn="l" indent="0" marL="0">
              <a:buNone/>
            </a:pPr>
            <a:r>
              <a:rPr lang="en-US" sz="1000" b="1" dirty="0">
                <a:solidFill>
                  <a:srgbClr val="5EEAD4"/>
                </a:solidFill>
                <a:latin typeface="Arial" pitchFamily="34" charset="0"/>
                <a:ea typeface="Arial" pitchFamily="34" charset="-122"/>
                <a:cs typeface="Arial" pitchFamily="34" charset="-120"/>
              </a:rPr>
              <a:t>MEDIANA, MEDIA Y P90</a:t>
            </a:r>
            <a:endParaRPr lang="en-US" sz="1000" dirty="0"/>
          </a:p>
        </p:txBody>
      </p:sp>
      <p:sp>
        <p:nvSpPr>
          <p:cNvPr id="52" name="Text 49"/>
          <p:cNvSpPr txBox="1"/>
          <p:nvPr/>
        </p:nvSpPr>
        <p:spPr>
          <a:xfrm>
            <a:off x="7598664" y="4727448"/>
            <a:ext cx="3931920" cy="292608"/>
          </a:xfrm>
          <a:prstGeom prst="rect">
            <a:avLst/>
          </a:prstGeom>
          <a:noFill/>
          <a:ln/>
        </p:spPr>
        <p:txBody>
          <a:bodyPr wrap="square" lIns="0" tIns="0" rIns="0" bIns="0" rtlCol="0" anchor="t"/>
          <a:lstStyle/>
          <a:p>
            <a:pPr algn="l" indent="0" marL="0">
              <a:buNone/>
            </a:pPr>
            <a:r>
              <a:rPr lang="en-US" sz="900" dirty="0">
                <a:solidFill>
                  <a:srgbClr val="C6D6EE"/>
                </a:solidFill>
                <a:latin typeface="Arial" pitchFamily="34" charset="0"/>
                <a:ea typeface="Arial" pitchFamily="34" charset="-122"/>
                <a:cs typeface="Arial" pitchFamily="34" charset="-120"/>
              </a:rPr>
              <a:t>Mediana: el caso del medio. Media: sube con pocos casos muy largos. P90: 9 de cada 10 casos quedan por debajo. Agosto mejoró media y P90, no la mediana.</a:t>
            </a:r>
            <a:endParaRPr lang="en-US" sz="900" dirty="0"/>
          </a:p>
        </p:txBody>
      </p:sp>
      <p:sp>
        <p:nvSpPr>
          <p:cNvPr id="53" name="Shape 50"/>
          <p:cNvSpPr/>
          <p:nvPr/>
        </p:nvSpPr>
        <p:spPr>
          <a:xfrm>
            <a:off x="7452360" y="5184648"/>
            <a:ext cx="4224528" cy="731520"/>
          </a:xfrm>
          <a:prstGeom prst="roundRect">
            <a:avLst>
              <a:gd name="adj" fmla="val 10000"/>
            </a:avLst>
          </a:prstGeom>
          <a:solidFill>
            <a:srgbClr val="0F1930"/>
          </a:solidFill>
          <a:ln w="15875">
            <a:solidFill>
              <a:srgbClr val="F26B6B"/>
            </a:solidFill>
            <a:prstDash val="solid"/>
          </a:ln>
        </p:spPr>
      </p:sp>
      <p:sp>
        <p:nvSpPr>
          <p:cNvPr id="54" name="Text 51"/>
          <p:cNvSpPr txBox="1"/>
          <p:nvPr/>
        </p:nvSpPr>
        <p:spPr>
          <a:xfrm>
            <a:off x="7598664" y="5294376"/>
            <a:ext cx="3931920" cy="274320"/>
          </a:xfrm>
          <a:prstGeom prst="rect">
            <a:avLst/>
          </a:prstGeom>
          <a:noFill/>
          <a:ln/>
        </p:spPr>
        <p:txBody>
          <a:bodyPr wrap="square" lIns="0" tIns="0" rIns="0" bIns="0" rtlCol="0" anchor="ctr"/>
          <a:lstStyle/>
          <a:p>
            <a:pPr algn="l" indent="0" marL="0">
              <a:buNone/>
            </a:pPr>
            <a:r>
              <a:rPr lang="en-US" sz="1000" b="1" dirty="0">
                <a:solidFill>
                  <a:srgbClr val="F26B6B"/>
                </a:solidFill>
                <a:latin typeface="Arial" pitchFamily="34" charset="0"/>
                <a:ea typeface="Arial" pitchFamily="34" charset="-122"/>
                <a:cs typeface="Arial" pitchFamily="34" charset="-120"/>
              </a:rPr>
              <a:t>DÓNDE ESTÁ LA OPORTUNIDAD</a:t>
            </a:r>
            <a:endParaRPr lang="en-US" sz="1000" dirty="0"/>
          </a:p>
        </p:txBody>
      </p:sp>
      <p:sp>
        <p:nvSpPr>
          <p:cNvPr id="55" name="Text 52"/>
          <p:cNvSpPr txBox="1"/>
          <p:nvPr/>
        </p:nvSpPr>
        <p:spPr>
          <a:xfrm>
            <a:off x="7598664" y="5605272"/>
            <a:ext cx="3931920" cy="219456"/>
          </a:xfrm>
          <a:prstGeom prst="rect">
            <a:avLst/>
          </a:prstGeom>
          <a:noFill/>
          <a:ln/>
        </p:spPr>
        <p:txBody>
          <a:bodyPr wrap="square" lIns="0" tIns="0" rIns="0" bIns="0" rtlCol="0" anchor="t"/>
          <a:lstStyle/>
          <a:p>
            <a:pPr algn="l" indent="0" marL="0">
              <a:buNone/>
            </a:pPr>
            <a:r>
              <a:rPr lang="en-US" sz="900" dirty="0">
                <a:solidFill>
                  <a:srgbClr val="C6D6EE"/>
                </a:solidFill>
                <a:latin typeface="Arial" pitchFamily="34" charset="0"/>
                <a:ea typeface="Arial" pitchFamily="34" charset="-122"/>
                <a:cs typeface="Arial" pitchFamily="34" charset="-120"/>
              </a:rPr>
              <a:t>Preparación hasta la incisión (45 min del primer caso), cola del recambio (P90 43 min) y continuidad al mediodía (33 h 35 en agosto).</a:t>
            </a:r>
            <a:endParaRPr lang="en-US" sz="900" dirty="0"/>
          </a:p>
        </p:txBody>
      </p:sp>
      <p:sp>
        <p:nvSpPr>
          <p:cNvPr id="56" name="Text 53"/>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Las medianas de cada tramo se calculan sobre su propia cohorte y no suman la ocupación total. Las 08:00 y 09:00 son referencias descriptivas, no metas.</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30  ·  INICIO DE JORNADA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Los inicios se adelantan; la preparación hasta la incisión, no</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Primer encuentro real del pabellón, además electivo · L–V · julio n = 52, agosto n = 51 · medianas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31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MEDIANAS DE LOS HITOS</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5440680" cy="914400"/>
        </p:xfrm>
        <a:graphic>
          <a:graphicData uri="http://schemas.openxmlformats.org/drawingml/2006/table">
            <a:tbl>
              <a:tblPr/>
              <a:tblGrid>
                <a:gridCol w="1965960"/>
                <a:gridCol w="1188720"/>
                <a:gridCol w="1188720"/>
                <a:gridCol w="1097280"/>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Hito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Julio · n = 52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 n = 51</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Diferencia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Ingreso a quirófano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08:02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07:55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7 min antes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Inicio de anestesia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08:24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08:23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 min antes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Incisión quirúrgica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08:50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08:45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 min antes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2" name="Text 8"/>
          <p:cNvSpPr txBox="1"/>
          <p:nvPr/>
        </p:nvSpPr>
        <p:spPr>
          <a:xfrm>
            <a:off x="6236208"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MEDIANAS DE LOS INTERVALOS POR CASO</a:t>
            </a:r>
            <a:endParaRPr lang="en-US" sz="8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236208" y="1975104"/>
          <a:ext cx="5440680" cy="914400"/>
        </p:xfrm>
        <a:graphic>
          <a:graphicData uri="http://schemas.openxmlformats.org/drawingml/2006/table">
            <a:tbl>
              <a:tblPr/>
              <a:tblGrid>
                <a:gridCol w="1965960"/>
                <a:gridCol w="1188720"/>
                <a:gridCol w="1188720"/>
                <a:gridCol w="1097280"/>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Intervalo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Julio · n = 52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 n = 51</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Diferencia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Ingreso → anestesia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19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23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Anestesia → incisión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20,5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22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Ingreso → incisión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43,5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4" name="Shape 9"/>
          <p:cNvSpPr/>
          <p:nvPr/>
        </p:nvSpPr>
        <p:spPr>
          <a:xfrm>
            <a:off x="502920" y="3886200"/>
            <a:ext cx="2697480" cy="914400"/>
          </a:xfrm>
          <a:prstGeom prst="roundRect">
            <a:avLst>
              <a:gd name="adj" fmla="val 8000"/>
            </a:avLst>
          </a:prstGeom>
          <a:solidFill>
            <a:srgbClr val="0F1930"/>
          </a:solidFill>
          <a:ln w="9525">
            <a:solidFill>
              <a:srgbClr val="22304A"/>
            </a:solidFill>
            <a:prstDash val="solid"/>
          </a:ln>
        </p:spPr>
      </p:sp>
      <p:sp>
        <p:nvSpPr>
          <p:cNvPr id="15" name="Text 10"/>
          <p:cNvSpPr txBox="1"/>
          <p:nvPr/>
        </p:nvSpPr>
        <p:spPr>
          <a:xfrm>
            <a:off x="640080" y="3959352"/>
            <a:ext cx="2423160"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30 / 51</a:t>
            </a:r>
            <a:endParaRPr lang="en-US" sz="1800" dirty="0"/>
          </a:p>
        </p:txBody>
      </p:sp>
      <p:sp>
        <p:nvSpPr>
          <p:cNvPr id="16" name="Text 11"/>
          <p:cNvSpPr txBox="1"/>
          <p:nvPr/>
        </p:nvSpPr>
        <p:spPr>
          <a:xfrm>
            <a:off x="640080" y="42702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INGRESOS ≤ 08:00 · AGOSTO</a:t>
            </a:r>
            <a:endParaRPr lang="en-US" sz="750" dirty="0"/>
          </a:p>
        </p:txBody>
      </p:sp>
      <p:sp>
        <p:nvSpPr>
          <p:cNvPr id="17" name="Text 12"/>
          <p:cNvSpPr txBox="1"/>
          <p:nvPr/>
        </p:nvSpPr>
        <p:spPr>
          <a:xfrm>
            <a:off x="640080" y="44348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58,8 % · julio 22 / 52 (42,3 %)</a:t>
            </a:r>
            <a:endParaRPr lang="en-US" sz="850" dirty="0"/>
          </a:p>
        </p:txBody>
      </p:sp>
      <p:sp>
        <p:nvSpPr>
          <p:cNvPr id="18" name="Shape 13"/>
          <p:cNvSpPr/>
          <p:nvPr/>
        </p:nvSpPr>
        <p:spPr>
          <a:xfrm>
            <a:off x="3328416" y="3886200"/>
            <a:ext cx="2697480" cy="914400"/>
          </a:xfrm>
          <a:prstGeom prst="roundRect">
            <a:avLst>
              <a:gd name="adj" fmla="val 8000"/>
            </a:avLst>
          </a:prstGeom>
          <a:solidFill>
            <a:srgbClr val="0F1930"/>
          </a:solidFill>
          <a:ln w="9525">
            <a:solidFill>
              <a:srgbClr val="22304A"/>
            </a:solidFill>
            <a:prstDash val="solid"/>
          </a:ln>
        </p:spPr>
      </p:sp>
      <p:sp>
        <p:nvSpPr>
          <p:cNvPr id="19" name="Text 14"/>
          <p:cNvSpPr txBox="1"/>
          <p:nvPr/>
        </p:nvSpPr>
        <p:spPr>
          <a:xfrm>
            <a:off x="3465576" y="3959352"/>
            <a:ext cx="2423160"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32 / 51</a:t>
            </a:r>
            <a:endParaRPr lang="en-US" sz="1800" dirty="0"/>
          </a:p>
        </p:txBody>
      </p:sp>
      <p:sp>
        <p:nvSpPr>
          <p:cNvPr id="20" name="Text 15"/>
          <p:cNvSpPr txBox="1"/>
          <p:nvPr/>
        </p:nvSpPr>
        <p:spPr>
          <a:xfrm>
            <a:off x="3465576" y="42702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INCISIONES ≤ 09:00 · AGOSTO</a:t>
            </a:r>
            <a:endParaRPr lang="en-US" sz="750" dirty="0"/>
          </a:p>
        </p:txBody>
      </p:sp>
      <p:sp>
        <p:nvSpPr>
          <p:cNvPr id="21" name="Text 16"/>
          <p:cNvSpPr txBox="1"/>
          <p:nvPr/>
        </p:nvSpPr>
        <p:spPr>
          <a:xfrm>
            <a:off x="3465576" y="44348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62,7 % · julio 34 / 52 (65,4 %) · agosto 2025 84,5 %</a:t>
            </a:r>
            <a:endParaRPr lang="en-US" sz="850" dirty="0"/>
          </a:p>
        </p:txBody>
      </p:sp>
      <p:sp>
        <p:nvSpPr>
          <p:cNvPr id="22" name="Shape 17"/>
          <p:cNvSpPr/>
          <p:nvPr/>
        </p:nvSpPr>
        <p:spPr>
          <a:xfrm>
            <a:off x="6153912" y="3886200"/>
            <a:ext cx="2697480" cy="914400"/>
          </a:xfrm>
          <a:prstGeom prst="roundRect">
            <a:avLst>
              <a:gd name="adj" fmla="val 8000"/>
            </a:avLst>
          </a:prstGeom>
          <a:solidFill>
            <a:srgbClr val="0F1930"/>
          </a:solidFill>
          <a:ln w="9525">
            <a:solidFill>
              <a:srgbClr val="22304A"/>
            </a:solidFill>
            <a:prstDash val="solid"/>
          </a:ln>
        </p:spPr>
      </p:sp>
      <p:sp>
        <p:nvSpPr>
          <p:cNvPr id="23" name="Text 18"/>
          <p:cNvSpPr txBox="1"/>
          <p:nvPr/>
        </p:nvSpPr>
        <p:spPr>
          <a:xfrm>
            <a:off x="6291072" y="395935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45 · 72 min</a:t>
            </a:r>
            <a:endParaRPr lang="en-US" sz="1800" dirty="0"/>
          </a:p>
        </p:txBody>
      </p:sp>
      <p:sp>
        <p:nvSpPr>
          <p:cNvPr id="24" name="Text 19"/>
          <p:cNvSpPr txBox="1"/>
          <p:nvPr/>
        </p:nvSpPr>
        <p:spPr>
          <a:xfrm>
            <a:off x="6291072" y="42702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INGRESO→INCISIÓN · MEDIANA · P90</a:t>
            </a:r>
            <a:endParaRPr lang="en-US" sz="750" dirty="0"/>
          </a:p>
        </p:txBody>
      </p:sp>
      <p:sp>
        <p:nvSpPr>
          <p:cNvPr id="25" name="Text 20"/>
          <p:cNvSpPr txBox="1"/>
          <p:nvPr/>
        </p:nvSpPr>
        <p:spPr>
          <a:xfrm>
            <a:off x="6291072" y="44348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etapas con trabajo clínico necesario y posibles esperas que el registro no distingue</a:t>
            </a:r>
            <a:endParaRPr lang="en-US" sz="850" dirty="0"/>
          </a:p>
        </p:txBody>
      </p:sp>
      <p:sp>
        <p:nvSpPr>
          <p:cNvPr id="26" name="Shape 21"/>
          <p:cNvSpPr/>
          <p:nvPr/>
        </p:nvSpPr>
        <p:spPr>
          <a:xfrm>
            <a:off x="8979408" y="3886200"/>
            <a:ext cx="2697480" cy="914400"/>
          </a:xfrm>
          <a:prstGeom prst="roundRect">
            <a:avLst>
              <a:gd name="adj" fmla="val 8000"/>
            </a:avLst>
          </a:prstGeom>
          <a:solidFill>
            <a:srgbClr val="0F1930"/>
          </a:solidFill>
          <a:ln w="9525">
            <a:solidFill>
              <a:srgbClr val="22304A"/>
            </a:solidFill>
            <a:prstDash val="solid"/>
          </a:ln>
        </p:spPr>
      </p:sp>
      <p:sp>
        <p:nvSpPr>
          <p:cNvPr id="27" name="Text 22"/>
          <p:cNvSpPr txBox="1"/>
          <p:nvPr/>
        </p:nvSpPr>
        <p:spPr>
          <a:xfrm>
            <a:off x="9116568" y="3959352"/>
            <a:ext cx="2423160" cy="329184"/>
          </a:xfrm>
          <a:prstGeom prst="rect">
            <a:avLst/>
          </a:prstGeom>
          <a:noFill/>
          <a:ln/>
        </p:spPr>
        <p:txBody>
          <a:bodyPr wrap="square" lIns="0" tIns="0" rIns="0" bIns="0" rtlCol="0" anchor="ctr"/>
          <a:lstStyle/>
          <a:p>
            <a:pPr algn="l" indent="0" marL="0">
              <a:buNone/>
            </a:pPr>
            <a:r>
              <a:rPr lang="en-US" sz="1800" b="1" dirty="0">
                <a:solidFill>
                  <a:srgbClr val="EAF1FB"/>
                </a:solidFill>
                <a:latin typeface="Arial" pitchFamily="34" charset="0"/>
                <a:ea typeface="Arial" pitchFamily="34" charset="-122"/>
                <a:cs typeface="Arial" pitchFamily="34" charset="-120"/>
              </a:rPr>
              <a:t>09:34</a:t>
            </a:r>
            <a:endParaRPr lang="en-US" sz="1800" dirty="0"/>
          </a:p>
        </p:txBody>
      </p:sp>
      <p:sp>
        <p:nvSpPr>
          <p:cNvPr id="28" name="Text 23"/>
          <p:cNvSpPr txBox="1"/>
          <p:nvPr/>
        </p:nvSpPr>
        <p:spPr>
          <a:xfrm>
            <a:off x="9116568" y="42702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P90 DE INCISIÓN · AGOSTO</a:t>
            </a:r>
            <a:endParaRPr lang="en-US" sz="750" dirty="0"/>
          </a:p>
        </p:txBody>
      </p:sp>
      <p:sp>
        <p:nvSpPr>
          <p:cNvPr id="29" name="Text 24"/>
          <p:cNvSpPr txBox="1"/>
          <p:nvPr/>
        </p:nvSpPr>
        <p:spPr>
          <a:xfrm>
            <a:off x="9116568" y="44348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ingreso 08:43 · anestesia 09:04 · la dispersión sigue después de la mediana</a:t>
            </a:r>
            <a:endParaRPr lang="en-US" sz="850" dirty="0"/>
          </a:p>
        </p:txBody>
      </p:sp>
      <p:sp>
        <p:nvSpPr>
          <p:cNvPr id="30" name="Shape 25"/>
          <p:cNvSpPr/>
          <p:nvPr/>
        </p:nvSpPr>
        <p:spPr>
          <a:xfrm>
            <a:off x="502920" y="4937760"/>
            <a:ext cx="11173968" cy="914400"/>
          </a:xfrm>
          <a:prstGeom prst="roundRect">
            <a:avLst>
              <a:gd name="adj" fmla="val 8000"/>
            </a:avLst>
          </a:prstGeom>
          <a:solidFill>
            <a:srgbClr val="0F1930"/>
          </a:solidFill>
          <a:ln w="15875">
            <a:solidFill>
              <a:srgbClr val="2DD4BF"/>
            </a:solidFill>
            <a:prstDash val="solid"/>
          </a:ln>
        </p:spPr>
      </p:sp>
      <p:sp>
        <p:nvSpPr>
          <p:cNvPr id="31" name="Text 26"/>
          <p:cNvSpPr txBox="1"/>
          <p:nvPr/>
        </p:nvSpPr>
        <p:spPr>
          <a:xfrm>
            <a:off x="649224" y="5047488"/>
            <a:ext cx="10881360" cy="713232"/>
          </a:xfrm>
          <a:prstGeom prst="rect">
            <a:avLst/>
          </a:prstGeom>
          <a:noFill/>
          <a:ln/>
        </p:spPr>
        <p:txBody>
          <a:bodyPr wrap="square" lIns="0" tIns="0" rIns="0" bIns="0" rtlCol="0" anchor="t"/>
          <a:lstStyle/>
          <a:p>
            <a:pPr algn="l" indent="0" marL="0">
              <a:buNone/>
            </a:pPr>
            <a:r>
              <a:rPr lang="en-US" sz="1050" b="1" dirty="0">
                <a:solidFill>
                  <a:srgbClr val="EAF1FB"/>
                </a:solidFill>
                <a:latin typeface="Arial" pitchFamily="34" charset="0"/>
                <a:ea typeface="Arial" pitchFamily="34" charset="-122"/>
                <a:cs typeface="Arial" pitchFamily="34" charset="-120"/>
              </a:rPr>
              <a:t>Llegar antes a quirófano no garantiza una incisión más temprana. </a:t>
            </a:r>
            <a:pPr algn="l" indent="0" marL="0">
              <a:buNone/>
            </a:pPr>
            <a:r>
              <a:rPr lang="en-US" sz="1050" dirty="0">
                <a:solidFill>
                  <a:srgbClr val="C6D6EE"/>
                </a:solidFill>
                <a:latin typeface="Arial" pitchFamily="34" charset="0"/>
                <a:ea typeface="Arial" pitchFamily="34" charset="-122"/>
                <a:cs typeface="Arial" pitchFamily="34" charset="-120"/>
              </a:rPr>
              <a:t>La observación propuesta empieza antes del ingreso: hora programada, paciente listo, traslado solicitado y completado, sala lista e inicio de preparación, para separar dificultades de llegada de las que ocurren dentro del quirófano. No corresponde llamar "tiempo perdido" a toda la fase anestésica.</a:t>
            </a:r>
            <a:endParaRPr lang="en-US" sz="1050" dirty="0"/>
          </a:p>
        </p:txBody>
      </p:sp>
      <p:sp>
        <p:nvSpPr>
          <p:cNvPr id="32" name="Text 27"/>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Las 08:00 y 09:00 son referencias descriptivas, no metas ni horarios contractuales. Julio: export 683 (archivo local del 11-ago); agosto: export 830. Fórmulas iguales; cortes de extracción diferentes.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31  ·  INICIO DE JORNADA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La puntualidad se observa en cada hito y en cada pabellón</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Proporción acumulada hasta la hora indicada, inclusive · primeros casos electivos L–V · agosto por pabellón</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32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603504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5852160" cy="397764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6766560" y="1719072"/>
            <a:ext cx="484632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AGOSTO · PRIMEROS CASOS POR PABELLÓN</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766560" y="1975104"/>
          <a:ext cx="4910328" cy="914400"/>
        </p:xfrm>
        <a:graphic>
          <a:graphicData uri="http://schemas.openxmlformats.org/drawingml/2006/table">
            <a:tbl>
              <a:tblPr/>
              <a:tblGrid>
                <a:gridCol w="1234440"/>
                <a:gridCol w="640080"/>
                <a:gridCol w="1005840"/>
                <a:gridCol w="1024128"/>
                <a:gridCol w="1005840"/>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Pabellón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Ingreso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Anestesia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Incisión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08:04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08:25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08:56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07:57</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08:24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08:46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07:52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08:20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08:42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Conjunto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51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07:55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08:23</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EAF1FB"/>
                          </a:solidFill>
                          <a:latin typeface="Arial" pitchFamily="34" charset="0"/>
                          <a:ea typeface="Arial" pitchFamily="34" charset="-122"/>
                          <a:cs typeface="Arial" pitchFamily="34" charset="-120"/>
                        </a:rPr>
                        <a:t>08:45</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4" name="Shape 9"/>
          <p:cNvSpPr/>
          <p:nvPr/>
        </p:nvSpPr>
        <p:spPr>
          <a:xfrm>
            <a:off x="6766560" y="4114800"/>
            <a:ext cx="4910328" cy="1737360"/>
          </a:xfrm>
          <a:prstGeom prst="roundRect">
            <a:avLst>
              <a:gd name="adj" fmla="val 4211"/>
            </a:avLst>
          </a:prstGeom>
          <a:solidFill>
            <a:srgbClr val="0F1930"/>
          </a:solidFill>
          <a:ln w="15875">
            <a:solidFill>
              <a:srgbClr val="F5B342"/>
            </a:solidFill>
            <a:prstDash val="solid"/>
          </a:ln>
        </p:spPr>
      </p:sp>
      <p:sp>
        <p:nvSpPr>
          <p:cNvPr id="15" name="Text 10"/>
          <p:cNvSpPr txBox="1"/>
          <p:nvPr/>
        </p:nvSpPr>
        <p:spPr>
          <a:xfrm>
            <a:off x="6912864" y="4224528"/>
            <a:ext cx="461772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PABELLÓN 2 INCIDE 14 MINUTOS MÁS TARDE</a:t>
            </a:r>
            <a:endParaRPr lang="en-US" sz="1150" dirty="0"/>
          </a:p>
        </p:txBody>
      </p:sp>
      <p:sp>
        <p:nvSpPr>
          <p:cNvPr id="16" name="Text 11"/>
          <p:cNvSpPr txBox="1"/>
          <p:nvPr/>
        </p:nvSpPr>
        <p:spPr>
          <a:xfrm>
            <a:off x="6912864" y="4535424"/>
            <a:ext cx="4617720" cy="1225296"/>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Con nueve días observados y una mezcla de casos distinta, la diferencia orienta la revisión de preparación y disponibilidad; no constituye una clasificación de desempeño ni permite atribuir retrasos a personas. Los primeros casos de agosto fueron en todos los casos el primer encuentro real del pabellón.</a:t>
            </a:r>
            <a:endParaRPr lang="en-US" sz="1000" dirty="0"/>
          </a:p>
        </p:txBody>
      </p:sp>
      <p:sp>
        <p:nvSpPr>
          <p:cNvPr id="17" name="Text 12"/>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Referencias descriptivas; no metas institucionales. Julio: cuatro primeros electivos precedidos por una urgencia se excluyen del principal (sensibilidad n = 56 en el anexo de métodos).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32  ·  EVOLUCIÓN 2024–2026</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Primeros inicios 2024–2026: ingreso estable, incisión más dispersa</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Primer encuentro real electivo de P2–P4, L–V, ingreso desde las 06:00 · proporción ≤ 08:00 (ingreso) y ≤ 09:00 (incisión) · nov-2024 a ago-2026</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33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7452360" cy="397764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8275320" y="1691640"/>
            <a:ext cx="3401568" cy="1298448"/>
          </a:xfrm>
          <a:prstGeom prst="roundRect">
            <a:avLst>
              <a:gd name="adj" fmla="val 5634"/>
            </a:avLst>
          </a:prstGeom>
          <a:solidFill>
            <a:srgbClr val="0F1930"/>
          </a:solidFill>
          <a:ln w="15875">
            <a:solidFill>
              <a:srgbClr val="F5B342"/>
            </a:solidFill>
            <a:prstDash val="solid"/>
          </a:ln>
        </p:spPr>
      </p:sp>
      <p:sp>
        <p:nvSpPr>
          <p:cNvPr id="13" name="Text 9"/>
          <p:cNvSpPr txBox="1"/>
          <p:nvPr/>
        </p:nvSpPr>
        <p:spPr>
          <a:xfrm>
            <a:off x="8430768" y="1801368"/>
            <a:ext cx="3090672" cy="342900"/>
          </a:xfrm>
          <a:prstGeom prst="rect">
            <a:avLst/>
          </a:prstGeom>
          <a:noFill/>
          <a:ln/>
        </p:spPr>
        <p:txBody>
          <a:bodyPr wrap="square" lIns="0" tIns="0" rIns="0" bIns="0" rtlCol="0" anchor="ctr"/>
          <a:lstStyle/>
          <a:p>
            <a:pPr algn="l" indent="0" marL="0">
              <a:buNone/>
            </a:pPr>
            <a:r>
              <a:rPr lang="en-US" sz="2000" b="1" dirty="0">
                <a:solidFill>
                  <a:srgbClr val="F5B342"/>
                </a:solidFill>
                <a:latin typeface="Arial" pitchFamily="34" charset="0"/>
                <a:ea typeface="Arial" pitchFamily="34" charset="-122"/>
                <a:cs typeface="Arial" pitchFamily="34" charset="-120"/>
              </a:rPr>
              <a:t>84,5 → 62,7 %</a:t>
            </a:r>
            <a:endParaRPr lang="en-US" sz="2000" dirty="0"/>
          </a:p>
        </p:txBody>
      </p:sp>
      <p:sp>
        <p:nvSpPr>
          <p:cNvPr id="14" name="Text 10"/>
          <p:cNvSpPr txBox="1"/>
          <p:nvPr/>
        </p:nvSpPr>
        <p:spPr>
          <a:xfrm>
            <a:off x="8430768" y="216255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INCISIÓN ≤ 09:00 · AGO-25 → AGO-26</a:t>
            </a:r>
            <a:endParaRPr lang="en-US" sz="850" dirty="0"/>
          </a:p>
        </p:txBody>
      </p:sp>
      <p:sp>
        <p:nvSpPr>
          <p:cNvPr id="15" name="Text 11"/>
          <p:cNvSpPr txBox="1"/>
          <p:nvPr/>
        </p:nvSpPr>
        <p:spPr>
          <a:xfrm>
            <a:off x="8430768" y="2400300"/>
            <a:ext cx="3090672" cy="55321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49 / 58 → 32 / 51 · la segunda proporción más baja de la serie (dic-24: 61,5 %)</a:t>
            </a:r>
            <a:endParaRPr lang="en-US" sz="1000" dirty="0"/>
          </a:p>
        </p:txBody>
      </p:sp>
      <p:sp>
        <p:nvSpPr>
          <p:cNvPr id="16" name="Shape 12"/>
          <p:cNvSpPr/>
          <p:nvPr/>
        </p:nvSpPr>
        <p:spPr>
          <a:xfrm>
            <a:off x="8275320" y="3099816"/>
            <a:ext cx="3401568" cy="1298448"/>
          </a:xfrm>
          <a:prstGeom prst="roundRect">
            <a:avLst>
              <a:gd name="adj" fmla="val 5634"/>
            </a:avLst>
          </a:prstGeom>
          <a:solidFill>
            <a:srgbClr val="0F1930"/>
          </a:solidFill>
          <a:ln w="9525">
            <a:solidFill>
              <a:srgbClr val="22304A"/>
            </a:solidFill>
            <a:prstDash val="solid"/>
          </a:ln>
        </p:spPr>
      </p:sp>
      <p:sp>
        <p:nvSpPr>
          <p:cNvPr id="17" name="Text 13"/>
          <p:cNvSpPr txBox="1"/>
          <p:nvPr/>
        </p:nvSpPr>
        <p:spPr>
          <a:xfrm>
            <a:off x="8430768" y="3209544"/>
            <a:ext cx="3090672" cy="342900"/>
          </a:xfrm>
          <a:prstGeom prst="rect">
            <a:avLst/>
          </a:prstGeom>
          <a:noFill/>
          <a:ln/>
        </p:spPr>
        <p:txBody>
          <a:bodyPr wrap="square" lIns="0" tIns="0" rIns="0" bIns="0" rtlCol="0" anchor="ctr"/>
          <a:lstStyle/>
          <a:p>
            <a:pPr algn="l" indent="0" marL="0">
              <a:buNone/>
            </a:pPr>
            <a:r>
              <a:rPr lang="en-US" sz="2000" b="1" dirty="0">
                <a:solidFill>
                  <a:srgbClr val="5EEAD4"/>
                </a:solidFill>
                <a:latin typeface="Arial" pitchFamily="34" charset="0"/>
                <a:ea typeface="Arial" pitchFamily="34" charset="-122"/>
                <a:cs typeface="Arial" pitchFamily="34" charset="-120"/>
              </a:rPr>
              <a:t>07:54–08:08</a:t>
            </a:r>
            <a:endParaRPr lang="en-US" sz="2000" dirty="0"/>
          </a:p>
        </p:txBody>
      </p:sp>
      <p:sp>
        <p:nvSpPr>
          <p:cNvPr id="18" name="Text 14"/>
          <p:cNvSpPr txBox="1"/>
          <p:nvPr/>
        </p:nvSpPr>
        <p:spPr>
          <a:xfrm>
            <a:off x="8430768" y="3570732"/>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INGRESO MEDIANO · TODA LA SERIE</a:t>
            </a:r>
            <a:endParaRPr lang="en-US" sz="850" dirty="0"/>
          </a:p>
        </p:txBody>
      </p:sp>
      <p:sp>
        <p:nvSpPr>
          <p:cNvPr id="19" name="Text 15"/>
          <p:cNvSpPr txBox="1"/>
          <p:nvPr/>
        </p:nvSpPr>
        <p:spPr>
          <a:xfrm>
            <a:off x="8430768" y="3808476"/>
            <a:ext cx="3090672" cy="55321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ago-26 07:55 · jul-26 08:02 · el ingreso no explica la caída de la incisión temprana</a:t>
            </a:r>
            <a:endParaRPr lang="en-US" sz="1000" dirty="0"/>
          </a:p>
        </p:txBody>
      </p:sp>
      <p:sp>
        <p:nvSpPr>
          <p:cNvPr id="20" name="Shape 16"/>
          <p:cNvSpPr/>
          <p:nvPr/>
        </p:nvSpPr>
        <p:spPr>
          <a:xfrm>
            <a:off x="8275320" y="4507992"/>
            <a:ext cx="3401568" cy="1344168"/>
          </a:xfrm>
          <a:prstGeom prst="roundRect">
            <a:avLst>
              <a:gd name="adj" fmla="val 5442"/>
            </a:avLst>
          </a:prstGeom>
          <a:solidFill>
            <a:srgbClr val="0F1930"/>
          </a:solidFill>
          <a:ln w="9525">
            <a:solidFill>
              <a:srgbClr val="22304A"/>
            </a:solidFill>
            <a:prstDash val="solid"/>
          </a:ln>
        </p:spPr>
      </p:sp>
      <p:sp>
        <p:nvSpPr>
          <p:cNvPr id="21" name="Text 17"/>
          <p:cNvSpPr txBox="1"/>
          <p:nvPr/>
        </p:nvSpPr>
        <p:spPr>
          <a:xfrm>
            <a:off x="8430768" y="4617720"/>
            <a:ext cx="3090672" cy="342900"/>
          </a:xfrm>
          <a:prstGeom prst="rect">
            <a:avLst/>
          </a:prstGeom>
          <a:noFill/>
          <a:ln/>
        </p:spPr>
        <p:txBody>
          <a:bodyPr wrap="square" lIns="0" tIns="0" rIns="0" bIns="0" rtlCol="0" anchor="ctr"/>
          <a:lstStyle/>
          <a:p>
            <a:pPr algn="l" indent="0" marL="0">
              <a:buNone/>
            </a:pPr>
            <a:r>
              <a:rPr lang="en-US" sz="2000" b="1" dirty="0">
                <a:solidFill>
                  <a:srgbClr val="5EEAD4"/>
                </a:solidFill>
                <a:latin typeface="Arial" pitchFamily="34" charset="0"/>
                <a:ea typeface="Arial" pitchFamily="34" charset="-122"/>
                <a:cs typeface="Arial" pitchFamily="34" charset="-120"/>
              </a:rPr>
              <a:t>21–65</a:t>
            </a:r>
            <a:endParaRPr lang="en-US" sz="2000" dirty="0"/>
          </a:p>
        </p:txBody>
      </p:sp>
      <p:sp>
        <p:nvSpPr>
          <p:cNvPr id="22" name="Text 18"/>
          <p:cNvSpPr txBox="1"/>
          <p:nvPr/>
        </p:nvSpPr>
        <p:spPr>
          <a:xfrm>
            <a:off x="8430768" y="4978908"/>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PRIMEROS CASOS POR MES</a:t>
            </a:r>
            <a:endParaRPr lang="en-US" sz="850" dirty="0"/>
          </a:p>
        </p:txBody>
      </p:sp>
      <p:sp>
        <p:nvSpPr>
          <p:cNvPr id="23" name="Text 19"/>
          <p:cNvSpPr txBox="1"/>
          <p:nvPr/>
        </p:nvSpPr>
        <p:spPr>
          <a:xfrm>
            <a:off x="8430768" y="5216652"/>
            <a:ext cx="3090672" cy="59893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ago-26 n = 51 · los meses con asterisco son parciales (ene-26 hasta el día 12, may-26 desde el 7)</a:t>
            </a:r>
            <a:endParaRPr lang="en-US" sz="1000" dirty="0"/>
          </a:p>
        </p:txBody>
      </p:sp>
      <p:sp>
        <p:nvSpPr>
          <p:cNvPr id="24" name="Text 20"/>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Sin serie de tiempos del 13-ene al 29-abr de 2026 (cambio de sistema). Cada mes usa su denominador válido; los porcentajes se calculan sobre cada hito válido, no sobre días teóricos de funcionamiento.</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33  ·  RECAMBIO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El recambio neto mejora en la media y en la cola, no en la mediana</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Pares electivos adyacentes L–V en P2–P4 · neto = bruto menos el solapamiento con 12:30–14:00 · julio n = 125, agosto n = 141</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34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JULIO VS AGOSTO · SERIE REVISADA (EXPORTS 787 Y 830)</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5440680" cy="914400"/>
        </p:xfrm>
        <a:graphic>
          <a:graphicData uri="http://schemas.openxmlformats.org/drawingml/2006/table">
            <a:tbl>
              <a:tblPr/>
              <a:tblGrid>
                <a:gridCol w="2331720"/>
                <a:gridCol w="1554480"/>
                <a:gridCol w="1554480"/>
              </a:tblGrid>
              <a:tr h="402336">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Medida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Julio · 125 pares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 · 141 pares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Mediana bruta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25,0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25,0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Mediana neta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19,0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18,0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Media neta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29,5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22,6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P90 neto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59,4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43,0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Solapamiento con almuerzo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32 h 43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33 h 35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2" name="Text 8"/>
          <p:cNvSpPr txBox="1"/>
          <p:nvPr/>
        </p:nvSpPr>
        <p:spPr>
          <a:xfrm>
            <a:off x="6236208" y="1719072"/>
            <a:ext cx="54864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AGOSTO POR PABELLÓN</a:t>
            </a:r>
            <a:endParaRPr lang="en-US" sz="85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236208" y="1975104"/>
          <a:ext cx="5440680" cy="914400"/>
        </p:xfrm>
        <a:graphic>
          <a:graphicData uri="http://schemas.openxmlformats.org/drawingml/2006/table">
            <a:tbl>
              <a:tblPr/>
              <a:tblGrid>
                <a:gridCol w="914400"/>
                <a:gridCol w="640080"/>
                <a:gridCol w="1051560"/>
                <a:gridCol w="1051560"/>
                <a:gridCol w="868680"/>
                <a:gridCol w="914400"/>
              </a:tblGrid>
              <a:tr h="402336">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Pabellón</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Pares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Mediana bruta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Mediana neta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P90 neto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Almuerzo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33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47,0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6 h 49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73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21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16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39,8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14 h 55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22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18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43,8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11 h 51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Conjunto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141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25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18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43,0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33 h 35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4" name="Shape 9"/>
          <p:cNvSpPr/>
          <p:nvPr/>
        </p:nvSpPr>
        <p:spPr>
          <a:xfrm>
            <a:off x="502920" y="4343400"/>
            <a:ext cx="2697480" cy="914400"/>
          </a:xfrm>
          <a:prstGeom prst="roundRect">
            <a:avLst>
              <a:gd name="adj" fmla="val 8000"/>
            </a:avLst>
          </a:prstGeom>
          <a:solidFill>
            <a:srgbClr val="0F1930"/>
          </a:solidFill>
          <a:ln w="9525">
            <a:solidFill>
              <a:srgbClr val="22304A"/>
            </a:solidFill>
            <a:prstDash val="solid"/>
          </a:ln>
        </p:spPr>
      </p:sp>
      <p:sp>
        <p:nvSpPr>
          <p:cNvPr id="15" name="Text 10"/>
          <p:cNvSpPr txBox="1"/>
          <p:nvPr/>
        </p:nvSpPr>
        <p:spPr>
          <a:xfrm>
            <a:off x="640080" y="4416552"/>
            <a:ext cx="2423160" cy="329184"/>
          </a:xfrm>
          <a:prstGeom prst="rect">
            <a:avLst/>
          </a:prstGeom>
          <a:noFill/>
          <a:ln/>
        </p:spPr>
        <p:txBody>
          <a:bodyPr wrap="square" lIns="0" tIns="0" rIns="0" bIns="0" rtlCol="0" anchor="ctr"/>
          <a:lstStyle/>
          <a:p>
            <a:pPr algn="l" indent="0" marL="0">
              <a:buNone/>
            </a:pPr>
            <a:r>
              <a:rPr lang="en-US" sz="2000" b="1" dirty="0">
                <a:solidFill>
                  <a:srgbClr val="EAF1FB"/>
                </a:solidFill>
                <a:latin typeface="Arial" pitchFamily="34" charset="0"/>
                <a:ea typeface="Arial" pitchFamily="34" charset="-122"/>
                <a:cs typeface="Arial" pitchFamily="34" charset="-120"/>
              </a:rPr>
              <a:t>18 min</a:t>
            </a:r>
            <a:endParaRPr lang="en-US" sz="2000" dirty="0"/>
          </a:p>
        </p:txBody>
      </p:sp>
      <p:sp>
        <p:nvSpPr>
          <p:cNvPr id="16" name="Text 11"/>
          <p:cNvSpPr txBox="1"/>
          <p:nvPr/>
        </p:nvSpPr>
        <p:spPr>
          <a:xfrm>
            <a:off x="640080" y="47274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MEDIANA NETA · AGOSTO</a:t>
            </a:r>
            <a:endParaRPr lang="en-US" sz="750" dirty="0"/>
          </a:p>
        </p:txBody>
      </p:sp>
      <p:sp>
        <p:nvSpPr>
          <p:cNvPr id="17" name="Text 12"/>
          <p:cNvSpPr txBox="1"/>
          <p:nvPr/>
        </p:nvSpPr>
        <p:spPr>
          <a:xfrm>
            <a:off x="640080" y="48920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19 en julio · 16 en agosto 2025</a:t>
            </a:r>
            <a:endParaRPr lang="en-US" sz="850" dirty="0"/>
          </a:p>
        </p:txBody>
      </p:sp>
      <p:sp>
        <p:nvSpPr>
          <p:cNvPr id="18" name="Shape 13"/>
          <p:cNvSpPr/>
          <p:nvPr/>
        </p:nvSpPr>
        <p:spPr>
          <a:xfrm>
            <a:off x="3328416" y="4343400"/>
            <a:ext cx="2697480" cy="914400"/>
          </a:xfrm>
          <a:prstGeom prst="roundRect">
            <a:avLst>
              <a:gd name="adj" fmla="val 8000"/>
            </a:avLst>
          </a:prstGeom>
          <a:solidFill>
            <a:srgbClr val="0F1930"/>
          </a:solidFill>
          <a:ln w="15875">
            <a:solidFill>
              <a:srgbClr val="34D399"/>
            </a:solidFill>
            <a:prstDash val="solid"/>
          </a:ln>
        </p:spPr>
      </p:sp>
      <p:sp>
        <p:nvSpPr>
          <p:cNvPr id="19" name="Text 14"/>
          <p:cNvSpPr txBox="1"/>
          <p:nvPr/>
        </p:nvSpPr>
        <p:spPr>
          <a:xfrm>
            <a:off x="3465576" y="4416552"/>
            <a:ext cx="2423160" cy="329184"/>
          </a:xfrm>
          <a:prstGeom prst="rect">
            <a:avLst/>
          </a:prstGeom>
          <a:noFill/>
          <a:ln/>
        </p:spPr>
        <p:txBody>
          <a:bodyPr wrap="square" lIns="0" tIns="0" rIns="0" bIns="0" rtlCol="0" anchor="ctr"/>
          <a:lstStyle/>
          <a:p>
            <a:pPr algn="l" indent="0" marL="0">
              <a:buNone/>
            </a:pPr>
            <a:r>
              <a:rPr lang="en-US" sz="2000" b="1" dirty="0">
                <a:solidFill>
                  <a:srgbClr val="34D399"/>
                </a:solidFill>
                <a:latin typeface="Arial" pitchFamily="34" charset="0"/>
                <a:ea typeface="Arial" pitchFamily="34" charset="-122"/>
                <a:cs typeface="Arial" pitchFamily="34" charset="-120"/>
              </a:rPr>
              <a:t>22,6 min</a:t>
            </a:r>
            <a:endParaRPr lang="en-US" sz="2000" dirty="0"/>
          </a:p>
        </p:txBody>
      </p:sp>
      <p:sp>
        <p:nvSpPr>
          <p:cNvPr id="20" name="Text 15"/>
          <p:cNvSpPr txBox="1"/>
          <p:nvPr/>
        </p:nvSpPr>
        <p:spPr>
          <a:xfrm>
            <a:off x="3465576" y="47274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MEDIA NETA · AGOSTO</a:t>
            </a:r>
            <a:endParaRPr lang="en-US" sz="750" dirty="0"/>
          </a:p>
        </p:txBody>
      </p:sp>
      <p:sp>
        <p:nvSpPr>
          <p:cNvPr id="21" name="Text 16"/>
          <p:cNvSpPr txBox="1"/>
          <p:nvPr/>
        </p:nvSpPr>
        <p:spPr>
          <a:xfrm>
            <a:off x="3465576" y="48920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29,5 en julio · 27,7 en agosto 2025 · la más baja de 2026</a:t>
            </a:r>
            <a:endParaRPr lang="en-US" sz="850" dirty="0"/>
          </a:p>
        </p:txBody>
      </p:sp>
      <p:sp>
        <p:nvSpPr>
          <p:cNvPr id="22" name="Shape 17"/>
          <p:cNvSpPr/>
          <p:nvPr/>
        </p:nvSpPr>
        <p:spPr>
          <a:xfrm>
            <a:off x="6153912" y="4343400"/>
            <a:ext cx="2697480" cy="914400"/>
          </a:xfrm>
          <a:prstGeom prst="roundRect">
            <a:avLst>
              <a:gd name="adj" fmla="val 8000"/>
            </a:avLst>
          </a:prstGeom>
          <a:solidFill>
            <a:srgbClr val="0F1930"/>
          </a:solidFill>
          <a:ln w="9525">
            <a:solidFill>
              <a:srgbClr val="22304A"/>
            </a:solidFill>
            <a:prstDash val="solid"/>
          </a:ln>
        </p:spPr>
      </p:sp>
      <p:sp>
        <p:nvSpPr>
          <p:cNvPr id="23" name="Text 18"/>
          <p:cNvSpPr txBox="1"/>
          <p:nvPr/>
        </p:nvSpPr>
        <p:spPr>
          <a:xfrm>
            <a:off x="6291072" y="4416552"/>
            <a:ext cx="2423160" cy="329184"/>
          </a:xfrm>
          <a:prstGeom prst="rect">
            <a:avLst/>
          </a:prstGeom>
          <a:noFill/>
          <a:ln/>
        </p:spPr>
        <p:txBody>
          <a:bodyPr wrap="square" lIns="0" tIns="0" rIns="0" bIns="0" rtlCol="0" anchor="ctr"/>
          <a:lstStyle/>
          <a:p>
            <a:pPr algn="l" indent="0" marL="0">
              <a:buNone/>
            </a:pPr>
            <a:r>
              <a:rPr lang="en-US" sz="2000" b="1" dirty="0">
                <a:solidFill>
                  <a:srgbClr val="34D399"/>
                </a:solidFill>
                <a:latin typeface="Arial" pitchFamily="34" charset="0"/>
                <a:ea typeface="Arial" pitchFamily="34" charset="-122"/>
                <a:cs typeface="Arial" pitchFamily="34" charset="-120"/>
              </a:rPr>
              <a:t>43 min</a:t>
            </a:r>
            <a:endParaRPr lang="en-US" sz="2000" dirty="0"/>
          </a:p>
        </p:txBody>
      </p:sp>
      <p:sp>
        <p:nvSpPr>
          <p:cNvPr id="24" name="Text 19"/>
          <p:cNvSpPr txBox="1"/>
          <p:nvPr/>
        </p:nvSpPr>
        <p:spPr>
          <a:xfrm>
            <a:off x="6291072" y="47274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P90 NETO · AGOSTO</a:t>
            </a:r>
            <a:endParaRPr lang="en-US" sz="750" dirty="0"/>
          </a:p>
        </p:txBody>
      </p:sp>
      <p:sp>
        <p:nvSpPr>
          <p:cNvPr id="25" name="Text 20"/>
          <p:cNvSpPr txBox="1"/>
          <p:nvPr/>
        </p:nvSpPr>
        <p:spPr>
          <a:xfrm>
            <a:off x="6291072" y="48920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59,4 en julio · 68,2 en agosto 2025 · menos intervalos muy largos</a:t>
            </a:r>
            <a:endParaRPr lang="en-US" sz="850" dirty="0"/>
          </a:p>
        </p:txBody>
      </p:sp>
      <p:sp>
        <p:nvSpPr>
          <p:cNvPr id="26" name="Shape 21"/>
          <p:cNvSpPr/>
          <p:nvPr/>
        </p:nvSpPr>
        <p:spPr>
          <a:xfrm>
            <a:off x="8979408" y="4343400"/>
            <a:ext cx="2697480" cy="914400"/>
          </a:xfrm>
          <a:prstGeom prst="roundRect">
            <a:avLst>
              <a:gd name="adj" fmla="val 8000"/>
            </a:avLst>
          </a:prstGeom>
          <a:solidFill>
            <a:srgbClr val="0F1930"/>
          </a:solidFill>
          <a:ln w="9525">
            <a:solidFill>
              <a:srgbClr val="22304A"/>
            </a:solidFill>
            <a:prstDash val="solid"/>
          </a:ln>
        </p:spPr>
      </p:sp>
      <p:sp>
        <p:nvSpPr>
          <p:cNvPr id="27" name="Text 22"/>
          <p:cNvSpPr txBox="1"/>
          <p:nvPr/>
        </p:nvSpPr>
        <p:spPr>
          <a:xfrm>
            <a:off x="9116568" y="4416552"/>
            <a:ext cx="2423160" cy="329184"/>
          </a:xfrm>
          <a:prstGeom prst="rect">
            <a:avLst/>
          </a:prstGeom>
          <a:noFill/>
          <a:ln/>
        </p:spPr>
        <p:txBody>
          <a:bodyPr wrap="square" lIns="0" tIns="0" rIns="0" bIns="0" rtlCol="0" anchor="ctr"/>
          <a:lstStyle/>
          <a:p>
            <a:pPr algn="l" indent="0" marL="0">
              <a:buNone/>
            </a:pPr>
            <a:r>
              <a:rPr lang="en-US" sz="2000" b="1" dirty="0">
                <a:solidFill>
                  <a:srgbClr val="F5B342"/>
                </a:solidFill>
                <a:latin typeface="Arial" pitchFamily="34" charset="0"/>
                <a:ea typeface="Arial" pitchFamily="34" charset="-122"/>
                <a:cs typeface="Arial" pitchFamily="34" charset="-120"/>
              </a:rPr>
              <a:t>25 min</a:t>
            </a:r>
            <a:endParaRPr lang="en-US" sz="2000" dirty="0"/>
          </a:p>
        </p:txBody>
      </p:sp>
      <p:sp>
        <p:nvSpPr>
          <p:cNvPr id="28" name="Text 23"/>
          <p:cNvSpPr txBox="1"/>
          <p:nvPr/>
        </p:nvSpPr>
        <p:spPr>
          <a:xfrm>
            <a:off x="9116568" y="4727448"/>
            <a:ext cx="2423160"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MEDIANA NETA · PABELLÓN 2</a:t>
            </a:r>
            <a:endParaRPr lang="en-US" sz="750" dirty="0"/>
          </a:p>
        </p:txBody>
      </p:sp>
      <p:sp>
        <p:nvSpPr>
          <p:cNvPr id="29" name="Text 24"/>
          <p:cNvSpPr txBox="1"/>
          <p:nvPr/>
        </p:nvSpPr>
        <p:spPr>
          <a:xfrm>
            <a:off x="9116568" y="4892040"/>
            <a:ext cx="2423160"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16 en P3 y 18 en P4 · solo 21 pares: revisar mezcla antes de concluir</a:t>
            </a:r>
            <a:endParaRPr lang="en-US" sz="850" dirty="0"/>
          </a:p>
        </p:txBody>
      </p:sp>
      <p:sp>
        <p:nvSpPr>
          <p:cNvPr id="30" name="Text 25"/>
          <p:cNvSpPr txBox="1"/>
          <p:nvPr/>
        </p:nvSpPr>
        <p:spPr>
          <a:xfrm>
            <a:off x="502920" y="5394960"/>
            <a:ext cx="11173968" cy="50292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La medición reúne el intervalo completo entre pacientes: limpieza, montaje, traslado y cualquier espera. Para intervenir se necesitan marcas de inicio y término de esas tareas y una razón de espera; reducir un componente puede no acortar el total si el siguiente sigue bloqueado.</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34  ·  EVOLUCIÓN 2024–2026</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Recambio 2024–2026: la mediana se mueve poco; la cola, mucho</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Pares electivos consecutivos P2–P4, L–V · mediana neta, media neta y P90 neto por mes · nov-2024 a ago-2026</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35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691640"/>
            <a:ext cx="7635240" cy="4160520"/>
          </a:xfrm>
          <a:prstGeom prst="roundRect">
            <a:avLst>
              <a:gd name="adj" fmla="val 1758"/>
            </a:avLst>
          </a:prstGeom>
          <a:solidFill>
            <a:srgbClr val="0F1930"/>
          </a:solidFill>
          <a:ln w="9525">
            <a:solidFill>
              <a:srgbClr val="22304A"/>
            </a:solidFill>
            <a:prstDash val="solid"/>
          </a:ln>
        </p:spPr>
      </p:sp>
      <p:graphicFrame>
        <p:nvGraphicFramePr>
          <p:cNvPr id="11" name="Chart 0" descr=""/>
          <p:cNvGraphicFramePr/>
          <p:nvPr/>
        </p:nvGraphicFramePr>
        <p:xfrm>
          <a:off x="594360" y="1783080"/>
          <a:ext cx="7452360" cy="397764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8275320" y="1691640"/>
            <a:ext cx="3401568" cy="1298448"/>
          </a:xfrm>
          <a:prstGeom prst="roundRect">
            <a:avLst>
              <a:gd name="adj" fmla="val 5634"/>
            </a:avLst>
          </a:prstGeom>
          <a:solidFill>
            <a:srgbClr val="0F1930"/>
          </a:solidFill>
          <a:ln w="9525">
            <a:solidFill>
              <a:srgbClr val="22304A"/>
            </a:solidFill>
            <a:prstDash val="solid"/>
          </a:ln>
        </p:spPr>
      </p:sp>
      <p:sp>
        <p:nvSpPr>
          <p:cNvPr id="13" name="Text 9"/>
          <p:cNvSpPr txBox="1"/>
          <p:nvPr/>
        </p:nvSpPr>
        <p:spPr>
          <a:xfrm>
            <a:off x="8430768" y="1801368"/>
            <a:ext cx="3090672" cy="377190"/>
          </a:xfrm>
          <a:prstGeom prst="rect">
            <a:avLst/>
          </a:prstGeom>
          <a:noFill/>
          <a:ln/>
        </p:spPr>
        <p:txBody>
          <a:bodyPr wrap="square" lIns="0" tIns="0" rIns="0" bIns="0" rtlCol="0" anchor="ctr"/>
          <a:lstStyle/>
          <a:p>
            <a:pPr algn="l" indent="0" marL="0">
              <a:buNone/>
            </a:pPr>
            <a:r>
              <a:rPr lang="en-US" sz="2200" b="1" dirty="0">
                <a:solidFill>
                  <a:srgbClr val="5EEAD4"/>
                </a:solidFill>
                <a:latin typeface="Arial" pitchFamily="34" charset="0"/>
                <a:ea typeface="Arial" pitchFamily="34" charset="-122"/>
                <a:cs typeface="Arial" pitchFamily="34" charset="-120"/>
              </a:rPr>
              <a:t>14–21 min</a:t>
            </a:r>
            <a:endParaRPr lang="en-US" sz="2200" dirty="0"/>
          </a:p>
        </p:txBody>
      </p:sp>
      <p:sp>
        <p:nvSpPr>
          <p:cNvPr id="14" name="Text 10"/>
          <p:cNvSpPr txBox="1"/>
          <p:nvPr/>
        </p:nvSpPr>
        <p:spPr>
          <a:xfrm>
            <a:off x="8430768" y="2196846"/>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MEDIANA NETA · RANGO 2025</a:t>
            </a:r>
            <a:endParaRPr lang="en-US" sz="850" dirty="0"/>
          </a:p>
        </p:txBody>
      </p:sp>
      <p:sp>
        <p:nvSpPr>
          <p:cNvPr id="15" name="Text 11"/>
          <p:cNvSpPr txBox="1"/>
          <p:nvPr/>
        </p:nvSpPr>
        <p:spPr>
          <a:xfrm>
            <a:off x="8430768" y="2434590"/>
            <a:ext cx="3090672" cy="51892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ago-26: 18 · ago-25: 16 · dic-24 (5) refleja oftalmología entre semana, no eficiencia</a:t>
            </a:r>
            <a:endParaRPr lang="en-US" sz="1000" dirty="0"/>
          </a:p>
        </p:txBody>
      </p:sp>
      <p:sp>
        <p:nvSpPr>
          <p:cNvPr id="16" name="Shape 12"/>
          <p:cNvSpPr/>
          <p:nvPr/>
        </p:nvSpPr>
        <p:spPr>
          <a:xfrm>
            <a:off x="8275320" y="3099816"/>
            <a:ext cx="3401568" cy="1298448"/>
          </a:xfrm>
          <a:prstGeom prst="roundRect">
            <a:avLst>
              <a:gd name="adj" fmla="val 5634"/>
            </a:avLst>
          </a:prstGeom>
          <a:solidFill>
            <a:srgbClr val="0F1930"/>
          </a:solidFill>
          <a:ln w="15875">
            <a:solidFill>
              <a:srgbClr val="34D399"/>
            </a:solidFill>
            <a:prstDash val="solid"/>
          </a:ln>
        </p:spPr>
      </p:sp>
      <p:sp>
        <p:nvSpPr>
          <p:cNvPr id="17" name="Text 13"/>
          <p:cNvSpPr txBox="1"/>
          <p:nvPr/>
        </p:nvSpPr>
        <p:spPr>
          <a:xfrm>
            <a:off x="8430768" y="3209544"/>
            <a:ext cx="3090672" cy="377190"/>
          </a:xfrm>
          <a:prstGeom prst="rect">
            <a:avLst/>
          </a:prstGeom>
          <a:noFill/>
          <a:ln/>
        </p:spPr>
        <p:txBody>
          <a:bodyPr wrap="square" lIns="0" tIns="0" rIns="0" bIns="0" rtlCol="0" anchor="ctr"/>
          <a:lstStyle/>
          <a:p>
            <a:pPr algn="l" indent="0" marL="0">
              <a:buNone/>
            </a:pPr>
            <a:r>
              <a:rPr lang="en-US" sz="2200" b="1" dirty="0">
                <a:solidFill>
                  <a:srgbClr val="34D399"/>
                </a:solidFill>
                <a:latin typeface="Arial" pitchFamily="34" charset="0"/>
                <a:ea typeface="Arial" pitchFamily="34" charset="-122"/>
                <a:cs typeface="Arial" pitchFamily="34" charset="-120"/>
              </a:rPr>
              <a:t>43 min</a:t>
            </a:r>
            <a:endParaRPr lang="en-US" sz="2200" dirty="0"/>
          </a:p>
        </p:txBody>
      </p:sp>
      <p:sp>
        <p:nvSpPr>
          <p:cNvPr id="18" name="Text 14"/>
          <p:cNvSpPr txBox="1"/>
          <p:nvPr/>
        </p:nvSpPr>
        <p:spPr>
          <a:xfrm>
            <a:off x="8430768" y="3605022"/>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P90 NETO · AGOSTO 2026</a:t>
            </a:r>
            <a:endParaRPr lang="en-US" sz="850" dirty="0"/>
          </a:p>
        </p:txBody>
      </p:sp>
      <p:sp>
        <p:nvSpPr>
          <p:cNvPr id="19" name="Text 15"/>
          <p:cNvSpPr txBox="1"/>
          <p:nvPr/>
        </p:nvSpPr>
        <p:spPr>
          <a:xfrm>
            <a:off x="8430768" y="3842766"/>
            <a:ext cx="3090672" cy="51892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el más bajo desde jul-25 (36) · ago-25: 68,2 · oct-25: 66,0</a:t>
            </a:r>
            <a:endParaRPr lang="en-US" sz="1000" dirty="0"/>
          </a:p>
        </p:txBody>
      </p:sp>
      <p:sp>
        <p:nvSpPr>
          <p:cNvPr id="20" name="Shape 16"/>
          <p:cNvSpPr/>
          <p:nvPr/>
        </p:nvSpPr>
        <p:spPr>
          <a:xfrm>
            <a:off x="8275320" y="4507992"/>
            <a:ext cx="3401568" cy="1344168"/>
          </a:xfrm>
          <a:prstGeom prst="roundRect">
            <a:avLst>
              <a:gd name="adj" fmla="val 5442"/>
            </a:avLst>
          </a:prstGeom>
          <a:solidFill>
            <a:srgbClr val="0F1930"/>
          </a:solidFill>
          <a:ln w="9525">
            <a:solidFill>
              <a:srgbClr val="22304A"/>
            </a:solidFill>
            <a:prstDash val="solid"/>
          </a:ln>
        </p:spPr>
      </p:sp>
      <p:sp>
        <p:nvSpPr>
          <p:cNvPr id="21" name="Text 17"/>
          <p:cNvSpPr txBox="1"/>
          <p:nvPr/>
        </p:nvSpPr>
        <p:spPr>
          <a:xfrm>
            <a:off x="8430768" y="4617720"/>
            <a:ext cx="3090672" cy="377190"/>
          </a:xfrm>
          <a:prstGeom prst="rect">
            <a:avLst/>
          </a:prstGeom>
          <a:noFill/>
          <a:ln/>
        </p:spPr>
        <p:txBody>
          <a:bodyPr wrap="square" lIns="0" tIns="0" rIns="0" bIns="0" rtlCol="0" anchor="ctr"/>
          <a:lstStyle/>
          <a:p>
            <a:pPr algn="l" indent="0" marL="0">
              <a:buNone/>
            </a:pPr>
            <a:r>
              <a:rPr lang="en-US" sz="2200" b="1" dirty="0">
                <a:solidFill>
                  <a:srgbClr val="34D399"/>
                </a:solidFill>
                <a:latin typeface="Arial" pitchFamily="34" charset="0"/>
                <a:ea typeface="Arial" pitchFamily="34" charset="-122"/>
                <a:cs typeface="Arial" pitchFamily="34" charset="-120"/>
              </a:rPr>
              <a:t>22,6 min</a:t>
            </a:r>
            <a:endParaRPr lang="en-US" sz="2200" dirty="0"/>
          </a:p>
        </p:txBody>
      </p:sp>
      <p:sp>
        <p:nvSpPr>
          <p:cNvPr id="22" name="Text 18"/>
          <p:cNvSpPr txBox="1"/>
          <p:nvPr/>
        </p:nvSpPr>
        <p:spPr>
          <a:xfrm>
            <a:off x="8430768" y="5013198"/>
            <a:ext cx="309067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MEDIA NETA · AGOSTO 2026</a:t>
            </a:r>
            <a:endParaRPr lang="en-US" sz="850" dirty="0"/>
          </a:p>
        </p:txBody>
      </p:sp>
      <p:sp>
        <p:nvSpPr>
          <p:cNvPr id="23" name="Text 19"/>
          <p:cNvSpPr txBox="1"/>
          <p:nvPr/>
        </p:nvSpPr>
        <p:spPr>
          <a:xfrm>
            <a:off x="8430768" y="5250942"/>
            <a:ext cx="3090672" cy="564642"/>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jun-26 28,8 · jul-26 29,5 · centro y extremos evolucionan distinto; hay cambio de sistema y de mezcla</a:t>
            </a:r>
            <a:endParaRPr lang="en-US" sz="1000" dirty="0"/>
          </a:p>
        </p:txBody>
      </p:sp>
      <p:sp>
        <p:nvSpPr>
          <p:cNvPr id="24" name="Text 20"/>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 Meses parciales (ene-26 hasta el día 12; may-26 desde el día 7). Las horas de almuerzo del anexo son sumas descriptivas de intervalos, no horas de capacidad recuperable. No se aísla el efecto de una política ni del cambio de software.</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35  ·  CONTINUIDAD</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El almuerzo concentra 33 horas de intervalos medibles entre casos</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Coincidencia del recambio con la franja 12:30–14:00 · agosto · hipótesis para diseñar un piloto de cobertura, no cupos liberados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36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Shape 7"/>
          <p:cNvSpPr/>
          <p:nvPr/>
        </p:nvSpPr>
        <p:spPr>
          <a:xfrm>
            <a:off x="502920" y="1719072"/>
            <a:ext cx="2697480" cy="1325880"/>
          </a:xfrm>
          <a:prstGeom prst="roundRect">
            <a:avLst>
              <a:gd name="adj" fmla="val 5517"/>
            </a:avLst>
          </a:prstGeom>
          <a:solidFill>
            <a:srgbClr val="0F1930"/>
          </a:solidFill>
          <a:ln w="9525">
            <a:solidFill>
              <a:srgbClr val="22304A"/>
            </a:solidFill>
            <a:prstDash val="solid"/>
          </a:ln>
        </p:spPr>
      </p:sp>
      <p:sp>
        <p:nvSpPr>
          <p:cNvPr id="11" name="Text 8"/>
          <p:cNvSpPr txBox="1"/>
          <p:nvPr/>
        </p:nvSpPr>
        <p:spPr>
          <a:xfrm>
            <a:off x="658368" y="1828800"/>
            <a:ext cx="2386584" cy="480060"/>
          </a:xfrm>
          <a:prstGeom prst="rect">
            <a:avLst/>
          </a:prstGeom>
          <a:noFill/>
          <a:ln/>
        </p:spPr>
        <p:txBody>
          <a:bodyPr wrap="square" lIns="0" tIns="0" rIns="0" bIns="0" rtlCol="0" anchor="ctr"/>
          <a:lstStyle/>
          <a:p>
            <a:pPr algn="l" indent="0" marL="0">
              <a:buNone/>
            </a:pPr>
            <a:r>
              <a:rPr lang="en-US" sz="2800" b="1" dirty="0">
                <a:solidFill>
                  <a:srgbClr val="5EEAD4"/>
                </a:solidFill>
                <a:latin typeface="Arial" pitchFamily="34" charset="0"/>
                <a:ea typeface="Arial" pitchFamily="34" charset="-122"/>
                <a:cs typeface="Arial" pitchFamily="34" charset="-120"/>
              </a:rPr>
              <a:t>33 h 35</a:t>
            </a:r>
            <a:endParaRPr lang="en-US" sz="2800" dirty="0"/>
          </a:p>
        </p:txBody>
      </p:sp>
      <p:sp>
        <p:nvSpPr>
          <p:cNvPr id="12" name="Text 9"/>
          <p:cNvSpPr txBox="1"/>
          <p:nvPr/>
        </p:nvSpPr>
        <p:spPr>
          <a:xfrm>
            <a:off x="658368" y="2327148"/>
            <a:ext cx="23865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SOLAPAMIENTO · AGOSTO</a:t>
            </a:r>
            <a:endParaRPr lang="en-US" sz="850" dirty="0"/>
          </a:p>
        </p:txBody>
      </p:sp>
      <p:sp>
        <p:nvSpPr>
          <p:cNvPr id="13" name="Text 10"/>
          <p:cNvSpPr txBox="1"/>
          <p:nvPr/>
        </p:nvSpPr>
        <p:spPr>
          <a:xfrm>
            <a:off x="658368" y="2564892"/>
            <a:ext cx="2386584" cy="4434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2.015 min · 40 pares · 39 días-pabellón · julio 32 h 43</a:t>
            </a:r>
            <a:endParaRPr lang="en-US" sz="1000" dirty="0"/>
          </a:p>
        </p:txBody>
      </p:sp>
      <p:sp>
        <p:nvSpPr>
          <p:cNvPr id="14" name="Shape 11"/>
          <p:cNvSpPr/>
          <p:nvPr/>
        </p:nvSpPr>
        <p:spPr>
          <a:xfrm>
            <a:off x="3328416" y="1719072"/>
            <a:ext cx="2697480" cy="1325880"/>
          </a:xfrm>
          <a:prstGeom prst="roundRect">
            <a:avLst>
              <a:gd name="adj" fmla="val 5517"/>
            </a:avLst>
          </a:prstGeom>
          <a:solidFill>
            <a:srgbClr val="0F1930"/>
          </a:solidFill>
          <a:ln w="9525">
            <a:solidFill>
              <a:srgbClr val="22304A"/>
            </a:solidFill>
            <a:prstDash val="solid"/>
          </a:ln>
        </p:spPr>
      </p:sp>
      <p:sp>
        <p:nvSpPr>
          <p:cNvPr id="15" name="Text 12"/>
          <p:cNvSpPr txBox="1"/>
          <p:nvPr/>
        </p:nvSpPr>
        <p:spPr>
          <a:xfrm>
            <a:off x="3483864" y="1828800"/>
            <a:ext cx="2386584" cy="480060"/>
          </a:xfrm>
          <a:prstGeom prst="rect">
            <a:avLst/>
          </a:prstGeom>
          <a:noFill/>
          <a:ln/>
        </p:spPr>
        <p:txBody>
          <a:bodyPr wrap="square" lIns="0" tIns="0" rIns="0" bIns="0" rtlCol="0" anchor="ctr"/>
          <a:lstStyle/>
          <a:p>
            <a:pPr algn="l" indent="0" marL="0">
              <a:buNone/>
            </a:pPr>
            <a:r>
              <a:rPr lang="en-US" sz="2800" b="1" dirty="0">
                <a:solidFill>
                  <a:srgbClr val="5EEAD4"/>
                </a:solidFill>
                <a:latin typeface="Arial" pitchFamily="34" charset="0"/>
                <a:ea typeface="Arial" pitchFamily="34" charset="-122"/>
                <a:cs typeface="Arial" pitchFamily="34" charset="-120"/>
              </a:rPr>
              <a:t>38,8 %</a:t>
            </a:r>
            <a:endParaRPr lang="en-US" sz="2800" dirty="0"/>
          </a:p>
        </p:txBody>
      </p:sp>
      <p:sp>
        <p:nvSpPr>
          <p:cNvPr id="16" name="Text 13"/>
          <p:cNvSpPr txBox="1"/>
          <p:nvPr/>
        </p:nvSpPr>
        <p:spPr>
          <a:xfrm>
            <a:off x="3483864" y="2327148"/>
            <a:ext cx="23865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DEL RECAMBIO BRUTO</a:t>
            </a:r>
            <a:endParaRPr lang="en-US" sz="850" dirty="0"/>
          </a:p>
        </p:txBody>
      </p:sp>
      <p:sp>
        <p:nvSpPr>
          <p:cNvPr id="17" name="Text 14"/>
          <p:cNvSpPr txBox="1"/>
          <p:nvPr/>
        </p:nvSpPr>
        <p:spPr>
          <a:xfrm>
            <a:off x="3483864" y="2564892"/>
            <a:ext cx="2386584" cy="4434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de los 5.199 min brutos de la cohorte de 141 pares</a:t>
            </a:r>
            <a:endParaRPr lang="en-US" sz="1000" dirty="0"/>
          </a:p>
        </p:txBody>
      </p:sp>
      <p:sp>
        <p:nvSpPr>
          <p:cNvPr id="18" name="Shape 15"/>
          <p:cNvSpPr/>
          <p:nvPr/>
        </p:nvSpPr>
        <p:spPr>
          <a:xfrm>
            <a:off x="6153912" y="1719072"/>
            <a:ext cx="2697480" cy="1325880"/>
          </a:xfrm>
          <a:prstGeom prst="roundRect">
            <a:avLst>
              <a:gd name="adj" fmla="val 5517"/>
            </a:avLst>
          </a:prstGeom>
          <a:solidFill>
            <a:srgbClr val="0F1930"/>
          </a:solidFill>
          <a:ln w="9525">
            <a:solidFill>
              <a:srgbClr val="22304A"/>
            </a:solidFill>
            <a:prstDash val="solid"/>
          </a:ln>
        </p:spPr>
      </p:sp>
      <p:sp>
        <p:nvSpPr>
          <p:cNvPr id="19" name="Text 16"/>
          <p:cNvSpPr txBox="1"/>
          <p:nvPr/>
        </p:nvSpPr>
        <p:spPr>
          <a:xfrm>
            <a:off x="6309360" y="1828800"/>
            <a:ext cx="2386584" cy="480060"/>
          </a:xfrm>
          <a:prstGeom prst="rect">
            <a:avLst/>
          </a:prstGeom>
          <a:noFill/>
          <a:ln/>
        </p:spPr>
        <p:txBody>
          <a:bodyPr wrap="square" lIns="0" tIns="0" rIns="0" bIns="0" rtlCol="0" anchor="ctr"/>
          <a:lstStyle/>
          <a:p>
            <a:pPr algn="l" indent="0" marL="0">
              <a:buNone/>
            </a:pPr>
            <a:r>
              <a:rPr lang="en-US" sz="2800" b="1" dirty="0">
                <a:solidFill>
                  <a:srgbClr val="F5B342"/>
                </a:solidFill>
                <a:latin typeface="Arial" pitchFamily="34" charset="0"/>
                <a:ea typeface="Arial" pitchFamily="34" charset="-122"/>
                <a:cs typeface="Arial" pitchFamily="34" charset="-120"/>
              </a:rPr>
              <a:t>16</a:t>
            </a:r>
            <a:endParaRPr lang="en-US" sz="2800" dirty="0"/>
          </a:p>
        </p:txBody>
      </p:sp>
      <p:sp>
        <p:nvSpPr>
          <p:cNvPr id="20" name="Text 17"/>
          <p:cNvSpPr txBox="1"/>
          <p:nvPr/>
        </p:nvSpPr>
        <p:spPr>
          <a:xfrm>
            <a:off x="6309360" y="2327148"/>
            <a:ext cx="23865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JORNADAS CON TRAMO ≥ 60 MIN</a:t>
            </a:r>
            <a:endParaRPr lang="en-US" sz="850" dirty="0"/>
          </a:p>
        </p:txBody>
      </p:sp>
      <p:sp>
        <p:nvSpPr>
          <p:cNvPr id="21" name="Text 18"/>
          <p:cNvSpPr txBox="1"/>
          <p:nvPr/>
        </p:nvSpPr>
        <p:spPr>
          <a:xfrm>
            <a:off x="6309360" y="2564892"/>
            <a:ext cx="2386584" cy="4434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en 12 fechas · ≥ 90 min: 2 jornadas en 1 fecha</a:t>
            </a:r>
            <a:endParaRPr lang="en-US" sz="1000" dirty="0"/>
          </a:p>
        </p:txBody>
      </p:sp>
      <p:sp>
        <p:nvSpPr>
          <p:cNvPr id="22" name="Shape 19"/>
          <p:cNvSpPr/>
          <p:nvPr/>
        </p:nvSpPr>
        <p:spPr>
          <a:xfrm>
            <a:off x="8979408" y="1719072"/>
            <a:ext cx="2697480" cy="1325880"/>
          </a:xfrm>
          <a:prstGeom prst="roundRect">
            <a:avLst>
              <a:gd name="adj" fmla="val 5517"/>
            </a:avLst>
          </a:prstGeom>
          <a:solidFill>
            <a:srgbClr val="0F1930"/>
          </a:solidFill>
          <a:ln w="9525">
            <a:solidFill>
              <a:srgbClr val="22304A"/>
            </a:solidFill>
            <a:prstDash val="solid"/>
          </a:ln>
        </p:spPr>
      </p:sp>
      <p:sp>
        <p:nvSpPr>
          <p:cNvPr id="23" name="Text 20"/>
          <p:cNvSpPr txBox="1"/>
          <p:nvPr/>
        </p:nvSpPr>
        <p:spPr>
          <a:xfrm>
            <a:off x="9134856" y="1828800"/>
            <a:ext cx="2386584" cy="480060"/>
          </a:xfrm>
          <a:prstGeom prst="rect">
            <a:avLst/>
          </a:prstGeom>
          <a:noFill/>
          <a:ln/>
        </p:spPr>
        <p:txBody>
          <a:bodyPr wrap="square" lIns="0" tIns="0" rIns="0" bIns="0" rtlCol="0" anchor="ctr"/>
          <a:lstStyle/>
          <a:p>
            <a:pPr algn="l" indent="0" marL="0">
              <a:buNone/>
            </a:pPr>
            <a:r>
              <a:rPr lang="en-US" sz="2800" b="1" dirty="0">
                <a:solidFill>
                  <a:srgbClr val="5EEAD4"/>
                </a:solidFill>
                <a:latin typeface="Arial" pitchFamily="34" charset="0"/>
                <a:ea typeface="Arial" pitchFamily="34" charset="-122"/>
                <a:cs typeface="Arial" pitchFamily="34" charset="-120"/>
              </a:rPr>
              <a:t>94 min</a:t>
            </a:r>
            <a:endParaRPr lang="en-US" sz="2800" dirty="0"/>
          </a:p>
        </p:txBody>
      </p:sp>
      <p:sp>
        <p:nvSpPr>
          <p:cNvPr id="24" name="Text 21"/>
          <p:cNvSpPr txBox="1"/>
          <p:nvPr/>
        </p:nvSpPr>
        <p:spPr>
          <a:xfrm>
            <a:off x="9134856" y="2327148"/>
            <a:ext cx="2386584"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OCUPACIÓN MEDIANA DEL CASO SIGUIENTE</a:t>
            </a:r>
            <a:endParaRPr lang="en-US" sz="850" dirty="0"/>
          </a:p>
        </p:txBody>
      </p:sp>
      <p:sp>
        <p:nvSpPr>
          <p:cNvPr id="25" name="Text 22"/>
          <p:cNvSpPr txBox="1"/>
          <p:nvPr/>
        </p:nvSpPr>
        <p:spPr>
          <a:xfrm>
            <a:off x="9134856" y="2564892"/>
            <a:ext cx="2386584" cy="4434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un bloque de 60 min supone casos cortos elegibles</a:t>
            </a:r>
            <a:endParaRPr lang="en-US" sz="1000" dirty="0"/>
          </a:p>
        </p:txBody>
      </p:sp>
      <p:sp>
        <p:nvSpPr>
          <p:cNvPr id="26" name="Text 23"/>
          <p:cNvSpPr txBox="1"/>
          <p:nvPr/>
        </p:nvSpPr>
        <p:spPr>
          <a:xfrm>
            <a:off x="502920" y="3246120"/>
            <a:ext cx="658368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ESCENARIO DE CAPACIDAD · BLOQUES COMPLETOS POR INTERVALO CONTINUO</a:t>
            </a:r>
            <a:endParaRPr lang="en-US" sz="8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3502152"/>
          <a:ext cx="6583680" cy="914400"/>
        </p:xfrm>
        <a:graphic>
          <a:graphicData uri="http://schemas.openxmlformats.org/drawingml/2006/table">
            <a:tbl>
              <a:tblPr/>
              <a:tblGrid>
                <a:gridCol w="2194560"/>
                <a:gridCol w="1463040"/>
                <a:gridCol w="1463040"/>
                <a:gridCol w="1463040"/>
              </a:tblGrid>
              <a:tr h="384048">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Bloque completo por caso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000" b="1" dirty="0">
                          <a:solidFill>
                            <a:srgbClr val="BCCDE8"/>
                          </a:solidFill>
                          <a:latin typeface="Arial" pitchFamily="34" charset="0"/>
                          <a:ea typeface="Arial" pitchFamily="34" charset="-122"/>
                          <a:cs typeface="Arial" pitchFamily="34" charset="-120"/>
                        </a:rPr>
                        <a:t>50 % recuperable</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000" b="1" dirty="0">
                          <a:solidFill>
                            <a:srgbClr val="BCCDE8"/>
                          </a:solidFill>
                          <a:latin typeface="Arial" pitchFamily="34" charset="0"/>
                          <a:ea typeface="Arial" pitchFamily="34" charset="-122"/>
                          <a:cs typeface="Arial" pitchFamily="34" charset="-120"/>
                        </a:rPr>
                        <a:t>75 % recuperable</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000" b="1" dirty="0">
                          <a:solidFill>
                            <a:srgbClr val="BCCDE8"/>
                          </a:solidFill>
                          <a:latin typeface="Arial" pitchFamily="34" charset="0"/>
                          <a:ea typeface="Arial" pitchFamily="34" charset="-122"/>
                          <a:cs typeface="Arial" pitchFamily="34" charset="-120"/>
                        </a:rPr>
                        <a:t>100 % recuperable</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60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90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120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ctr" indent="0" marL="0">
                        <a:buNone/>
                      </a:pPr>
                      <a:r>
                        <a:rPr lang="en-US" sz="1100" dirty="0">
                          <a:solidFill>
                            <a:srgbClr val="EAF1FB"/>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28" name="Shape 24"/>
          <p:cNvSpPr/>
          <p:nvPr/>
        </p:nvSpPr>
        <p:spPr>
          <a:xfrm>
            <a:off x="7269480" y="3246120"/>
            <a:ext cx="4407408" cy="1828800"/>
          </a:xfrm>
          <a:prstGeom prst="roundRect">
            <a:avLst>
              <a:gd name="adj" fmla="val 4000"/>
            </a:avLst>
          </a:prstGeom>
          <a:solidFill>
            <a:srgbClr val="0F1930"/>
          </a:solidFill>
          <a:ln w="15875">
            <a:solidFill>
              <a:srgbClr val="2DD4BF"/>
            </a:solidFill>
            <a:prstDash val="solid"/>
          </a:ln>
        </p:spPr>
      </p:sp>
      <p:sp>
        <p:nvSpPr>
          <p:cNvPr id="29" name="Text 25"/>
          <p:cNvSpPr txBox="1"/>
          <p:nvPr/>
        </p:nvSpPr>
        <p:spPr>
          <a:xfrm>
            <a:off x="7415784" y="3355848"/>
            <a:ext cx="4114800"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PILOTO DE COBERTURA ESCALONADA</a:t>
            </a:r>
            <a:endParaRPr lang="en-US" sz="1150" dirty="0"/>
          </a:p>
        </p:txBody>
      </p:sp>
      <p:sp>
        <p:nvSpPr>
          <p:cNvPr id="30" name="Text 26"/>
          <p:cNvSpPr txBox="1"/>
          <p:nvPr/>
        </p:nvSpPr>
        <p:spPr>
          <a:xfrm>
            <a:off x="7415784" y="3666744"/>
            <a:ext cx="4114800" cy="1316736"/>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Cuatro semanas en jornadas seleccionadas, manteniendo descansos efectivos. Registrar por intervalo: sala lista, paciente listo, disponibilidad del equipo, causa del bloqueo y hora de reanudación. Comparar hora final de tabla, carga de trabajo y casos completados, además del recambio bruto y neto.</a:t>
            </a:r>
            <a:endParaRPr lang="en-US" sz="1000" dirty="0"/>
          </a:p>
        </p:txBody>
      </p:sp>
      <p:sp>
        <p:nvSpPr>
          <p:cNvPr id="31" name="Shape 27"/>
          <p:cNvSpPr/>
          <p:nvPr/>
        </p:nvSpPr>
        <p:spPr>
          <a:xfrm>
            <a:off x="502920" y="5138928"/>
            <a:ext cx="11173968" cy="731520"/>
          </a:xfrm>
          <a:prstGeom prst="roundRect">
            <a:avLst>
              <a:gd name="adj" fmla="val 10000"/>
            </a:avLst>
          </a:prstGeom>
          <a:solidFill>
            <a:srgbClr val="0F1930"/>
          </a:solidFill>
          <a:ln w="15875">
            <a:solidFill>
              <a:srgbClr val="F5B342"/>
            </a:solidFill>
            <a:prstDash val="solid"/>
          </a:ln>
        </p:spPr>
      </p:sp>
      <p:sp>
        <p:nvSpPr>
          <p:cNvPr id="32" name="Text 28"/>
          <p:cNvSpPr txBox="1"/>
          <p:nvPr/>
        </p:nvSpPr>
        <p:spPr>
          <a:xfrm>
            <a:off x="649224" y="5248656"/>
            <a:ext cx="10881360" cy="530352"/>
          </a:xfrm>
          <a:prstGeom prst="rect">
            <a:avLst/>
          </a:prstGeom>
          <a:noFill/>
          <a:ln/>
        </p:spPr>
        <p:txBody>
          <a:bodyPr wrap="square" lIns="0" tIns="0" rIns="0" bIns="0" rtlCol="0" anchor="t"/>
          <a:lstStyle/>
          <a:p>
            <a:pPr algn="l" indent="0" marL="0">
              <a:buNone/>
            </a:pPr>
            <a:r>
              <a:rPr lang="en-US" sz="1050" b="1" dirty="0">
                <a:solidFill>
                  <a:srgbClr val="EAF1FB"/>
                </a:solidFill>
                <a:latin typeface="Arial" pitchFamily="34" charset="0"/>
                <a:ea typeface="Arial" pitchFamily="34" charset="-122"/>
                <a:cs typeface="Arial" pitchFamily="34" charset="-120"/>
              </a:rPr>
              <a:t>Son escenarios teóricos, no cirugías comprometidas. </a:t>
            </a:r>
            <a:pPr algn="l" indent="0" marL="0">
              <a:buNone/>
            </a:pPr>
            <a:r>
              <a:rPr lang="en-US" sz="1050" dirty="0">
                <a:solidFill>
                  <a:srgbClr val="C6D6EE"/>
                </a:solidFill>
                <a:latin typeface="Arial" pitchFamily="34" charset="0"/>
                <a:ea typeface="Arial" pitchFamily="34" charset="-122"/>
                <a:cs typeface="Arial" pitchFamily="34" charset="-120"/>
              </a:rPr>
              <a:t>Una intervención adicional necesita bloque continuo, paciente preparado, equipo, instrumental y recuperación disponibles. Los tramos de 60 o 90 min son ventanas observadas para explorar; no se suman fragmentos de salas o días distintos.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36  ·  OCUPACIÓN</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Ocupación completa: lo que importa para programar</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Encuentros electivos L–V de agosto · minutos por etapa · cada etapa se calcula por encuentro con su denominador válido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37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6949440" cy="914400"/>
        </p:xfrm>
        <a:graphic>
          <a:graphicData uri="http://schemas.openxmlformats.org/drawingml/2006/table">
            <a:tbl>
              <a:tblPr/>
              <a:tblGrid>
                <a:gridCol w="3108960"/>
                <a:gridCol w="868680"/>
                <a:gridCol w="960120"/>
                <a:gridCol w="960120"/>
                <a:gridCol w="1051560"/>
              </a:tblGrid>
              <a:tr h="420624">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Etapa · agosto electivo L–V</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n válido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Mediana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P90</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Ocupación de quirófano (ingreso a salida)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100,5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116,3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208,4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Incisión a término quirúrgico (IQ)</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54,0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66,6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136,0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Ingreso a anestesia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12,0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15,7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29,0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Anestesia a incisión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18,0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33,6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Término de IQ a salida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13,0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14,8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23,4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Text 7"/>
          <p:cNvSpPr txBox="1"/>
          <p:nvPr/>
        </p:nvSpPr>
        <p:spPr>
          <a:xfrm>
            <a:off x="502920" y="4389120"/>
            <a:ext cx="64008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EL PROMEDIO GLOBAL CAMBIA CON LA MEZCLA</a:t>
            </a:r>
            <a:endParaRPr lang="en-US" sz="85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502920" y="4645152"/>
          <a:ext cx="6949440" cy="914400"/>
        </p:xfrm>
        <a:graphic>
          <a:graphicData uri="http://schemas.openxmlformats.org/drawingml/2006/table">
            <a:tbl>
              <a:tblPr/>
              <a:tblGrid>
                <a:gridCol w="2011680"/>
                <a:gridCol w="1097280"/>
                <a:gridCol w="1371600"/>
                <a:gridCol w="1234440"/>
                <a:gridCol w="1234440"/>
              </a:tblGrid>
              <a:tr h="384048">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Agosto · electivos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Encuentros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Ocupación válida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Mediana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Lunes a viernes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100,5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116,3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Fin de semana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9,0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9,5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3" name="Shape 8"/>
          <p:cNvSpPr/>
          <p:nvPr/>
        </p:nvSpPr>
        <p:spPr>
          <a:xfrm>
            <a:off x="7635240" y="1719072"/>
            <a:ext cx="4041648" cy="1234440"/>
          </a:xfrm>
          <a:prstGeom prst="roundRect">
            <a:avLst>
              <a:gd name="adj" fmla="val 5926"/>
            </a:avLst>
          </a:prstGeom>
          <a:solidFill>
            <a:srgbClr val="0F1930"/>
          </a:solidFill>
          <a:ln w="9525">
            <a:solidFill>
              <a:srgbClr val="22304A"/>
            </a:solidFill>
            <a:prstDash val="solid"/>
          </a:ln>
        </p:spPr>
      </p:sp>
      <p:sp>
        <p:nvSpPr>
          <p:cNvPr id="14" name="Text 9"/>
          <p:cNvSpPr txBox="1"/>
          <p:nvPr/>
        </p:nvSpPr>
        <p:spPr>
          <a:xfrm>
            <a:off x="7790688" y="1828800"/>
            <a:ext cx="373075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100,5 min</a:t>
            </a:r>
            <a:endParaRPr lang="en-US" sz="2400" dirty="0"/>
          </a:p>
        </p:txBody>
      </p:sp>
      <p:sp>
        <p:nvSpPr>
          <p:cNvPr id="15" name="Text 10"/>
          <p:cNvSpPr txBox="1"/>
          <p:nvPr/>
        </p:nvSpPr>
        <p:spPr>
          <a:xfrm>
            <a:off x="7790688" y="2258568"/>
            <a:ext cx="37307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OCUPACIÓN MEDIANA · L–V</a:t>
            </a:r>
            <a:endParaRPr lang="en-US" sz="850" dirty="0"/>
          </a:p>
        </p:txBody>
      </p:sp>
      <p:sp>
        <p:nvSpPr>
          <p:cNvPr id="16" name="Text 11"/>
          <p:cNvSpPr txBox="1"/>
          <p:nvPr/>
        </p:nvSpPr>
        <p:spPr>
          <a:xfrm>
            <a:off x="7790688" y="2496312"/>
            <a:ext cx="3730752" cy="42062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incluye preparación y salida; la IQ mediana es 54 min y su diferencia no es la mediana de las etapas</a:t>
            </a:r>
            <a:endParaRPr lang="en-US" sz="1000" dirty="0"/>
          </a:p>
        </p:txBody>
      </p:sp>
      <p:sp>
        <p:nvSpPr>
          <p:cNvPr id="17" name="Shape 12"/>
          <p:cNvSpPr/>
          <p:nvPr/>
        </p:nvSpPr>
        <p:spPr>
          <a:xfrm>
            <a:off x="7635240" y="3063240"/>
            <a:ext cx="4041648" cy="1234440"/>
          </a:xfrm>
          <a:prstGeom prst="roundRect">
            <a:avLst>
              <a:gd name="adj" fmla="val 5926"/>
            </a:avLst>
          </a:prstGeom>
          <a:solidFill>
            <a:srgbClr val="0F1930"/>
          </a:solidFill>
          <a:ln w="9525">
            <a:solidFill>
              <a:srgbClr val="22304A"/>
            </a:solidFill>
            <a:prstDash val="solid"/>
          </a:ln>
        </p:spPr>
      </p:sp>
      <p:sp>
        <p:nvSpPr>
          <p:cNvPr id="18" name="Text 13"/>
          <p:cNvSpPr txBox="1"/>
          <p:nvPr/>
        </p:nvSpPr>
        <p:spPr>
          <a:xfrm>
            <a:off x="7790688" y="3172968"/>
            <a:ext cx="3730752" cy="411480"/>
          </a:xfrm>
          <a:prstGeom prst="rect">
            <a:avLst/>
          </a:prstGeom>
          <a:noFill/>
          <a:ln/>
        </p:spPr>
        <p:txBody>
          <a:bodyPr wrap="square" lIns="0" tIns="0" rIns="0" bIns="0" rtlCol="0" anchor="ctr"/>
          <a:lstStyle/>
          <a:p>
            <a:pPr algn="l" indent="0" marL="0">
              <a:buNone/>
            </a:pPr>
            <a:r>
              <a:rPr lang="en-US" sz="2400" b="1" dirty="0">
                <a:solidFill>
                  <a:srgbClr val="F5B342"/>
                </a:solidFill>
                <a:latin typeface="Arial" pitchFamily="34" charset="0"/>
                <a:ea typeface="Arial" pitchFamily="34" charset="-122"/>
                <a:cs typeface="Arial" pitchFamily="34" charset="-120"/>
              </a:rPr>
              <a:t>62,5 min</a:t>
            </a:r>
            <a:endParaRPr lang="en-US" sz="2400" dirty="0"/>
          </a:p>
        </p:txBody>
      </p:sp>
      <p:sp>
        <p:nvSpPr>
          <p:cNvPr id="19" name="Text 14"/>
          <p:cNvSpPr txBox="1"/>
          <p:nvPr/>
        </p:nvSpPr>
        <p:spPr>
          <a:xfrm>
            <a:off x="7790688" y="3602736"/>
            <a:ext cx="37307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RECUPERACIÓN · MEDIANA (n = 312)</a:t>
            </a:r>
            <a:endParaRPr lang="en-US" sz="850" dirty="0"/>
          </a:p>
        </p:txBody>
      </p:sp>
      <p:sp>
        <p:nvSpPr>
          <p:cNvPr id="20" name="Text 15"/>
          <p:cNvSpPr txBox="1"/>
          <p:nvPr/>
        </p:nvSpPr>
        <p:spPr>
          <a:xfrm>
            <a:off x="7790688" y="3840480"/>
            <a:ext cx="3730752" cy="42062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484 de 640 con ambos horarios; 157 en cero y 13 negativos: cohorte por definir antes de programar con ella</a:t>
            </a:r>
            <a:endParaRPr lang="en-US" sz="1000" dirty="0"/>
          </a:p>
        </p:txBody>
      </p:sp>
      <p:sp>
        <p:nvSpPr>
          <p:cNvPr id="21" name="Shape 16"/>
          <p:cNvSpPr/>
          <p:nvPr/>
        </p:nvSpPr>
        <p:spPr>
          <a:xfrm>
            <a:off x="7635240" y="4407408"/>
            <a:ext cx="4041648" cy="1463040"/>
          </a:xfrm>
          <a:prstGeom prst="roundRect">
            <a:avLst>
              <a:gd name="adj" fmla="val 5000"/>
            </a:avLst>
          </a:prstGeom>
          <a:solidFill>
            <a:srgbClr val="0F1930"/>
          </a:solidFill>
          <a:ln w="15875">
            <a:solidFill>
              <a:srgbClr val="2DD4BF"/>
            </a:solidFill>
            <a:prstDash val="solid"/>
          </a:ln>
        </p:spPr>
      </p:sp>
      <p:sp>
        <p:nvSpPr>
          <p:cNvPr id="22" name="Text 17"/>
          <p:cNvSpPr txBox="1"/>
          <p:nvPr/>
        </p:nvSpPr>
        <p:spPr>
          <a:xfrm>
            <a:off x="7781544" y="4517136"/>
            <a:ext cx="3749040"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SIN BLOQUE DOTADO NO HAY UTILIZACIÓN</a:t>
            </a:r>
            <a:endParaRPr lang="en-US" sz="1150" dirty="0"/>
          </a:p>
        </p:txBody>
      </p:sp>
      <p:sp>
        <p:nvSpPr>
          <p:cNvPr id="23" name="Text 18"/>
          <p:cNvSpPr txBox="1"/>
          <p:nvPr/>
        </p:nvSpPr>
        <p:spPr>
          <a:xfrm>
            <a:off x="7781544" y="4828032"/>
            <a:ext cx="3749040" cy="950976"/>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Para medir utilización y sobretiempo falta reconstruir el bloque efectivamente dotado y la hora final programada. No se estima ocupación de capacidad instalada dividiendo por un horario supuesto.</a:t>
            </a:r>
            <a:endParaRPr lang="en-US" sz="950" dirty="0"/>
          </a:p>
        </p:txBody>
      </p:sp>
      <p:sp>
        <p:nvSpPr>
          <p:cNvPr id="24" name="Text 19"/>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Los denominadores varían por hitos ausentes o incoherentes. La ocupación histórica informada excedía en exactamente 20 min el intervalo ingreso–salida en 8.713 de 8.714 encuentros; el informe recalcula desde los relojes de quirófano.</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37  ·  PRESTACIONES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Las prestaciones muestran necesidades de pabellón muy diferentes</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Junio a agosto de 2026 · electivos y urgencias · minutos de ingreso a salida · diez propuestas más frecuentes del nuevo sistema</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38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7406640" cy="914400"/>
        </p:xfrm>
        <a:graphic>
          <a:graphicData uri="http://schemas.openxmlformats.org/drawingml/2006/table">
            <a:tbl>
              <a:tblPr/>
              <a:tblGrid>
                <a:gridCol w="3566160"/>
                <a:gridCol w="822960"/>
                <a:gridCol w="1051560"/>
                <a:gridCol w="1097280"/>
                <a:gridCol w="868680"/>
              </a:tblGrid>
              <a:tr h="352044">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Propuesta de intervención</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n total</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n con tiempo</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Ocupación mediana</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P90</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Facoéresis con lente intraocular</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442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439</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11,0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14,0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Cesárea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114</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113</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75,0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96,4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Colecistectomía videolaparoscópica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90</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89</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107,0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155,2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Apendicectomía o drenaje apendicular</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68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68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90,5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128,6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Laparotomía exploradora y variantes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47</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47</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132,0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240,0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Drenaje percutáneo o endoscópico de hidronefrosis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38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38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70,0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109,3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Aspiración manual endouterina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37</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36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31,5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48,0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Gastroduodenoscopía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28</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47,5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98,4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Colangiopancreatografía retrógrada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26</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83,0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126,0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52044">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Osteosíntesis metacarpiana o falángica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5EEAD4"/>
                          </a:solidFill>
                          <a:latin typeface="Arial" pitchFamily="34" charset="0"/>
                          <a:ea typeface="Arial" pitchFamily="34" charset="-122"/>
                          <a:cs typeface="Arial" pitchFamily="34" charset="-120"/>
                        </a:rPr>
                        <a:t>81,5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128,7 min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8092440" y="1719072"/>
            <a:ext cx="3584448" cy="1371600"/>
          </a:xfrm>
          <a:prstGeom prst="roundRect">
            <a:avLst>
              <a:gd name="adj" fmla="val 5333"/>
            </a:avLst>
          </a:prstGeom>
          <a:solidFill>
            <a:srgbClr val="0F1930"/>
          </a:solidFill>
          <a:ln w="9525">
            <a:solidFill>
              <a:srgbClr val="22304A"/>
            </a:solidFill>
            <a:prstDash val="solid"/>
          </a:ln>
        </p:spPr>
      </p:sp>
      <p:sp>
        <p:nvSpPr>
          <p:cNvPr id="12" name="Text 8"/>
          <p:cNvSpPr txBox="1"/>
          <p:nvPr/>
        </p:nvSpPr>
        <p:spPr>
          <a:xfrm>
            <a:off x="8247888" y="1828800"/>
            <a:ext cx="3273552" cy="411480"/>
          </a:xfrm>
          <a:prstGeom prst="rect">
            <a:avLst/>
          </a:prstGeom>
          <a:noFill/>
          <a:ln/>
        </p:spPr>
        <p:txBody>
          <a:bodyPr wrap="square" lIns="0" tIns="0" rIns="0" bIns="0" rtlCol="0" anchor="ctr"/>
          <a:lstStyle/>
          <a:p>
            <a:pPr algn="l" indent="0" marL="0">
              <a:buNone/>
            </a:pPr>
            <a:r>
              <a:rPr lang="en-US" sz="2400" b="1" dirty="0">
                <a:solidFill>
                  <a:srgbClr val="5EEAD4"/>
                </a:solidFill>
                <a:latin typeface="Arial" pitchFamily="34" charset="0"/>
                <a:ea typeface="Arial" pitchFamily="34" charset="-122"/>
                <a:cs typeface="Arial" pitchFamily="34" charset="-120"/>
              </a:rPr>
              <a:t>11 → 132</a:t>
            </a:r>
            <a:endParaRPr lang="en-US" sz="2400" dirty="0"/>
          </a:p>
        </p:txBody>
      </p:sp>
      <p:sp>
        <p:nvSpPr>
          <p:cNvPr id="13" name="Text 9"/>
          <p:cNvSpPr txBox="1"/>
          <p:nvPr/>
        </p:nvSpPr>
        <p:spPr>
          <a:xfrm>
            <a:off x="8247888" y="2258568"/>
            <a:ext cx="32735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MINUTOS MEDIANOS · FACO A LAPAROTOMÍA</a:t>
            </a:r>
            <a:endParaRPr lang="en-US" sz="850" dirty="0"/>
          </a:p>
        </p:txBody>
      </p:sp>
      <p:sp>
        <p:nvSpPr>
          <p:cNvPr id="14" name="Text 10"/>
          <p:cNvSpPr txBox="1"/>
          <p:nvPr/>
        </p:nvSpPr>
        <p:spPr>
          <a:xfrm>
            <a:off x="8247888" y="2496312"/>
            <a:ext cx="3273552" cy="5577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doce veces de diferencia entre la prestación más breve y la más larga del top-10</a:t>
            </a:r>
            <a:endParaRPr lang="en-US" sz="1000" dirty="0"/>
          </a:p>
        </p:txBody>
      </p:sp>
      <p:sp>
        <p:nvSpPr>
          <p:cNvPr id="15" name="Shape 11"/>
          <p:cNvSpPr/>
          <p:nvPr/>
        </p:nvSpPr>
        <p:spPr>
          <a:xfrm>
            <a:off x="8092440" y="3200400"/>
            <a:ext cx="3584448" cy="1371600"/>
          </a:xfrm>
          <a:prstGeom prst="roundRect">
            <a:avLst>
              <a:gd name="adj" fmla="val 5333"/>
            </a:avLst>
          </a:prstGeom>
          <a:solidFill>
            <a:srgbClr val="0F1930"/>
          </a:solidFill>
          <a:ln w="15875">
            <a:solidFill>
              <a:srgbClr val="F5B342"/>
            </a:solidFill>
            <a:prstDash val="solid"/>
          </a:ln>
        </p:spPr>
      </p:sp>
      <p:sp>
        <p:nvSpPr>
          <p:cNvPr id="16" name="Text 12"/>
          <p:cNvSpPr txBox="1"/>
          <p:nvPr/>
        </p:nvSpPr>
        <p:spPr>
          <a:xfrm>
            <a:off x="8247888" y="3310128"/>
            <a:ext cx="3273552" cy="411480"/>
          </a:xfrm>
          <a:prstGeom prst="rect">
            <a:avLst/>
          </a:prstGeom>
          <a:noFill/>
          <a:ln/>
        </p:spPr>
        <p:txBody>
          <a:bodyPr wrap="square" lIns="0" tIns="0" rIns="0" bIns="0" rtlCol="0" anchor="ctr"/>
          <a:lstStyle/>
          <a:p>
            <a:pPr algn="l" indent="0" marL="0">
              <a:buNone/>
            </a:pPr>
            <a:r>
              <a:rPr lang="en-US" sz="2400" b="1" dirty="0">
                <a:solidFill>
                  <a:srgbClr val="F5B342"/>
                </a:solidFill>
                <a:latin typeface="Arial" pitchFamily="34" charset="0"/>
                <a:ea typeface="Arial" pitchFamily="34" charset="-122"/>
                <a:cs typeface="Arial" pitchFamily="34" charset="-120"/>
              </a:rPr>
              <a:t>74,7 %</a:t>
            </a:r>
            <a:endParaRPr lang="en-US" sz="2400" dirty="0"/>
          </a:p>
        </p:txBody>
      </p:sp>
      <p:sp>
        <p:nvSpPr>
          <p:cNvPr id="17" name="Text 13"/>
          <p:cNvSpPr txBox="1"/>
          <p:nvPr/>
        </p:nvSpPr>
        <p:spPr>
          <a:xfrm>
            <a:off x="8247888" y="3739896"/>
            <a:ext cx="327355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ENCUENTROS SIN ESPECIALIDAD · AGOSTO</a:t>
            </a:r>
            <a:endParaRPr lang="en-US" sz="850" dirty="0"/>
          </a:p>
        </p:txBody>
      </p:sp>
      <p:sp>
        <p:nvSpPr>
          <p:cNvPr id="18" name="Text 14"/>
          <p:cNvSpPr txBox="1"/>
          <p:nvPr/>
        </p:nvSpPr>
        <p:spPr>
          <a:xfrm>
            <a:off x="8247888" y="3977640"/>
            <a:ext cx="3273552" cy="55778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jun 79,8 % · jul 67,9 % · el campo no permite un ranking longitudinal por especialidad</a:t>
            </a:r>
            <a:endParaRPr lang="en-US" sz="1000" dirty="0"/>
          </a:p>
        </p:txBody>
      </p:sp>
      <p:sp>
        <p:nvSpPr>
          <p:cNvPr id="19" name="Shape 15"/>
          <p:cNvSpPr/>
          <p:nvPr/>
        </p:nvSpPr>
        <p:spPr>
          <a:xfrm>
            <a:off x="8092440" y="4681728"/>
            <a:ext cx="3584448" cy="1188720"/>
          </a:xfrm>
          <a:prstGeom prst="roundRect">
            <a:avLst>
              <a:gd name="adj" fmla="val 6154"/>
            </a:avLst>
          </a:prstGeom>
          <a:solidFill>
            <a:srgbClr val="0F1930"/>
          </a:solidFill>
          <a:ln w="15875">
            <a:solidFill>
              <a:srgbClr val="2DD4BF"/>
            </a:solidFill>
            <a:prstDash val="solid"/>
          </a:ln>
        </p:spPr>
      </p:sp>
      <p:sp>
        <p:nvSpPr>
          <p:cNvPr id="20" name="Text 16"/>
          <p:cNvSpPr txBox="1"/>
          <p:nvPr/>
        </p:nvSpPr>
        <p:spPr>
          <a:xfrm>
            <a:off x="8238744" y="4791456"/>
            <a:ext cx="3291840"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  CLASIFICACIÓN VERSIONADA</a:t>
            </a:r>
            <a:endParaRPr lang="en-US" sz="1150" dirty="0"/>
          </a:p>
        </p:txBody>
      </p:sp>
      <p:sp>
        <p:nvSpPr>
          <p:cNvPr id="21" name="Text 17"/>
          <p:cNvSpPr txBox="1"/>
          <p:nvPr/>
        </p:nvSpPr>
        <p:spPr>
          <a:xfrm>
            <a:off x="8238744" y="5102352"/>
            <a:ext cx="3291840" cy="676656"/>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El tablero definitivo necesita una clasificación institucional de prestación y especialidad, preservando los casos sin clasificación.</a:t>
            </a:r>
            <a:endParaRPr lang="en-US" sz="950" dirty="0"/>
          </a:p>
        </p:txBody>
      </p:sp>
      <p:sp>
        <p:nvSpPr>
          <p:cNvPr id="22" name="Text 18"/>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Una propuesta puede agrupar variación de técnica, complejidad o procedimientos asociados. No se interpreta el P90 como tiempo garantizado ni se comparan equipos. Sin recomendación de duración para una persona.</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38  ·  TABLERO</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Indicadores del escritorio SITGEQ de agosto frente a julio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Valores y variaciones mostrados por el tablero · pabellones de tipo electivo 2–4 · sus cohortes y fórmulas difieren de este análisis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39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3017520"/>
                <a:gridCol w="1188720"/>
                <a:gridCol w="1737360"/>
                <a:gridCol w="5230368"/>
              </a:tblGrid>
              <a:tr h="420624">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Indicador del escritorio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Agosto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Variación vs julio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b="1" dirty="0">
                          <a:solidFill>
                            <a:srgbClr val="BCCDE8"/>
                          </a:solidFill>
                          <a:latin typeface="Arial" pitchFamily="34" charset="0"/>
                          <a:ea typeface="Arial" pitchFamily="34" charset="-122"/>
                          <a:cs typeface="Arial" pitchFamily="34" charset="-120"/>
                        </a:rPr>
                        <a:t>Equivalente en este análisis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Ocupación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91,7 %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−3,7 %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Sin bloque dotado no se calcula utilización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Producción por día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14,6</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+53,7 %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452 encuentros / 31 días (pabellones 2–4)</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Suspensión de agenda</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7,5 %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−45,7 %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Monitoreo hábil 1,32 % · registro operativo 38</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Retraso de primer ingreso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12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−53,2 %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Diferencia media positiva vs 08:00: 11,8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Recambio según tablero</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14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−58,8 %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Neto L–V: mediana 18 · media 22,6 min</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20624">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Programadas normales + condicionales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b="1" dirty="0">
                          <a:solidFill>
                            <a:srgbClr val="5EEAD4"/>
                          </a:solidFill>
                          <a:latin typeface="Arial" pitchFamily="34" charset="0"/>
                          <a:ea typeface="Arial" pitchFamily="34" charset="-122"/>
                          <a:cs typeface="Arial" pitchFamily="34" charset="-120"/>
                        </a:rPr>
                        <a:t>491</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+27,5 %</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100" dirty="0">
                          <a:solidFill>
                            <a:srgbClr val="EAF1FB"/>
                          </a:solidFill>
                          <a:latin typeface="Arial" pitchFamily="34" charset="0"/>
                          <a:ea typeface="Arial" pitchFamily="34" charset="-122"/>
                          <a:cs typeface="Arial" pitchFamily="34" charset="-120"/>
                        </a:rPr>
                        <a:t>Monitoreo L–V: 152 normales + 18 condicionales</a:t>
                      </a:r>
                      <a:endParaRPr lang="en-US" sz="11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502920" y="4892040"/>
            <a:ext cx="11173968" cy="960120"/>
          </a:xfrm>
          <a:prstGeom prst="roundRect">
            <a:avLst>
              <a:gd name="adj" fmla="val 7619"/>
            </a:avLst>
          </a:prstGeom>
          <a:solidFill>
            <a:srgbClr val="0F1930"/>
          </a:solidFill>
          <a:ln w="15875">
            <a:solidFill>
              <a:srgbClr val="F5B342"/>
            </a:solidFill>
            <a:prstDash val="solid"/>
          </a:ln>
        </p:spPr>
      </p:sp>
      <p:sp>
        <p:nvSpPr>
          <p:cNvPr id="12" name="Text 8"/>
          <p:cNvSpPr txBox="1"/>
          <p:nvPr/>
        </p:nvSpPr>
        <p:spPr>
          <a:xfrm>
            <a:off x="649224" y="5001768"/>
            <a:ext cx="10881360" cy="758952"/>
          </a:xfrm>
          <a:prstGeom prst="rect">
            <a:avLst/>
          </a:prstGeom>
          <a:noFill/>
          <a:ln/>
        </p:spPr>
        <p:txBody>
          <a:bodyPr wrap="square" lIns="0" tIns="0" rIns="0" bIns="0" rtlCol="0" anchor="t"/>
          <a:lstStyle/>
          <a:p>
            <a:pPr algn="l" indent="0" marL="0">
              <a:buNone/>
            </a:pPr>
            <a:r>
              <a:rPr lang="en-US" sz="1050" b="1" dirty="0">
                <a:solidFill>
                  <a:srgbClr val="EAF1FB"/>
                </a:solidFill>
                <a:latin typeface="Arial" pitchFamily="34" charset="0"/>
                <a:ea typeface="Arial" pitchFamily="34" charset="-122"/>
                <a:cs typeface="Arial" pitchFamily="34" charset="-120"/>
              </a:rPr>
              <a:t>Las variaciones son relativas de la interfaz. </a:t>
            </a:r>
            <a:pPr algn="l" indent="0" marL="0">
              <a:buNone/>
            </a:pPr>
            <a:r>
              <a:rPr lang="en-US" sz="1050" dirty="0">
                <a:solidFill>
                  <a:srgbClr val="C6D6EE"/>
                </a:solidFill>
                <a:latin typeface="Arial" pitchFamily="34" charset="0"/>
                <a:ea typeface="Arial" pitchFamily="34" charset="-122"/>
                <a:cs typeface="Arial" pitchFamily="34" charset="-120"/>
              </a:rPr>
              <a:t>Producción, suspensión, recambio y retraso aplican filtros y definiciones propias del tablero (encuentros finalizados de cualquier modalidad; filtros electivos para suspensión, recambio y retraso). No se adoptan sus umbrales como metas institucionales ni se mezclan sus cohortes con las del monitoreo.</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39  ·  INTELIGENCIA ARTIFICIAL</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Algoritmos: útiles para ocupación, no para recambio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Entrenamiento mayo–junio · validación julio · prueba agosto · error absoluto medio (MAE) en minutos · sin uso operativo</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40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64008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PREDICCIÓN DE OCUPACIÓN DE PABELLÓN · MAE EN MINUTOS</a:t>
            </a:r>
            <a:endParaRPr lang="en-US" sz="8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6720840" cy="914400"/>
        </p:xfrm>
        <a:graphic>
          <a:graphicData uri="http://schemas.openxmlformats.org/drawingml/2006/table">
            <a:tbl>
              <a:tblPr/>
              <a:tblGrid>
                <a:gridCol w="2514600"/>
                <a:gridCol w="1005840"/>
                <a:gridCol w="1097280"/>
                <a:gridCol w="1097280"/>
                <a:gridCol w="1005840"/>
              </a:tblGrid>
              <a:tr h="365760">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Método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MAE julio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MAE agosto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P90 error ago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Sesgo ago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65760">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Mediana global</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73,7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52,5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100,8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−17,3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65760">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Mediana por propuesta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43,0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23,1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62,3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−12,9</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65760">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Ridge (seleccionado en julio)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36,3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21,8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58,2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65760">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Bosque aleatorio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39,9</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22,5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65,0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65760">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Potenciación de árboles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22,8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65,3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65760">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Red neuronal MLP</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37,3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20,3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48,6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−5,2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2" name="Text 8"/>
          <p:cNvSpPr txBox="1"/>
          <p:nvPr/>
        </p:nvSpPr>
        <p:spPr>
          <a:xfrm>
            <a:off x="502920" y="4590288"/>
            <a:ext cx="64008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DURACIÓN IQ Y RECAMBIO · MAE AGOSTO</a:t>
            </a:r>
            <a:endParaRPr lang="en-US" sz="850" dirty="0"/>
          </a:p>
        </p:txBody>
      </p:sp>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502920" y="4846320"/>
          <a:ext cx="6720840" cy="914400"/>
        </p:xfrm>
        <a:graphic>
          <a:graphicData uri="http://schemas.openxmlformats.org/drawingml/2006/table">
            <a:tbl>
              <a:tblPr/>
              <a:tblGrid>
                <a:gridCol w="2514600"/>
                <a:gridCol w="2103120"/>
                <a:gridCol w="2103120"/>
              </a:tblGrid>
              <a:tr h="274320">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Método</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IQ (n = 427)</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Recambio (n = 141)</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274320">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Mediana global</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27,2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b="1" dirty="0">
                          <a:solidFill>
                            <a:srgbClr val="34D399"/>
                          </a:solidFill>
                          <a:latin typeface="Arial" pitchFamily="34" charset="0"/>
                          <a:ea typeface="Arial" pitchFamily="34" charset="-122"/>
                          <a:cs typeface="Arial" pitchFamily="34" charset="-120"/>
                        </a:rPr>
                        <a:t>14,1</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274320">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Mediana por propuesta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17,7</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14,7</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274320">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Ridge · MLP</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17,5 · 16,2</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15,7 · 17,9</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4" name="Shape 9"/>
          <p:cNvSpPr/>
          <p:nvPr/>
        </p:nvSpPr>
        <p:spPr>
          <a:xfrm>
            <a:off x="7406640" y="1719072"/>
            <a:ext cx="4270248" cy="1298448"/>
          </a:xfrm>
          <a:prstGeom prst="roundRect">
            <a:avLst>
              <a:gd name="adj" fmla="val 5634"/>
            </a:avLst>
          </a:prstGeom>
          <a:solidFill>
            <a:srgbClr val="0F1930"/>
          </a:solidFill>
          <a:ln w="15875">
            <a:solidFill>
              <a:srgbClr val="2DD4BF"/>
            </a:solidFill>
            <a:prstDash val="solid"/>
          </a:ln>
        </p:spPr>
      </p:sp>
      <p:sp>
        <p:nvSpPr>
          <p:cNvPr id="15" name="Text 10"/>
          <p:cNvSpPr txBox="1"/>
          <p:nvPr/>
        </p:nvSpPr>
        <p:spPr>
          <a:xfrm>
            <a:off x="7552944" y="1828800"/>
            <a:ext cx="3977640" cy="274320"/>
          </a:xfrm>
          <a:prstGeom prst="rect">
            <a:avLst/>
          </a:prstGeom>
          <a:noFill/>
          <a:ln/>
        </p:spPr>
        <p:txBody>
          <a:bodyPr wrap="square" lIns="0" tIns="0" rIns="0" bIns="0" rtlCol="0" anchor="ctr"/>
          <a:lstStyle/>
          <a:p>
            <a:pPr algn="l" indent="0" marL="0">
              <a:buNone/>
            </a:pPr>
            <a:r>
              <a:rPr lang="en-US" sz="1150" b="1" dirty="0">
                <a:solidFill>
                  <a:srgbClr val="5EEAD4"/>
                </a:solidFill>
                <a:latin typeface="Arial" pitchFamily="34" charset="0"/>
                <a:ea typeface="Arial" pitchFamily="34" charset="-122"/>
                <a:cs typeface="Arial" pitchFamily="34" charset="-120"/>
              </a:rPr>
              <a:t>OCUPACIÓN · RIDGE 21,8 VS 23,1 MIN</a:t>
            </a:r>
            <a:endParaRPr lang="en-US" sz="1150" dirty="0"/>
          </a:p>
        </p:txBody>
      </p:sp>
      <p:sp>
        <p:nvSpPr>
          <p:cNvPr id="16" name="Text 11"/>
          <p:cNvSpPr txBox="1"/>
          <p:nvPr/>
        </p:nvSpPr>
        <p:spPr>
          <a:xfrm>
            <a:off x="7552944" y="2139696"/>
            <a:ext cx="3977640" cy="786384"/>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Ventaja de −1,3 min sobre la mediana por propuesta, con intervalo exploratorio de −4,7 a +1,2: la superioridad no está establecida. En L–V el MAE llega a 41,8 min; el fin de semana (4,3) mejora el promedio.</a:t>
            </a:r>
            <a:endParaRPr lang="en-US" sz="950" dirty="0"/>
          </a:p>
        </p:txBody>
      </p:sp>
      <p:sp>
        <p:nvSpPr>
          <p:cNvPr id="17" name="Shape 12"/>
          <p:cNvSpPr/>
          <p:nvPr/>
        </p:nvSpPr>
        <p:spPr>
          <a:xfrm>
            <a:off x="7406640" y="3127248"/>
            <a:ext cx="4270248" cy="1298448"/>
          </a:xfrm>
          <a:prstGeom prst="roundRect">
            <a:avLst>
              <a:gd name="adj" fmla="val 5634"/>
            </a:avLst>
          </a:prstGeom>
          <a:solidFill>
            <a:srgbClr val="0F1930"/>
          </a:solidFill>
          <a:ln w="15875">
            <a:solidFill>
              <a:srgbClr val="F5B342"/>
            </a:solidFill>
            <a:prstDash val="solid"/>
          </a:ln>
        </p:spPr>
      </p:sp>
      <p:sp>
        <p:nvSpPr>
          <p:cNvPr id="18" name="Text 13"/>
          <p:cNvSpPr txBox="1"/>
          <p:nvPr/>
        </p:nvSpPr>
        <p:spPr>
          <a:xfrm>
            <a:off x="7552944" y="3236976"/>
            <a:ext cx="397764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RECAMBIO · GANA LA CONSTANTE DE 19 MIN</a:t>
            </a:r>
            <a:endParaRPr lang="en-US" sz="1150" dirty="0"/>
          </a:p>
        </p:txBody>
      </p:sp>
      <p:sp>
        <p:nvSpPr>
          <p:cNvPr id="19" name="Text 14"/>
          <p:cNvSpPr txBox="1"/>
          <p:nvPr/>
        </p:nvSpPr>
        <p:spPr>
          <a:xfrm>
            <a:off x="7552944" y="3547872"/>
            <a:ext cx="3977640" cy="786384"/>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Una predicción constante obtiene MAE 14,1; red neuronal, árboles y Ridge rinden peor. Las características de la prestación no capturan sala lista, paciente listo, traslado, instrumental ni cobertura efectiva.</a:t>
            </a:r>
            <a:endParaRPr lang="en-US" sz="950" dirty="0"/>
          </a:p>
        </p:txBody>
      </p:sp>
      <p:sp>
        <p:nvSpPr>
          <p:cNvPr id="20" name="Shape 15"/>
          <p:cNvSpPr/>
          <p:nvPr/>
        </p:nvSpPr>
        <p:spPr>
          <a:xfrm>
            <a:off x="7406640" y="4535424"/>
            <a:ext cx="4270248" cy="1335024"/>
          </a:xfrm>
          <a:prstGeom prst="roundRect">
            <a:avLst>
              <a:gd name="adj" fmla="val 5479"/>
            </a:avLst>
          </a:prstGeom>
          <a:solidFill>
            <a:srgbClr val="0F1930"/>
          </a:solidFill>
          <a:ln w="15875">
            <a:solidFill>
              <a:srgbClr val="5B6B85"/>
            </a:solidFill>
            <a:prstDash val="solid"/>
          </a:ln>
        </p:spPr>
      </p:sp>
      <p:sp>
        <p:nvSpPr>
          <p:cNvPr id="21" name="Text 16"/>
          <p:cNvSpPr txBox="1"/>
          <p:nvPr/>
        </p:nvSpPr>
        <p:spPr>
          <a:xfrm>
            <a:off x="7552944" y="4645152"/>
            <a:ext cx="3977640" cy="274320"/>
          </a:xfrm>
          <a:prstGeom prst="rect">
            <a:avLst/>
          </a:prstGeom>
          <a:noFill/>
          <a:ln/>
        </p:spPr>
        <p:txBody>
          <a:bodyPr wrap="square" lIns="0" tIns="0" rIns="0" bIns="0" rtlCol="0" anchor="ctr"/>
          <a:lstStyle/>
          <a:p>
            <a:pPr algn="l" indent="0" marL="0">
              <a:buNone/>
            </a:pPr>
            <a:r>
              <a:rPr lang="en-US" sz="1150" b="1" dirty="0">
                <a:solidFill>
                  <a:srgbClr val="BCCDE8"/>
                </a:solidFill>
                <a:latin typeface="Arial" pitchFamily="34" charset="0"/>
                <a:ea typeface="Arial" pitchFamily="34" charset="-122"/>
                <a:cs typeface="Arial" pitchFamily="34" charset="-120"/>
              </a:rPr>
              <a:t>LÍMITE DECISIVO</a:t>
            </a:r>
            <a:endParaRPr lang="en-US" sz="1150" dirty="0"/>
          </a:p>
        </p:txBody>
      </p:sp>
      <p:sp>
        <p:nvSpPr>
          <p:cNvPr id="22" name="Text 17"/>
          <p:cNvSpPr txBox="1"/>
          <p:nvPr/>
        </p:nvSpPr>
        <p:spPr>
          <a:xfrm>
            <a:off x="7552944" y="4956048"/>
            <a:ext cx="3977640" cy="822960"/>
          </a:xfrm>
          <a:prstGeom prst="rect">
            <a:avLst/>
          </a:prstGeom>
          <a:noFill/>
          <a:ln/>
        </p:spPr>
        <p:txBody>
          <a:bodyPr wrap="square" lIns="0" tIns="0" rIns="0" bIns="0" rtlCol="0" anchor="t"/>
          <a:lstStyle/>
          <a:p>
            <a:pPr algn="l" indent="0" marL="0">
              <a:buNone/>
            </a:pPr>
            <a:r>
              <a:rPr lang="en-US" sz="950" dirty="0">
                <a:solidFill>
                  <a:srgbClr val="C6D6EE"/>
                </a:solidFill>
                <a:latin typeface="Arial" pitchFamily="34" charset="0"/>
                <a:ea typeface="Arial" pitchFamily="34" charset="-122"/>
                <a:cs typeface="Arial" pitchFamily="34" charset="-120"/>
              </a:rPr>
              <a:t>El export muestra el estado final de las categorías, no la agenda congelada al programar; 68 de 433 propuestas no estaban en el entrenamiento. Prueba exploratoria: repetir con capturas prospectivas de agenda.</a:t>
            </a:r>
            <a:endParaRPr lang="en-US" sz="950" dirty="0"/>
          </a:p>
        </p:txBody>
      </p:sp>
      <p:sp>
        <p:nvSpPr>
          <p:cNvPr id="23" name="Text 18"/>
          <p:cNvSpPr txBox="1"/>
          <p:nvPr/>
        </p:nvSpPr>
        <p:spPr>
          <a:xfrm>
            <a:off x="502920" y="59436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Menor MAE es mejor. Sesgo = predicción menos tiempo real (negativo = subestimación). Con Ridge, 20,3 % de los casos L–V se subestima por más de 30 min. Sin uso operativo ni aplicación a decisiones clínicas.</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40  ·  ALGORITMOS · HOJA DE RUTA</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Qué puede hacer la IA con estos datos, y qué le falta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Aplicaciones pertinentes según el informe del 6 de septiembre · método razonable, estado actual y siguiente paso · la decisión sigue en el equipo</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41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103120"/>
                <a:gridCol w="2834640"/>
                <a:gridCol w="3108960"/>
                <a:gridCol w="3127248"/>
              </a:tblGrid>
              <a:tr h="512064">
                <a:tc>
                  <a:txBody>
                    <a:bodyPr/>
                    <a:lstStyle/>
                    <a:p>
                      <a:pPr algn="l" indent="0" marL="0">
                        <a:buNone/>
                      </a:pPr>
                      <a:r>
                        <a:rPr lang="en-US" sz="850" b="1" dirty="0">
                          <a:solidFill>
                            <a:srgbClr val="BCCDE8"/>
                          </a:solidFill>
                          <a:latin typeface="Arial" pitchFamily="34" charset="0"/>
                          <a:ea typeface="Arial" pitchFamily="34" charset="-122"/>
                          <a:cs typeface="Arial" pitchFamily="34" charset="-120"/>
                        </a:rPr>
                        <a:t>Aplicación</a:t>
                      </a:r>
                      <a:endParaRPr lang="en-US" sz="8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50" b="1" dirty="0">
                          <a:solidFill>
                            <a:srgbClr val="BCCDE8"/>
                          </a:solidFill>
                          <a:latin typeface="Arial" pitchFamily="34" charset="0"/>
                          <a:ea typeface="Arial" pitchFamily="34" charset="-122"/>
                          <a:cs typeface="Arial" pitchFamily="34" charset="-120"/>
                        </a:rPr>
                        <a:t>Método razonable</a:t>
                      </a:r>
                      <a:endParaRPr lang="en-US" sz="8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50" b="1" dirty="0">
                          <a:solidFill>
                            <a:srgbClr val="BCCDE8"/>
                          </a:solidFill>
                          <a:latin typeface="Arial" pitchFamily="34" charset="0"/>
                          <a:ea typeface="Arial" pitchFamily="34" charset="-122"/>
                          <a:cs typeface="Arial" pitchFamily="34" charset="-120"/>
                        </a:rPr>
                        <a:t>Estado hoy</a:t>
                      </a:r>
                      <a:endParaRPr lang="en-US" sz="8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50" b="1" dirty="0">
                          <a:solidFill>
                            <a:srgbClr val="BCCDE8"/>
                          </a:solidFill>
                          <a:latin typeface="Arial" pitchFamily="34" charset="0"/>
                          <a:ea typeface="Arial" pitchFamily="34" charset="-122"/>
                          <a:cs typeface="Arial" pitchFamily="34" charset="-120"/>
                        </a:rPr>
                        <a:t>Siguiente paso</a:t>
                      </a:r>
                      <a:endParaRPr lang="en-US" sz="8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Ocupación al cerrar la tabla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Mediana por prestación, Ridge, árboles y MLP como comparadores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Prueba local exploratoria: Ridge 21,8 min vs 23,1 de la mediana (no concluyente)</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Agenda congelada al cerrar la tabla, estimación del equipo e intervalos calibrados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Suspensión por causa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Reglas y regresión; árboles solo si mejoran</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Registro operable en marcha (CancelOS /suspensiones); 18 de 38 sin causal en agosto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Agenda completa de realizados y suspendidos por episodio, con variables previas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Esperas y variantes del flujo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Minería de procesos y reglas temporales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Los hitos actuales describen parte de la ruta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Registrar sala lista, paciente listo, limpieza, montaje y traslado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Almuerzo y agenda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Simulación de eventos discretos y optimización con restricciones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Ventanas observadas: 16 jornadas con ≥ 60 min continuos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Piloto de cobertura de 4 semanas con comparación concurrente</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Tiempo restante intraoperatorio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Red secuencial o de vídeo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No iniciado: los exports no sostienen ese entrenamiento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Proyecto posterior con señales sincronizadas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50" b="1" dirty="0">
                          <a:solidFill>
                            <a:srgbClr val="EAF1FB"/>
                          </a:solidFill>
                          <a:latin typeface="Arial" pitchFamily="34" charset="0"/>
                          <a:ea typeface="Arial" pitchFamily="34" charset="-122"/>
                          <a:cs typeface="Arial" pitchFamily="34" charset="-120"/>
                        </a:rPr>
                        <a:t>Control del indicador</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Carta p, CUSUM, EWMA y pruebas exactas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Operativo en este comité (láminas de control estadístico)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dirty="0">
                          <a:solidFill>
                            <a:srgbClr val="EAF1FB"/>
                          </a:solidFill>
                          <a:latin typeface="Arial" pitchFamily="34" charset="0"/>
                          <a:ea typeface="Arial" pitchFamily="34" charset="-122"/>
                          <a:cs typeface="Arial" pitchFamily="34" charset="-120"/>
                        </a:rPr>
                        <a:t>Automatizar en CancelOS con la serie diaria y alertas</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502920" y="5394960"/>
            <a:ext cx="11173968" cy="548640"/>
          </a:xfrm>
          <a:prstGeom prst="roundRect">
            <a:avLst>
              <a:gd name="adj" fmla="val 13333"/>
            </a:avLst>
          </a:prstGeom>
          <a:solidFill>
            <a:srgbClr val="0F1930"/>
          </a:solidFill>
          <a:ln w="15875">
            <a:solidFill>
              <a:srgbClr val="2DD4BF"/>
            </a:solidFill>
            <a:prstDash val="solid"/>
          </a:ln>
        </p:spPr>
      </p:sp>
      <p:sp>
        <p:nvSpPr>
          <p:cNvPr id="12" name="Text 8"/>
          <p:cNvSpPr txBox="1"/>
          <p:nvPr/>
        </p:nvSpPr>
        <p:spPr>
          <a:xfrm>
            <a:off x="649224" y="5504688"/>
            <a:ext cx="10881360" cy="347472"/>
          </a:xfrm>
          <a:prstGeom prst="rect">
            <a:avLst/>
          </a:prstGeom>
          <a:noFill/>
          <a:ln/>
        </p:spPr>
        <p:txBody>
          <a:bodyPr wrap="square" lIns="0" tIns="0" rIns="0" bIns="0" rtlCol="0" anchor="t"/>
          <a:lstStyle/>
          <a:p>
            <a:pPr algn="l" indent="0" marL="0">
              <a:buNone/>
            </a:pPr>
            <a:r>
              <a:rPr lang="en-US" sz="1000" b="1" dirty="0">
                <a:solidFill>
                  <a:srgbClr val="EAF1FB"/>
                </a:solidFill>
                <a:latin typeface="Arial" pitchFamily="34" charset="0"/>
                <a:ea typeface="Arial" pitchFamily="34" charset="-122"/>
                <a:cs typeface="Arial" pitchFamily="34" charset="-120"/>
              </a:rPr>
              <a:t>Regla del informe: </a:t>
            </a:r>
            <a:pPr algn="l" indent="0" marL="0">
              <a:buNone/>
            </a:pPr>
            <a:r>
              <a:rPr lang="en-US" sz="1000" dirty="0">
                <a:solidFill>
                  <a:srgbClr val="C6D6EE"/>
                </a:solidFill>
                <a:latin typeface="Arial" pitchFamily="34" charset="0"/>
                <a:ea typeface="Arial" pitchFamily="34" charset="-122"/>
                <a:cs typeface="Arial" pitchFamily="34" charset="-120"/>
              </a:rPr>
              <a:t>una captura consistente de hitos aporta más valor inicial que añadir capas a la red neuronal. Para suspensiones no basta una lista de suspendidos: se necesita conocer todas las programaciones expuestas al riesgo.</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41  ·  REGISTRO OPERABLE</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350" b="1" dirty="0">
                <a:solidFill>
                  <a:srgbClr val="EAF1FB"/>
                </a:solidFill>
                <a:latin typeface="Arial" pitchFamily="34" charset="0"/>
                <a:ea typeface="Arial" pitchFamily="34" charset="-122"/>
                <a:cs typeface="Arial" pitchFamily="34" charset="-120"/>
              </a:rPr>
              <a:t>Lo que falta registrar para explicar esperas y suspensiones</a:t>
            </a:r>
            <a:endParaRPr lang="en-US" sz="235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Datos nuevos por momento del proceso · registro breve, ligado a tareas observables, con "sin causa determinada" disponible</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42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103120"/>
                <a:gridCol w="4937760"/>
                <a:gridCol w="4133088"/>
              </a:tblGrid>
              <a:tr h="457200">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Momento</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Dato nuevo</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00" b="1" dirty="0">
                          <a:solidFill>
                            <a:srgbClr val="BCCDE8"/>
                          </a:solidFill>
                          <a:latin typeface="Arial" pitchFamily="34" charset="0"/>
                          <a:ea typeface="Arial" pitchFamily="34" charset="-122"/>
                          <a:cs typeface="Arial" pitchFamily="34" charset="-120"/>
                        </a:rPr>
                        <a:t>Qué pregunta resuelve</a:t>
                      </a:r>
                      <a:endParaRPr lang="en-US" sz="9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Cierre de tabla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Versión de agenda, orden previsto, ocupación estimada y hora de inicio acordada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Distinguir desviación real de horario de una comparación contra 08:00</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Antes del primer caso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Paciente listo, sala lista, traslado solicitado y llegada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Separar preparación y transporte de la fase dentro de quirófano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Entre pacientes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Inicio y fin de limpieza, montaje completo y autorización de ingreso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Localizar la etapa que determina el recambio total</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Durante almuerzo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Cobertura efectiva por función, descanso, bloqueo y reanudación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Cuantificar cuánto cambia el flujo al disponer de relevo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Salida y recuperación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Criterios de egreso, cama disponible y traslado completado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Distinguir recuperación clínica de espera de salida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Programación y resultado</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ID de episodio, altas y bajas de agenda, causal, momento de suspensión, evento raíz, anticipación, pabellón, especialidad y reprogramación efectiva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Denominadores por calendario y por causa sin sumar fuentes incompatibles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1000" b="1" dirty="0">
                          <a:solidFill>
                            <a:srgbClr val="EAF1FB"/>
                          </a:solidFill>
                          <a:latin typeface="Arial" pitchFamily="34" charset="0"/>
                          <a:ea typeface="Arial" pitchFamily="34" charset="-122"/>
                          <a:cs typeface="Arial" pitchFamily="34" charset="-120"/>
                        </a:rPr>
                        <a:t>Disponibilidad del pabellón</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Bloques dotados, restricciones de equipo e instrumental y capacidad URPA</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00" dirty="0">
                          <a:solidFill>
                            <a:srgbClr val="EAF1FB"/>
                          </a:solidFill>
                          <a:latin typeface="Arial" pitchFamily="34" charset="0"/>
                          <a:ea typeface="Arial" pitchFamily="34" charset="-122"/>
                          <a:cs typeface="Arial" pitchFamily="34" charset="-120"/>
                        </a:rPr>
                        <a:t>Calcular utilización y simular agenda dentro de límites reales</a:t>
                      </a:r>
                      <a:endParaRPr lang="en-US" sz="100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Text 7"/>
          <p:cNvSpPr txBox="1"/>
          <p:nvPr/>
        </p:nvSpPr>
        <p:spPr>
          <a:xfrm>
            <a:off x="502920" y="5623560"/>
            <a:ext cx="11173968" cy="45720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La propuesta no requiere empezar por vídeo ni por un sistema complejo. El registro de suspensiones de agosto llegó con 18 causales vacías y sin evento raíz, anticipación, pabellón ni reprogramación: son los campos comprometidos en julio.</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42  ·  TRASPASO HPMM</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El traspaso amplifica la tasa que se sostenga</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Escalamiento de 3 a 7 pabellones electivos sobre 250 jornadas hábiles/año · suspensiones esperadas por escenario · distribución binomial</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43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6858000" cy="914400"/>
        </p:xfrm>
        <a:graphic>
          <a:graphicData uri="http://schemas.openxmlformats.org/drawingml/2006/table">
            <a:tbl>
              <a:tblPr/>
              <a:tblGrid>
                <a:gridCol w="3566160"/>
                <a:gridCol w="1097280"/>
                <a:gridCol w="1097280"/>
                <a:gridCol w="1097280"/>
              </a:tblGrid>
              <a:tr h="402336">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Escenario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Prog./año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Susp./año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P5 – P95</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Actual · 3 pab., tasa 2025 (9,38 %)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217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194 – 240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Actual · 3 pab., tasa jun–ago 2026 (1,23 %)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20 – 37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HPMM · 7 pab., tasa 2025 sin intervención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5.387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505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470 – 541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HPMM · 7 pab., tasa histórica 20 m (7,61 %)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5.387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410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378 – 442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HPMM · 7 pab., tasa ene–ago 2026 (5,04 %)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5.387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272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245 – 298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HPMM · 7 pab., desempeño jun–ago sostenido (1,23 %)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5.387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66</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EAF1FB"/>
                          </a:solidFill>
                          <a:latin typeface="Arial" pitchFamily="34" charset="0"/>
                          <a:ea typeface="Arial" pitchFamily="34" charset="-122"/>
                          <a:cs typeface="Arial" pitchFamily="34" charset="-120"/>
                        </a:rPr>
                        <a:t>53 – 80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Shape 7"/>
          <p:cNvSpPr/>
          <p:nvPr/>
        </p:nvSpPr>
        <p:spPr>
          <a:xfrm>
            <a:off x="7543800" y="1719072"/>
            <a:ext cx="4133088" cy="1371600"/>
          </a:xfrm>
          <a:prstGeom prst="roundRect">
            <a:avLst>
              <a:gd name="adj" fmla="val 5333"/>
            </a:avLst>
          </a:prstGeom>
          <a:solidFill>
            <a:srgbClr val="0F1930"/>
          </a:solidFill>
          <a:ln w="15875">
            <a:solidFill>
              <a:srgbClr val="2DD4BF"/>
            </a:solidFill>
            <a:prstDash val="solid"/>
          </a:ln>
        </p:spPr>
      </p:sp>
      <p:sp>
        <p:nvSpPr>
          <p:cNvPr id="12" name="Text 8"/>
          <p:cNvSpPr txBox="1"/>
          <p:nvPr/>
        </p:nvSpPr>
        <p:spPr>
          <a:xfrm>
            <a:off x="7699248" y="1828800"/>
            <a:ext cx="3822192" cy="548640"/>
          </a:xfrm>
          <a:prstGeom prst="rect">
            <a:avLst/>
          </a:prstGeom>
          <a:noFill/>
          <a:ln/>
        </p:spPr>
        <p:txBody>
          <a:bodyPr wrap="square" lIns="0" tIns="0" rIns="0" bIns="0" rtlCol="0" anchor="ctr"/>
          <a:lstStyle/>
          <a:p>
            <a:pPr algn="l" indent="0" marL="0">
              <a:buNone/>
            </a:pPr>
            <a:r>
              <a:rPr lang="en-US" sz="3200" b="1" dirty="0">
                <a:solidFill>
                  <a:srgbClr val="5EEAD4"/>
                </a:solidFill>
                <a:latin typeface="Arial" pitchFamily="34" charset="0"/>
                <a:ea typeface="Arial" pitchFamily="34" charset="-122"/>
                <a:cs typeface="Arial" pitchFamily="34" charset="-120"/>
              </a:rPr>
              <a:t>439</a:t>
            </a:r>
            <a:endParaRPr lang="en-US" sz="3200" dirty="0"/>
          </a:p>
        </p:txBody>
      </p:sp>
      <p:sp>
        <p:nvSpPr>
          <p:cNvPr id="13" name="Text 9"/>
          <p:cNvSpPr txBox="1"/>
          <p:nvPr/>
        </p:nvSpPr>
        <p:spPr>
          <a:xfrm>
            <a:off x="7699248" y="2395728"/>
            <a:ext cx="3822192"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PACIENTES EVITADOS / AÑO</a:t>
            </a:r>
            <a:endParaRPr lang="en-US" sz="850" dirty="0"/>
          </a:p>
        </p:txBody>
      </p:sp>
      <p:sp>
        <p:nvSpPr>
          <p:cNvPr id="14" name="Text 10"/>
          <p:cNvSpPr txBox="1"/>
          <p:nvPr/>
        </p:nvSpPr>
        <p:spPr>
          <a:xfrm>
            <a:off x="7699248" y="2633472"/>
            <a:ext cx="3822192" cy="420624"/>
          </a:xfrm>
          <a:prstGeom prst="rect">
            <a:avLst/>
          </a:prstGeom>
          <a:noFill/>
          <a:ln/>
        </p:spPr>
        <p:txBody>
          <a:bodyPr wrap="square" lIns="0" tIns="0" rIns="0" bIns="0" rtlCol="0" anchor="t"/>
          <a:lstStyle/>
          <a:p>
            <a:pPr algn="l" indent="0" marL="0">
              <a:buNone/>
            </a:pPr>
            <a:r>
              <a:rPr lang="en-US" sz="1000" dirty="0">
                <a:solidFill>
                  <a:srgbClr val="94AACC"/>
                </a:solidFill>
                <a:latin typeface="Arial" pitchFamily="34" charset="0"/>
                <a:ea typeface="Arial" pitchFamily="34" charset="-122"/>
                <a:cs typeface="Arial" pitchFamily="34" charset="-120"/>
              </a:rPr>
              <a:t>frente al escenario sin intervención (505 → 66 suspensiones esperadas al sostener 1,23 %)</a:t>
            </a:r>
            <a:endParaRPr lang="en-US" sz="1000" dirty="0"/>
          </a:p>
        </p:txBody>
      </p:sp>
      <p:sp>
        <p:nvSpPr>
          <p:cNvPr id="15" name="Text 11"/>
          <p:cNvSpPr txBox="1"/>
          <p:nvPr/>
        </p:nvSpPr>
        <p:spPr>
          <a:xfrm>
            <a:off x="7543800" y="3246120"/>
            <a:ext cx="4133088" cy="365760"/>
          </a:xfrm>
          <a:prstGeom prst="rect">
            <a:avLst/>
          </a:prstGeom>
          <a:noFill/>
          <a:ln/>
        </p:spPr>
        <p:txBody>
          <a:bodyPr wrap="square" lIns="0" tIns="0" rIns="0" bIns="0" rtlCol="0" anchor="ctr"/>
          <a:lstStyle/>
          <a:p>
            <a:pPr algn="l" indent="0" marL="0">
              <a:buNone/>
            </a:pPr>
            <a:r>
              <a:rPr lang="en-US" sz="850" b="1" spc="100" kern="0" dirty="0">
                <a:solidFill>
                  <a:srgbClr val="BCCDE8"/>
                </a:solidFill>
                <a:latin typeface="Arial" pitchFamily="34" charset="0"/>
                <a:ea typeface="Arial" pitchFamily="34" charset="-122"/>
                <a:cs typeface="Arial" pitchFamily="34" charset="-120"/>
              </a:rPr>
              <a:t>SUSPENSIONES ESPERADAS SEP–DIC 2026 · 734 PROGRAMADAS HÁBILES · SEGÚN LO QUE SE CONSOLIDE</a:t>
            </a:r>
            <a:endParaRPr lang="en-US" sz="850" dirty="0"/>
          </a:p>
        </p:txBody>
      </p:sp>
      <p:sp>
        <p:nvSpPr>
          <p:cNvPr id="16" name="Shape 12"/>
          <p:cNvSpPr/>
          <p:nvPr/>
        </p:nvSpPr>
        <p:spPr>
          <a:xfrm>
            <a:off x="7543800" y="3657600"/>
            <a:ext cx="1316736" cy="914400"/>
          </a:xfrm>
          <a:prstGeom prst="roundRect">
            <a:avLst>
              <a:gd name="adj" fmla="val 8000"/>
            </a:avLst>
          </a:prstGeom>
          <a:solidFill>
            <a:srgbClr val="0F1930"/>
          </a:solidFill>
          <a:ln w="15875">
            <a:solidFill>
              <a:srgbClr val="34D399"/>
            </a:solidFill>
            <a:prstDash val="solid"/>
          </a:ln>
        </p:spPr>
      </p:sp>
      <p:sp>
        <p:nvSpPr>
          <p:cNvPr id="17" name="Text 13"/>
          <p:cNvSpPr txBox="1"/>
          <p:nvPr/>
        </p:nvSpPr>
        <p:spPr>
          <a:xfrm>
            <a:off x="7680960" y="3730752"/>
            <a:ext cx="1042416" cy="329184"/>
          </a:xfrm>
          <a:prstGeom prst="rect">
            <a:avLst/>
          </a:prstGeom>
          <a:noFill/>
          <a:ln/>
        </p:spPr>
        <p:txBody>
          <a:bodyPr wrap="square" lIns="0" tIns="0" rIns="0" bIns="0" rtlCol="0" anchor="ctr"/>
          <a:lstStyle/>
          <a:p>
            <a:pPr algn="l" indent="0" marL="0">
              <a:buNone/>
            </a:pPr>
            <a:r>
              <a:rPr lang="en-US" sz="1800" b="1" dirty="0">
                <a:solidFill>
                  <a:srgbClr val="34D399"/>
                </a:solidFill>
                <a:latin typeface="Arial" pitchFamily="34" charset="0"/>
                <a:ea typeface="Arial" pitchFamily="34" charset="-122"/>
                <a:cs typeface="Arial" pitchFamily="34" charset="-120"/>
              </a:rPr>
              <a:t>9</a:t>
            </a:r>
            <a:endParaRPr lang="en-US" sz="1800" dirty="0"/>
          </a:p>
        </p:txBody>
      </p:sp>
      <p:sp>
        <p:nvSpPr>
          <p:cNvPr id="18" name="Text 14"/>
          <p:cNvSpPr txBox="1"/>
          <p:nvPr/>
        </p:nvSpPr>
        <p:spPr>
          <a:xfrm>
            <a:off x="7680960" y="4041648"/>
            <a:ext cx="1042416"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OPTIMISTA</a:t>
            </a:r>
            <a:endParaRPr lang="en-US" sz="750" dirty="0"/>
          </a:p>
        </p:txBody>
      </p:sp>
      <p:sp>
        <p:nvSpPr>
          <p:cNvPr id="19" name="Text 15"/>
          <p:cNvSpPr txBox="1"/>
          <p:nvPr/>
        </p:nvSpPr>
        <p:spPr>
          <a:xfrm>
            <a:off x="7680960" y="4206240"/>
            <a:ext cx="1042416"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se sostiene 1,23 % · 4–14</a:t>
            </a:r>
            <a:endParaRPr lang="en-US" sz="850" dirty="0"/>
          </a:p>
        </p:txBody>
      </p:sp>
      <p:sp>
        <p:nvSpPr>
          <p:cNvPr id="20" name="Shape 16"/>
          <p:cNvSpPr/>
          <p:nvPr/>
        </p:nvSpPr>
        <p:spPr>
          <a:xfrm>
            <a:off x="8951976" y="3657600"/>
            <a:ext cx="1316736" cy="914400"/>
          </a:xfrm>
          <a:prstGeom prst="roundRect">
            <a:avLst>
              <a:gd name="adj" fmla="val 8000"/>
            </a:avLst>
          </a:prstGeom>
          <a:solidFill>
            <a:srgbClr val="0F1930"/>
          </a:solidFill>
          <a:ln w="15875">
            <a:solidFill>
              <a:srgbClr val="F5B342"/>
            </a:solidFill>
            <a:prstDash val="solid"/>
          </a:ln>
        </p:spPr>
      </p:sp>
      <p:sp>
        <p:nvSpPr>
          <p:cNvPr id="21" name="Text 17"/>
          <p:cNvSpPr txBox="1"/>
          <p:nvPr/>
        </p:nvSpPr>
        <p:spPr>
          <a:xfrm>
            <a:off x="9089136" y="3730752"/>
            <a:ext cx="1042416" cy="329184"/>
          </a:xfrm>
          <a:prstGeom prst="rect">
            <a:avLst/>
          </a:prstGeom>
          <a:noFill/>
          <a:ln/>
        </p:spPr>
        <p:txBody>
          <a:bodyPr wrap="square" lIns="0" tIns="0" rIns="0" bIns="0" rtlCol="0" anchor="ctr"/>
          <a:lstStyle/>
          <a:p>
            <a:pPr algn="l" indent="0" marL="0">
              <a:buNone/>
            </a:pPr>
            <a:r>
              <a:rPr lang="en-US" sz="1800" b="1" dirty="0">
                <a:solidFill>
                  <a:srgbClr val="F5B342"/>
                </a:solidFill>
                <a:latin typeface="Arial" pitchFamily="34" charset="0"/>
                <a:ea typeface="Arial" pitchFamily="34" charset="-122"/>
                <a:cs typeface="Arial" pitchFamily="34" charset="-120"/>
              </a:rPr>
              <a:t>29</a:t>
            </a:r>
            <a:endParaRPr lang="en-US" sz="1800" dirty="0"/>
          </a:p>
        </p:txBody>
      </p:sp>
      <p:sp>
        <p:nvSpPr>
          <p:cNvPr id="22" name="Text 18"/>
          <p:cNvSpPr txBox="1"/>
          <p:nvPr/>
        </p:nvSpPr>
        <p:spPr>
          <a:xfrm>
            <a:off x="9089136" y="4041648"/>
            <a:ext cx="1042416"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CENTRAL</a:t>
            </a:r>
            <a:endParaRPr lang="en-US" sz="750" dirty="0"/>
          </a:p>
        </p:txBody>
      </p:sp>
      <p:sp>
        <p:nvSpPr>
          <p:cNvPr id="23" name="Text 19"/>
          <p:cNvSpPr txBox="1"/>
          <p:nvPr/>
        </p:nvSpPr>
        <p:spPr>
          <a:xfrm>
            <a:off x="9089136" y="4206240"/>
            <a:ext cx="1042416"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regresión a 4,0 % · 21–38</a:t>
            </a:r>
            <a:endParaRPr lang="en-US" sz="850" dirty="0"/>
          </a:p>
        </p:txBody>
      </p:sp>
      <p:sp>
        <p:nvSpPr>
          <p:cNvPr id="24" name="Shape 20"/>
          <p:cNvSpPr/>
          <p:nvPr/>
        </p:nvSpPr>
        <p:spPr>
          <a:xfrm>
            <a:off x="10360152" y="3657600"/>
            <a:ext cx="1316736" cy="914400"/>
          </a:xfrm>
          <a:prstGeom prst="roundRect">
            <a:avLst>
              <a:gd name="adj" fmla="val 8000"/>
            </a:avLst>
          </a:prstGeom>
          <a:solidFill>
            <a:srgbClr val="0F1930"/>
          </a:solidFill>
          <a:ln w="15875">
            <a:solidFill>
              <a:srgbClr val="F26B6B"/>
            </a:solidFill>
            <a:prstDash val="solid"/>
          </a:ln>
        </p:spPr>
      </p:sp>
      <p:sp>
        <p:nvSpPr>
          <p:cNvPr id="25" name="Text 21"/>
          <p:cNvSpPr txBox="1"/>
          <p:nvPr/>
        </p:nvSpPr>
        <p:spPr>
          <a:xfrm>
            <a:off x="10497312" y="3730752"/>
            <a:ext cx="1042416" cy="329184"/>
          </a:xfrm>
          <a:prstGeom prst="rect">
            <a:avLst/>
          </a:prstGeom>
          <a:noFill/>
          <a:ln/>
        </p:spPr>
        <p:txBody>
          <a:bodyPr wrap="square" lIns="0" tIns="0" rIns="0" bIns="0" rtlCol="0" anchor="ctr"/>
          <a:lstStyle/>
          <a:p>
            <a:pPr algn="l" indent="0" marL="0">
              <a:buNone/>
            </a:pPr>
            <a:r>
              <a:rPr lang="en-US" sz="1800" b="1" dirty="0">
                <a:solidFill>
                  <a:srgbClr val="F26B6B"/>
                </a:solidFill>
                <a:latin typeface="Arial" pitchFamily="34" charset="0"/>
                <a:ea typeface="Arial" pitchFamily="34" charset="-122"/>
                <a:cs typeface="Arial" pitchFamily="34" charset="-120"/>
              </a:rPr>
              <a:t>69</a:t>
            </a:r>
            <a:endParaRPr lang="en-US" sz="1800" dirty="0"/>
          </a:p>
        </p:txBody>
      </p:sp>
      <p:sp>
        <p:nvSpPr>
          <p:cNvPr id="26" name="Text 22"/>
          <p:cNvSpPr txBox="1"/>
          <p:nvPr/>
        </p:nvSpPr>
        <p:spPr>
          <a:xfrm>
            <a:off x="10497312" y="4041648"/>
            <a:ext cx="1042416" cy="182880"/>
          </a:xfrm>
          <a:prstGeom prst="rect">
            <a:avLst/>
          </a:prstGeom>
          <a:noFill/>
          <a:ln/>
        </p:spPr>
        <p:txBody>
          <a:bodyPr wrap="square" lIns="0" tIns="0" rIns="0" bIns="0" rtlCol="0" anchor="ctr"/>
          <a:lstStyle/>
          <a:p>
            <a:pPr algn="l" indent="0" marL="0">
              <a:buNone/>
            </a:pPr>
            <a:r>
              <a:rPr lang="en-US" sz="750" b="1" spc="120" kern="0" dirty="0">
                <a:solidFill>
                  <a:srgbClr val="BCCDE8"/>
                </a:solidFill>
                <a:latin typeface="Arial" pitchFamily="34" charset="0"/>
                <a:ea typeface="Arial" pitchFamily="34" charset="-122"/>
                <a:cs typeface="Arial" pitchFamily="34" charset="-120"/>
              </a:rPr>
              <a:t>CONSERVADOR</a:t>
            </a:r>
            <a:endParaRPr lang="en-US" sz="750" dirty="0"/>
          </a:p>
        </p:txBody>
      </p:sp>
      <p:sp>
        <p:nvSpPr>
          <p:cNvPr id="27" name="Text 23"/>
          <p:cNvSpPr txBox="1"/>
          <p:nvPr/>
        </p:nvSpPr>
        <p:spPr>
          <a:xfrm>
            <a:off x="10497312" y="4206240"/>
            <a:ext cx="1042416" cy="347472"/>
          </a:xfrm>
          <a:prstGeom prst="rect">
            <a:avLst/>
          </a:prstGeom>
          <a:noFill/>
          <a:ln/>
        </p:spPr>
        <p:txBody>
          <a:bodyPr wrap="square" lIns="0" tIns="0" rIns="0" bIns="0" rtlCol="0" anchor="t"/>
          <a:lstStyle/>
          <a:p>
            <a:pPr algn="l" indent="0" marL="0">
              <a:buNone/>
            </a:pPr>
            <a:r>
              <a:rPr lang="en-US" sz="850" dirty="0">
                <a:solidFill>
                  <a:srgbClr val="94AACC"/>
                </a:solidFill>
                <a:latin typeface="Arial" pitchFamily="34" charset="0"/>
                <a:ea typeface="Arial" pitchFamily="34" charset="-122"/>
                <a:cs typeface="Arial" pitchFamily="34" charset="-120"/>
              </a:rPr>
              <a:t>retorno a 9,38 % · 56–82</a:t>
            </a:r>
            <a:endParaRPr lang="en-US" sz="850" dirty="0"/>
          </a:p>
        </p:txBody>
      </p:sp>
      <p:sp>
        <p:nvSpPr>
          <p:cNvPr id="28" name="Shape 24"/>
          <p:cNvSpPr/>
          <p:nvPr/>
        </p:nvSpPr>
        <p:spPr>
          <a:xfrm>
            <a:off x="502920" y="4709160"/>
            <a:ext cx="6858000" cy="1161288"/>
          </a:xfrm>
          <a:prstGeom prst="roundRect">
            <a:avLst>
              <a:gd name="adj" fmla="val 6299"/>
            </a:avLst>
          </a:prstGeom>
          <a:solidFill>
            <a:srgbClr val="0F1930"/>
          </a:solidFill>
          <a:ln w="15875">
            <a:solidFill>
              <a:srgbClr val="F26B6B"/>
            </a:solidFill>
            <a:prstDash val="solid"/>
          </a:ln>
        </p:spPr>
      </p:sp>
      <p:sp>
        <p:nvSpPr>
          <p:cNvPr id="29" name="Text 25"/>
          <p:cNvSpPr txBox="1"/>
          <p:nvPr/>
        </p:nvSpPr>
        <p:spPr>
          <a:xfrm>
            <a:off x="649224" y="4818888"/>
            <a:ext cx="6565392" cy="274320"/>
          </a:xfrm>
          <a:prstGeom prst="rect">
            <a:avLst/>
          </a:prstGeom>
          <a:noFill/>
          <a:ln/>
        </p:spPr>
        <p:txBody>
          <a:bodyPr wrap="square" lIns="0" tIns="0" rIns="0" bIns="0" rtlCol="0" anchor="ctr"/>
          <a:lstStyle/>
          <a:p>
            <a:pPr algn="l" indent="0" marL="0">
              <a:buNone/>
            </a:pPr>
            <a:r>
              <a:rPr lang="en-US" sz="1150" b="1" dirty="0">
                <a:solidFill>
                  <a:srgbClr val="F26B6B"/>
                </a:solidFill>
                <a:latin typeface="Arial" pitchFamily="34" charset="0"/>
                <a:ea typeface="Arial" pitchFamily="34" charset="-122"/>
                <a:cs typeface="Arial" pitchFamily="34" charset="-120"/>
              </a:rPr>
              <a:t>◆  CON LA TASA HISTÓRICA, HPMM PRODUCIRÍA 410 SUSPENSIONES AL AÑO</a:t>
            </a:r>
            <a:endParaRPr lang="en-US" sz="1150" dirty="0"/>
          </a:p>
        </p:txBody>
      </p:sp>
      <p:sp>
        <p:nvSpPr>
          <p:cNvPr id="30" name="Text 26"/>
          <p:cNvSpPr txBox="1"/>
          <p:nvPr/>
        </p:nvSpPr>
        <p:spPr>
          <a:xfrm>
            <a:off x="649224" y="5129784"/>
            <a:ext cx="6565392" cy="649224"/>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Más que las 274 acumuladas en los 20 meses analizados. Sostener el régimen jun–ago (66 esperadas) o incluso el de 2026 (272) depende de lo que se institucionalice antes del traslado, no del edificio.</a:t>
            </a:r>
            <a:endParaRPr lang="en-US" sz="1000" dirty="0"/>
          </a:p>
        </p:txBody>
      </p:sp>
      <p:sp>
        <p:nvSpPr>
          <p:cNvPr id="31" name="Shape 27"/>
          <p:cNvSpPr/>
          <p:nvPr/>
        </p:nvSpPr>
        <p:spPr>
          <a:xfrm>
            <a:off x="7543800" y="4709160"/>
            <a:ext cx="4133088" cy="1161288"/>
          </a:xfrm>
          <a:prstGeom prst="roundRect">
            <a:avLst>
              <a:gd name="adj" fmla="val 6299"/>
            </a:avLst>
          </a:prstGeom>
          <a:solidFill>
            <a:srgbClr val="0F1930"/>
          </a:solidFill>
          <a:ln w="15875">
            <a:solidFill>
              <a:srgbClr val="F5B342"/>
            </a:solidFill>
            <a:prstDash val="solid"/>
          </a:ln>
        </p:spPr>
      </p:sp>
      <p:sp>
        <p:nvSpPr>
          <p:cNvPr id="32" name="Text 28"/>
          <p:cNvSpPr txBox="1"/>
          <p:nvPr/>
        </p:nvSpPr>
        <p:spPr>
          <a:xfrm>
            <a:off x="7690104" y="4818888"/>
            <a:ext cx="3840480" cy="274320"/>
          </a:xfrm>
          <a:prstGeom prst="rect">
            <a:avLst/>
          </a:prstGeom>
          <a:noFill/>
          <a:ln/>
        </p:spPr>
        <p:txBody>
          <a:bodyPr wrap="square" lIns="0" tIns="0" rIns="0" bIns="0" rtlCol="0" anchor="ctr"/>
          <a:lstStyle/>
          <a:p>
            <a:pPr algn="l" indent="0" marL="0">
              <a:buNone/>
            </a:pPr>
            <a:r>
              <a:rPr lang="en-US" sz="1150" b="1" dirty="0">
                <a:solidFill>
                  <a:srgbClr val="F5B342"/>
                </a:solidFill>
                <a:latin typeface="Arial" pitchFamily="34" charset="0"/>
                <a:ea typeface="Arial" pitchFamily="34" charset="-122"/>
                <a:cs typeface="Arial" pitchFamily="34" charset="-120"/>
              </a:rPr>
              <a:t>◆  CONDICIONES DEL ESCALAMIENTO</a:t>
            </a:r>
            <a:endParaRPr lang="en-US" sz="1150" dirty="0"/>
          </a:p>
        </p:txBody>
      </p:sp>
      <p:sp>
        <p:nvSpPr>
          <p:cNvPr id="33" name="Text 29"/>
          <p:cNvSpPr txBox="1"/>
          <p:nvPr/>
        </p:nvSpPr>
        <p:spPr>
          <a:xfrm>
            <a:off x="7690104" y="5129784"/>
            <a:ext cx="3840480" cy="649224"/>
          </a:xfrm>
          <a:prstGeom prst="rect">
            <a:avLst/>
          </a:prstGeom>
          <a:noFill/>
          <a:ln/>
        </p:spPr>
        <p:txBody>
          <a:bodyPr wrap="square" lIns="0" tIns="0" rIns="0" bIns="0" rtlCol="0" anchor="t"/>
          <a:lstStyle/>
          <a:p>
            <a:pPr algn="l" indent="0" marL="0">
              <a:buNone/>
            </a:pPr>
            <a:r>
              <a:rPr lang="en-US" sz="1000" dirty="0">
                <a:solidFill>
                  <a:srgbClr val="C6D6EE"/>
                </a:solidFill>
                <a:latin typeface="Arial" pitchFamily="34" charset="0"/>
                <a:ea typeface="Arial" pitchFamily="34" charset="-122"/>
                <a:cs typeface="Arial" pitchFamily="34" charset="-120"/>
              </a:rPr>
              <a:t>Capacidad de URPA y camas (solicitud del 24-ago: salas mixtas en CMA y Corta Estadía), pabellón de urgencia separado (urgencia +14,1 %) y dotación de enfermería de los lunes.</a:t>
            </a:r>
            <a:endParaRPr lang="en-US" sz="1000" dirty="0"/>
          </a:p>
        </p:txBody>
      </p:sp>
      <p:sp>
        <p:nvSpPr>
          <p:cNvPr id="34" name="Text 30"/>
          <p:cNvSpPr txBox="1"/>
          <p:nvPr/>
        </p:nvSpPr>
        <p:spPr>
          <a:xfrm>
            <a:off x="502920" y="5989320"/>
            <a:ext cx="11173968" cy="36576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Distribución binomial con el volumen del escenario; P5–P95 = percentiles 5 y 95. No incorpora estacionalidad ni cambio de mezcla. Volúmenes por pabellón iguales a la simulación de julio.</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43  ·  CIERRE</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Resumen agosto · Plan operativo septiembre</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Línea base enero–agosto y prioridades para sostener el régimen bajo y cerrar el dato antes del traslado al HPMM</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44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sp>
        <p:nvSpPr>
          <p:cNvPr id="10" name="Text 7"/>
          <p:cNvSpPr txBox="1"/>
          <p:nvPr/>
        </p:nvSpPr>
        <p:spPr>
          <a:xfrm>
            <a:off x="502920" y="1719072"/>
            <a:ext cx="502920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ENE–AGO 2026  ·  LÍNEA BASE</a:t>
            </a:r>
            <a:endParaRPr lang="en-US" sz="8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5029200" cy="914400"/>
        </p:xfrm>
        <a:graphic>
          <a:graphicData uri="http://schemas.openxmlformats.org/drawingml/2006/table">
            <a:tbl>
              <a:tblPr/>
              <a:tblGrid>
                <a:gridCol w="2606040"/>
                <a:gridCol w="2423160"/>
              </a:tblGrid>
              <a:tr h="384048">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Programadas Cx mayor hábil</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1.469</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Suspensiones MINSAL · tasa hábil</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74 · 5,04 % (2025: 133 · 9,83 %)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Agosto — tasa hábil</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1,32 % · agosto 2025: 12,11 %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Control estadístico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3 meses bajo −3σ · quiebre feb-26 · 70 evitadas vs 2025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Registro completo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38 eventos · 18 sin causal · 10 evitables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CME hábil ene–ago · interanual</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1.880 · +13,5 % · urgencia +14,1 %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Pabellón-días L–V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51 de 63 (P2 solo 9 días) · 3,9 CME por pabellón-día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Recambio neto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mediana 18 · media 22,6 · P90 43 min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Primer caso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ingreso 07:55 · incisión 08:45 · 62,7 % ≤ 09:00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2" name="Text 8"/>
          <p:cNvSpPr txBox="1"/>
          <p:nvPr/>
        </p:nvSpPr>
        <p:spPr>
          <a:xfrm>
            <a:off x="5806440" y="1719072"/>
            <a:ext cx="5852160" cy="219456"/>
          </a:xfrm>
          <a:prstGeom prst="rect">
            <a:avLst/>
          </a:prstGeom>
          <a:noFill/>
          <a:ln/>
        </p:spPr>
        <p:txBody>
          <a:bodyPr wrap="square" lIns="0" tIns="0" rIns="0" bIns="0" rtlCol="0" anchor="ctr"/>
          <a:lstStyle/>
          <a:p>
            <a:pPr algn="l" indent="0" marL="0">
              <a:buNone/>
            </a:pPr>
            <a:r>
              <a:rPr lang="en-US" sz="850" b="1" spc="150" kern="0" dirty="0">
                <a:solidFill>
                  <a:srgbClr val="BCCDE8"/>
                </a:solidFill>
                <a:latin typeface="Arial" pitchFamily="34" charset="0"/>
                <a:ea typeface="Arial" pitchFamily="34" charset="-122"/>
                <a:cs typeface="Arial" pitchFamily="34" charset="-120"/>
              </a:rPr>
              <a:t>PRIORIDADES SEPTIEMBRE  ·  RESPONSABLE Y PLAZO A ACORDAR EN EL COMITÉ</a:t>
            </a:r>
            <a:endParaRPr lang="en-US" sz="850" dirty="0"/>
          </a:p>
        </p:txBody>
      </p:sp>
      <p:sp>
        <p:nvSpPr>
          <p:cNvPr id="13" name="Shape 9"/>
          <p:cNvSpPr/>
          <p:nvPr/>
        </p:nvSpPr>
        <p:spPr>
          <a:xfrm>
            <a:off x="5806440" y="1975104"/>
            <a:ext cx="5870448" cy="694944"/>
          </a:xfrm>
          <a:prstGeom prst="roundRect">
            <a:avLst>
              <a:gd name="adj" fmla="val 10526"/>
            </a:avLst>
          </a:prstGeom>
          <a:solidFill>
            <a:srgbClr val="0F1930"/>
          </a:solidFill>
          <a:ln w="13970">
            <a:solidFill>
              <a:srgbClr val="F5B342"/>
            </a:solidFill>
            <a:prstDash val="solid"/>
          </a:ln>
        </p:spPr>
      </p:sp>
      <p:sp>
        <p:nvSpPr>
          <p:cNvPr id="14" name="Text 10"/>
          <p:cNvSpPr txBox="1"/>
          <p:nvPr/>
        </p:nvSpPr>
        <p:spPr>
          <a:xfrm>
            <a:off x="5943600" y="2039112"/>
            <a:ext cx="5623560" cy="219456"/>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01  COMPLETAR LA CAUSAL DEL REGISTRO</a:t>
            </a:r>
            <a:endParaRPr lang="en-US" sz="1000" dirty="0"/>
          </a:p>
        </p:txBody>
      </p:sp>
      <p:sp>
        <p:nvSpPr>
          <p:cNvPr id="15" name="Text 11"/>
          <p:cNvSpPr txBox="1"/>
          <p:nvPr/>
        </p:nvSpPr>
        <p:spPr>
          <a:xfrm>
            <a:off x="5943600" y="2258568"/>
            <a:ext cx="5623560" cy="402336"/>
          </a:xfrm>
          <a:prstGeom prst="rect">
            <a:avLst/>
          </a:prstGeom>
          <a:noFill/>
          <a:ln/>
        </p:spPr>
        <p:txBody>
          <a:bodyPr wrap="square" lIns="0" tIns="0" rIns="0" bIns="0" rtlCol="0" anchor="t"/>
          <a:lstStyle/>
          <a:p>
            <a:pPr algn="l" indent="0" marL="0">
              <a:buNone/>
            </a:pPr>
            <a:r>
              <a:rPr lang="en-US" sz="880" dirty="0">
                <a:solidFill>
                  <a:srgbClr val="C6D6EE"/>
                </a:solidFill>
                <a:latin typeface="Arial" pitchFamily="34" charset="0"/>
                <a:ea typeface="Arial" pitchFamily="34" charset="-122"/>
                <a:cs typeface="Arial" pitchFamily="34" charset="-120"/>
              </a:rPr>
              <a:t>18 de 38 sin causal (17 oftalmológicas de fin de semana): registrar por jornada, con "sin causa determinada" disponible y evento raíz.</a:t>
            </a:r>
            <a:endParaRPr lang="en-US" sz="880" dirty="0"/>
          </a:p>
        </p:txBody>
      </p:sp>
      <p:sp>
        <p:nvSpPr>
          <p:cNvPr id="16" name="Shape 12"/>
          <p:cNvSpPr/>
          <p:nvPr/>
        </p:nvSpPr>
        <p:spPr>
          <a:xfrm>
            <a:off x="5806440" y="2743200"/>
            <a:ext cx="5870448" cy="694944"/>
          </a:xfrm>
          <a:prstGeom prst="roundRect">
            <a:avLst>
              <a:gd name="adj" fmla="val 10526"/>
            </a:avLst>
          </a:prstGeom>
          <a:solidFill>
            <a:srgbClr val="0F1930"/>
          </a:solidFill>
          <a:ln w="13970">
            <a:solidFill>
              <a:srgbClr val="F26B6B"/>
            </a:solidFill>
            <a:prstDash val="solid"/>
          </a:ln>
        </p:spPr>
      </p:sp>
      <p:sp>
        <p:nvSpPr>
          <p:cNvPr id="17" name="Text 13"/>
          <p:cNvSpPr txBox="1"/>
          <p:nvPr/>
        </p:nvSpPr>
        <p:spPr>
          <a:xfrm>
            <a:off x="5943600" y="2807208"/>
            <a:ext cx="5623560" cy="219456"/>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02  BLINDAR EL LUNES Y RECUPERAR EL PABELLÓN-DÍA</a:t>
            </a:r>
            <a:endParaRPr lang="en-US" sz="1000" dirty="0"/>
          </a:p>
        </p:txBody>
      </p:sp>
      <p:sp>
        <p:nvSpPr>
          <p:cNvPr id="18" name="Text 14"/>
          <p:cNvSpPr txBox="1"/>
          <p:nvPr/>
        </p:nvSpPr>
        <p:spPr>
          <a:xfrm>
            <a:off x="5943600" y="3026664"/>
            <a:ext cx="5623560" cy="402336"/>
          </a:xfrm>
          <a:prstGeom prst="rect">
            <a:avLst/>
          </a:prstGeom>
          <a:noFill/>
          <a:ln/>
        </p:spPr>
        <p:txBody>
          <a:bodyPr wrap="square" lIns="0" tIns="0" rIns="0" bIns="0" rtlCol="0" anchor="t"/>
          <a:lstStyle/>
          <a:p>
            <a:pPr algn="l" indent="0" marL="0">
              <a:buNone/>
            </a:pPr>
            <a:r>
              <a:rPr lang="en-US" sz="880" dirty="0">
                <a:solidFill>
                  <a:srgbClr val="C6D6EE"/>
                </a:solidFill>
                <a:latin typeface="Arial" pitchFamily="34" charset="0"/>
                <a:ea typeface="Arial" pitchFamily="34" charset="-122"/>
                <a:cs typeface="Arial" pitchFamily="34" charset="-120"/>
              </a:rPr>
              <a:t>6 de 19 registros L–V y 2 de 2 MINSAL en lunes; Pabellón 2 operó 9 de 21 días (12 pabellón-días perdidos ≈ 48 electivos). Confirmación el viernes PM y dotación de enfermería asegurada.</a:t>
            </a:r>
            <a:endParaRPr lang="en-US" sz="880" dirty="0"/>
          </a:p>
        </p:txBody>
      </p:sp>
      <p:sp>
        <p:nvSpPr>
          <p:cNvPr id="19" name="Shape 15"/>
          <p:cNvSpPr/>
          <p:nvPr/>
        </p:nvSpPr>
        <p:spPr>
          <a:xfrm>
            <a:off x="5806440" y="3511296"/>
            <a:ext cx="5870448" cy="694944"/>
          </a:xfrm>
          <a:prstGeom prst="roundRect">
            <a:avLst>
              <a:gd name="adj" fmla="val 10526"/>
            </a:avLst>
          </a:prstGeom>
          <a:solidFill>
            <a:srgbClr val="0F1930"/>
          </a:solidFill>
          <a:ln w="13970">
            <a:solidFill>
              <a:srgbClr val="F26B6B"/>
            </a:solidFill>
            <a:prstDash val="solid"/>
          </a:ln>
        </p:spPr>
      </p:sp>
      <p:sp>
        <p:nvSpPr>
          <p:cNvPr id="20" name="Text 16"/>
          <p:cNvSpPr txBox="1"/>
          <p:nvPr/>
        </p:nvSpPr>
        <p:spPr>
          <a:xfrm>
            <a:off x="5943600" y="3575304"/>
            <a:ext cx="5623560" cy="219456"/>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03  AUDITAR EL ERROR DE PROGRAMACIÓN</a:t>
            </a:r>
            <a:endParaRPr lang="en-US" sz="1000" dirty="0"/>
          </a:p>
        </p:txBody>
      </p:sp>
      <p:sp>
        <p:nvSpPr>
          <p:cNvPr id="21" name="Text 17"/>
          <p:cNvSpPr txBox="1"/>
          <p:nvPr/>
        </p:nvSpPr>
        <p:spPr>
          <a:xfrm>
            <a:off x="5943600" y="3794760"/>
            <a:ext cx="5623560" cy="402336"/>
          </a:xfrm>
          <a:prstGeom prst="rect">
            <a:avLst/>
          </a:prstGeom>
          <a:noFill/>
          <a:ln/>
        </p:spPr>
        <p:txBody>
          <a:bodyPr wrap="square" lIns="0" tIns="0" rIns="0" bIns="0" rtlCol="0" anchor="t"/>
          <a:lstStyle/>
          <a:p>
            <a:pPr algn="l" indent="0" marL="0">
              <a:buNone/>
            </a:pPr>
            <a:r>
              <a:rPr lang="en-US" sz="880" dirty="0">
                <a:solidFill>
                  <a:srgbClr val="C6D6EE"/>
                </a:solidFill>
                <a:latin typeface="Arial" pitchFamily="34" charset="0"/>
                <a:ea typeface="Arial" pitchFamily="34" charset="-122"/>
                <a:cs typeface="Arial" pitchFamily="34" charset="-120"/>
              </a:rPr>
              <a:t>7 registros (3 mayores directas: 20, 28 y 31). Separar error de agenda (UPPQ) de indicación o insumo (unidad quirúrgica) y conciliar con el monitoreo.</a:t>
            </a:r>
            <a:endParaRPr lang="en-US" sz="880" dirty="0"/>
          </a:p>
        </p:txBody>
      </p:sp>
      <p:sp>
        <p:nvSpPr>
          <p:cNvPr id="22" name="Shape 18"/>
          <p:cNvSpPr/>
          <p:nvPr/>
        </p:nvSpPr>
        <p:spPr>
          <a:xfrm>
            <a:off x="5806440" y="4279392"/>
            <a:ext cx="5870448" cy="694944"/>
          </a:xfrm>
          <a:prstGeom prst="roundRect">
            <a:avLst>
              <a:gd name="adj" fmla="val 10526"/>
            </a:avLst>
          </a:prstGeom>
          <a:solidFill>
            <a:srgbClr val="0F1930"/>
          </a:solidFill>
          <a:ln w="13970">
            <a:solidFill>
              <a:srgbClr val="2DD4BF"/>
            </a:solidFill>
            <a:prstDash val="solid"/>
          </a:ln>
        </p:spPr>
      </p:sp>
      <p:sp>
        <p:nvSpPr>
          <p:cNvPr id="23" name="Text 19"/>
          <p:cNvSpPr txBox="1"/>
          <p:nvPr/>
        </p:nvSpPr>
        <p:spPr>
          <a:xfrm>
            <a:off x="5943600" y="4343400"/>
            <a:ext cx="5623560" cy="219456"/>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04  CONSENTIMIENTO Y AYUNO ANTES DE LA TABLA</a:t>
            </a:r>
            <a:endParaRPr lang="en-US" sz="1000" dirty="0"/>
          </a:p>
        </p:txBody>
      </p:sp>
      <p:sp>
        <p:nvSpPr>
          <p:cNvPr id="24" name="Text 20"/>
          <p:cNvSpPr txBox="1"/>
          <p:nvPr/>
        </p:nvSpPr>
        <p:spPr>
          <a:xfrm>
            <a:off x="5943600" y="4562856"/>
            <a:ext cx="5623560" cy="402336"/>
          </a:xfrm>
          <a:prstGeom prst="rect">
            <a:avLst/>
          </a:prstGeom>
          <a:noFill/>
          <a:ln/>
        </p:spPr>
        <p:txBody>
          <a:bodyPr wrap="square" lIns="0" tIns="0" rIns="0" bIns="0" rtlCol="0" anchor="t"/>
          <a:lstStyle/>
          <a:p>
            <a:pPr algn="l" indent="0" marL="0">
              <a:buNone/>
            </a:pPr>
            <a:r>
              <a:rPr lang="en-US" sz="880" dirty="0">
                <a:solidFill>
                  <a:srgbClr val="C6D6EE"/>
                </a:solidFill>
                <a:latin typeface="Arial" pitchFamily="34" charset="0"/>
                <a:ea typeface="Arial" pitchFamily="34" charset="-122"/>
                <a:cs typeface="Arial" pitchFamily="34" charset="-120"/>
              </a:rPr>
              <a:t>Medida del 31-ago vigente (sin consentimiento firmado no hay tabla; aprobada el 2-sep). Cerrar el flujo de ayuno acordado el 4-sep.</a:t>
            </a:r>
            <a:endParaRPr lang="en-US" sz="880" dirty="0"/>
          </a:p>
        </p:txBody>
      </p:sp>
      <p:sp>
        <p:nvSpPr>
          <p:cNvPr id="25" name="Shape 21"/>
          <p:cNvSpPr/>
          <p:nvPr/>
        </p:nvSpPr>
        <p:spPr>
          <a:xfrm>
            <a:off x="5806440" y="5047488"/>
            <a:ext cx="5870448" cy="694944"/>
          </a:xfrm>
          <a:prstGeom prst="roundRect">
            <a:avLst>
              <a:gd name="adj" fmla="val 10526"/>
            </a:avLst>
          </a:prstGeom>
          <a:solidFill>
            <a:srgbClr val="0F1930"/>
          </a:solidFill>
          <a:ln w="13970">
            <a:solidFill>
              <a:srgbClr val="2DD4BF"/>
            </a:solidFill>
            <a:prstDash val="solid"/>
          </a:ln>
        </p:spPr>
      </p:sp>
      <p:sp>
        <p:nvSpPr>
          <p:cNvPr id="26" name="Text 22"/>
          <p:cNvSpPr txBox="1"/>
          <p:nvPr/>
        </p:nvSpPr>
        <p:spPr>
          <a:xfrm>
            <a:off x="5943600" y="5111496"/>
            <a:ext cx="5623560" cy="219456"/>
          </a:xfrm>
          <a:prstGeom prst="rect">
            <a:avLst/>
          </a:prstGeom>
          <a:noFill/>
          <a:ln/>
        </p:spPr>
        <p:txBody>
          <a:bodyPr wrap="square" lIns="0" tIns="0" rIns="0" bIns="0" rtlCol="0" anchor="ctr"/>
          <a:lstStyle/>
          <a:p>
            <a:pPr algn="l" indent="0" marL="0">
              <a:buNone/>
            </a:pPr>
            <a:r>
              <a:rPr lang="en-US" sz="1000" b="1" dirty="0">
                <a:solidFill>
                  <a:srgbClr val="EAF1FB"/>
                </a:solidFill>
                <a:latin typeface="Arial" pitchFamily="34" charset="0"/>
                <a:ea typeface="Arial" pitchFamily="34" charset="-122"/>
                <a:cs typeface="Arial" pitchFamily="34" charset="-120"/>
              </a:rPr>
              <a:t>05  REGISTRO OPERABLE Y PILOTO DE CONTINUIDAD</a:t>
            </a:r>
            <a:endParaRPr lang="en-US" sz="1000" dirty="0"/>
          </a:p>
        </p:txBody>
      </p:sp>
      <p:sp>
        <p:nvSpPr>
          <p:cNvPr id="27" name="Text 23"/>
          <p:cNvSpPr txBox="1"/>
          <p:nvPr/>
        </p:nvSpPr>
        <p:spPr>
          <a:xfrm>
            <a:off x="5943600" y="5330952"/>
            <a:ext cx="5623560" cy="402336"/>
          </a:xfrm>
          <a:prstGeom prst="rect">
            <a:avLst/>
          </a:prstGeom>
          <a:noFill/>
          <a:ln/>
        </p:spPr>
        <p:txBody>
          <a:bodyPr wrap="square" lIns="0" tIns="0" rIns="0" bIns="0" rtlCol="0" anchor="t"/>
          <a:lstStyle/>
          <a:p>
            <a:pPr algn="l" indent="0" marL="0">
              <a:buNone/>
            </a:pPr>
            <a:r>
              <a:rPr lang="en-US" sz="880" dirty="0">
                <a:solidFill>
                  <a:srgbClr val="C6D6EE"/>
                </a:solidFill>
                <a:latin typeface="Arial" pitchFamily="34" charset="0"/>
                <a:ea typeface="Arial" pitchFamily="34" charset="-122"/>
                <a:cs typeface="Arial" pitchFamily="34" charset="-120"/>
              </a:rPr>
              <a:t>Campos comprometidos en julio (evento raíz, anticipación, pabellón, especialidad, reprogramación) y piloto de cobertura de almuerzo de 4 semanas con hitos de sala, paciente y URPA.</a:t>
            </a:r>
            <a:endParaRPr lang="en-US" sz="880" dirty="0"/>
          </a:p>
        </p:txBody>
      </p:sp>
      <p:sp>
        <p:nvSpPr>
          <p:cNvPr id="28" name="Text 24"/>
          <p:cNvSpPr txBox="1"/>
          <p:nvPr/>
        </p:nvSpPr>
        <p:spPr>
          <a:xfrm>
            <a:off x="502920" y="5870448"/>
            <a:ext cx="11173968" cy="502920"/>
          </a:xfrm>
          <a:prstGeom prst="rect">
            <a:avLst/>
          </a:prstGeom>
          <a:noFill/>
          <a:ln/>
        </p:spPr>
        <p:txBody>
          <a:bodyPr wrap="square" lIns="0" tIns="0" rIns="0" bIns="0" rtlCol="0" anchor="t"/>
          <a:lstStyle/>
          <a:p>
            <a:pPr algn="l" indent="0" marL="0">
              <a:buNone/>
            </a:pPr>
            <a:r>
              <a:rPr lang="en-US" sz="1050" dirty="0">
                <a:solidFill>
                  <a:srgbClr val="C6D6EE"/>
                </a:solidFill>
                <a:latin typeface="Arial" pitchFamily="34" charset="0"/>
                <a:ea typeface="Arial" pitchFamily="34" charset="-122"/>
                <a:cs typeface="Arial" pitchFamily="34" charset="-120"/>
              </a:rPr>
              <a:t>Agosto sostiene el régimen bajo (1,32 %; 70 suspensiones menos que al ritmo de 2025) con un pabellón menos casi uno de cada cinco días y un registro que aún no explica la mitad de sus eventos: la tarea de septiembre es cerrar el dato, proteger el lunes y recuperar el pabellón-día antes del traslado al HPMM.</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44  ·  ANEXO · FUENTES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Anexo · puente con la presentación de julio</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La comparación principal se actualiza con la serie diaria homogénea y los exports revisados · las cifras de julio se recalculan desde las fuentes</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45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3017520"/>
                <a:gridCol w="2011680"/>
                <a:gridCol w="2194560"/>
                <a:gridCol w="3950208"/>
              </a:tblGrid>
              <a:tr h="402336">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Julio 2026</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PPT de julio</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Serie actual</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Explicación</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Programadas normales de CME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141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155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Archivo histórico diario -15 (serie homogénea)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Suspendidas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Sin cambio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Tasa hábil correspondiente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0,71 %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0,65 %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Mismo numerador, denominador actualizado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CME realizadas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191 · estimadas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214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La estimación se reemplaza por el dato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CME realizadas todas las fechas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285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308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Julio completo en el archivo -15</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Cumplimiento de tabla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124,1 %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No se reproduce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Numerador y cohorte no homologados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Recambio · pares electivos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126 (export 683)</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125 (export 787)</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Revisión de fuente; mediana neta 19 en ambos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02336">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Media 18 meses previa (tasa hábil)</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8,23 % (promedio de tasas)</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7,89 % (suma / suma, 19 m)</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Cambio de método: pooled en vez de promedio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Text 7"/>
          <p:cNvSpPr txBox="1"/>
          <p:nvPr/>
        </p:nvSpPr>
        <p:spPr>
          <a:xfrm>
            <a:off x="502920" y="5577840"/>
            <a:ext cx="11173968" cy="45720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No se atribuye la diferencia a una causa no demostrada. El informe de julio (docx) y el PPT de julio comparten las cifras 141 / 1 / 0,71 %; este comité usa la serie homogénea para todos los meses.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45  ·  ANEXO · SUSPENSIONES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Anexo · denominadores y cobertura de suspensión</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Resumen de poblaciones que no deben intercambiarse · agosto 2026</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46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3291840"/>
                <a:gridCol w="2377440"/>
                <a:gridCol w="5504688"/>
              </a:tblGrid>
              <a:tr h="384048">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Medida</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Valor</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50" b="1" dirty="0">
                          <a:solidFill>
                            <a:srgbClr val="BCCDE8"/>
                          </a:solidFill>
                          <a:latin typeface="Arial" pitchFamily="34" charset="0"/>
                          <a:ea typeface="Arial" pitchFamily="34" charset="-122"/>
                          <a:cs typeface="Arial" pitchFamily="34" charset="-120"/>
                        </a:rPr>
                        <a:t>Denominador / alcance</a:t>
                      </a:r>
                      <a:endParaRPr lang="en-US" sz="9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Hábil del monitoreo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152 normales CME · L–V</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Total calendario del monitoreo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385 normales CME · todo agosto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Fin de semana del monitoreo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233 normales CME · su campo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Reporte de suspensiones (5-sep)</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38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Conteo: 19 L–V + 19 fin de semana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Oftalmología del reporte</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18</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Conteo; sin cohorte de tasa validada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REM832 nuevo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1 hábil · 2 inhábil L–V · 1 fin de semana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Escritorio SITGEQ</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7,5 %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Tasa de su cohorte de agenda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Línea base 2025 · monitoreo</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200 / 2.132 = 9,38 %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Programación normal L–V · serie homogénea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384048">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Línea base 2025 · REM (Estadística)</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b="1" dirty="0">
                          <a:solidFill>
                            <a:srgbClr val="5EEAD4"/>
                          </a:solidFill>
                          <a:latin typeface="Arial" pitchFamily="34" charset="0"/>
                          <a:ea typeface="Arial" pitchFamily="34" charset="-122"/>
                          <a:cs typeface="Arial" pitchFamily="34" charset="-120"/>
                        </a:rPr>
                        <a:t>200 / 2.872 = 6,9 %</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1050" dirty="0">
                          <a:solidFill>
                            <a:srgbClr val="EAF1FB"/>
                          </a:solidFill>
                          <a:latin typeface="Arial" pitchFamily="34" charset="0"/>
                          <a:ea typeface="Arial" pitchFamily="34" charset="-122"/>
                          <a:cs typeface="Arial" pitchFamily="34" charset="-120"/>
                        </a:rPr>
                        <a:t>Horario hábil base REM · discrepancia en revisión</a:t>
                      </a:r>
                      <a:endParaRPr lang="en-US" sz="105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
        <p:nvSpPr>
          <p:cNvPr id="11" name="Text 7"/>
          <p:cNvSpPr txBox="1"/>
          <p:nvPr/>
        </p:nvSpPr>
        <p:spPr>
          <a:xfrm>
            <a:off x="502920" y="5715000"/>
            <a:ext cx="11173968" cy="41148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El mismo numerador de 2025 (200) produce 9,38 % o 6,9 % según el denominador: la conciliación de programadas entre monitoreo y REM es previa a cualquier meta.</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46  ·  ANEXO · MÉTODOS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Anexo · métodos, sensibilidad y definiciones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Reglas de cálculo de esta presentación · reproducibles desde las fuentes citadas en cada lámina</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47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377440"/>
                <a:gridCol w="8796528"/>
              </a:tblGrid>
              <a:tr h="457200">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Regla / definición</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Aplicación en esta presentación</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Día hábil</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Lunes a viernes por fecha del evento, sin descontar festivos. No equivale a turno contractual.</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Tasa hábil de suspensión</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Suspendidas de programación normal de CME (N) / programadas normales (L), L–V. Acumulados: suma / suma, no promedio de tasas.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Carta p</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Línea central 9,38 % (2025). Límites ±3·√(p̄(1−p̄)/n) con el n de cada mes. Bajo el LCL: jun, jul y ago 2026.</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Pruebas estadísticas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Fisher exacta bilateral (2×2): jun–ago 2026 vs ene-25–may-26 p = 2,3·10⁻¹¹; ago-26 vs ago-25 p = 8,4·10⁻⁵; ene–ago 2026 vs 2025 p = 1,1·10⁻⁶.</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Evitabilidad (analista)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Evitable: error de programación, ayuno / exámenes, instrumental. Potencialmente: no presentación, infraestructura, falta de cirujano. No evitable: urgencia, enfermedad aguda, descompensación. Sin causal: no se clasifica.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Primer caso principal</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Primer encuentro real del día en P2–P4, electivo, L–V, ingreso desde 06:00. Julio n = 52 (sensibilidad n = 56 con urgencia previa); agosto n = 51.</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Recambio bruto y neto</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Salida del anterior a ingreso del siguiente, misma fecha y pabellón, ambos electivos L–V; se excluyen negativos. Neto = bruto − intersección exacta con 12:30–14:00.</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57200">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Proyección HPMM</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Binomial con 2.308 (3 pab.) y 5.387 (7 pab.) programadas/año; P5–P95. Sin estacionalidad ni cambio de mezcla.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47  ·  ANEXO · MÉTODOS II</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Anexo · métodos de las láminas de algoritmos</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150" dirty="0">
                <a:solidFill>
                  <a:srgbClr val="BCCDE8"/>
                </a:solidFill>
                <a:latin typeface="Arial" pitchFamily="34" charset="0"/>
                <a:ea typeface="Arial" pitchFamily="34" charset="-122"/>
                <a:cs typeface="Arial" pitchFamily="34" charset="-120"/>
              </a:rPr>
              <a:t>Misma fecha, contrafactual, CUSUM, EWMA, pruebas del lunes y de jornadas, pabellón-día · reproducibles desde la serie del monitoreo</a:t>
            </a:r>
            <a:endParaRPr lang="en-US" sz="115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48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2103120"/>
                <a:gridCol w="9070848"/>
              </a:tblGrid>
              <a:tr h="512064">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Método</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Regla aplicada en esta presentación</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Misma fecha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Se comparan enero–agosto de cada año con la misma fuente y fórmula. Media móvil de 3 meses = suma de suspendidas / suma de programadas del trimestre móvil. Acumulado = suma / suma desde enero.</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Contrafactual</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Esperadas 2026 = programadas de cada mes × 9,83 % (tasa ene–ago 2025). Evitadas = esperadas − observadas (144 − 74 = 70). Agosto: 152 × 9,38 % = 14,3 esperadas vs 2. Aritmético; no atribuye causalidad.</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CUSUM</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Sobre conteos: C_t = Σ (programadas_t × 9,38 % − suspendidas_t). Quiebre = primer mes del ascenso sostenido tras el último valor en torno a cero (dic-25 / ene-26 → feb-26). Exceso desde el quiebre: 64.</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EWMA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λ = 0,3 desde la media 2025 (9,38 %): EWMA_t = 0,3 × tasa_t + 0,7 × EWMA_(t−1). Pronóstico de septiembre = EWMA de agosto (3,06 %); intervalo binomial con 184 programadas (P5–P95: 2–10); banda de tasa ± 1,645 × desviación de residuos (1,9 pp).</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Prueba del lunes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Binomial con p = 1/5 por día hábil: P(X ≥ 6 | n = 19) = 0,16 (no concluyente en agosto). P(2 de 2 eventos MINSAL en lunes) = 0,04. Histórico SPC ene-25–abr-26: lunes 11,09 %, Z = 2,09.</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Jornadas de fin de semana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Monte Carlo: 200.000 repartos uniformes de 19 registros entre los 5 fines de semana de agosto; frecuencia de que los dos mayores sumen ≥ 16: &lt; 0,1 % (p &lt; 0,001). Supone independencia entre registros.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512064">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Pabellón-día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Productividad = encuentros electivos L–V (202) / pabellón-días con actividad (P2 9 + P3 21 + P4 21 = 51) = 3,96. Escenario P2 completo = 63 pabellón-días a la misma productividad (≈ 250; CME ≈ 248 = 11,8 por día).</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385048" y="-2286000"/>
            <a:ext cx="5843016" cy="4315968"/>
          </a:xfrm>
          <a:prstGeom prst="ellipse">
            <a:avLst/>
          </a:prstGeom>
          <a:gradFill rotWithShape="1">
            <a:gsLst>
              <a:gs pos="0">
                <a:srgbClr val="2DD4BF">
                  <a:alpha val="7059"/>
                </a:srgbClr>
              </a:gs>
              <a:gs pos="100000">
                <a:srgbClr val="2DD4BF">
                  <a:alpha val="0"/>
                </a:srgbClr>
              </a:gs>
            </a:gsLst>
            <a:path path="circle">
              <a:fillToRect l="50000" t="50000" r="50000" b="50000"/>
            </a:path>
          </a:gradFill>
          <a:ln/>
        </p:spPr>
      </p:sp>
      <p:sp>
        <p:nvSpPr>
          <p:cNvPr id="3" name="Shape 1"/>
          <p:cNvSpPr/>
          <p:nvPr/>
        </p:nvSpPr>
        <p:spPr>
          <a:xfrm>
            <a:off x="-2029968" y="4572000"/>
            <a:ext cx="5586984" cy="3813048"/>
          </a:xfrm>
          <a:prstGeom prst="ellipse">
            <a:avLst/>
          </a:prstGeom>
          <a:gradFill rotWithShape="1">
            <a:gsLst>
              <a:gs pos="0">
                <a:srgbClr val="A78BFA">
                  <a:alpha val="5490"/>
                </a:srgbClr>
              </a:gs>
              <a:gs pos="100000">
                <a:srgbClr val="A78BFA">
                  <a:alpha val="0"/>
                </a:srgbClr>
              </a:gs>
            </a:gsLst>
            <a:path path="circle">
              <a:fillToRect l="50000" t="50000" r="50000" b="50000"/>
            </a:path>
          </a:gradFill>
          <a:ln/>
        </p:spPr>
      </p:sp>
      <p:sp>
        <p:nvSpPr>
          <p:cNvPr id="4" name="Text 2"/>
          <p:cNvSpPr txBox="1"/>
          <p:nvPr/>
        </p:nvSpPr>
        <p:spPr>
          <a:xfrm>
            <a:off x="502920" y="292608"/>
            <a:ext cx="8869680" cy="292608"/>
          </a:xfrm>
          <a:prstGeom prst="rect">
            <a:avLst/>
          </a:prstGeom>
          <a:noFill/>
          <a:ln/>
        </p:spPr>
        <p:txBody>
          <a:bodyPr wrap="square" lIns="0" tIns="0" rIns="0" bIns="0" rtlCol="0" anchor="ctr"/>
          <a:lstStyle/>
          <a:p>
            <a:pPr algn="l" indent="0" marL="0">
              <a:buNone/>
            </a:pPr>
            <a:r>
              <a:rPr lang="en-US" sz="1050" b="1" spc="300" kern="0" dirty="0">
                <a:solidFill>
                  <a:srgbClr val="5EEAD4"/>
                </a:solidFill>
                <a:latin typeface="Arial" pitchFamily="34" charset="0"/>
                <a:ea typeface="Arial" pitchFamily="34" charset="-122"/>
                <a:cs typeface="Arial" pitchFamily="34" charset="-120"/>
              </a:rPr>
              <a:t>◆  48  ·  ANEXO · FUENTES</a:t>
            </a:r>
            <a:endParaRPr lang="en-US" sz="1050" dirty="0"/>
          </a:p>
        </p:txBody>
      </p:sp>
      <p:sp>
        <p:nvSpPr>
          <p:cNvPr id="5" name="Text 3"/>
          <p:cNvSpPr txBox="1"/>
          <p:nvPr/>
        </p:nvSpPr>
        <p:spPr>
          <a:xfrm>
            <a:off x="502920" y="594360"/>
            <a:ext cx="11173968" cy="548640"/>
          </a:xfrm>
          <a:prstGeom prst="rect">
            <a:avLst/>
          </a:prstGeom>
          <a:noFill/>
          <a:ln/>
        </p:spPr>
        <p:txBody>
          <a:bodyPr wrap="square" lIns="0" tIns="0" rIns="0" bIns="0" rtlCol="0" anchor="ctr"/>
          <a:lstStyle/>
          <a:p>
            <a:pPr algn="l" indent="0" marL="0">
              <a:buNone/>
            </a:pPr>
            <a:r>
              <a:rPr lang="en-US" sz="2700" b="1" dirty="0">
                <a:solidFill>
                  <a:srgbClr val="EAF1FB"/>
                </a:solidFill>
                <a:latin typeface="Arial" pitchFamily="34" charset="0"/>
                <a:ea typeface="Arial" pitchFamily="34" charset="-122"/>
                <a:cs typeface="Arial" pitchFamily="34" charset="-120"/>
              </a:rPr>
              <a:t>Anexo · fuentes y trazabilidad</a:t>
            </a:r>
            <a:endParaRPr lang="en-US" sz="2700" dirty="0"/>
          </a:p>
        </p:txBody>
      </p:sp>
      <p:sp>
        <p:nvSpPr>
          <p:cNvPr id="6" name="Text 4"/>
          <p:cNvSpPr txBox="1"/>
          <p:nvPr/>
        </p:nvSpPr>
        <p:spPr>
          <a:xfrm>
            <a:off x="502920" y="1133856"/>
            <a:ext cx="11173968" cy="292608"/>
          </a:xfrm>
          <a:prstGeom prst="rect">
            <a:avLst/>
          </a:prstGeom>
          <a:noFill/>
          <a:ln/>
        </p:spPr>
        <p:txBody>
          <a:bodyPr wrap="square" lIns="0" tIns="0" rIns="0" bIns="0" rtlCol="0" anchor="ctr"/>
          <a:lstStyle/>
          <a:p>
            <a:pPr algn="l" indent="0" marL="0">
              <a:buNone/>
            </a:pPr>
            <a:r>
              <a:rPr lang="en-US" sz="1300" dirty="0">
                <a:solidFill>
                  <a:srgbClr val="BCCDE8"/>
                </a:solidFill>
                <a:latin typeface="Arial" pitchFamily="34" charset="0"/>
                <a:ea typeface="Arial" pitchFamily="34" charset="-122"/>
                <a:cs typeface="Arial" pitchFamily="34" charset="-120"/>
              </a:rPr>
              <a:t>Información agregada · notas de cada diapositiva con método y referencias · sin datos personales</a:t>
            </a:r>
            <a:endParaRPr lang="en-US" sz="1300" dirty="0"/>
          </a:p>
        </p:txBody>
      </p:sp>
      <p:sp>
        <p:nvSpPr>
          <p:cNvPr id="7" name="Text 5"/>
          <p:cNvSpPr txBox="1"/>
          <p:nvPr/>
        </p:nvSpPr>
        <p:spPr>
          <a:xfrm>
            <a:off x="502920" y="6473952"/>
            <a:ext cx="1463040" cy="274320"/>
          </a:xfrm>
          <a:prstGeom prst="rect">
            <a:avLst/>
          </a:prstGeom>
          <a:noFill/>
          <a:ln/>
        </p:spPr>
        <p:txBody>
          <a:bodyPr wrap="square" lIns="0" tIns="0" rIns="0" bIns="0" rtlCol="0" anchor="ctr"/>
          <a:lstStyle/>
          <a:p>
            <a:pPr algn="l" indent="0" marL="0">
              <a:buNone/>
            </a:pPr>
            <a:r>
              <a:rPr lang="en-US" sz="900" spc="200" kern="0" dirty="0">
                <a:solidFill>
                  <a:srgbClr val="94AACC"/>
                </a:solidFill>
                <a:latin typeface="Arial" pitchFamily="34" charset="0"/>
                <a:ea typeface="Arial" pitchFamily="34" charset="-122"/>
                <a:cs typeface="Arial" pitchFamily="34" charset="-120"/>
              </a:rPr>
              <a:t>49  /  49</a:t>
            </a:r>
            <a:endParaRPr lang="en-US" sz="900" dirty="0"/>
          </a:p>
        </p:txBody>
      </p:sp>
      <p:sp>
        <p:nvSpPr>
          <p:cNvPr id="8" name="Text 6"/>
          <p:cNvSpPr txBox="1"/>
          <p:nvPr/>
        </p:nvSpPr>
        <p:spPr>
          <a:xfrm>
            <a:off x="5943600" y="6473952"/>
            <a:ext cx="5733288" cy="274320"/>
          </a:xfrm>
          <a:prstGeom prst="rect">
            <a:avLst/>
          </a:prstGeom>
          <a:noFill/>
          <a:ln/>
        </p:spPr>
        <p:txBody>
          <a:bodyPr wrap="square" lIns="0" tIns="0" rIns="0" bIns="0" rtlCol="0" anchor="ctr"/>
          <a:lstStyle/>
          <a:p>
            <a:pPr algn="r" indent="0" marL="0">
              <a:buNone/>
            </a:pPr>
            <a:r>
              <a:rPr lang="en-US" sz="900" spc="200" kern="0" dirty="0">
                <a:solidFill>
                  <a:srgbClr val="94AACC"/>
                </a:solidFill>
                <a:latin typeface="Arial" pitchFamily="34" charset="0"/>
                <a:ea typeface="Arial" pitchFamily="34" charset="-122"/>
                <a:cs typeface="Arial" pitchFamily="34" charset="-120"/>
              </a:rPr>
              <a:t>HQ  ·  COMITÉ QUIRÚRGICO  ·  SEPTIEMBRE 2026</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73968" cy="914400"/>
        </p:xfrm>
        <a:graphic>
          <a:graphicData uri="http://schemas.openxmlformats.org/drawingml/2006/table">
            <a:tbl>
              <a:tblPr/>
              <a:tblGrid>
                <a:gridCol w="4754880"/>
                <a:gridCol w="6419088"/>
              </a:tblGrid>
              <a:tr h="438912">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Fuente</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880" b="1" dirty="0">
                          <a:solidFill>
                            <a:srgbClr val="BCCDE8"/>
                          </a:solidFill>
                          <a:latin typeface="Arial" pitchFamily="34" charset="0"/>
                          <a:ea typeface="Arial" pitchFamily="34" charset="-122"/>
                          <a:cs typeface="Arial" pitchFamily="34" charset="-120"/>
                        </a:rPr>
                        <a:t>Uso en la presentación</a:t>
                      </a:r>
                      <a:endParaRPr lang="en-US" sz="8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Monitoreo diario -15 (ene-2025 a ago-2026) y -16 (agosto)</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Serie histórica homogénea de producción y suspensión L–V; carta p; interanual; agosto contrastado en 31 fechas × 119 columnas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Informe de Suspensiones Mes Agosto 2026 (correo 2-sep): usuarios, especialidad, cirugías y quirófanos por rango, REM 21, dashboard</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38 registros operativos de agosto: causas, modalidad, calendario, evitabilidad</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Exports SITGEQ 787 y 830 (encuentros)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Tiempos de julio y agosto: primeros inicios, recambio, almuerzo, ocupación, especialidad y pabellón</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Informe "Evolución del proceso quirúrgico" (6-sep-2026)</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Series 2024–2026 de recambio y primeros casos; ocupación por etapas; prestaciones; evaluación de algoritmos; información faltante</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REM832 · detalle de especialidad</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Clasificación explícita de 403 / 405 CME realizadas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Escritorio SITGEQ (5-sep) y correos de agosto</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Indicadores del tablero y contexto de gestión (dotación, equipos, camas, consentimiento, ayuno)</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Comité Quirúrgico · Julio 2026 e informe de agosto (ene-25 a jul-26)</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Estructura, regla de evitabilidad, línea base 2025, volúmenes de la proyección HPMM y puente de cifras</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111E34"/>
                    </a:solidFill>
                  </a:tcPr>
                </a:tc>
              </a:tr>
              <a:tr h="438912">
                <a:tc>
                  <a:txBody>
                    <a:bodyPr/>
                    <a:lstStyle/>
                    <a:p>
                      <a:pPr algn="l" indent="0" marL="0">
                        <a:buNone/>
                      </a:pPr>
                      <a:r>
                        <a:rPr lang="en-US" sz="980" b="1" dirty="0">
                          <a:solidFill>
                            <a:srgbClr val="EAF1FB"/>
                          </a:solidFill>
                          <a:latin typeface="Arial" pitchFamily="34" charset="0"/>
                          <a:ea typeface="Arial" pitchFamily="34" charset="-122"/>
                          <a:cs typeface="Arial" pitchFamily="34" charset="-120"/>
                        </a:rPr>
                        <a:t>SPC_Suspensiones_HQ (ene-2025 a abr-2026)</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c>
                  <a:txBody>
                    <a:bodyPr/>
                    <a:lstStyle/>
                    <a:p>
                      <a:pPr algn="l" indent="0" marL="0">
                        <a:buNone/>
                      </a:pPr>
                      <a:r>
                        <a:rPr lang="en-US" sz="980" dirty="0">
                          <a:solidFill>
                            <a:srgbClr val="EAF1FB"/>
                          </a:solidFill>
                          <a:latin typeface="Arial" pitchFamily="34" charset="0"/>
                          <a:ea typeface="Arial" pitchFamily="34" charset="-122"/>
                          <a:cs typeface="Arial" pitchFamily="34" charset="-120"/>
                        </a:rPr>
                        <a:t>Referencia histórica del día de la semana (lunes 11,09 %)</a:t>
                      </a:r>
                      <a:endParaRPr lang="en-US" sz="980" dirty="0">
                        <a:latin typeface="Arial" charset="0"/>
                        <a:ea typeface="Arial" charset="0"/>
                        <a:cs typeface="Arial" charset="0"/>
                      </a:endParaRPr>
                    </a:p>
                  </a:txBody>
                  <a:tcPr marL="82296" marR="82296" marT="45720" marB="45720" anchor="ctr">
                    <a:lnL w="6350" cap="flat" cmpd="sng" algn="ctr">
                      <a:solidFill>
                        <a:srgbClr val="22304A"/>
                      </a:solidFill>
                      <a:prstDash val="solid"/>
                      <a:round/>
                      <a:headEnd type="none" w="med" len="med"/>
                      <a:tailEnd type="none" w="med" len="med"/>
                    </a:lnL>
                    <a:lnR w="6350" cap="flat" cmpd="sng" algn="ctr">
                      <a:solidFill>
                        <a:srgbClr val="22304A"/>
                      </a:solidFill>
                      <a:prstDash val="solid"/>
                      <a:round/>
                      <a:headEnd type="none" w="med" len="med"/>
                      <a:tailEnd type="none" w="med" len="med"/>
                    </a:lnR>
                    <a:lnT w="6350" cap="flat" cmpd="sng" algn="ctr">
                      <a:solidFill>
                        <a:srgbClr val="22304A"/>
                      </a:solidFill>
                      <a:prstDash val="solid"/>
                      <a:round/>
                      <a:headEnd type="none" w="med" len="med"/>
                      <a:tailEnd type="none" w="med" len="med"/>
                    </a:lnT>
                    <a:lnB w="6350" cap="flat" cmpd="sng" algn="ctr">
                      <a:solidFill>
                        <a:srgbClr val="22304A"/>
                      </a:solidFill>
                      <a:prstDash val="solid"/>
                      <a:round/>
                      <a:headEnd type="none" w="med" len="med"/>
                      <a:tailEnd type="none" w="med" len="med"/>
                    </a:lnB>
                    <a:solidFill>
                      <a:srgbClr val="0F1930"/>
                    </a:solidFill>
                  </a:tcPr>
                </a:tc>
              </a:tr>
            </a:tbl>
          </a:graphicData>
        </a:graphic>
      </p:graphicFrame>
      <p:sp>
        <p:nvSpPr>
          <p:cNvPr id="11" name="Text 7"/>
          <p:cNvSpPr txBox="1"/>
          <p:nvPr/>
        </p:nvSpPr>
        <p:spPr>
          <a:xfrm>
            <a:off x="502920" y="5806440"/>
            <a:ext cx="11173968" cy="457200"/>
          </a:xfrm>
          <a:prstGeom prst="rect">
            <a:avLst/>
          </a:prstGeom>
          <a:noFill/>
          <a:ln/>
        </p:spPr>
        <p:txBody>
          <a:bodyPr wrap="square" lIns="0" tIns="0" rIns="0" bIns="0" rtlCol="0" anchor="t"/>
          <a:lstStyle/>
          <a:p>
            <a:pPr algn="l" indent="0" marL="0">
              <a:buNone/>
            </a:pPr>
            <a:r>
              <a:rPr lang="en-US" sz="950" dirty="0">
                <a:solidFill>
                  <a:srgbClr val="94AACC"/>
                </a:solidFill>
                <a:latin typeface="Arial" pitchFamily="34" charset="0"/>
                <a:ea typeface="Arial" pitchFamily="34" charset="-122"/>
                <a:cs typeface="Arial" pitchFamily="34" charset="-120"/>
              </a:rPr>
              <a:t>Preparado para discusión del comité. Validación institucional de clasificaciones y acuerdos en la instancia correspondiente. Los identificadores se usan solo para conciliar y no se incluyen en la presentación.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Comité Quirúrgico · Agosto 2026 · Hospital de Quilpué</dc:title>
  <dc:subject>PptxGenJS Presentation</dc:subject>
  <dc:creator>Coordinación del Proceso Quirúrgico · UPPQ · Hospital de Quilpué</dc:creator>
  <cp:lastModifiedBy>Coordinación del Proceso Quirúrgico · UPPQ · Hospital de Quilpué</cp:lastModifiedBy>
  <cp:revision>1</cp:revision>
  <dcterms:created xsi:type="dcterms:W3CDTF">2026-09-07T00:27:00Z</dcterms:created>
  <dcterms:modified xsi:type="dcterms:W3CDTF">2026-09-07T00:27:00Z</dcterms:modified>
</cp:coreProperties>
</file>