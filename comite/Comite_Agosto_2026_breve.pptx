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Versión breve del comité. Cifras: monitoreo diario (serie homogénea L–V), registro operativo de suspensiones (5-sep) y exports SITGEQ 787/830. La versión completa (49 láminas) contiene métodos, tablas y pruebas estadísticas.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Agosto 2025: 23 suspendidas de 190 programadas normales L–V (12,11 %). Agosto 2026: 2 de 152 (1,32 %). Fisher exacto p &lt; 0,001. A la tasa 2025 (9,38 % anual) se esperaban 14,3 suspensiones en agosto 2026; hubo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Acumulado enero–agosto: 2025 133 / 1.353 = 9,83 %; 2026 74 / 1.469 = 5,04 % (p &lt; 0,001). Al ritmo 2025 se esperaban 144 suspensiones sobre las 1.469 programadas de 2026; hubo 74: 70 evitadas. Acumulado mes a mes 2025: 5,98 · 7,75 · 7,61 · 8,59 · 8,62 · 8,60 · 9,46 · 9,83; 2026: 9,24 · 8,00 · 8,12 · 7,47 · 6,92 · 6,11 · 5,47 · 5,04.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Carta p con línea central 9,38 % (2025 completo) y límites ±3σ con el denominador de cada mes. Junio, julio y agosto de 2026 quedan bajo el límite inferior. CUSUM sobre conteos: el quiebre de la serie está en febrero 2026. Trimestre jun–ago 2026: 6 / 486 = 1,23 % frente a 8,60 % previo (riesgo relativo 0,14; p &lt; 0,0001).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CME realizada enero–agosto: lunes a viernes 1.657 → 1.880 (+13,5 %, mismos 173 días); todas las fechas 3.307 → 3.386 (+2,4 %); fin de semana 1.650 → 1.506 (−8,7 %, jornadas oftalmológicas); urgencia mayor 1.164 → 1.328 (+14,1 %). Agosto: 411 CME (201 L–V + 210 fin de semana) frente a 419 en agosto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Agosto: Pabellón 2 con actividad electiva solo 9 de 21 días L–V (3–7, 26–28 y 31): tres lunes cancelados por falta de enfermera y obras en cubierta desde el 12-ago. 202 encuentros electivos L–V en 51 pabellón-días = 3,96 por pabellón-día; con P2 completo (63) ≈ 250 (+48). CME L–V: 201 → ≈ 248 = 11,81 por día (agosto 2025: 11,0). Julio: climatización 1–6 de julio y otras restricciones; días exactos por confirmar.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Informe operativo de agosto: 38 registros (27 cirugía mayor, 4 menor, 7 procedimientos; 37 electivas, 1 urgencia). 19 de lunes a viernes y 19 de fin de semana. 18 sin causal registrada (17 oftalmológicas de fin de semana + 1). 16 de 19 registros de fin de semana caen en dos fines de semana (8–9 y 22–23 de agosto): 2–3 eventos de jornada, no 18 fallas independientes (p &lt; 0,001). El indicador MINSAL cuenta solo la cirugía mayor electiva normal de lunes a viernes: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Causal registrada en 20 de 38: error de programación 7 (incluye 3 cirugías mayores directas: 20, 28 y 31 de agosto), reemplazo por urgencia 3, no presentación 3, ayuno o exámenes 2, instrumental 1, infraestructura 1, falta de cirujano 1, enfermedad aguda 1, descompensación 1. Evitables 10, potencialmente evitables 5, no evitables 5, sin causal 18. Julio: error de programación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Agosto: 6 de los 19 registros de lunes a viernes fueron en lunes; los 2 eventos MINSAL (3 y 17 de agosto, Traumatología) fueron lunes; Pabellón 2 sin tabla los lunes 10, 17 y 24 por falta de enfermera. Histórico ene-25–abr-26: lunes 11,09 % de suspensión hábil, significativo (Z = 2,09). Agosto por sí solo no lo demuestra (p = 0,16); el histórico 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Medianas de agosto para un caso electivo de lunes a viernes: ingreso a anestesia 12 min, anestesia a incisión 18, incisión a término 54, término a salida 13; ocupación total 100,5 min; recambio neto 18 min (descontando 12:30–14:00). Primer caso del día: ingreso 07:55, anestesia 08:23, incisión 08:45 (n = 51). Las medianas de los tramos no suman la ocupación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Recambio neto L–V: mediana 19 → 18 min, media 29,5 → 22,6, P90 59 → 43 (julio → agosto). Primer ingreso 08:02 → 07:55; primera incisión 08:50 → 08:45. Incisión antes de las 09:00: 62,7 % en agosto 2026 frente a 84,5 % en agosto 2025. Almuerzo: 33 h 35 sin actividad en 12:30–14:00 (julio 32 h 43).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Escritorio SITGEQ (captura de septiembre): tasa de ocupación diaria 91,7 % (meta 85, ▼3,7 % vs período anterior); cirugías realizadas 14,6 por día (▲53,7 %; meta 60 por día marcada "crítico": parámetro no alcanzable con 3 pabellones, corresponde corregirlo); rendimiento diario por pabellón 7,3 (▲78 %, meta 6); retraso de primera hora 12 min (▼53,2 %, meta 30, proyección ▲1,7 %); tiempo de recambio promedio 14 min (▼58,8 %, meta 15, proyección ▲1,4 %); subprogramación diaria 0,3 h (▼40 %, meta 0,5); pacientes en lista de espera no GES 42,3 % (▼33,1 %, meta 50). Se excluye la tasa de suspensión del escritorio (7,5 %) porque usa otro numerador y cohorte (agenda confirmada) que el indicador del comité. El recambio del escritorio (promedio 14) y el del export 830 (media 22,6, mediana 18) usan fórmulas y cohortes distintas: coinciden en la dirección (bajan los recambios largos), no en la magnitud. Las proyecciones "= 0,0 %" indican que el módulo de proyección no tiene serie suficiente.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Base: informe del 6-sep (export 830, agosto, pabellones 2–4, L–V). En la franja 12:30–14:00 caen 2.015 min de intervalos entre pacientes (33 h 35; 40 de 141 pares; 39 pabellón-días en 20 fechas). Bloque libre continuo ≥ 60 min: 16 jornadas de pabellón en 12 fechas; ≥ 90 min: 2. Ocupación mediana de un caso electivo L–V: 100,5 min; recambio neto mediano 18 min: ciclo típico ≈ 2 h; caso corto (≤ 60 min de ocupación) ≈ 1,3 h. Escenario conservador: solo los 16 bloques observados ≥ 60 min → hasta 16 casos cortos (o 2 típicos). Escenario medido: 33 h 35 menos el recambio normal de los 40 pares (40 × 18 = 12 h) = 21,6 h libres → 11 casos típicos o 17 cortos al mes. Cota superior teórica: la franja completa en 51 pabellón-días (76,5 h) → 38 casos típicos (48 con Pabellón 2 los 21 días). Sobre 201 CME L–V en agosto, 11–17 casos son +5 a +8 %. Al año (×12): 130–200 cirugías; en HPMM con 7 pabellones (×2,3): 300–470. Requisito: paciente preparado, equipo, instrumental y recuperación disponibles; no se suman fragmentos de salas o días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a validar con jefaturas asistenciales y gestión de personas (paso 4 del plan del informe del 6-sep). Relevo escalonado: un equipo (enfermera, TENS, arsenalera y anestesiólogo) cubre 45 min en cada pabellón mientras su equipo titular almuerza: Pabellón 2 12:00–12:45, Pabellón 3 12:45–13:30, Pabellón 4 13:30–14:15. Costo: 2 h 15 por día por función (47 h al mes). Los pabellones no se detienen y el descanso se mantiene. Piloto de 4 semanas: jornadas con y sin cobertura bajo agenda y complejidad documentadas (aleatorizar si es factible). Registrar por intervalo: sala lista, paciente listo, equipo disponible, causa del bloqueo y hora de reanudación. Comparar hora final de tabla, carga de trabajo, casos completados y recambio bruto y neto. Decisión en comité con beneficio, efectos adversos y factibilidad.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Septiembre (184 programadas): pronóstico EWMA prudente 3,06 % = 5,6 suspensiones (P5–P95 2–10); si se sostiene el trimestre (1,23 %) ≈ 2. Septiembre–diciembre (734 programadas): 9 al 1,23 %, 29 al 4 %, 69 al 9,38 %. HPMM con 7 pabellones (5.387 programadas al año): 66 suspensiones al año al 1,23 % frente a 505 a la tasa 2025: 439 pacientes evitados. Distribución binomial.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Prioridades con responsable y plazo a acordar en el comité. Corresponden a las láminas de gestión, lunes, causas, registro operable y almuerzo de la versión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Fuentes: monitoreo diario -15/-16 (serie homogénea ene-2025 a ago-2026, criterio L–V); informe de suspensiones de agosto (correo del 2-sep); exports SITGEQ 787 y 830; informe "Evolución del proceso quirúrgico" (6-sep); REM832; escritorio SITGEQ (5-sep); Comité de julio; SPC_Suspensiones_HQ. Sin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COMITÉ QUIRÚRGICO  ·  AGOSTO 2026  ·  HOSPITAL DE QUILPUÉ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Agosto: 2 suspensiones en 152 cirugías programadas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0F1930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2148840"/>
            <a:ext cx="4572000" cy="145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1,32 %</a:t>
            </a:r>
            <a:endParaRPr lang="en-US" sz="8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200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hábil de suspensión · agosto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967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cirugía mayor electiva programada de lunes a viernes · misma fórmula y fuente de todos los meses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035040" y="1874520"/>
            <a:ext cx="5605272" cy="1188720"/>
          </a:xfrm>
          <a:prstGeom prst="roundRect">
            <a:avLst>
              <a:gd name="adj" fmla="val 615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91072" y="2002536"/>
            <a:ext cx="5093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12,11 %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291072" y="2551176"/>
            <a:ext cx="5093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 2025 a la misma fecha  ·  23 de 190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035040" y="3200400"/>
            <a:ext cx="5605272" cy="1188720"/>
          </a:xfrm>
          <a:prstGeom prst="roundRect">
            <a:avLst>
              <a:gd name="adj" fmla="val 615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91072" y="3328416"/>
            <a:ext cx="5093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+13,5 %</a:t>
            </a:r>
            <a:endParaRPr lang="en-US" sz="3600" dirty="0"/>
          </a:p>
        </p:txBody>
      </p:sp>
      <p:sp>
        <p:nvSpPr>
          <p:cNvPr id="18" name="Text 15"/>
          <p:cNvSpPr txBox="1"/>
          <p:nvPr/>
        </p:nvSpPr>
        <p:spPr>
          <a:xfrm>
            <a:off x="6291072" y="3877056"/>
            <a:ext cx="5093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cirugía mayor hábil · enero–agosto vs 2025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035040" y="4526280"/>
            <a:ext cx="5605272" cy="1188720"/>
          </a:xfrm>
          <a:prstGeom prst="roundRect">
            <a:avLst>
              <a:gd name="adj" fmla="val 615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91072" y="4654296"/>
            <a:ext cx="5093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de 21 días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6291072" y="5202936"/>
            <a:ext cx="5093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Pabellón 2 en agosto  ·  explica la menor producción del mes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breve para el comité · la versión completa (49 láminas, métodos y tablas) queda como anexo.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SUSPENSIÓN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suspensión de agosto cayó a la décima parte de la de 2025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11680"/>
            <a:ext cx="420624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12,11 %</a:t>
            </a:r>
            <a:endParaRPr lang="en-US" sz="8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35076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 2025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6982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suspensiones de 190 programadas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201168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2011680"/>
            <a:ext cx="512064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1,32 %</a:t>
            </a:r>
            <a:endParaRPr lang="en-US" sz="80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3507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 2026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3698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suspensiones de 152 programadas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34340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0F1930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448056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pacientes operados que, al ritmo de 2025, se habrían suspendido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02920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tasa de 2025 se esperaban 14 suspensiones sobre 152 programadas; hubo 2. Diferencia estadísticamente significativa (p &lt; 0,001).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Cirugía mayor electiva programada de lunes a viernes (monitoreo diario). Misma fórmula en ambos años.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ENERO A AGOSTO · MISMA FECHA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año llevamos 70 suspensiones menos que al ritmo de 2025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6675120" cy="3977640"/>
          </a:xfrm>
          <a:prstGeom prst="roundRect">
            <a:avLst>
              <a:gd name="adj" fmla="val 1839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ACUMULADA DESDE ENERO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325880" y="5166360"/>
            <a:ext cx="4892040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50292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25880" y="4221480"/>
            <a:ext cx="4892040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0843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325880" y="3276600"/>
            <a:ext cx="4892040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1394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8 %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325880" y="2331720"/>
            <a:ext cx="4892040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21945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12 %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567543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266406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965269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64131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362994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061857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 flipV="1">
            <a:off x="1325880" y="3335655"/>
            <a:ext cx="698863" cy="418109"/>
          </a:xfrm>
          <a:prstGeom prst="line">
            <a:avLst/>
          </a:prstGeom>
          <a:noFill/>
          <a:ln w="38100">
            <a:solidFill>
              <a:srgbClr val="F26B6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4743" y="3335655"/>
            <a:ext cx="698863" cy="33071"/>
          </a:xfrm>
          <a:prstGeom prst="line">
            <a:avLst/>
          </a:prstGeom>
          <a:noFill/>
          <a:ln w="38100">
            <a:solidFill>
              <a:srgbClr val="F26B6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2723606" y="3137230"/>
            <a:ext cx="698863" cy="231496"/>
          </a:xfrm>
          <a:prstGeom prst="line">
            <a:avLst/>
          </a:prstGeom>
          <a:noFill/>
          <a:ln w="38100">
            <a:solidFill>
              <a:srgbClr val="F26B6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422469" y="3130144"/>
            <a:ext cx="698863" cy="7087"/>
          </a:xfrm>
          <a:prstGeom prst="line">
            <a:avLst/>
          </a:prstGeom>
          <a:noFill/>
          <a:ln w="38100">
            <a:solidFill>
              <a:srgbClr val="F26B6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21331" y="3130144"/>
            <a:ext cx="698863" cy="4724"/>
          </a:xfrm>
          <a:prstGeom prst="line">
            <a:avLst/>
          </a:prstGeom>
          <a:noFill/>
          <a:ln w="38100">
            <a:solidFill>
              <a:srgbClr val="F26B6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4820194" y="2931719"/>
            <a:ext cx="698863" cy="203149"/>
          </a:xfrm>
          <a:prstGeom prst="line">
            <a:avLst/>
          </a:prstGeom>
          <a:noFill/>
          <a:ln w="38100">
            <a:solidFill>
              <a:srgbClr val="F26B6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519057" y="2844317"/>
            <a:ext cx="698863" cy="87401"/>
          </a:xfrm>
          <a:prstGeom prst="line">
            <a:avLst/>
          </a:prstGeom>
          <a:noFill/>
          <a:ln w="38100">
            <a:solidFill>
              <a:srgbClr val="F26B6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261872" y="3689756"/>
            <a:ext cx="128016" cy="128016"/>
          </a:xfrm>
          <a:prstGeom prst="ellipse">
            <a:avLst/>
          </a:prstGeom>
          <a:solidFill>
            <a:srgbClr val="F26B6B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960735" y="3271647"/>
            <a:ext cx="128016" cy="128016"/>
          </a:xfrm>
          <a:prstGeom prst="ellipse">
            <a:avLst/>
          </a:prstGeom>
          <a:solidFill>
            <a:srgbClr val="F26B6B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59598" y="3304718"/>
            <a:ext cx="128016" cy="128016"/>
          </a:xfrm>
          <a:prstGeom prst="ellipse">
            <a:avLst/>
          </a:prstGeom>
          <a:solidFill>
            <a:srgbClr val="F26B6B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358461" y="3073222"/>
            <a:ext cx="128016" cy="128016"/>
          </a:xfrm>
          <a:prstGeom prst="ellipse">
            <a:avLst/>
          </a:prstGeom>
          <a:solidFill>
            <a:srgbClr val="F26B6B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57323" y="3066136"/>
            <a:ext cx="128016" cy="128016"/>
          </a:xfrm>
          <a:prstGeom prst="ellipse">
            <a:avLst/>
          </a:prstGeom>
          <a:solidFill>
            <a:srgbClr val="F26B6B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56186" y="3070860"/>
            <a:ext cx="128016" cy="128016"/>
          </a:xfrm>
          <a:prstGeom prst="ellipse">
            <a:avLst/>
          </a:prstGeom>
          <a:solidFill>
            <a:srgbClr val="F26B6B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55049" y="2867711"/>
            <a:ext cx="128016" cy="128016"/>
          </a:xfrm>
          <a:prstGeom prst="ellipse">
            <a:avLst/>
          </a:prstGeom>
          <a:solidFill>
            <a:srgbClr val="F26B6B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153912" y="2780309"/>
            <a:ext cx="128016" cy="128016"/>
          </a:xfrm>
          <a:prstGeom prst="ellipse">
            <a:avLst/>
          </a:prstGeom>
          <a:solidFill>
            <a:srgbClr val="F26B6B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760720" y="2460269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9,83 %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345936" y="2679725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1325880" y="2983687"/>
            <a:ext cx="698863" cy="292913"/>
          </a:xfrm>
          <a:prstGeom prst="line">
            <a:avLst/>
          </a:prstGeom>
          <a:noFill/>
          <a:ln w="44450">
            <a:solidFill>
              <a:srgbClr val="5EEAD4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2024743" y="3248254"/>
            <a:ext cx="698863" cy="28346"/>
          </a:xfrm>
          <a:prstGeom prst="line">
            <a:avLst/>
          </a:prstGeom>
          <a:noFill/>
          <a:ln w="44450">
            <a:solidFill>
              <a:srgbClr val="5EEAD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723606" y="3248254"/>
            <a:ext cx="698863" cy="153543"/>
          </a:xfrm>
          <a:prstGeom prst="line">
            <a:avLst/>
          </a:prstGeom>
          <a:noFill/>
          <a:ln w="44450">
            <a:solidFill>
              <a:srgbClr val="5EEAD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22469" y="3401797"/>
            <a:ext cx="698863" cy="129921"/>
          </a:xfrm>
          <a:prstGeom prst="line">
            <a:avLst/>
          </a:prstGeom>
          <a:noFill/>
          <a:ln w="44450">
            <a:solidFill>
              <a:srgbClr val="5EEAD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121331" y="3531718"/>
            <a:ext cx="698863" cy="191338"/>
          </a:xfrm>
          <a:prstGeom prst="line">
            <a:avLst/>
          </a:prstGeom>
          <a:noFill/>
          <a:ln w="44450">
            <a:solidFill>
              <a:srgbClr val="5EEAD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20194" y="3723056"/>
            <a:ext cx="698863" cy="151181"/>
          </a:xfrm>
          <a:prstGeom prst="line">
            <a:avLst/>
          </a:prstGeom>
          <a:noFill/>
          <a:ln w="44450">
            <a:solidFill>
              <a:srgbClr val="5EEAD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19057" y="3874237"/>
            <a:ext cx="698863" cy="101575"/>
          </a:xfrm>
          <a:prstGeom prst="line">
            <a:avLst/>
          </a:prstGeom>
          <a:noFill/>
          <a:ln w="44450">
            <a:solidFill>
              <a:srgbClr val="5EEAD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261872" y="2919679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960735" y="3212592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659598" y="3184246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358461" y="3337789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057323" y="3467710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756186" y="3659048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55049" y="3810229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153912" y="3911803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760720" y="4067251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5,04 %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6345936" y="3811219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7498080" y="1783080"/>
            <a:ext cx="4142232" cy="1280160"/>
          </a:xfrm>
          <a:prstGeom prst="roundRect">
            <a:avLst>
              <a:gd name="adj" fmla="val 5714"/>
            </a:avLst>
          </a:prstGeom>
          <a:solidFill>
            <a:srgbClr val="0F1930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754112" y="1911096"/>
            <a:ext cx="3630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3600" dirty="0"/>
          </a:p>
        </p:txBody>
      </p:sp>
      <p:sp>
        <p:nvSpPr>
          <p:cNvPr id="63" name="Text 60"/>
          <p:cNvSpPr txBox="1"/>
          <p:nvPr/>
        </p:nvSpPr>
        <p:spPr>
          <a:xfrm>
            <a:off x="7754112" y="2459736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suspensiones evitadas</a:t>
            </a:r>
            <a:endParaRPr lang="en-US" sz="1300" dirty="0"/>
          </a:p>
        </p:txBody>
      </p:sp>
      <p:sp>
        <p:nvSpPr>
          <p:cNvPr id="64" name="Text 61"/>
          <p:cNvSpPr txBox="1"/>
          <p:nvPr/>
        </p:nvSpPr>
        <p:spPr>
          <a:xfrm>
            <a:off x="7754112" y="2734056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esperadas al ritmo 2025 · 74 reales</a:t>
            </a:r>
            <a:endParaRPr lang="en-US" sz="1250" dirty="0"/>
          </a:p>
        </p:txBody>
      </p:sp>
      <p:sp>
        <p:nvSpPr>
          <p:cNvPr id="65" name="Shape 62"/>
          <p:cNvSpPr/>
          <p:nvPr/>
        </p:nvSpPr>
        <p:spPr>
          <a:xfrm>
            <a:off x="7498080" y="3154680"/>
            <a:ext cx="4142232" cy="1280160"/>
          </a:xfrm>
          <a:prstGeom prst="roundRect">
            <a:avLst>
              <a:gd name="adj" fmla="val 571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7754112" y="3282696"/>
            <a:ext cx="3630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→ 74</a:t>
            </a:r>
            <a:endParaRPr lang="en-US" sz="3600" dirty="0"/>
          </a:p>
        </p:txBody>
      </p:sp>
      <p:sp>
        <p:nvSpPr>
          <p:cNvPr id="67" name="Text 64"/>
          <p:cNvSpPr txBox="1"/>
          <p:nvPr/>
        </p:nvSpPr>
        <p:spPr>
          <a:xfrm>
            <a:off x="7754112" y="3831336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suspensiones enero–agosto</a:t>
            </a:r>
            <a:endParaRPr lang="en-US" sz="1300" dirty="0"/>
          </a:p>
        </p:txBody>
      </p:sp>
      <p:sp>
        <p:nvSpPr>
          <p:cNvPr id="68" name="Text 65"/>
          <p:cNvSpPr txBox="1"/>
          <p:nvPr/>
        </p:nvSpPr>
        <p:spPr>
          <a:xfrm>
            <a:off x="7754112" y="4105656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8,6 % más cirugías programadas</a:t>
            </a:r>
            <a:endParaRPr lang="en-US" sz="1250" dirty="0"/>
          </a:p>
        </p:txBody>
      </p:sp>
      <p:sp>
        <p:nvSpPr>
          <p:cNvPr id="69" name="Shape 66"/>
          <p:cNvSpPr/>
          <p:nvPr/>
        </p:nvSpPr>
        <p:spPr>
          <a:xfrm>
            <a:off x="7498080" y="4526280"/>
            <a:ext cx="4142232" cy="1280160"/>
          </a:xfrm>
          <a:prstGeom prst="roundRect">
            <a:avLst>
              <a:gd name="adj" fmla="val 571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754112" y="4654296"/>
            <a:ext cx="363016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9,83 → 5,04 %</a:t>
            </a:r>
            <a:endParaRPr lang="en-US" sz="3200" dirty="0"/>
          </a:p>
        </p:txBody>
      </p:sp>
      <p:sp>
        <p:nvSpPr>
          <p:cNvPr id="71" name="Text 68"/>
          <p:cNvSpPr txBox="1"/>
          <p:nvPr/>
        </p:nvSpPr>
        <p:spPr>
          <a:xfrm>
            <a:off x="7754112" y="5141976"/>
            <a:ext cx="3630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acumulada a agosto</a:t>
            </a:r>
            <a:endParaRPr lang="en-US" sz="1300" dirty="0"/>
          </a:p>
        </p:txBody>
      </p:sp>
      <p:sp>
        <p:nvSpPr>
          <p:cNvPr id="72" name="Text 69"/>
          <p:cNvSpPr txBox="1"/>
          <p:nvPr/>
        </p:nvSpPr>
        <p:spPr>
          <a:xfrm>
            <a:off x="7754112" y="5416296"/>
            <a:ext cx="363016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significativa (p &lt; 0,001)</a:t>
            </a:r>
            <a:endParaRPr lang="en-US" sz="1250" dirty="0"/>
          </a:p>
        </p:txBody>
      </p:sp>
      <p:sp>
        <p:nvSpPr>
          <p:cNvPr id="73" name="Text 70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Acumulado = suspendidas / programadas desde enero (suma sobre suma). "Evitadas" es un cálculo aritmético; no atribuye causa.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CONTROL ESTADÍSTICO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meses seguidos bajo el límite de control: la mejora es real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7589520" cy="3977640"/>
          </a:xfrm>
          <a:prstGeom prst="roundRect">
            <a:avLst>
              <a:gd name="adj" fmla="val 1839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1874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HÁBIL MENSUAL · ENERO 2025 → AGOSTO 2026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325880" y="5166360"/>
            <a:ext cx="5806440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50292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325880" y="4457700"/>
            <a:ext cx="5806440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3205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4 %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325880" y="3749040"/>
            <a:ext cx="5806440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6118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325880" y="3040380"/>
            <a:ext cx="5806440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29032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325880" y="2331720"/>
            <a:ext cx="5806440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21945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325880" y="3504552"/>
            <a:ext cx="5806440" cy="0"/>
          </a:xfrm>
          <a:prstGeom prst="line">
            <a:avLst/>
          </a:prstGeom>
          <a:noFill/>
          <a:ln w="15875">
            <a:solidFill>
              <a:srgbClr val="F5B342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1371600" y="32119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2025 · 9,38 %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479884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91088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702293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3313497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924701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35905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147109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758314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369518" y="5239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 flipV="1">
            <a:off x="1325880" y="4703959"/>
            <a:ext cx="305602" cy="233858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34" name="Shape 31"/>
          <p:cNvSpPr/>
          <p:nvPr/>
        </p:nvSpPr>
        <p:spPr>
          <a:xfrm>
            <a:off x="1631482" y="4703959"/>
            <a:ext cx="305602" cy="14173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35" name="Shape 32"/>
          <p:cNvSpPr/>
          <p:nvPr/>
        </p:nvSpPr>
        <p:spPr>
          <a:xfrm flipV="1">
            <a:off x="1937084" y="4693329"/>
            <a:ext cx="305602" cy="24803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2242686" y="4693329"/>
            <a:ext cx="305602" cy="79724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37" name="Shape 34"/>
          <p:cNvSpPr/>
          <p:nvPr/>
        </p:nvSpPr>
        <p:spPr>
          <a:xfrm flipV="1">
            <a:off x="2548288" y="4638408"/>
            <a:ext cx="305602" cy="134645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 flipV="1">
            <a:off x="2853891" y="4574629"/>
            <a:ext cx="305602" cy="63779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39" name="Shape 36"/>
          <p:cNvSpPr/>
          <p:nvPr/>
        </p:nvSpPr>
        <p:spPr>
          <a:xfrm>
            <a:off x="3159493" y="4574629"/>
            <a:ext cx="305602" cy="53150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0" name="Shape 37"/>
          <p:cNvSpPr/>
          <p:nvPr/>
        </p:nvSpPr>
        <p:spPr>
          <a:xfrm flipV="1">
            <a:off x="3465095" y="4626007"/>
            <a:ext cx="305602" cy="1772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 flipV="1">
            <a:off x="3770697" y="4551597"/>
            <a:ext cx="305602" cy="74409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2" name="Shape 39"/>
          <p:cNvSpPr/>
          <p:nvPr/>
        </p:nvSpPr>
        <p:spPr>
          <a:xfrm>
            <a:off x="4076299" y="4551597"/>
            <a:ext cx="305602" cy="62008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3" name="Shape 40"/>
          <p:cNvSpPr/>
          <p:nvPr/>
        </p:nvSpPr>
        <p:spPr>
          <a:xfrm>
            <a:off x="4381901" y="4613605"/>
            <a:ext cx="305602" cy="65551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4" name="Shape 41"/>
          <p:cNvSpPr/>
          <p:nvPr/>
        </p:nvSpPr>
        <p:spPr>
          <a:xfrm flipV="1">
            <a:off x="4687503" y="4647267"/>
            <a:ext cx="305602" cy="31890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 flipV="1">
            <a:off x="4993105" y="4626007"/>
            <a:ext cx="305602" cy="21260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 flipV="1">
            <a:off x="5298707" y="4558684"/>
            <a:ext cx="305602" cy="67323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7" name="Shape 44"/>
          <p:cNvSpPr/>
          <p:nvPr/>
        </p:nvSpPr>
        <p:spPr>
          <a:xfrm flipV="1">
            <a:off x="5604309" y="4535653"/>
            <a:ext cx="305602" cy="23031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>
            <a:off x="5909912" y="4535653"/>
            <a:ext cx="305602" cy="171850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 flipV="1">
            <a:off x="6215514" y="4663211"/>
            <a:ext cx="305602" cy="44291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>
            <a:off x="6521116" y="4663211"/>
            <a:ext cx="305602" cy="85039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6826718" y="4748251"/>
            <a:ext cx="305602" cy="12402"/>
          </a:xfrm>
          <a:prstGeom prst="line">
            <a:avLst/>
          </a:prstGeom>
          <a:noFill/>
          <a:ln w="19050">
            <a:solidFill>
              <a:srgbClr val="5B7DB1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1325880" y="3575418"/>
            <a:ext cx="305602" cy="531495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631482" y="3575418"/>
            <a:ext cx="305602" cy="287007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1937084" y="3185655"/>
            <a:ext cx="305602" cy="676770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2242686" y="3185655"/>
            <a:ext cx="305602" cy="435826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2548288" y="3621481"/>
            <a:ext cx="305602" cy="28346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2853891" y="2804751"/>
            <a:ext cx="305602" cy="845077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159493" y="2804751"/>
            <a:ext cx="305602" cy="216141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3465095" y="3020892"/>
            <a:ext cx="305602" cy="754723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3770697" y="3775615"/>
            <a:ext cx="305602" cy="95669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076299" y="3348647"/>
            <a:ext cx="305602" cy="522637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381901" y="3348647"/>
            <a:ext cx="305602" cy="187795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4687503" y="3529355"/>
            <a:ext cx="305602" cy="7087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993105" y="3529355"/>
            <a:ext cx="305602" cy="430511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5298707" y="3690576"/>
            <a:ext cx="305602" cy="269291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4309" y="3690576"/>
            <a:ext cx="305602" cy="457086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909912" y="4147661"/>
            <a:ext cx="305602" cy="271062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6215514" y="4418724"/>
            <a:ext cx="305602" cy="449999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521116" y="4868723"/>
            <a:ext cx="305602" cy="182480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6826718" y="4932502"/>
            <a:ext cx="305602" cy="118701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261872" y="4042905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567474" y="3511410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873076" y="3798418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2178678" y="3121647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2484280" y="3557473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2789883" y="3585820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3095485" y="2740743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3401087" y="2956884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706689" y="3711607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4012291" y="3807276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317893" y="3284639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4623495" y="3472434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929097" y="3465347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5234699" y="3895858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540301" y="3626568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845904" y="4083653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51506" y="4354716"/>
            <a:ext cx="128016" cy="128016"/>
          </a:xfrm>
          <a:prstGeom prst="ellipse">
            <a:avLst/>
          </a:prstGeom>
          <a:solidFill>
            <a:srgbClr val="5EEAD4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457108" y="4804715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6762710" y="4987195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7068312" y="4868494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063916" y="4484675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1,68</a:t>
            </a:r>
            <a:endParaRPr lang="en-US" sz="1100" dirty="0"/>
          </a:p>
        </p:txBody>
      </p:sp>
      <p:sp>
        <p:nvSpPr>
          <p:cNvPr id="92" name="Text 89"/>
          <p:cNvSpPr txBox="1"/>
          <p:nvPr/>
        </p:nvSpPr>
        <p:spPr>
          <a:xfrm>
            <a:off x="6675120" y="454845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1,32</a:t>
            </a:r>
            <a:endParaRPr lang="en-US" sz="1100" dirty="0"/>
          </a:p>
        </p:txBody>
      </p:sp>
      <p:sp>
        <p:nvSpPr>
          <p:cNvPr id="93" name="Text 90"/>
          <p:cNvSpPr txBox="1"/>
          <p:nvPr/>
        </p:nvSpPr>
        <p:spPr>
          <a:xfrm>
            <a:off x="4389120" y="21579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FA3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punteada: límite inferior de control (−3σ)</a:t>
            </a:r>
            <a:endParaRPr lang="en-US" sz="1050" dirty="0"/>
          </a:p>
        </p:txBody>
      </p:sp>
      <p:sp>
        <p:nvSpPr>
          <p:cNvPr id="94" name="Shape 91"/>
          <p:cNvSpPr/>
          <p:nvPr/>
        </p:nvSpPr>
        <p:spPr>
          <a:xfrm>
            <a:off x="8412480" y="1783080"/>
            <a:ext cx="3227832" cy="1280160"/>
          </a:xfrm>
          <a:prstGeom prst="roundRect">
            <a:avLst>
              <a:gd name="adj" fmla="val 5714"/>
            </a:avLst>
          </a:prstGeom>
          <a:solidFill>
            <a:srgbClr val="0F1930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8668512" y="1911096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3600" dirty="0"/>
          </a:p>
        </p:txBody>
      </p:sp>
      <p:sp>
        <p:nvSpPr>
          <p:cNvPr id="96" name="Text 93"/>
          <p:cNvSpPr txBox="1"/>
          <p:nvPr/>
        </p:nvSpPr>
        <p:spPr>
          <a:xfrm>
            <a:off x="8668512" y="2459736"/>
            <a:ext cx="271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−3σ · jun, jul, ago</a:t>
            </a:r>
            <a:endParaRPr lang="en-US" sz="1300" dirty="0"/>
          </a:p>
        </p:txBody>
      </p:sp>
      <p:sp>
        <p:nvSpPr>
          <p:cNvPr id="97" name="Shape 94"/>
          <p:cNvSpPr/>
          <p:nvPr/>
        </p:nvSpPr>
        <p:spPr>
          <a:xfrm>
            <a:off x="8412480" y="3154680"/>
            <a:ext cx="3227832" cy="1280160"/>
          </a:xfrm>
          <a:prstGeom prst="roundRect">
            <a:avLst>
              <a:gd name="adj" fmla="val 571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8668512" y="3282696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1,23 %</a:t>
            </a:r>
            <a:endParaRPr lang="en-US" sz="3600" dirty="0"/>
          </a:p>
        </p:txBody>
      </p:sp>
      <p:sp>
        <p:nvSpPr>
          <p:cNvPr id="99" name="Text 96"/>
          <p:cNvSpPr txBox="1"/>
          <p:nvPr/>
        </p:nvSpPr>
        <p:spPr>
          <a:xfrm>
            <a:off x="8668512" y="3831336"/>
            <a:ext cx="271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trimestre jun–ago 2026</a:t>
            </a:r>
            <a:endParaRPr lang="en-US" sz="1300" dirty="0"/>
          </a:p>
        </p:txBody>
      </p:sp>
      <p:sp>
        <p:nvSpPr>
          <p:cNvPr id="100" name="Text 97"/>
          <p:cNvSpPr txBox="1"/>
          <p:nvPr/>
        </p:nvSpPr>
        <p:spPr>
          <a:xfrm>
            <a:off x="8668512" y="4105656"/>
            <a:ext cx="271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de 486 · riesgo relativo 0,14</a:t>
            </a:r>
            <a:endParaRPr lang="en-US" sz="1250" dirty="0"/>
          </a:p>
        </p:txBody>
      </p:sp>
      <p:sp>
        <p:nvSpPr>
          <p:cNvPr id="101" name="Shape 98"/>
          <p:cNvSpPr/>
          <p:nvPr/>
        </p:nvSpPr>
        <p:spPr>
          <a:xfrm>
            <a:off x="8412480" y="4526280"/>
            <a:ext cx="3227832" cy="1280160"/>
          </a:xfrm>
          <a:prstGeom prst="roundRect">
            <a:avLst>
              <a:gd name="adj" fmla="val 571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668512" y="4654296"/>
            <a:ext cx="2715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feb-26</a:t>
            </a:r>
            <a:endParaRPr lang="en-US" sz="3600" dirty="0"/>
          </a:p>
        </p:txBody>
      </p:sp>
      <p:sp>
        <p:nvSpPr>
          <p:cNvPr id="103" name="Text 100"/>
          <p:cNvSpPr txBox="1"/>
          <p:nvPr/>
        </p:nvSpPr>
        <p:spPr>
          <a:xfrm>
            <a:off x="8668512" y="5202936"/>
            <a:ext cx="271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quiebre de la serie (CUSUM)</a:t>
            </a:r>
            <a:endParaRPr lang="en-US" sz="1300" dirty="0"/>
          </a:p>
        </p:txBody>
      </p:sp>
      <p:sp>
        <p:nvSpPr>
          <p:cNvPr id="104" name="Text 101"/>
          <p:cNvSpPr txBox="1"/>
          <p:nvPr/>
        </p:nvSpPr>
        <p:spPr>
          <a:xfrm>
            <a:off x="8668512" y="5477256"/>
            <a:ext cx="271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entonces, 64 menos que lo esperado</a:t>
            </a:r>
            <a:endParaRPr lang="en-US" sz="1250" dirty="0"/>
          </a:p>
        </p:txBody>
      </p:sp>
      <p:sp>
        <p:nvSpPr>
          <p:cNvPr id="105" name="Text 102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mes con 1–2 casos varía por azar; la evidencia está en la secuencia de tres meses y en el acumulado.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PRODUCCIÓN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Producimos más cirugía mayor en horario hábil que en 2025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28800"/>
            <a:ext cx="5303520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+13,5 %</a:t>
            </a:r>
            <a:endParaRPr lang="en-US" sz="8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23392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cirugía mayor electiva de lunes a viernes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5814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1.657 → 1.880 operaciones entre enero y agosto · los mismos 173 días hábiles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309360" y="1828800"/>
            <a:ext cx="5330952" cy="1188720"/>
          </a:xfrm>
          <a:prstGeom prst="roundRect">
            <a:avLst>
              <a:gd name="adj" fmla="val 615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65392" y="1956816"/>
            <a:ext cx="4818888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+2,4 %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565392" y="247497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las fechas · 3.307 → 3.386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309360" y="3154680"/>
            <a:ext cx="5330952" cy="1188720"/>
          </a:xfrm>
          <a:prstGeom prst="roundRect">
            <a:avLst>
              <a:gd name="adj" fmla="val 615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65392" y="3282696"/>
            <a:ext cx="4818888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−8,7 %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6565392" y="380085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de semana · jornadas de oftalmología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09360" y="4480560"/>
            <a:ext cx="5330952" cy="1188720"/>
          </a:xfrm>
          <a:prstGeom prst="roundRect">
            <a:avLst>
              <a:gd name="adj" fmla="val 615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65392" y="4608576"/>
            <a:ext cx="4818888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+14,1 %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6565392" y="512673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cirugía mayor de urgencia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Agosto: 411 cirugías mayores electivas (201 en horario hábil) frente a 419 en agosto 2025, con un pabellón menos parte del mes.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CAPACIDAD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Julio y agosto se operaron con un pabellón menos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28800"/>
            <a:ext cx="5303520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de 21</a:t>
            </a:r>
            <a:endParaRPr lang="en-US" sz="8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23392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con Pabellón 2 en agosto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5814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lunes sin enfermera y obras en la cubierta desde el 12 de agosto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309360" y="1828800"/>
            <a:ext cx="5330952" cy="1188720"/>
          </a:xfrm>
          <a:prstGeom prst="roundRect">
            <a:avLst>
              <a:gd name="adj" fmla="val 6154"/>
            </a:avLst>
          </a:prstGeom>
          <a:solidFill>
            <a:srgbClr val="0F1930"/>
          </a:solidFill>
          <a:ln w="19050">
            <a:solidFill>
              <a:srgbClr val="F26B6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65392" y="1956816"/>
            <a:ext cx="4818888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48 cirugías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565392" y="247497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electivas no realizadas por los 12 días perdidos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309360" y="3154680"/>
            <a:ext cx="5330952" cy="1188720"/>
          </a:xfrm>
          <a:prstGeom prst="roundRect">
            <a:avLst>
              <a:gd name="adj" fmla="val 615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65392" y="3282696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3,9 por pabellón-día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6565392" y="373989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rendimiento por pabellón se mantuvo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09360" y="4480560"/>
            <a:ext cx="5330952" cy="1188720"/>
          </a:xfrm>
          <a:prstGeom prst="roundRect">
            <a:avLst>
              <a:gd name="adj" fmla="val 615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65392" y="4608576"/>
            <a:ext cx="4818888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11,8 por día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6565392" y="512673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cirugías mayores L–V con P2 completo · agosto 2025: 11,0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Estimación con la productividad observada por pabellón-día. Julio: falta confirmar los días sin pabellón para aplicar la misma regla.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REGISTRO COMPLETO DE SUSPENSIONES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Hubo 38 suspensiones en total; solo 2 cuentan para el indicador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" y="195681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277977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suspensiones registradas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30540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las modalidades y días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1396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67428" y="195681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+ 19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4567428" y="277977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lunes a viernes + fin de semana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67428" y="30540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son oftalmológicas de dos jornadas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74152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30184" y="195681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8330184" y="277977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causa registrada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330184" y="30540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la mitad del registro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11091672" cy="1508760"/>
          </a:xfrm>
          <a:prstGeom prst="roundRect">
            <a:avLst>
              <a:gd name="adj" fmla="val 4848"/>
            </a:avLst>
          </a:prstGeom>
          <a:solidFill>
            <a:srgbClr val="0F1930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429768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18 oftalmológicas no son 18 fallas: son dos jornadas (8–9 y 22–23 de agosto)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64608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Concentración imposible por azar (p &lt; 0,001). Falta registrar la causa por jornada: capacidad, dotación, insumos o inasistencia.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indicador oficial cuenta solo la cirugía mayor electiva de lunes a viernes; el resto consume preparación, agenda y pabellón igual, pero no se ve.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CAUSAS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causa número uno es el error de programación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6949440" cy="3977640"/>
          </a:xfrm>
          <a:prstGeom prst="roundRect">
            <a:avLst>
              <a:gd name="adj" fmla="val 1839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03625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de programación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474720" y="2054542"/>
            <a:ext cx="3291840" cy="274320"/>
          </a:xfrm>
          <a:prstGeom prst="roundRect">
            <a:avLst>
              <a:gd name="adj" fmla="val 13333"/>
            </a:avLst>
          </a:prstGeom>
          <a:solidFill>
            <a:srgbClr val="F26B6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39712" y="203625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487739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Reemplazo por urgencia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474720" y="2506027"/>
            <a:ext cx="1410789" cy="274320"/>
          </a:xfrm>
          <a:prstGeom prst="roundRect">
            <a:avLst>
              <a:gd name="adj" fmla="val 13333"/>
            </a:avLst>
          </a:prstGeom>
          <a:solidFill>
            <a:srgbClr val="5B7DB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58661" y="2487739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2939225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presentación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74720" y="2957513"/>
            <a:ext cx="1410789" cy="274320"/>
          </a:xfrm>
          <a:prstGeom prst="roundRect">
            <a:avLst>
              <a:gd name="adj" fmla="val 13333"/>
            </a:avLst>
          </a:prstGeom>
          <a:solidFill>
            <a:srgbClr val="F5B34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958661" y="2939225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39071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Ayuno / exámenes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474720" y="3408998"/>
            <a:ext cx="940526" cy="274320"/>
          </a:xfrm>
          <a:prstGeom prst="roundRect">
            <a:avLst>
              <a:gd name="adj" fmla="val 13333"/>
            </a:avLst>
          </a:prstGeom>
          <a:solidFill>
            <a:srgbClr val="F26B6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488398" y="339071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3842195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Instrumental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74720" y="3860483"/>
            <a:ext cx="470263" cy="274320"/>
          </a:xfrm>
          <a:prstGeom prst="roundRect">
            <a:avLst>
              <a:gd name="adj" fmla="val 13333"/>
            </a:avLst>
          </a:prstGeom>
          <a:solidFill>
            <a:srgbClr val="F26B6B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018135" y="3842195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429368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474720" y="4311968"/>
            <a:ext cx="470263" cy="274320"/>
          </a:xfrm>
          <a:prstGeom prst="roundRect">
            <a:avLst>
              <a:gd name="adj" fmla="val 13333"/>
            </a:avLst>
          </a:prstGeom>
          <a:solidFill>
            <a:srgbClr val="F5B34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018135" y="4293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4745165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cirujano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3474720" y="4763453"/>
            <a:ext cx="470263" cy="274320"/>
          </a:xfrm>
          <a:prstGeom prst="roundRect">
            <a:avLst>
              <a:gd name="adj" fmla="val 13333"/>
            </a:avLst>
          </a:prstGeom>
          <a:solidFill>
            <a:srgbClr val="F5B34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018135" y="4745165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19665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 (2 causas)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474720" y="5214938"/>
            <a:ext cx="940526" cy="274320"/>
          </a:xfrm>
          <a:prstGeom prst="roundRect">
            <a:avLst>
              <a:gd name="adj" fmla="val 13333"/>
            </a:avLst>
          </a:prstGeom>
          <a:solidFill>
            <a:srgbClr val="5B7DB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488398" y="519665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7772400" y="1783080"/>
            <a:ext cx="3867912" cy="1280160"/>
          </a:xfrm>
          <a:prstGeom prst="roundRect">
            <a:avLst>
              <a:gd name="adj" fmla="val 5714"/>
            </a:avLst>
          </a:prstGeom>
          <a:solidFill>
            <a:srgbClr val="0F1930"/>
          </a:solidFill>
          <a:ln w="19050">
            <a:solidFill>
              <a:srgbClr val="F26B6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28432" y="1911096"/>
            <a:ext cx="3355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600" dirty="0"/>
          </a:p>
        </p:txBody>
      </p:sp>
      <p:sp>
        <p:nvSpPr>
          <p:cNvPr id="36" name="Text 33"/>
          <p:cNvSpPr txBox="1"/>
          <p:nvPr/>
        </p:nvSpPr>
        <p:spPr>
          <a:xfrm>
            <a:off x="8028432" y="2459736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evitables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8028432" y="2734056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programación, ayuno, exámenes, instrumental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7772400" y="3154680"/>
            <a:ext cx="3867912" cy="1280160"/>
          </a:xfrm>
          <a:prstGeom prst="roundRect">
            <a:avLst>
              <a:gd name="adj" fmla="val 571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028432" y="3282696"/>
            <a:ext cx="3355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+ 5</a:t>
            </a:r>
            <a:endParaRPr lang="en-US" sz="3600" dirty="0"/>
          </a:p>
        </p:txBody>
      </p:sp>
      <p:sp>
        <p:nvSpPr>
          <p:cNvPr id="40" name="Text 37"/>
          <p:cNvSpPr txBox="1"/>
          <p:nvPr/>
        </p:nvSpPr>
        <p:spPr>
          <a:xfrm>
            <a:off x="8028432" y="3831336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potencialmente evitables + no evitables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7772400" y="4526280"/>
            <a:ext cx="3867912" cy="1280160"/>
          </a:xfrm>
          <a:prstGeom prst="roundRect">
            <a:avLst>
              <a:gd name="adj" fmla="val 571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028432" y="4654296"/>
            <a:ext cx="3355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600" dirty="0"/>
          </a:p>
        </p:txBody>
      </p:sp>
      <p:sp>
        <p:nvSpPr>
          <p:cNvPr id="43" name="Text 40"/>
          <p:cNvSpPr txBox="1"/>
          <p:nvPr/>
        </p:nvSpPr>
        <p:spPr>
          <a:xfrm>
            <a:off x="8028432" y="5202936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causa registrada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8028432" y="5477256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clasifican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Rojo: evitable · ámbar: potencialmente evitable · azul: no evitable. Julio tuvo 5 errores de programación; agosto 7.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EL LUNES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lunes sigue siendo el día frágil de la semana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" y="195681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de 19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277977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registros de lunes a viernes fueron en lunes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11396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67428" y="195681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2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4567428" y="277977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del indicador cayeron en lunes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074152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0184" y="195681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lunes</a:t>
            </a:r>
            <a:endParaRPr lang="en-US" sz="5400" dirty="0"/>
          </a:p>
        </p:txBody>
      </p:sp>
      <p:sp>
        <p:nvSpPr>
          <p:cNvPr id="17" name="Text 14"/>
          <p:cNvSpPr txBox="1"/>
          <p:nvPr/>
        </p:nvSpPr>
        <p:spPr>
          <a:xfrm>
            <a:off x="8330184" y="277977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tabla en Pabellón 2 por falta de enfermera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4160520"/>
            <a:ext cx="11091672" cy="1508760"/>
          </a:xfrm>
          <a:prstGeom prst="roundRect">
            <a:avLst>
              <a:gd name="adj" fmla="val 4848"/>
            </a:avLst>
          </a:prstGeom>
          <a:solidFill>
            <a:srgbClr val="0F1930"/>
          </a:solidFill>
          <a:ln w="19050">
            <a:solidFill>
              <a:srgbClr val="F5B34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297680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Histórico: el lunes suspende 11,09 %, más que cualquier otro día (significativo)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64608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Medida: confirmar pacientes y exámenes el viernes en la tarde, y asegurar la dotación de enfermería del lunes en Pabellón 2.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 solo no alcanza para demostrarlo (p = 0,16); el histórico de 16 meses sí (Z = 2,09).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·  TIEMPOS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día quirúrgico de agosto, en un solo caso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6276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ELECTIVO TÍPICO DE LUNES A VIERNES · MINUTOS (MEDIANAS)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920240"/>
            <a:ext cx="1157392" cy="868680"/>
          </a:xfrm>
          <a:prstGeom prst="rect">
            <a:avLst/>
          </a:prstGeom>
          <a:solidFill>
            <a:srgbClr val="7FA3D9">
              <a:alpha val="80000"/>
            </a:srgbClr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920240"/>
            <a:ext cx="1157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843784"/>
            <a:ext cx="1157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→ anestesia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1706032" y="1920240"/>
            <a:ext cx="1736088" cy="868680"/>
          </a:xfrm>
          <a:prstGeom prst="rect">
            <a:avLst/>
          </a:prstGeom>
          <a:solidFill>
            <a:srgbClr val="A78BFA">
              <a:alpha val="80000"/>
            </a:srgbClr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06032" y="1920240"/>
            <a:ext cx="1736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1706032" y="2843784"/>
            <a:ext cx="173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Anestesia → incisión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442120" y="1920240"/>
            <a:ext cx="5208263" cy="868680"/>
          </a:xfrm>
          <a:prstGeom prst="rect">
            <a:avLst/>
          </a:prstGeom>
          <a:solidFill>
            <a:srgbClr val="2DD4BF">
              <a:alpha val="80000"/>
            </a:srgbClr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42120" y="1920240"/>
            <a:ext cx="52082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3442120" y="2843784"/>
            <a:ext cx="52082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50383" y="1920240"/>
            <a:ext cx="1253841" cy="868680"/>
          </a:xfrm>
          <a:prstGeom prst="rect">
            <a:avLst/>
          </a:prstGeom>
          <a:solidFill>
            <a:srgbClr val="7FA3D9">
              <a:alpha val="80000"/>
            </a:srgbClr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50383" y="1920240"/>
            <a:ext cx="125384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8650383" y="2843784"/>
            <a:ext cx="12538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Término → salida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9904224" y="1920240"/>
            <a:ext cx="1736088" cy="868680"/>
          </a:xfrm>
          <a:prstGeom prst="rect">
            <a:avLst/>
          </a:prstGeom>
          <a:solidFill>
            <a:srgbClr val="F5B342">
              <a:alpha val="80000"/>
            </a:srgbClr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04224" y="1920240"/>
            <a:ext cx="17360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9904224" y="2843784"/>
            <a:ext cx="173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Recambio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3832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entrada a la salida del quirófano: 100 minutos de mediana. Luego 18 minutos de recambio y entra el siguiente.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393192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4672" y="4059936"/>
            <a:ext cx="305409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07:55</a:t>
            </a:r>
            <a:endParaRPr lang="en-US" sz="40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" y="46695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el primer paciente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04672" y="4943856"/>
            <a:ext cx="305409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minutos antes que en julio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311396" y="393192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567428" y="4059936"/>
            <a:ext cx="305409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08:45</a:t>
            </a:r>
            <a:endParaRPr lang="en-US" sz="4000" dirty="0"/>
          </a:p>
        </p:txBody>
      </p:sp>
      <p:sp>
        <p:nvSpPr>
          <p:cNvPr id="32" name="Text 29"/>
          <p:cNvSpPr txBox="1"/>
          <p:nvPr/>
        </p:nvSpPr>
        <p:spPr>
          <a:xfrm>
            <a:off x="4567428" y="46695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 incisión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4567428" y="4943856"/>
            <a:ext cx="305409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minutos después de entrar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8074152" y="393192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330184" y="4059936"/>
            <a:ext cx="305409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min</a:t>
            </a:r>
            <a:endParaRPr lang="en-US" sz="4000" dirty="0"/>
          </a:p>
        </p:txBody>
      </p:sp>
      <p:sp>
        <p:nvSpPr>
          <p:cNvPr id="36" name="Text 33"/>
          <p:cNvSpPr txBox="1"/>
          <p:nvPr/>
        </p:nvSpPr>
        <p:spPr>
          <a:xfrm>
            <a:off x="8330184" y="46695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recambio entre pacientes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8330184" y="4943856"/>
            <a:ext cx="305409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igual que en julio (19)</a:t>
            </a:r>
            <a:endParaRPr lang="en-US" sz="125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Medianas del export SITGEQ 830 (agosto, lunes a viernes, electivos). Las 08:00 y 09:00 son referencias, no metas.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·  TIEMPOS · QUÉ CAMBIÓ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recambios largos se acortaron; el caso típico no cambió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" y="1956816"/>
            <a:ext cx="3054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min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26883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recambio · mediana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96265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julio 19 · sin cambio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1396" y="18288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67428" y="1956816"/>
            <a:ext cx="3054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22,6 min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4567428" y="26883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recambio · media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67428" y="296265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julio 29,5 · −7 min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74152" y="18288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30184" y="1956816"/>
            <a:ext cx="3054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min</a:t>
            </a:r>
            <a:endParaRPr lang="en-US" sz="4800" dirty="0"/>
          </a:p>
        </p:txBody>
      </p:sp>
      <p:sp>
        <p:nvSpPr>
          <p:cNvPr id="19" name="Text 16"/>
          <p:cNvSpPr txBox="1"/>
          <p:nvPr/>
        </p:nvSpPr>
        <p:spPr>
          <a:xfrm>
            <a:off x="8330184" y="26883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recambio · uno de cada diez supera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330184" y="296265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julio 59 · −16 min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06908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0F1930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2628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 paciente entra a las 07:55 (julio 08:02) y la primera incisión es a las 08:45 (julio 08:50).</a:t>
            </a:r>
            <a:endParaRPr lang="en-US" sz="1550" dirty="0"/>
          </a:p>
        </p:txBody>
      </p:sp>
      <p:sp>
        <p:nvSpPr>
          <p:cNvPr id="24" name="Shape 21"/>
          <p:cNvSpPr/>
          <p:nvPr/>
        </p:nvSpPr>
        <p:spPr>
          <a:xfrm>
            <a:off x="6199632" y="406908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0F1930"/>
          </a:solidFill>
          <a:ln w="19050">
            <a:solidFill>
              <a:srgbClr val="F26B6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73952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Pendiente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473952" y="452628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63 % de las primeras incisiones ocurre antes de las 09:00 (agosto 2025: 85 %). El mediodía suma 33 horas sin actividad.</a:t>
            </a:r>
            <a:endParaRPr lang="en-US" sz="155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Recambio neto: de la salida de un paciente al ingreso del siguiente, descontando el almuerzo (12:30–14:00).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·  ESCRITORIO SITGEQ · AGOSTO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indicadores del escritorio SITGEQ, en una sola vista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2679192" cy="1938528"/>
          </a:xfrm>
          <a:prstGeom prst="roundRect">
            <a:avLst>
              <a:gd name="adj" fmla="val 377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184708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" y="182880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de ocupación diaria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2194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91,7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1856232" y="23042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13232" y="2788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período anterior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76272" y="2788920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F26B6B">
              <a:alpha val="18000"/>
            </a:srgbClr>
          </a:solidFill>
          <a:ln w="9525">
            <a:solidFill>
              <a:srgbClr val="F26B6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76272" y="278892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3,7 %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0815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a 3 meses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176272" y="3081528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94AACC">
              <a:alpha val="18000"/>
            </a:srgbClr>
          </a:solidFill>
          <a:ln w="9525">
            <a:solidFill>
              <a:srgbClr val="94AA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176272" y="3081528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0,0 %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13232" y="3374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85 %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176272" y="3374136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6272" y="3374136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OK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355848" y="1737360"/>
            <a:ext cx="2679192" cy="1938528"/>
          </a:xfrm>
          <a:prstGeom prst="roundRect">
            <a:avLst>
              <a:gd name="adj" fmla="val 3774"/>
            </a:avLst>
          </a:prstGeom>
          <a:solidFill>
            <a:srgbClr val="0F1930"/>
          </a:solidFill>
          <a:ln w="19050">
            <a:solidFill>
              <a:srgbClr val="F26B6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20440" y="184708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3831336" y="182880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Cirugías realizadas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520440" y="2194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14,6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4663440" y="23042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cir/día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3520440" y="2788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período anterior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983480" y="2788920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983480" y="278892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53,7 %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3520440" y="30815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a 3 meses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983480" y="3081528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94AACC">
              <a:alpha val="18000"/>
            </a:srgbClr>
          </a:solidFill>
          <a:ln w="9525">
            <a:solidFill>
              <a:srgbClr val="94AA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983480" y="3081528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0,0 %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3520440" y="3374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60 (corregir)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983480" y="3374136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F26B6B">
              <a:alpha val="18000"/>
            </a:srgbClr>
          </a:solidFill>
          <a:ln w="9525">
            <a:solidFill>
              <a:srgbClr val="F26B6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83480" y="3374136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Crítico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163056" y="1737360"/>
            <a:ext cx="2679192" cy="1938528"/>
          </a:xfrm>
          <a:prstGeom prst="roundRect">
            <a:avLst>
              <a:gd name="adj" fmla="val 377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327648" y="184708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638544" y="182880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Rendimiento diario por pabellón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6327648" y="2194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7,3</a:t>
            </a:r>
            <a:endParaRPr lang="en-US" sz="3200" dirty="0"/>
          </a:p>
        </p:txBody>
      </p:sp>
      <p:sp>
        <p:nvSpPr>
          <p:cNvPr id="41" name="Text 38"/>
          <p:cNvSpPr txBox="1"/>
          <p:nvPr/>
        </p:nvSpPr>
        <p:spPr>
          <a:xfrm>
            <a:off x="7196328" y="23042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cir/pab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6327648" y="2788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período anterior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7790688" y="2788920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90688" y="278892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78,0 %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6327648" y="30815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a 3 meses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7790688" y="3081528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94AACC">
              <a:alpha val="18000"/>
            </a:srgbClr>
          </a:solidFill>
          <a:ln w="9525">
            <a:solidFill>
              <a:srgbClr val="94AA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90688" y="3081528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0,0 %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6327648" y="3374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6 cir/pab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7790688" y="3374136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90688" y="3374136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OK</a:t>
            </a:r>
            <a:endParaRPr lang="en-US" sz="1150" dirty="0"/>
          </a:p>
        </p:txBody>
      </p:sp>
      <p:sp>
        <p:nvSpPr>
          <p:cNvPr id="51" name="Shape 48"/>
          <p:cNvSpPr/>
          <p:nvPr/>
        </p:nvSpPr>
        <p:spPr>
          <a:xfrm>
            <a:off x="8970264" y="1737360"/>
            <a:ext cx="2679192" cy="1938528"/>
          </a:xfrm>
          <a:prstGeom prst="roundRect">
            <a:avLst>
              <a:gd name="adj" fmla="val 377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134856" y="184708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◷</a:t>
            </a:r>
            <a:endParaRPr lang="en-US" sz="1600" dirty="0"/>
          </a:p>
        </p:txBody>
      </p:sp>
      <p:sp>
        <p:nvSpPr>
          <p:cNvPr id="53" name="Text 50"/>
          <p:cNvSpPr txBox="1"/>
          <p:nvPr/>
        </p:nvSpPr>
        <p:spPr>
          <a:xfrm>
            <a:off x="9445752" y="182880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Retraso primera hora</a:t>
            </a:r>
            <a:endParaRPr lang="en-US" sz="1150" dirty="0"/>
          </a:p>
        </p:txBody>
      </p:sp>
      <p:sp>
        <p:nvSpPr>
          <p:cNvPr id="54" name="Text 51"/>
          <p:cNvSpPr txBox="1"/>
          <p:nvPr/>
        </p:nvSpPr>
        <p:spPr>
          <a:xfrm>
            <a:off x="9134856" y="2194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200" dirty="0"/>
          </a:p>
        </p:txBody>
      </p:sp>
      <p:sp>
        <p:nvSpPr>
          <p:cNvPr id="55" name="Text 52"/>
          <p:cNvSpPr txBox="1"/>
          <p:nvPr/>
        </p:nvSpPr>
        <p:spPr>
          <a:xfrm>
            <a:off x="10003536" y="23042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9134856" y="2788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período anterior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10597896" y="2788920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0597896" y="278892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53,2 %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9134856" y="30815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a 3 meses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10597896" y="3081528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F26B6B">
              <a:alpha val="18000"/>
            </a:srgbClr>
          </a:solidFill>
          <a:ln w="9525">
            <a:solidFill>
              <a:srgbClr val="F26B6B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0597896" y="3081528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1,7 %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9134856" y="3374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30 min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10597896" y="3374136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0597896" y="3374136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OK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548640" y="3822192"/>
            <a:ext cx="2679192" cy="1938528"/>
          </a:xfrm>
          <a:prstGeom prst="roundRect">
            <a:avLst>
              <a:gd name="adj" fmla="val 377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713232" y="393192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</a:t>
            </a:r>
            <a:endParaRPr lang="en-US" sz="1600" dirty="0"/>
          </a:p>
        </p:txBody>
      </p:sp>
      <p:sp>
        <p:nvSpPr>
          <p:cNvPr id="67" name="Text 64"/>
          <p:cNvSpPr txBox="1"/>
          <p:nvPr/>
        </p:nvSpPr>
        <p:spPr>
          <a:xfrm>
            <a:off x="1024128" y="391363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de recambio (promedio)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713232" y="42793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200" dirty="0"/>
          </a:p>
        </p:txBody>
      </p:sp>
      <p:sp>
        <p:nvSpPr>
          <p:cNvPr id="69" name="Text 66"/>
          <p:cNvSpPr txBox="1"/>
          <p:nvPr/>
        </p:nvSpPr>
        <p:spPr>
          <a:xfrm>
            <a:off x="1581912" y="43891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713232" y="48737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período anterior</a:t>
            </a:r>
            <a:endParaRPr lang="en-US" sz="1100" dirty="0"/>
          </a:p>
        </p:txBody>
      </p:sp>
      <p:sp>
        <p:nvSpPr>
          <p:cNvPr id="71" name="Shape 68"/>
          <p:cNvSpPr/>
          <p:nvPr/>
        </p:nvSpPr>
        <p:spPr>
          <a:xfrm>
            <a:off x="2176272" y="4873752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176272" y="48737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58,8 %</a:t>
            </a:r>
            <a:endParaRPr lang="en-US" sz="1150" dirty="0"/>
          </a:p>
        </p:txBody>
      </p:sp>
      <p:sp>
        <p:nvSpPr>
          <p:cNvPr id="73" name="Text 70"/>
          <p:cNvSpPr txBox="1"/>
          <p:nvPr/>
        </p:nvSpPr>
        <p:spPr>
          <a:xfrm>
            <a:off x="713232" y="5166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a 3 meses</a:t>
            </a:r>
            <a:endParaRPr lang="en-US" sz="1100" dirty="0"/>
          </a:p>
        </p:txBody>
      </p:sp>
      <p:sp>
        <p:nvSpPr>
          <p:cNvPr id="74" name="Shape 71"/>
          <p:cNvSpPr/>
          <p:nvPr/>
        </p:nvSpPr>
        <p:spPr>
          <a:xfrm>
            <a:off x="2176272" y="5166360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F26B6B">
              <a:alpha val="18000"/>
            </a:srgbClr>
          </a:solidFill>
          <a:ln w="9525">
            <a:solidFill>
              <a:srgbClr val="F26B6B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2176272" y="516636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1,4 %</a:t>
            </a:r>
            <a:endParaRPr lang="en-US" sz="1150" dirty="0"/>
          </a:p>
        </p:txBody>
      </p:sp>
      <p:sp>
        <p:nvSpPr>
          <p:cNvPr id="76" name="Text 73"/>
          <p:cNvSpPr txBox="1"/>
          <p:nvPr/>
        </p:nvSpPr>
        <p:spPr>
          <a:xfrm>
            <a:off x="713232" y="54589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15 min</a:t>
            </a:r>
            <a:endParaRPr lang="en-US" sz="1100" dirty="0"/>
          </a:p>
        </p:txBody>
      </p:sp>
      <p:sp>
        <p:nvSpPr>
          <p:cNvPr id="77" name="Shape 74"/>
          <p:cNvSpPr/>
          <p:nvPr/>
        </p:nvSpPr>
        <p:spPr>
          <a:xfrm>
            <a:off x="2176272" y="5458968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2176272" y="5458968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OK</a:t>
            </a:r>
            <a:endParaRPr lang="en-US" sz="1150" dirty="0"/>
          </a:p>
        </p:txBody>
      </p:sp>
      <p:sp>
        <p:nvSpPr>
          <p:cNvPr id="79" name="Shape 76"/>
          <p:cNvSpPr/>
          <p:nvPr/>
        </p:nvSpPr>
        <p:spPr>
          <a:xfrm>
            <a:off x="3355848" y="3822192"/>
            <a:ext cx="2679192" cy="1938528"/>
          </a:xfrm>
          <a:prstGeom prst="roundRect">
            <a:avLst>
              <a:gd name="adj" fmla="val 377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3520440" y="393192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1600" dirty="0"/>
          </a:p>
        </p:txBody>
      </p:sp>
      <p:sp>
        <p:nvSpPr>
          <p:cNvPr id="81" name="Text 78"/>
          <p:cNvSpPr txBox="1"/>
          <p:nvPr/>
        </p:nvSpPr>
        <p:spPr>
          <a:xfrm>
            <a:off x="3831336" y="391363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Subprogramación diaria</a:t>
            </a:r>
            <a:endParaRPr lang="en-US" sz="1150" dirty="0"/>
          </a:p>
        </p:txBody>
      </p:sp>
      <p:sp>
        <p:nvSpPr>
          <p:cNvPr id="82" name="Text 79"/>
          <p:cNvSpPr txBox="1"/>
          <p:nvPr/>
        </p:nvSpPr>
        <p:spPr>
          <a:xfrm>
            <a:off x="3520440" y="42793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0,3</a:t>
            </a:r>
            <a:endParaRPr lang="en-US" sz="32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43891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3520440" y="48737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período anterior</a:t>
            </a:r>
            <a:endParaRPr lang="en-US" sz="1100" dirty="0"/>
          </a:p>
        </p:txBody>
      </p:sp>
      <p:sp>
        <p:nvSpPr>
          <p:cNvPr id="85" name="Shape 82"/>
          <p:cNvSpPr/>
          <p:nvPr/>
        </p:nvSpPr>
        <p:spPr>
          <a:xfrm>
            <a:off x="4983480" y="4873752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983480" y="48737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40,0 %</a:t>
            </a:r>
            <a:endParaRPr lang="en-US" sz="1150" dirty="0"/>
          </a:p>
        </p:txBody>
      </p:sp>
      <p:sp>
        <p:nvSpPr>
          <p:cNvPr id="87" name="Text 84"/>
          <p:cNvSpPr txBox="1"/>
          <p:nvPr/>
        </p:nvSpPr>
        <p:spPr>
          <a:xfrm>
            <a:off x="3520440" y="5166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a 3 meses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>
            <a:off x="4983480" y="5166360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94AACC">
              <a:alpha val="18000"/>
            </a:srgbClr>
          </a:solidFill>
          <a:ln w="9525">
            <a:solidFill>
              <a:srgbClr val="94AACC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983480" y="516636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0,0 %</a:t>
            </a:r>
            <a:endParaRPr lang="en-US" sz="1150" dirty="0"/>
          </a:p>
        </p:txBody>
      </p:sp>
      <p:sp>
        <p:nvSpPr>
          <p:cNvPr id="90" name="Text 87"/>
          <p:cNvSpPr txBox="1"/>
          <p:nvPr/>
        </p:nvSpPr>
        <p:spPr>
          <a:xfrm>
            <a:off x="3520440" y="54589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0,5 hrs</a:t>
            </a:r>
            <a:endParaRPr lang="en-US" sz="1100" dirty="0"/>
          </a:p>
        </p:txBody>
      </p:sp>
      <p:sp>
        <p:nvSpPr>
          <p:cNvPr id="91" name="Shape 88"/>
          <p:cNvSpPr/>
          <p:nvPr/>
        </p:nvSpPr>
        <p:spPr>
          <a:xfrm>
            <a:off x="4983480" y="5458968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4983480" y="5458968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OK</a:t>
            </a:r>
            <a:endParaRPr lang="en-US" sz="1150" dirty="0"/>
          </a:p>
        </p:txBody>
      </p:sp>
      <p:sp>
        <p:nvSpPr>
          <p:cNvPr id="93" name="Shape 90"/>
          <p:cNvSpPr/>
          <p:nvPr/>
        </p:nvSpPr>
        <p:spPr>
          <a:xfrm>
            <a:off x="6163056" y="3822192"/>
            <a:ext cx="2679192" cy="1938528"/>
          </a:xfrm>
          <a:prstGeom prst="roundRect">
            <a:avLst>
              <a:gd name="adj" fmla="val 377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327648" y="393192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☺</a:t>
            </a:r>
            <a:endParaRPr lang="en-US" sz="1600" dirty="0"/>
          </a:p>
        </p:txBody>
      </p:sp>
      <p:sp>
        <p:nvSpPr>
          <p:cNvPr id="95" name="Text 92"/>
          <p:cNvSpPr txBox="1"/>
          <p:nvPr/>
        </p:nvSpPr>
        <p:spPr>
          <a:xfrm>
            <a:off x="6638544" y="391363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LE no GES</a:t>
            </a:r>
            <a:endParaRPr lang="en-US" sz="1150" dirty="0"/>
          </a:p>
        </p:txBody>
      </p:sp>
      <p:sp>
        <p:nvSpPr>
          <p:cNvPr id="96" name="Text 93"/>
          <p:cNvSpPr txBox="1"/>
          <p:nvPr/>
        </p:nvSpPr>
        <p:spPr>
          <a:xfrm>
            <a:off x="6327648" y="42793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42,3</a:t>
            </a:r>
            <a:endParaRPr lang="en-US" sz="3200" dirty="0"/>
          </a:p>
        </p:txBody>
      </p:sp>
      <p:sp>
        <p:nvSpPr>
          <p:cNvPr id="97" name="Text 94"/>
          <p:cNvSpPr txBox="1"/>
          <p:nvPr/>
        </p:nvSpPr>
        <p:spPr>
          <a:xfrm>
            <a:off x="7470648" y="43891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327648" y="48737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período anterior</a:t>
            </a:r>
            <a:endParaRPr lang="en-US" sz="1100" dirty="0"/>
          </a:p>
        </p:txBody>
      </p:sp>
      <p:sp>
        <p:nvSpPr>
          <p:cNvPr id="99" name="Shape 96"/>
          <p:cNvSpPr/>
          <p:nvPr/>
        </p:nvSpPr>
        <p:spPr>
          <a:xfrm>
            <a:off x="7790688" y="4873752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7790688" y="48737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33,1 %</a:t>
            </a:r>
            <a:endParaRPr lang="en-US" sz="1150" dirty="0"/>
          </a:p>
        </p:txBody>
      </p:sp>
      <p:sp>
        <p:nvSpPr>
          <p:cNvPr id="101" name="Text 98"/>
          <p:cNvSpPr txBox="1"/>
          <p:nvPr/>
        </p:nvSpPr>
        <p:spPr>
          <a:xfrm>
            <a:off x="6327648" y="51663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a 3 meses</a:t>
            </a:r>
            <a:endParaRPr lang="en-US" sz="1100" dirty="0"/>
          </a:p>
        </p:txBody>
      </p:sp>
      <p:sp>
        <p:nvSpPr>
          <p:cNvPr id="102" name="Shape 99"/>
          <p:cNvSpPr/>
          <p:nvPr/>
        </p:nvSpPr>
        <p:spPr>
          <a:xfrm>
            <a:off x="7790688" y="5166360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94AACC">
              <a:alpha val="18000"/>
            </a:srgbClr>
          </a:solidFill>
          <a:ln w="9525">
            <a:solidFill>
              <a:srgbClr val="94AACC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7790688" y="5166360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0,0 %</a:t>
            </a:r>
            <a:endParaRPr lang="en-US" sz="1150" dirty="0"/>
          </a:p>
        </p:txBody>
      </p:sp>
      <p:sp>
        <p:nvSpPr>
          <p:cNvPr id="104" name="Text 101"/>
          <p:cNvSpPr txBox="1"/>
          <p:nvPr/>
        </p:nvSpPr>
        <p:spPr>
          <a:xfrm>
            <a:off x="6327648" y="54589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50 %</a:t>
            </a:r>
            <a:endParaRPr lang="en-US" sz="1100" dirty="0"/>
          </a:p>
        </p:txBody>
      </p:sp>
      <p:sp>
        <p:nvSpPr>
          <p:cNvPr id="105" name="Shape 102"/>
          <p:cNvSpPr/>
          <p:nvPr/>
        </p:nvSpPr>
        <p:spPr>
          <a:xfrm>
            <a:off x="7790688" y="5458968"/>
            <a:ext cx="886968" cy="274320"/>
          </a:xfrm>
          <a:prstGeom prst="roundRect">
            <a:avLst>
              <a:gd name="adj" fmla="val 26667"/>
            </a:avLst>
          </a:prstGeom>
          <a:solidFill>
            <a:srgbClr val="34D399">
              <a:alpha val="18000"/>
            </a:srgbClr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7790688" y="5458968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OK</a:t>
            </a:r>
            <a:endParaRPr lang="en-US" sz="1150" dirty="0"/>
          </a:p>
        </p:txBody>
      </p:sp>
      <p:sp>
        <p:nvSpPr>
          <p:cNvPr id="107" name="Shape 104"/>
          <p:cNvSpPr/>
          <p:nvPr/>
        </p:nvSpPr>
        <p:spPr>
          <a:xfrm>
            <a:off x="8970264" y="3822192"/>
            <a:ext cx="2679192" cy="1938528"/>
          </a:xfrm>
          <a:prstGeom prst="roundRect">
            <a:avLst>
              <a:gd name="adj" fmla="val 3774"/>
            </a:avLst>
          </a:prstGeom>
          <a:solidFill>
            <a:srgbClr val="0F1930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9134856" y="3931920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</a:t>
            </a:r>
            <a:endParaRPr lang="en-US" sz="1050" dirty="0"/>
          </a:p>
        </p:txBody>
      </p:sp>
      <p:sp>
        <p:nvSpPr>
          <p:cNvPr id="109" name="Text 106"/>
          <p:cNvSpPr txBox="1"/>
          <p:nvPr/>
        </p:nvSpPr>
        <p:spPr>
          <a:xfrm>
            <a:off x="9134856" y="4206240"/>
            <a:ext cx="235000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Recambio 14 min </a:t>
            </a:r>
            <a:pPr algn="l" indent="0" marL="0">
              <a:buNone/>
            </a:pPr>
            <a:r>
              <a:rPr lang="en-US" sz="10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22,6 de media en el export: distinta fórmula, misma dirección (bajan los largos).
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de 60 cir/día </a:t>
            </a:r>
            <a:pPr algn="l" indent="0" marL="0">
              <a:buNone/>
            </a:pPr>
            <a:r>
              <a:rPr lang="en-US" sz="10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alcanzable con 3 pabellones: corregir el parámetro.
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0,0 % </a:t>
            </a:r>
            <a:pPr algn="l" indent="0" marL="0">
              <a:buNone/>
            </a:pPr>
            <a:r>
              <a:rPr lang="en-US" sz="10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el módulo aún no tiene serie.</a:t>
            </a:r>
            <a:endParaRPr lang="en-US" sz="1050" dirty="0"/>
          </a:p>
        </p:txBody>
      </p:sp>
      <p:sp>
        <p:nvSpPr>
          <p:cNvPr id="110" name="Text 107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la tasa de suspensión del escritorio (7,5 %): usa otro numerador y otra cohorte que el indicador del comité (1,32 %). Captura del escritorio, septiembre 2026.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·  HORARIO CONTINUO · CUÁNTO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Horario continuo: entre 11 y 17 cirugías más al mes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MIDE AGOSTO EN LA FRANJA 12:30–14:00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" y="2093976"/>
            <a:ext cx="3054096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h 35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6121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pausas entre pacientes en la franja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886456"/>
            <a:ext cx="3054096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de 141 recambios · 39 pabellón-días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11396" y="196596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67428" y="2093976"/>
            <a:ext cx="3054096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jornadas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4567428" y="26121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bloque libre continuo ≥ 60 min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67428" y="2886456"/>
            <a:ext cx="3054096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12 fechas · de ≥ 90 min: solo 2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074152" y="196596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30184" y="2093976"/>
            <a:ext cx="3054096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 por caso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8330184" y="261213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min de quirófano + 18 de recambio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330184" y="2886456"/>
            <a:ext cx="3054096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corto: ≈ 1 h 20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CUÁNTOS PACIENTES MÁS, SI HAY GENTE PARA ESE HORARIO · POR MES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384048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4672" y="3968496"/>
            <a:ext cx="305409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" y="457809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conservador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04672" y="4852416"/>
            <a:ext cx="305409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corto en cada bloque libre observado de ≥ 60 min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4311396" y="384048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0F1930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67428" y="3968496"/>
            <a:ext cx="305409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a 17</a:t>
            </a:r>
            <a:endParaRPr lang="en-US" sz="4000" dirty="0"/>
          </a:p>
        </p:txBody>
      </p:sp>
      <p:sp>
        <p:nvSpPr>
          <p:cNvPr id="29" name="Text 26"/>
          <p:cNvSpPr txBox="1"/>
          <p:nvPr/>
        </p:nvSpPr>
        <p:spPr>
          <a:xfrm>
            <a:off x="4567428" y="457809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567428" y="4852416"/>
            <a:ext cx="305409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21,6 h libres (pausas menos recambio normal): 11 casos típicos o 17 cortos · +5 a +8 % de la CME hábil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8074152" y="384048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30184" y="3968496"/>
            <a:ext cx="305409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38</a:t>
            </a:r>
            <a:endParaRPr lang="en-US" sz="4000" dirty="0"/>
          </a:p>
        </p:txBody>
      </p:sp>
      <p:sp>
        <p:nvSpPr>
          <p:cNvPr id="33" name="Text 30"/>
          <p:cNvSpPr txBox="1"/>
          <p:nvPr/>
        </p:nvSpPr>
        <p:spPr>
          <a:xfrm>
            <a:off x="8330184" y="457809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tope teórico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330184" y="4852416"/>
            <a:ext cx="305409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franja completa en los 3 pabellones × 21 días (76,5 h); 48 con Pabellón 2 completo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año: 130 a 200 cirugías más en Quilpué; 300 a 470 en el HPMM con 7 pabellones. Requiere paciente preparado, equipo, instrumental y recuperación: no se suman fragmentos de salas o días distintos.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·  HORARIO CONTINUO · CÓMO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Relevo en escalera y un piloto de cuatro semanas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RELEVO ESCALONADO · UN EQUIPO CUBRE 45 MIN EN CADA PABELLÓN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737360" y="2011680"/>
            <a:ext cx="0" cy="2148840"/>
          </a:xfrm>
          <a:prstGeom prst="line">
            <a:avLst/>
          </a:prstGeom>
          <a:noFill/>
          <a:ln w="6350">
            <a:solidFill>
              <a:srgbClr val="22304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1417320" y="4160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11:30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23625" y="2011680"/>
            <a:ext cx="0" cy="2148840"/>
          </a:xfrm>
          <a:prstGeom prst="line">
            <a:avLst/>
          </a:prstGeom>
          <a:noFill/>
          <a:ln w="6350">
            <a:solidFill>
              <a:srgbClr val="22304A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2303585" y="4160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12:00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509889" y="2011680"/>
            <a:ext cx="0" cy="2148840"/>
          </a:xfrm>
          <a:prstGeom prst="line">
            <a:avLst/>
          </a:prstGeom>
          <a:noFill/>
          <a:ln w="6350">
            <a:solidFill>
              <a:srgbClr val="22304A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3189849" y="4160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12:30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396154" y="2011680"/>
            <a:ext cx="0" cy="2148840"/>
          </a:xfrm>
          <a:prstGeom prst="line">
            <a:avLst/>
          </a:prstGeom>
          <a:noFill/>
          <a:ln w="6350">
            <a:solidFill>
              <a:srgbClr val="22304A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4076114" y="4160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282418" y="2011680"/>
            <a:ext cx="0" cy="2148840"/>
          </a:xfrm>
          <a:prstGeom prst="line">
            <a:avLst/>
          </a:prstGeom>
          <a:noFill/>
          <a:ln w="6350">
            <a:solidFill>
              <a:srgbClr val="22304A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4962378" y="4160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13:30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168683" y="2011680"/>
            <a:ext cx="0" cy="2148840"/>
          </a:xfrm>
          <a:prstGeom prst="line">
            <a:avLst/>
          </a:prstGeom>
          <a:noFill/>
          <a:ln w="6350">
            <a:solidFill>
              <a:srgbClr val="22304A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5848643" y="4160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14:00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054948" y="2011680"/>
            <a:ext cx="0" cy="2148840"/>
          </a:xfrm>
          <a:prstGeom prst="line">
            <a:avLst/>
          </a:prstGeom>
          <a:noFill/>
          <a:ln w="6350">
            <a:solidFill>
              <a:srgbClr val="22304A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6734908" y="41605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14:30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509889" y="2011680"/>
            <a:ext cx="2658794" cy="2148840"/>
          </a:xfrm>
          <a:prstGeom prst="rect">
            <a:avLst/>
          </a:prstGeom>
          <a:solidFill>
            <a:srgbClr val="F5B342">
              <a:alpha val="10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509889" y="2011680"/>
            <a:ext cx="26587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franja 12:30–14:00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23317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Pabellón 2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737360" y="2377440"/>
            <a:ext cx="5760720" cy="320040"/>
          </a:xfrm>
          <a:prstGeom prst="rect">
            <a:avLst/>
          </a:prstGeom>
          <a:solidFill>
            <a:srgbClr val="2DD4BF">
              <a:alpha val="35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623625" y="2377440"/>
            <a:ext cx="1329397" cy="320040"/>
          </a:xfrm>
          <a:prstGeom prst="rect">
            <a:avLst/>
          </a:prstGeom>
          <a:solidFill>
            <a:srgbClr val="A78BFA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23625" y="2377440"/>
            <a:ext cx="13293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relevo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29260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Pabellón 3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737360" y="2971800"/>
            <a:ext cx="5760720" cy="320040"/>
          </a:xfrm>
          <a:prstGeom prst="rect">
            <a:avLst/>
          </a:prstGeom>
          <a:solidFill>
            <a:srgbClr val="2DD4BF">
              <a:alpha val="35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953022" y="2971800"/>
            <a:ext cx="1329397" cy="320040"/>
          </a:xfrm>
          <a:prstGeom prst="rect">
            <a:avLst/>
          </a:prstGeom>
          <a:solidFill>
            <a:srgbClr val="A78BFA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953022" y="2971800"/>
            <a:ext cx="13293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35204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Pabellón 4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737360" y="3566160"/>
            <a:ext cx="5760720" cy="320040"/>
          </a:xfrm>
          <a:prstGeom prst="rect">
            <a:avLst/>
          </a:prstGeom>
          <a:solidFill>
            <a:srgbClr val="2DD4BF">
              <a:alpha val="35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5282418" y="3566160"/>
            <a:ext cx="1329397" cy="320040"/>
          </a:xfrm>
          <a:prstGeom prst="rect">
            <a:avLst/>
          </a:prstGeom>
          <a:solidFill>
            <a:srgbClr val="A78BFA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282418" y="3566160"/>
            <a:ext cx="13293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relevo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el pabellón sigue operando · violeta: 45 min en que el equipo titular almuerza y el equipo de relevo cubre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7863840" y="1691640"/>
            <a:ext cx="3776472" cy="1463040"/>
          </a:xfrm>
          <a:prstGeom prst="roundRect">
            <a:avLst>
              <a:gd name="adj" fmla="val 5000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119872" y="1819656"/>
            <a:ext cx="3264408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equipo</a:t>
            </a:r>
            <a:endParaRPr lang="en-US" sz="3400" dirty="0"/>
          </a:p>
        </p:txBody>
      </p:sp>
      <p:sp>
        <p:nvSpPr>
          <p:cNvPr id="41" name="Text 38"/>
          <p:cNvSpPr txBox="1"/>
          <p:nvPr/>
        </p:nvSpPr>
        <p:spPr>
          <a:xfrm>
            <a:off x="8119872" y="2337816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relevo, por función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8119872" y="2612136"/>
            <a:ext cx="326440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enfermera, TENS, arsenalera y anestesiólogo · 2 h 15 por día · 47 h al mes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7863840" y="3264408"/>
            <a:ext cx="3776472" cy="1463040"/>
          </a:xfrm>
          <a:prstGeom prst="roundRect">
            <a:avLst>
              <a:gd name="adj" fmla="val 5000"/>
            </a:avLst>
          </a:prstGeom>
          <a:solidFill>
            <a:srgbClr val="0F1930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19872" y="3392424"/>
            <a:ext cx="3264408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min</a:t>
            </a:r>
            <a:endParaRPr lang="en-US" sz="3400" dirty="0"/>
          </a:p>
        </p:txBody>
      </p:sp>
      <p:sp>
        <p:nvSpPr>
          <p:cNvPr id="45" name="Text 42"/>
          <p:cNvSpPr txBox="1"/>
          <p:nvPr/>
        </p:nvSpPr>
        <p:spPr>
          <a:xfrm>
            <a:off x="8119872" y="391058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pabellón detenido al mediodía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119872" y="4184904"/>
            <a:ext cx="326440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descanso se mantiene: cambia el turno, no la pausa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548640" y="4846320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0F1930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4901184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4 semanas: jornadas con y sin relevo, misma agenda documentada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822960" y="528523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por intervalo: sala lista, paciente listo, equipo disponible, causa del bloqueo y hora de reanudación. Comparar hora final de tabla, casos completados, carga de trabajo y recambio bruto y neto. Decisión en comité.</a:t>
            </a:r>
            <a:endParaRPr lang="en-US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a validar con las jefaturas asistenciales y gestión de personas; el informe del 6-sep recomienda comparación concurrente (aleatorizar si es factible).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·  PROYECCIÓN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esperar si el régimen se sostiene, y qué pasa si no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" y="1956816"/>
            <a:ext cx="305409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 10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262737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suspensiones en septiembre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901696"/>
            <a:ext cx="3054096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pronóstico prudente · más de 10 es señal de deterioro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1396" y="182880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67428" y="1956816"/>
            <a:ext cx="305409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· 29 · 69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4567428" y="262737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 a diciembre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67428" y="2901696"/>
            <a:ext cx="3054096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se sostiene · si sube a 4 % · si vuelve 2025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74152" y="182880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0F1930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30184" y="1956816"/>
            <a:ext cx="305409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vs 505</a:t>
            </a:r>
            <a:endParaRPr lang="en-US" sz="4400" dirty="0"/>
          </a:p>
        </p:txBody>
      </p:sp>
      <p:sp>
        <p:nvSpPr>
          <p:cNvPr id="19" name="Text 16"/>
          <p:cNvSpPr txBox="1"/>
          <p:nvPr/>
        </p:nvSpPr>
        <p:spPr>
          <a:xfrm>
            <a:off x="8330184" y="262737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año en el HPMM (7 pabellones)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330184" y="2901696"/>
            <a:ext cx="3054096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régimen actual vs tasa 2025 · 439 pacientes de diferencia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206240"/>
            <a:ext cx="11091672" cy="1463040"/>
          </a:xfrm>
          <a:prstGeom prst="roundRect">
            <a:avLst>
              <a:gd name="adj" fmla="val 5000"/>
            </a:avLst>
          </a:prstGeom>
          <a:solidFill>
            <a:srgbClr val="0F1930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4315968"/>
            <a:ext cx="10451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traslado al Marga Marga multiplica por 2,3 la exposición: amplifica la tasa que llevemos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9204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Sostener el régimen depende de lo que se institucionalice antes del traslado: causal completa, lunes blindado, dotación y camas de rescate.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Escenarios binomiales con el volumen de cada período; no incorporan estacionalidad ni cambio de mezcla.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·  SEPTIEMBRE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decisiones para septiembre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11091672" cy="749808"/>
          </a:xfrm>
          <a:prstGeom prst="roundRect">
            <a:avLst>
              <a:gd name="adj" fmla="val 9756"/>
            </a:avLst>
          </a:prstGeom>
          <a:solidFill>
            <a:srgbClr val="0F1930"/>
          </a:solidFill>
          <a:ln w="19050">
            <a:solidFill>
              <a:srgbClr val="F26B6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17830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185623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la causa de las 38 suspensiones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03704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jornada en el fin de semana; "sin causa determinada" disponible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624328"/>
            <a:ext cx="11091672" cy="749808"/>
          </a:xfrm>
          <a:prstGeom prst="roundRect">
            <a:avLst>
              <a:gd name="adj" fmla="val 9756"/>
            </a:avLst>
          </a:prstGeom>
          <a:solidFill>
            <a:srgbClr val="0F1930"/>
          </a:solidFill>
          <a:ln w="19050">
            <a:solidFill>
              <a:srgbClr val="F26B6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624328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2697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Blindar el lunes y recuperar el pabellón-día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044952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confirmación el viernes en la tarde · enfermería asegurada en Pabellón 2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465576"/>
            <a:ext cx="11091672" cy="749808"/>
          </a:xfrm>
          <a:prstGeom prst="roundRect">
            <a:avLst>
              <a:gd name="adj" fmla="val 9756"/>
            </a:avLst>
          </a:prstGeom>
          <a:solidFill>
            <a:srgbClr val="0F1930"/>
          </a:solidFill>
          <a:ln w="19050">
            <a:solidFill>
              <a:srgbClr val="F5B34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3465576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35387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Auditar el error de programación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3886200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casos, 3 cirugías mayores directas · separar error de agenda de indicación o insumo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306824"/>
            <a:ext cx="11091672" cy="749808"/>
          </a:xfrm>
          <a:prstGeom prst="roundRect">
            <a:avLst>
              <a:gd name="adj" fmla="val 9756"/>
            </a:avLst>
          </a:prstGeom>
          <a:solidFill>
            <a:srgbClr val="0F1930"/>
          </a:solidFill>
          <a:ln w="19050">
            <a:solidFill>
              <a:srgbClr val="F5B34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77240" y="4306824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B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1417320" y="437997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Consentimiento y ayuno antes de la tabla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4727448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 del 31 de agosto: sin consentimiento firmado no hay tabla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5148072"/>
            <a:ext cx="11091672" cy="749808"/>
          </a:xfrm>
          <a:prstGeom prst="roundRect">
            <a:avLst>
              <a:gd name="adj" fmla="val 9756"/>
            </a:avLst>
          </a:prstGeom>
          <a:solidFill>
            <a:srgbClr val="0F1930"/>
          </a:solidFill>
          <a:ln w="19050">
            <a:solidFill>
              <a:srgbClr val="2DD4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5148072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52212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horario continuo y registro operable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17320" y="5568696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relevo en escalera, 4 semanas con y sin cobertura · campos de julio en CancelOS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85048" y="-2286000"/>
            <a:ext cx="5843016" cy="4315968"/>
          </a:xfrm>
          <a:prstGeom prst="ellipse">
            <a:avLst/>
          </a:prstGeom>
          <a:gradFill rotWithShape="1">
            <a:gsLst>
              <a:gs pos="0">
                <a:srgbClr val="2DD4BF">
                  <a:alpha val="7059"/>
                </a:srgbClr>
              </a:gs>
              <a:gs pos="100000">
                <a:srgbClr val="2DD4B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3" name="Shape 1"/>
          <p:cNvSpPr/>
          <p:nvPr/>
        </p:nvSpPr>
        <p:spPr>
          <a:xfrm>
            <a:off x="-2029968" y="4572000"/>
            <a:ext cx="5586984" cy="3813048"/>
          </a:xfrm>
          <a:prstGeom prst="ellipse">
            <a:avLst/>
          </a:prstGeom>
          <a:gradFill rotWithShape="1">
            <a:gsLst>
              <a:gs pos="0">
                <a:srgbClr val="A78BFA">
                  <a:alpha val="549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Text 2"/>
          <p:cNvSpPr txBox="1"/>
          <p:nvPr/>
        </p:nvSpPr>
        <p:spPr>
          <a:xfrm>
            <a:off x="548640" y="34747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·  FUENTES Y ANEXO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salen las cifras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/  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644652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  ·  COMITÉ QUIRÚRGICO  ·  SEPTIEMBRE 2026  ·  VERSIÓN BREVE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783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 diario (ene-2025 → ago-2026)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0" y="1783080"/>
            <a:ext cx="6153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 de suspensión, producción, comparación con 2025 y control estadístico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386584"/>
            <a:ext cx="11091672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suspensiones de agosto (2-sep)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2423160"/>
            <a:ext cx="6153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38 suspensiones: causas, día, modalidad y evitabilidad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026664"/>
            <a:ext cx="11091672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063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Exports SITGEQ 787 y 830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063240"/>
            <a:ext cx="6153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tiempos: primer caso, recambio, ocupación, pabellón y especialidad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3666744"/>
            <a:ext cx="11091672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"Evolución del proceso quirúrgico" (6-sep)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0" y="3703320"/>
            <a:ext cx="6153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de recambio y primeros casos 2024–2026; evaluación de algoritmos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4306824"/>
            <a:ext cx="11091672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3434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Comité de julio y SPC histórico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0" y="4343400"/>
            <a:ext cx="6153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de evitabilidad, línea base 2025, efecto lunes y proyección HPMM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946904"/>
            <a:ext cx="11091672" cy="0"/>
          </a:xfrm>
          <a:prstGeom prst="line">
            <a:avLst/>
          </a:prstGeom>
          <a:noFill/>
          <a:ln w="6350">
            <a:solidFill>
              <a:srgbClr val="2230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507492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0F1930"/>
          </a:solidFill>
          <a:ln w="15875">
            <a:solidFill>
              <a:srgbClr val="2DD4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0749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F1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Anexo: la versión completa (49 láminas) tiene los métodos, las tablas, las pruebas estadísticas y las notas de cada cifra.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A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agregada, sin datos personales. Los identificadores se usan solo para conciliar fuentes.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Quirúrgico · Agosto 2026 · versión breve</dc:title>
  <dc:subject>PptxGenJS Presentation</dc:subject>
  <dc:creator>Coordinación del Proceso Quirúrgico · UPPQ · Hospital de Quilpué</dc:creator>
  <cp:lastModifiedBy>Coordinación del Proceso Quirúrgico · UPPQ · Hospital de Quilpué</cp:lastModifiedBy>
  <cp:revision>1</cp:revision>
  <dcterms:created xsi:type="dcterms:W3CDTF">2026-09-07T03:57:51Z</dcterms:created>
  <dcterms:modified xsi:type="dcterms:W3CDTF">2026-09-07T03:57:51Z</dcterms:modified>
</cp:coreProperties>
</file>